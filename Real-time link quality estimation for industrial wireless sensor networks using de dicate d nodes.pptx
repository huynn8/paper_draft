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A1BD1-EBBC-42D7-BDC2-C702B9048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5C0459-D2AE-4DAD-8086-1D48F25B90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8FA42C-32EA-4342-A337-E7ED7DD9A3BA}"/>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3E2EB248-7258-47BA-ACFB-63FE4A2C0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ADF1D-6A1F-4041-982B-D5ACDB0CAFC0}"/>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4070460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F5EB-99FC-4392-A634-88D261D79A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01A07C-63C7-4BE7-AAB6-B801D352C5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79676-3E96-4B96-A128-CA70EF5689ED}"/>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E9ECE858-09BA-48D7-BCA5-7A320E103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33752-93B8-4015-8DAA-FA4868FD9A8D}"/>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1544535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2D75-95AD-4B74-BC41-09352E19D8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070B15-B36E-4159-AB18-70234CEE0A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F382D-3242-4EAB-BE48-00CEE26BF5A3}"/>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73845D9D-E43C-4D05-96E9-4A6F6C2DC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28748-D4FD-49E4-BCB4-CD6544CC1DF9}"/>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260056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566B-1F44-4BA9-99C9-D6D13DCF3F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40796C-1D38-49F4-9D56-AD83C30451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A5715E-7430-49DD-BACC-8724B01E9F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86FD85-FD59-4862-A494-EEF107A0DD28}"/>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6" name="Footer Placeholder 5">
            <a:extLst>
              <a:ext uri="{FF2B5EF4-FFF2-40B4-BE49-F238E27FC236}">
                <a16:creationId xmlns:a16="http://schemas.microsoft.com/office/drawing/2014/main" id="{7C45CDF8-E71F-4306-84D1-134B798545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BBC579-8007-4CE0-827F-D1F59BDDDB28}"/>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409658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E938-3FD0-4318-8AAA-66AE285728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5C7464-3080-4BA3-8C55-35524EE3BD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57D125-6E95-4282-906B-D90894E9F5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22218B-491A-4B91-A06B-E2CB4E7B77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B77872-2FEB-4685-8F4E-C06215C84A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74D7B2-F349-4B9F-8313-14AA678E7798}"/>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8" name="Footer Placeholder 7">
            <a:extLst>
              <a:ext uri="{FF2B5EF4-FFF2-40B4-BE49-F238E27FC236}">
                <a16:creationId xmlns:a16="http://schemas.microsoft.com/office/drawing/2014/main" id="{A9D7DD02-9760-4578-96F1-C960F690F3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4C1A3D-FB9E-4C0E-93BA-F150359D66C8}"/>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591399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B8C4E-9E54-4941-85AB-AF7AEAE777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D92C4A-D99C-4A48-B6FE-8A78824563DA}"/>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4" name="Footer Placeholder 3">
            <a:extLst>
              <a:ext uri="{FF2B5EF4-FFF2-40B4-BE49-F238E27FC236}">
                <a16:creationId xmlns:a16="http://schemas.microsoft.com/office/drawing/2014/main" id="{6A2DBDBC-36D1-4867-9346-31C4FA810D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C02E09-67CF-4A7E-A712-65562B92A9A3}"/>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1168208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745D1E-146E-4AD9-B487-DB2A9D48DEA7}"/>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3" name="Footer Placeholder 2">
            <a:extLst>
              <a:ext uri="{FF2B5EF4-FFF2-40B4-BE49-F238E27FC236}">
                <a16:creationId xmlns:a16="http://schemas.microsoft.com/office/drawing/2014/main" id="{B3B2A869-3C0E-4BAB-BF2E-72A2E707D1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74491D-FB67-43DB-92B9-124BA07F8C41}"/>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2819768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CFAF-82FA-4F66-BA68-EEEFB427D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148FA2-6E06-49DB-BFFD-0167FF04FB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07E384-4E3F-4704-B510-D9E2DD0C65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C5334-FF80-4657-BCEF-56531BE7C0CE}"/>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6" name="Footer Placeholder 5">
            <a:extLst>
              <a:ext uri="{FF2B5EF4-FFF2-40B4-BE49-F238E27FC236}">
                <a16:creationId xmlns:a16="http://schemas.microsoft.com/office/drawing/2014/main" id="{B7F2B642-E878-4E50-AB4E-189CE7BF8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AD6445-ED9C-483E-938D-9832383134F8}"/>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3974253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FB0-26EB-4611-BAEA-4E9818C56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DFC2BF-1B11-4172-8C07-A7501E68F0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7D7511-CEE9-4DF3-891E-E8D7C49D1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A859E8-067F-4D84-89B2-3C2FEE9CBAE4}"/>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6" name="Footer Placeholder 5">
            <a:extLst>
              <a:ext uri="{FF2B5EF4-FFF2-40B4-BE49-F238E27FC236}">
                <a16:creationId xmlns:a16="http://schemas.microsoft.com/office/drawing/2014/main" id="{29C865FC-41E0-42F1-BDF1-71F6BF2EC2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801C3-48FA-4177-98F0-24B9D1FCF0BE}"/>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115999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DD3D-542C-42B4-9A9C-9BCDBC9AE5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327590-94FA-48A4-9427-527DA425FA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B4BEC-0B64-4BDF-95A5-70485C668220}"/>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632687B3-4421-4DD6-8869-D893B4751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445CD-C9AC-4F25-86FD-0EA05195FFA5}"/>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206117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BB1E8-27E2-49A9-BA1F-2BF4B75192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59E826-2D49-4BF6-8CF0-FA2A6C8891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41093-063F-4791-934F-EBCB30C902B0}"/>
              </a:ext>
            </a:extLst>
          </p:cNvPr>
          <p:cNvSpPr>
            <a:spLocks noGrp="1"/>
          </p:cNvSpPr>
          <p:nvPr>
            <p:ph type="dt" sz="half" idx="10"/>
          </p:nvPr>
        </p:nvSpPr>
        <p:spPr/>
        <p:txBody>
          <a:body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745B27B5-73A0-40B1-9934-303A27D66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95335-C375-4E71-8F27-98285E2B1426}"/>
              </a:ext>
            </a:extLst>
          </p:cNvPr>
          <p:cNvSpPr>
            <a:spLocks noGrp="1"/>
          </p:cNvSpPr>
          <p:nvPr>
            <p:ph type="sldNum" sz="quarter" idx="12"/>
          </p:nvPr>
        </p:nvSpPr>
        <p:spPr/>
        <p:txBody>
          <a:bodyPr/>
          <a:lstStyle/>
          <a:p>
            <a:fld id="{D254DB54-6D67-48C0-93A0-A4FD9619554C}" type="slidenum">
              <a:rPr lang="en-US" smtClean="0"/>
              <a:t>‹#›</a:t>
            </a:fld>
            <a:endParaRPr lang="en-US"/>
          </a:p>
        </p:txBody>
      </p:sp>
    </p:spTree>
    <p:extLst>
      <p:ext uri="{BB962C8B-B14F-4D97-AF65-F5344CB8AC3E}">
        <p14:creationId xmlns:p14="http://schemas.microsoft.com/office/powerpoint/2010/main" val="3629702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8E15-2DE1-46A7-86E2-05496F13A5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865EB5-0256-41BD-93BD-C25BBD3384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433492-0B60-4EA9-95B8-2606B3D8D5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6A0FF3-AE13-4817-9779-B798AE5609A4}" type="datetimeFigureOut">
              <a:rPr lang="en-US" smtClean="0"/>
              <a:t>1/7/2021</a:t>
            </a:fld>
            <a:endParaRPr lang="en-US"/>
          </a:p>
        </p:txBody>
      </p:sp>
      <p:sp>
        <p:nvSpPr>
          <p:cNvPr id="5" name="Footer Placeholder 4">
            <a:extLst>
              <a:ext uri="{FF2B5EF4-FFF2-40B4-BE49-F238E27FC236}">
                <a16:creationId xmlns:a16="http://schemas.microsoft.com/office/drawing/2014/main" id="{C6254546-D1D8-46E7-AC0A-136223D2C2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94625D-2628-4B51-AE51-F15A61438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54DB54-6D67-48C0-93A0-A4FD9619554C}" type="slidenum">
              <a:rPr lang="en-US" smtClean="0"/>
              <a:t>‹#›</a:t>
            </a:fld>
            <a:endParaRPr lang="en-US"/>
          </a:p>
        </p:txBody>
      </p:sp>
    </p:spTree>
    <p:extLst>
      <p:ext uri="{BB962C8B-B14F-4D97-AF65-F5344CB8AC3E}">
        <p14:creationId xmlns:p14="http://schemas.microsoft.com/office/powerpoint/2010/main" val="1652573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CC430-9F2B-4359-90A0-67193BA63580}"/>
              </a:ext>
            </a:extLst>
          </p:cNvPr>
          <p:cNvSpPr>
            <a:spLocks noGrp="1"/>
          </p:cNvSpPr>
          <p:nvPr>
            <p:ph type="ctrTitle"/>
          </p:nvPr>
        </p:nvSpPr>
        <p:spPr/>
        <p:txBody>
          <a:bodyPr>
            <a:noAutofit/>
          </a:bodyPr>
          <a:lstStyle/>
          <a:p>
            <a:br>
              <a:rPr lang="en-US" sz="4400"/>
            </a:br>
            <a:r>
              <a:rPr lang="en-US" sz="4400"/>
              <a:t> Real-time link quality estimation for industrial wireless sensor networks using dedicated nodes</a:t>
            </a:r>
          </a:p>
        </p:txBody>
      </p:sp>
      <p:sp>
        <p:nvSpPr>
          <p:cNvPr id="3" name="Subtitle 2">
            <a:extLst>
              <a:ext uri="{FF2B5EF4-FFF2-40B4-BE49-F238E27FC236}">
                <a16:creationId xmlns:a16="http://schemas.microsoft.com/office/drawing/2014/main" id="{33807E69-C3E6-4228-BE8C-EC63A0EC1192}"/>
              </a:ext>
            </a:extLst>
          </p:cNvPr>
          <p:cNvSpPr>
            <a:spLocks noGrp="1"/>
          </p:cNvSpPr>
          <p:nvPr>
            <p:ph type="subTitle" idx="1"/>
          </p:nvPr>
        </p:nvSpPr>
        <p:spPr/>
        <p:txBody>
          <a:bodyPr/>
          <a:lstStyle/>
          <a:p>
            <a:r>
              <a:rPr lang="pt-BR"/>
              <a:t>Ruan D. Gomes, Diego V. Queiroz c , Abel C. Lima Filho, Iguatemi E. Fonseca, Marcelo S. Alencar</a:t>
            </a:r>
            <a:endParaRPr lang="en-US"/>
          </a:p>
        </p:txBody>
      </p:sp>
    </p:spTree>
    <p:extLst>
      <p:ext uri="{BB962C8B-B14F-4D97-AF65-F5344CB8AC3E}">
        <p14:creationId xmlns:p14="http://schemas.microsoft.com/office/powerpoint/2010/main" val="259980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4778-73D1-4620-9F1A-3CBBB89FFCAA}"/>
              </a:ext>
            </a:extLst>
          </p:cNvPr>
          <p:cNvSpPr>
            <a:spLocks noGrp="1"/>
          </p:cNvSpPr>
          <p:nvPr>
            <p:ph type="title"/>
          </p:nvPr>
        </p:nvSpPr>
        <p:spPr/>
        <p:txBody>
          <a:bodyPr/>
          <a:lstStyle/>
          <a:p>
            <a:r>
              <a:rPr lang="en-US"/>
              <a:t>Outline</a:t>
            </a:r>
          </a:p>
        </p:txBody>
      </p:sp>
      <p:sp>
        <p:nvSpPr>
          <p:cNvPr id="3" name="Content Placeholder 2">
            <a:extLst>
              <a:ext uri="{FF2B5EF4-FFF2-40B4-BE49-F238E27FC236}">
                <a16:creationId xmlns:a16="http://schemas.microsoft.com/office/drawing/2014/main" id="{22F08C9B-30D4-4E6E-A050-133C88CA1FB1}"/>
              </a:ext>
            </a:extLst>
          </p:cNvPr>
          <p:cNvSpPr>
            <a:spLocks noGrp="1"/>
          </p:cNvSpPr>
          <p:nvPr>
            <p:ph idx="1"/>
          </p:nvPr>
        </p:nvSpPr>
        <p:spPr/>
        <p:txBody>
          <a:bodyPr>
            <a:normAutofit/>
          </a:bodyPr>
          <a:lstStyle/>
          <a:p>
            <a:pPr marL="514350" indent="-514350">
              <a:buAutoNum type="arabicPeriod"/>
            </a:pPr>
            <a:r>
              <a:rPr lang="en-US" sz="3200"/>
              <a:t>Main contribution</a:t>
            </a:r>
          </a:p>
          <a:p>
            <a:pPr marL="514350" indent="-514350">
              <a:buAutoNum type="arabicPeriod"/>
            </a:pPr>
            <a:r>
              <a:rPr lang="en-US" sz="3200"/>
              <a:t>The LQE node</a:t>
            </a:r>
          </a:p>
          <a:p>
            <a:pPr marL="514350" indent="-514350">
              <a:buAutoNum type="arabicPeriod"/>
            </a:pPr>
            <a:r>
              <a:rPr lang="en-US" sz="3200"/>
              <a:t>The link quality estimator</a:t>
            </a:r>
          </a:p>
          <a:p>
            <a:pPr marL="514350" indent="-514350">
              <a:buAutoNum type="arabicPeriod"/>
            </a:pPr>
            <a:r>
              <a:rPr lang="en-US" sz="3200"/>
              <a:t>Validation</a:t>
            </a:r>
          </a:p>
        </p:txBody>
      </p:sp>
    </p:spTree>
    <p:extLst>
      <p:ext uri="{BB962C8B-B14F-4D97-AF65-F5344CB8AC3E}">
        <p14:creationId xmlns:p14="http://schemas.microsoft.com/office/powerpoint/2010/main" val="153043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8425-23C0-4D4C-BDE0-016D607E7426}"/>
              </a:ext>
            </a:extLst>
          </p:cNvPr>
          <p:cNvSpPr>
            <a:spLocks noGrp="1"/>
          </p:cNvSpPr>
          <p:nvPr>
            <p:ph type="title"/>
          </p:nvPr>
        </p:nvSpPr>
        <p:spPr/>
        <p:txBody>
          <a:bodyPr/>
          <a:lstStyle/>
          <a:p>
            <a:r>
              <a:rPr lang="en-US"/>
              <a:t>Main contribution</a:t>
            </a:r>
          </a:p>
        </p:txBody>
      </p:sp>
      <p:sp>
        <p:nvSpPr>
          <p:cNvPr id="3" name="Content Placeholder 2">
            <a:extLst>
              <a:ext uri="{FF2B5EF4-FFF2-40B4-BE49-F238E27FC236}">
                <a16:creationId xmlns:a16="http://schemas.microsoft.com/office/drawing/2014/main" id="{A916C2FA-7F3A-43A7-B460-E089B8A63679}"/>
              </a:ext>
            </a:extLst>
          </p:cNvPr>
          <p:cNvSpPr>
            <a:spLocks noGrp="1"/>
          </p:cNvSpPr>
          <p:nvPr>
            <p:ph idx="1"/>
          </p:nvPr>
        </p:nvSpPr>
        <p:spPr/>
        <p:txBody>
          <a:bodyPr/>
          <a:lstStyle/>
          <a:p>
            <a:r>
              <a:rPr lang="en-US"/>
              <a:t>The realization of a comprehensive set of experiments in a real industrial environment using IEEE 802.15.4 radios to obtain insights on the implementation of the LQE node</a:t>
            </a:r>
          </a:p>
          <a:p>
            <a:r>
              <a:rPr lang="en-US"/>
              <a:t>The development of models to estimate the link quality in both directions and the influence of interference, using samples of RSSI and information obtained from received data packets</a:t>
            </a:r>
          </a:p>
          <a:p>
            <a:r>
              <a:rPr lang="en-US"/>
              <a:t>The design and implementation of a new type of node, the LQE node, and a novel LQE, to estimate the link quality in real-time</a:t>
            </a:r>
          </a:p>
          <a:p>
            <a:r>
              <a:rPr lang="en-US"/>
              <a:t>The validation of the proposed estimator through experiments in a real industrial environment.</a:t>
            </a:r>
          </a:p>
        </p:txBody>
      </p:sp>
    </p:spTree>
    <p:extLst>
      <p:ext uri="{BB962C8B-B14F-4D97-AF65-F5344CB8AC3E}">
        <p14:creationId xmlns:p14="http://schemas.microsoft.com/office/powerpoint/2010/main" val="168883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F561-4F2B-483E-915A-BAE0D4FF9879}"/>
              </a:ext>
            </a:extLst>
          </p:cNvPr>
          <p:cNvSpPr>
            <a:spLocks noGrp="1"/>
          </p:cNvSpPr>
          <p:nvPr>
            <p:ph type="title"/>
          </p:nvPr>
        </p:nvSpPr>
        <p:spPr/>
        <p:txBody>
          <a:bodyPr/>
          <a:lstStyle/>
          <a:p>
            <a:r>
              <a:rPr lang="en-US"/>
              <a:t>The LQE node</a:t>
            </a:r>
          </a:p>
        </p:txBody>
      </p:sp>
      <p:sp>
        <p:nvSpPr>
          <p:cNvPr id="3" name="Content Placeholder 2">
            <a:extLst>
              <a:ext uri="{FF2B5EF4-FFF2-40B4-BE49-F238E27FC236}">
                <a16:creationId xmlns:a16="http://schemas.microsoft.com/office/drawing/2014/main" id="{23D7CB63-1A69-4680-8DC6-1CCFDE538874}"/>
              </a:ext>
            </a:extLst>
          </p:cNvPr>
          <p:cNvSpPr>
            <a:spLocks noGrp="1"/>
          </p:cNvSpPr>
          <p:nvPr>
            <p:ph idx="1"/>
          </p:nvPr>
        </p:nvSpPr>
        <p:spPr>
          <a:xfrm>
            <a:off x="838200" y="4851399"/>
            <a:ext cx="10515600" cy="1325563"/>
          </a:xfrm>
        </p:spPr>
        <p:txBody>
          <a:bodyPr>
            <a:normAutofit fontScale="92500" lnSpcReduction="20000"/>
          </a:bodyPr>
          <a:lstStyle/>
          <a:p>
            <a:r>
              <a:rPr lang="en-US" sz="1800"/>
              <a:t>The LQE nodes estimate, in real-time, the quality of the links of the WSN, using a detailed analysis of the RSSI, while the other nodes remain operating normally</a:t>
            </a:r>
          </a:p>
          <a:p>
            <a:r>
              <a:rPr lang="en-US" sz="1800"/>
              <a:t>The LQE node can also be used to help in the resynchronization process after a channel switch</a:t>
            </a:r>
          </a:p>
          <a:p>
            <a:r>
              <a:rPr lang="en-US" sz="1800"/>
              <a:t>Raw values of RSSI or LQI are not enough to properly estimate the channel quality, but with a more detailed analysis of many values of RSSI it is possible to identify the problems that affect the channel quality</a:t>
            </a:r>
          </a:p>
        </p:txBody>
      </p:sp>
      <p:pic>
        <p:nvPicPr>
          <p:cNvPr id="5" name="Picture 4">
            <a:extLst>
              <a:ext uri="{FF2B5EF4-FFF2-40B4-BE49-F238E27FC236}">
                <a16:creationId xmlns:a16="http://schemas.microsoft.com/office/drawing/2014/main" id="{63E29427-85B9-487E-BE53-69C9A0B37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975" y="1381124"/>
            <a:ext cx="5734050" cy="3190875"/>
          </a:xfrm>
          <a:prstGeom prst="rect">
            <a:avLst/>
          </a:prstGeom>
        </p:spPr>
      </p:pic>
    </p:spTree>
    <p:extLst>
      <p:ext uri="{BB962C8B-B14F-4D97-AF65-F5344CB8AC3E}">
        <p14:creationId xmlns:p14="http://schemas.microsoft.com/office/powerpoint/2010/main" val="301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6105E-2DC2-44D9-82BA-984E52FE6819}"/>
              </a:ext>
            </a:extLst>
          </p:cNvPr>
          <p:cNvSpPr>
            <a:spLocks noGrp="1"/>
          </p:cNvSpPr>
          <p:nvPr>
            <p:ph type="title"/>
          </p:nvPr>
        </p:nvSpPr>
        <p:spPr/>
        <p:txBody>
          <a:bodyPr/>
          <a:lstStyle/>
          <a:p>
            <a:r>
              <a:rPr lang="en-US"/>
              <a:t>The LQE node</a:t>
            </a:r>
          </a:p>
        </p:txBody>
      </p:sp>
      <p:sp>
        <p:nvSpPr>
          <p:cNvPr id="3" name="Content Placeholder 2">
            <a:extLst>
              <a:ext uri="{FF2B5EF4-FFF2-40B4-BE49-F238E27FC236}">
                <a16:creationId xmlns:a16="http://schemas.microsoft.com/office/drawing/2014/main" id="{A72BF6CF-880E-43BF-AFF6-AE4C7DAB2AB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941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E4CD-8199-4A07-A963-DDBBDC425A35}"/>
              </a:ext>
            </a:extLst>
          </p:cNvPr>
          <p:cNvSpPr>
            <a:spLocks noGrp="1"/>
          </p:cNvSpPr>
          <p:nvPr>
            <p:ph type="title"/>
          </p:nvPr>
        </p:nvSpPr>
        <p:spPr/>
        <p:txBody>
          <a:bodyPr/>
          <a:lstStyle/>
          <a:p>
            <a:r>
              <a:rPr lang="en-US"/>
              <a:t>The link quality estimator</a:t>
            </a:r>
          </a:p>
        </p:txBody>
      </p:sp>
      <p:sp>
        <p:nvSpPr>
          <p:cNvPr id="3" name="Content Placeholder 2">
            <a:extLst>
              <a:ext uri="{FF2B5EF4-FFF2-40B4-BE49-F238E27FC236}">
                <a16:creationId xmlns:a16="http://schemas.microsoft.com/office/drawing/2014/main" id="{0AE21EF4-4A2E-4945-B145-E419CECEA717}"/>
              </a:ext>
            </a:extLst>
          </p:cNvPr>
          <p:cNvSpPr>
            <a:spLocks noGrp="1"/>
          </p:cNvSpPr>
          <p:nvPr>
            <p:ph idx="1"/>
          </p:nvPr>
        </p:nvSpPr>
        <p:spPr/>
        <p:txBody>
          <a:bodyPr/>
          <a:lstStyle/>
          <a:p>
            <a:r>
              <a:rPr lang="en-US"/>
              <a:t>The proposed estimator is executed at the receiver side, and combines three metrics, the </a:t>
            </a:r>
            <a:r>
              <a:rPr lang="en-US" i="1"/>
              <a:t>P f , C a </a:t>
            </a:r>
            <a:r>
              <a:rPr lang="en-US"/>
              <a:t>, and </a:t>
            </a:r>
            <a:r>
              <a:rPr lang="en-US" i="1"/>
              <a:t>P b </a:t>
            </a:r>
            <a:r>
              <a:rPr lang="en-US"/>
              <a:t>.</a:t>
            </a:r>
          </a:p>
          <a:p>
            <a:r>
              <a:rPr lang="en-US"/>
              <a:t>The </a:t>
            </a:r>
            <a:r>
              <a:rPr lang="en-US" i="1"/>
              <a:t>Pf </a:t>
            </a:r>
            <a:r>
              <a:rPr lang="en-US"/>
              <a:t>is based on the analysis of the RSSI of received packets, and captures the effects of fading and shadowing in the channel quality. It has high correlation with the PRR at the receiver (forward PRR).</a:t>
            </a:r>
          </a:p>
          <a:p>
            <a:r>
              <a:rPr lang="en-US"/>
              <a:t>The </a:t>
            </a:r>
            <a:r>
              <a:rPr lang="en-US" i="1"/>
              <a:t>Ca </a:t>
            </a:r>
            <a:r>
              <a:rPr lang="en-US"/>
              <a:t>is based on the analysis of RSSI values obtained in periods without packet reception, and captures the influence of interference sources in the channel quality </a:t>
            </a:r>
          </a:p>
          <a:p>
            <a:r>
              <a:rPr lang="en-US"/>
              <a:t>The </a:t>
            </a:r>
            <a:r>
              <a:rPr lang="en-US" i="1"/>
              <a:t>Pb </a:t>
            </a:r>
            <a:r>
              <a:rPr lang="en-US"/>
              <a:t>is based on the number of duplicate packets received, and has high correlation with the PRR at the transmitter (backward PRR)</a:t>
            </a:r>
          </a:p>
        </p:txBody>
      </p:sp>
    </p:spTree>
    <p:extLst>
      <p:ext uri="{BB962C8B-B14F-4D97-AF65-F5344CB8AC3E}">
        <p14:creationId xmlns:p14="http://schemas.microsoft.com/office/powerpoint/2010/main" val="3548218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B3ED3-B631-4721-B2B5-05F89C1C3407}"/>
              </a:ext>
            </a:extLst>
          </p:cNvPr>
          <p:cNvSpPr>
            <a:spLocks noGrp="1"/>
          </p:cNvSpPr>
          <p:nvPr>
            <p:ph type="title"/>
          </p:nvPr>
        </p:nvSpPr>
        <p:spPr/>
        <p:txBody>
          <a:bodyPr/>
          <a:lstStyle/>
          <a:p>
            <a:r>
              <a:rPr lang="en-US"/>
              <a:t>The link quality estimator</a:t>
            </a:r>
          </a:p>
        </p:txBody>
      </p:sp>
      <p:sp>
        <p:nvSpPr>
          <p:cNvPr id="3" name="Content Placeholder 2">
            <a:extLst>
              <a:ext uri="{FF2B5EF4-FFF2-40B4-BE49-F238E27FC236}">
                <a16:creationId xmlns:a16="http://schemas.microsoft.com/office/drawing/2014/main" id="{C67A24FE-F4F9-4D13-8DE6-F0999F17B730}"/>
              </a:ext>
            </a:extLst>
          </p:cNvPr>
          <p:cNvSpPr>
            <a:spLocks noGrp="1"/>
          </p:cNvSpPr>
          <p:nvPr>
            <p:ph idx="1"/>
          </p:nvPr>
        </p:nvSpPr>
        <p:spPr/>
        <p:txBody>
          <a:bodyPr/>
          <a:lstStyle/>
          <a:p>
            <a:r>
              <a:rPr lang="en-US"/>
              <a:t>To analyze the channel characteristics, two metrics were obtained from the RSSI and LQI plots.</a:t>
            </a:r>
          </a:p>
          <a:p>
            <a:r>
              <a:rPr lang="en-US"/>
              <a:t>The first metric, called Ravg is the mean value of the normalized RSSI or LQI</a:t>
            </a:r>
          </a:p>
          <a:p>
            <a:r>
              <a:rPr lang="en-US"/>
              <a:t>The second metric, called davg , represents the average variation of the signal in relation to the mean value</a:t>
            </a:r>
          </a:p>
        </p:txBody>
      </p:sp>
    </p:spTree>
    <p:extLst>
      <p:ext uri="{BB962C8B-B14F-4D97-AF65-F5344CB8AC3E}">
        <p14:creationId xmlns:p14="http://schemas.microsoft.com/office/powerpoint/2010/main" val="2801370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186E8-1D9C-4954-8BD9-9E8F84F6714B}"/>
              </a:ext>
            </a:extLst>
          </p:cNvPr>
          <p:cNvSpPr>
            <a:spLocks noGrp="1"/>
          </p:cNvSpPr>
          <p:nvPr>
            <p:ph type="title"/>
          </p:nvPr>
        </p:nvSpPr>
        <p:spPr/>
        <p:txBody>
          <a:bodyPr/>
          <a:lstStyle/>
          <a:p>
            <a:r>
              <a:rPr lang="en-US"/>
              <a:t>The link quality estimator</a:t>
            </a:r>
          </a:p>
        </p:txBody>
      </p:sp>
      <p:pic>
        <p:nvPicPr>
          <p:cNvPr id="5" name="Content Placeholder 4">
            <a:extLst>
              <a:ext uri="{FF2B5EF4-FFF2-40B4-BE49-F238E27FC236}">
                <a16:creationId xmlns:a16="http://schemas.microsoft.com/office/drawing/2014/main" id="{4F6B35DE-CA9F-4552-823B-534275A4F70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539"/>
          <a:stretch/>
        </p:blipFill>
        <p:spPr>
          <a:xfrm>
            <a:off x="1967884" y="1220170"/>
            <a:ext cx="4128116" cy="5475193"/>
          </a:xfrm>
        </p:spPr>
      </p:pic>
      <p:pic>
        <p:nvPicPr>
          <p:cNvPr id="7" name="Picture 6">
            <a:extLst>
              <a:ext uri="{FF2B5EF4-FFF2-40B4-BE49-F238E27FC236}">
                <a16:creationId xmlns:a16="http://schemas.microsoft.com/office/drawing/2014/main" id="{B9562947-67F8-4713-8AA8-31BF5C6F4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6293" y="1220170"/>
            <a:ext cx="3797823" cy="5272705"/>
          </a:xfrm>
          <a:prstGeom prst="rect">
            <a:avLst/>
          </a:prstGeom>
        </p:spPr>
      </p:pic>
    </p:spTree>
    <p:extLst>
      <p:ext uri="{BB962C8B-B14F-4D97-AF65-F5344CB8AC3E}">
        <p14:creationId xmlns:p14="http://schemas.microsoft.com/office/powerpoint/2010/main" val="1431042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9D59-D896-4D49-97DF-B70A81AACFD2}"/>
              </a:ext>
            </a:extLst>
          </p:cNvPr>
          <p:cNvSpPr>
            <a:spLocks noGrp="1"/>
          </p:cNvSpPr>
          <p:nvPr>
            <p:ph type="title"/>
          </p:nvPr>
        </p:nvSpPr>
        <p:spPr/>
        <p:txBody>
          <a:bodyPr/>
          <a:lstStyle/>
          <a:p>
            <a:r>
              <a:rPr lang="en-US"/>
              <a:t>The link quality estimator</a:t>
            </a:r>
          </a:p>
        </p:txBody>
      </p:sp>
      <p:sp>
        <p:nvSpPr>
          <p:cNvPr id="3" name="Content Placeholder 2">
            <a:extLst>
              <a:ext uri="{FF2B5EF4-FFF2-40B4-BE49-F238E27FC236}">
                <a16:creationId xmlns:a16="http://schemas.microsoft.com/office/drawing/2014/main" id="{3DFB1926-3639-486A-BEAD-900FD0D631CA}"/>
              </a:ext>
            </a:extLst>
          </p:cNvPr>
          <p:cNvSpPr>
            <a:spLocks noGrp="1"/>
          </p:cNvSpPr>
          <p:nvPr>
            <p:ph idx="1"/>
          </p:nvPr>
        </p:nvSpPr>
        <p:spPr/>
        <p:txBody>
          <a:bodyPr/>
          <a:lstStyle/>
          <a:p>
            <a:r>
              <a:rPr lang="en-US"/>
              <a:t>The implementation of LQI is vendor-specific, which makes difficult to develop a general solution using this metric</a:t>
            </a:r>
          </a:p>
        </p:txBody>
      </p:sp>
    </p:spTree>
    <p:extLst>
      <p:ext uri="{BB962C8B-B14F-4D97-AF65-F5344CB8AC3E}">
        <p14:creationId xmlns:p14="http://schemas.microsoft.com/office/powerpoint/2010/main" val="1505018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452</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  Real-time link quality estimation for industrial wireless sensor networks using dedicated nodes</vt:lpstr>
      <vt:lpstr>Outline</vt:lpstr>
      <vt:lpstr>Main contribution</vt:lpstr>
      <vt:lpstr>The LQE node</vt:lpstr>
      <vt:lpstr>The LQE node</vt:lpstr>
      <vt:lpstr>The link quality estimator</vt:lpstr>
      <vt:lpstr>The link quality estimator</vt:lpstr>
      <vt:lpstr>The link quality estimator</vt:lpstr>
      <vt:lpstr>The link quality estimator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Real-time link quality estimation for industrial wireless sensor networks using dedicate d nodes</dc:title>
  <dc:creator>Mr Tan</dc:creator>
  <cp:lastModifiedBy>Mr Tan</cp:lastModifiedBy>
  <cp:revision>19</cp:revision>
  <dcterms:created xsi:type="dcterms:W3CDTF">2020-11-25T06:11:53Z</dcterms:created>
  <dcterms:modified xsi:type="dcterms:W3CDTF">2021-01-07T07:35:15Z</dcterms:modified>
</cp:coreProperties>
</file>
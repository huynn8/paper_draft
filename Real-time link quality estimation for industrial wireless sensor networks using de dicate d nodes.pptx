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4" r:id="rId6"/>
    <p:sldId id="260" r:id="rId7"/>
    <p:sldId id="261" r:id="rId8"/>
    <p:sldId id="265" r:id="rId9"/>
    <p:sldId id="262" r:id="rId10"/>
    <p:sldId id="263"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144"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9064B88-0250-4C12-9880-F95D569FCD97}" type="doc">
      <dgm:prSet loTypeId="urn:microsoft.com/office/officeart/2008/layout/LinedList" loCatId="list" qsTypeId="urn:microsoft.com/office/officeart/2005/8/quickstyle/simple1" qsCatId="simple" csTypeId="urn:microsoft.com/office/officeart/2005/8/colors/colorful2" csCatId="colorful" phldr="1"/>
      <dgm:spPr/>
      <dgm:t>
        <a:bodyPr/>
        <a:lstStyle/>
        <a:p>
          <a:endParaRPr lang="en-US"/>
        </a:p>
      </dgm:t>
    </dgm:pt>
    <dgm:pt modelId="{3375B159-4CB8-453E-AFC0-211AC85785F3}">
      <dgm:prSet/>
      <dgm:spPr/>
      <dgm:t>
        <a:bodyPr/>
        <a:lstStyle/>
        <a:p>
          <a:r>
            <a:rPr lang="en-US" dirty="0"/>
            <a:t>The results have considered the values of RSSI obtained from all received packets during a period of 100 s. During this time interval, 1000 packets were transmitted with a rate of 10 packets/s</a:t>
          </a:r>
        </a:p>
      </dgm:t>
    </dgm:pt>
    <dgm:pt modelId="{03422294-79A7-4316-A6DC-526E918F90A8}" type="parTrans" cxnId="{DBEB3176-DD60-4DC7-B816-E8D2DC773F2C}">
      <dgm:prSet/>
      <dgm:spPr/>
      <dgm:t>
        <a:bodyPr/>
        <a:lstStyle/>
        <a:p>
          <a:endParaRPr lang="en-US"/>
        </a:p>
      </dgm:t>
    </dgm:pt>
    <dgm:pt modelId="{05577F81-066D-442E-A4D1-64E312B102E0}" type="sibTrans" cxnId="{DBEB3176-DD60-4DC7-B816-E8D2DC773F2C}">
      <dgm:prSet/>
      <dgm:spPr/>
      <dgm:t>
        <a:bodyPr/>
        <a:lstStyle/>
        <a:p>
          <a:endParaRPr lang="en-US"/>
        </a:p>
      </dgm:t>
    </dgm:pt>
    <dgm:pt modelId="{1E506925-39FD-4A27-824D-11F201EC9463}">
      <dgm:prSet/>
      <dgm:spPr/>
      <dgm:t>
        <a:bodyPr/>
        <a:lstStyle/>
        <a:p>
          <a:r>
            <a:rPr lang="en-US" dirty="0"/>
            <a:t>However, in some applications, the Packet Transmission Rate (PTR) can be less than 10 packets/s. </a:t>
          </a:r>
        </a:p>
        <a:p>
          <a:r>
            <a:rPr lang="en-US" dirty="0"/>
            <a:t>To investigate the accuracy of the estimator for other values of PTR, an evaluation was made considering a PTR equal to 10, 5, 1, 0.5, and 0.2 packets/s</a:t>
          </a:r>
        </a:p>
        <a:p>
          <a:r>
            <a:rPr lang="en-US" dirty="0"/>
            <a:t>The measured PRR was obtained by calculating a new value for every 200 received packets</a:t>
          </a:r>
        </a:p>
      </dgm:t>
    </dgm:pt>
    <dgm:pt modelId="{664350E1-7194-4BBF-94D9-52BBF80C3256}" type="parTrans" cxnId="{00EE303C-1E86-445A-B460-F1954D90AEC0}">
      <dgm:prSet/>
      <dgm:spPr/>
      <dgm:t>
        <a:bodyPr/>
        <a:lstStyle/>
        <a:p>
          <a:endParaRPr lang="en-US"/>
        </a:p>
      </dgm:t>
    </dgm:pt>
    <dgm:pt modelId="{B486317A-D1BE-41FD-8777-71E64F152612}" type="sibTrans" cxnId="{00EE303C-1E86-445A-B460-F1954D90AEC0}">
      <dgm:prSet/>
      <dgm:spPr/>
      <dgm:t>
        <a:bodyPr/>
        <a:lstStyle/>
        <a:p>
          <a:endParaRPr lang="en-US"/>
        </a:p>
      </dgm:t>
    </dgm:pt>
    <dgm:pt modelId="{6AD2E08F-7D17-4C0D-8A46-C4D0F3EEF53E}" type="pres">
      <dgm:prSet presAssocID="{79064B88-0250-4C12-9880-F95D569FCD97}" presName="vert0" presStyleCnt="0">
        <dgm:presLayoutVars>
          <dgm:dir/>
          <dgm:animOne val="branch"/>
          <dgm:animLvl val="lvl"/>
        </dgm:presLayoutVars>
      </dgm:prSet>
      <dgm:spPr/>
    </dgm:pt>
    <dgm:pt modelId="{5463FB6F-9551-40A1-AA32-79E523F35ACB}" type="pres">
      <dgm:prSet presAssocID="{3375B159-4CB8-453E-AFC0-211AC85785F3}" presName="thickLine" presStyleLbl="alignNode1" presStyleIdx="0" presStyleCnt="2"/>
      <dgm:spPr/>
    </dgm:pt>
    <dgm:pt modelId="{589CCA74-D547-4635-940F-5ADFA13BF053}" type="pres">
      <dgm:prSet presAssocID="{3375B159-4CB8-453E-AFC0-211AC85785F3}" presName="horz1" presStyleCnt="0"/>
      <dgm:spPr/>
    </dgm:pt>
    <dgm:pt modelId="{FBC17EAD-7F87-4C4A-972F-2E490A33402C}" type="pres">
      <dgm:prSet presAssocID="{3375B159-4CB8-453E-AFC0-211AC85785F3}" presName="tx1" presStyleLbl="revTx" presStyleIdx="0" presStyleCnt="2"/>
      <dgm:spPr/>
    </dgm:pt>
    <dgm:pt modelId="{24E4D1CF-A2B2-4D0E-82B1-0507F0A14328}" type="pres">
      <dgm:prSet presAssocID="{3375B159-4CB8-453E-AFC0-211AC85785F3}" presName="vert1" presStyleCnt="0"/>
      <dgm:spPr/>
    </dgm:pt>
    <dgm:pt modelId="{A324149E-E040-48B3-BC00-210914A10482}" type="pres">
      <dgm:prSet presAssocID="{1E506925-39FD-4A27-824D-11F201EC9463}" presName="thickLine" presStyleLbl="alignNode1" presStyleIdx="1" presStyleCnt="2"/>
      <dgm:spPr/>
    </dgm:pt>
    <dgm:pt modelId="{5241B37A-AD3D-4C8E-8274-ECC11E5837D1}" type="pres">
      <dgm:prSet presAssocID="{1E506925-39FD-4A27-824D-11F201EC9463}" presName="horz1" presStyleCnt="0"/>
      <dgm:spPr/>
    </dgm:pt>
    <dgm:pt modelId="{27A9D51F-074A-43E0-A25A-BAF4E4A9363B}" type="pres">
      <dgm:prSet presAssocID="{1E506925-39FD-4A27-824D-11F201EC9463}" presName="tx1" presStyleLbl="revTx" presStyleIdx="1" presStyleCnt="2"/>
      <dgm:spPr/>
    </dgm:pt>
    <dgm:pt modelId="{BF411137-FFBC-4C51-99C4-917E613499F5}" type="pres">
      <dgm:prSet presAssocID="{1E506925-39FD-4A27-824D-11F201EC9463}" presName="vert1" presStyleCnt="0"/>
      <dgm:spPr/>
    </dgm:pt>
  </dgm:ptLst>
  <dgm:cxnLst>
    <dgm:cxn modelId="{3FB16C14-BD0D-458E-BECC-7F44C0CFD190}" type="presOf" srcId="{1E506925-39FD-4A27-824D-11F201EC9463}" destId="{27A9D51F-074A-43E0-A25A-BAF4E4A9363B}" srcOrd="0" destOrd="0" presId="urn:microsoft.com/office/officeart/2008/layout/LinedList"/>
    <dgm:cxn modelId="{A30BDB2F-212B-461D-B1F2-F4C5C44F30B3}" type="presOf" srcId="{3375B159-4CB8-453E-AFC0-211AC85785F3}" destId="{FBC17EAD-7F87-4C4A-972F-2E490A33402C}" srcOrd="0" destOrd="0" presId="urn:microsoft.com/office/officeart/2008/layout/LinedList"/>
    <dgm:cxn modelId="{00EE303C-1E86-445A-B460-F1954D90AEC0}" srcId="{79064B88-0250-4C12-9880-F95D569FCD97}" destId="{1E506925-39FD-4A27-824D-11F201EC9463}" srcOrd="1" destOrd="0" parTransId="{664350E1-7194-4BBF-94D9-52BBF80C3256}" sibTransId="{B486317A-D1BE-41FD-8777-71E64F152612}"/>
    <dgm:cxn modelId="{DBEB3176-DD60-4DC7-B816-E8D2DC773F2C}" srcId="{79064B88-0250-4C12-9880-F95D569FCD97}" destId="{3375B159-4CB8-453E-AFC0-211AC85785F3}" srcOrd="0" destOrd="0" parTransId="{03422294-79A7-4316-A6DC-526E918F90A8}" sibTransId="{05577F81-066D-442E-A4D1-64E312B102E0}"/>
    <dgm:cxn modelId="{5B10D0C9-495B-47A9-832E-3B2F48CB259D}" type="presOf" srcId="{79064B88-0250-4C12-9880-F95D569FCD97}" destId="{6AD2E08F-7D17-4C0D-8A46-C4D0F3EEF53E}" srcOrd="0" destOrd="0" presId="urn:microsoft.com/office/officeart/2008/layout/LinedList"/>
    <dgm:cxn modelId="{D22D7443-9942-41E8-965F-F05DC59DCA0D}" type="presParOf" srcId="{6AD2E08F-7D17-4C0D-8A46-C4D0F3EEF53E}" destId="{5463FB6F-9551-40A1-AA32-79E523F35ACB}" srcOrd="0" destOrd="0" presId="urn:microsoft.com/office/officeart/2008/layout/LinedList"/>
    <dgm:cxn modelId="{35109D3E-2BE6-4316-94F9-C6DF93EE24C5}" type="presParOf" srcId="{6AD2E08F-7D17-4C0D-8A46-C4D0F3EEF53E}" destId="{589CCA74-D547-4635-940F-5ADFA13BF053}" srcOrd="1" destOrd="0" presId="urn:microsoft.com/office/officeart/2008/layout/LinedList"/>
    <dgm:cxn modelId="{A74E936C-DAA9-4DE0-9528-7EB0941034AB}" type="presParOf" srcId="{589CCA74-D547-4635-940F-5ADFA13BF053}" destId="{FBC17EAD-7F87-4C4A-972F-2E490A33402C}" srcOrd="0" destOrd="0" presId="urn:microsoft.com/office/officeart/2008/layout/LinedList"/>
    <dgm:cxn modelId="{E2F7E349-CE2C-4277-8568-A8E3B0BD2DA8}" type="presParOf" srcId="{589CCA74-D547-4635-940F-5ADFA13BF053}" destId="{24E4D1CF-A2B2-4D0E-82B1-0507F0A14328}" srcOrd="1" destOrd="0" presId="urn:microsoft.com/office/officeart/2008/layout/LinedList"/>
    <dgm:cxn modelId="{C8E039B8-95F2-4166-AEF8-7820F6B8F5FB}" type="presParOf" srcId="{6AD2E08F-7D17-4C0D-8A46-C4D0F3EEF53E}" destId="{A324149E-E040-48B3-BC00-210914A10482}" srcOrd="2" destOrd="0" presId="urn:microsoft.com/office/officeart/2008/layout/LinedList"/>
    <dgm:cxn modelId="{FF764F1E-6B7E-42F6-A280-9617E5F60EB3}" type="presParOf" srcId="{6AD2E08F-7D17-4C0D-8A46-C4D0F3EEF53E}" destId="{5241B37A-AD3D-4C8E-8274-ECC11E5837D1}" srcOrd="3" destOrd="0" presId="urn:microsoft.com/office/officeart/2008/layout/LinedList"/>
    <dgm:cxn modelId="{2B53F409-9343-416D-B7F8-0A72E0A1E338}" type="presParOf" srcId="{5241B37A-AD3D-4C8E-8274-ECC11E5837D1}" destId="{27A9D51F-074A-43E0-A25A-BAF4E4A9363B}" srcOrd="0" destOrd="0" presId="urn:microsoft.com/office/officeart/2008/layout/LinedList"/>
    <dgm:cxn modelId="{C9A14ACF-F52F-4916-814D-77AB459015C7}" type="presParOf" srcId="{5241B37A-AD3D-4C8E-8274-ECC11E5837D1}" destId="{BF411137-FFBC-4C51-99C4-917E613499F5}"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5E515C3D-6731-4587-9009-D45552D7112D}" type="doc">
      <dgm:prSet loTypeId="urn:microsoft.com/office/officeart/2008/layout/LinedList" loCatId="list" qsTypeId="urn:microsoft.com/office/officeart/2005/8/quickstyle/simple1" qsCatId="simple" csTypeId="urn:microsoft.com/office/officeart/2005/8/colors/colorful2" csCatId="colorful"/>
      <dgm:spPr/>
      <dgm:t>
        <a:bodyPr/>
        <a:lstStyle/>
        <a:p>
          <a:endParaRPr lang="en-US"/>
        </a:p>
      </dgm:t>
    </dgm:pt>
    <dgm:pt modelId="{8276AE00-3154-4BBE-B043-FC30153A8A74}">
      <dgm:prSet/>
      <dgm:spPr/>
      <dgm:t>
        <a:bodyPr/>
        <a:lstStyle/>
        <a:p>
          <a:r>
            <a:rPr lang="en-US"/>
            <a:t>The polynomial model is capable to identify multipath problems but does not capture the effect of interference</a:t>
          </a:r>
        </a:p>
      </dgm:t>
    </dgm:pt>
    <dgm:pt modelId="{BA23E84C-A911-4DB3-8780-615BF37B1CFE}" type="parTrans" cxnId="{1484508F-3875-4B71-B91A-9C8BA20527DE}">
      <dgm:prSet/>
      <dgm:spPr/>
      <dgm:t>
        <a:bodyPr/>
        <a:lstStyle/>
        <a:p>
          <a:endParaRPr lang="en-US"/>
        </a:p>
      </dgm:t>
    </dgm:pt>
    <dgm:pt modelId="{4A5DE7C6-66FD-4333-9363-072B98ECA32D}" type="sibTrans" cxnId="{1484508F-3875-4B71-B91A-9C8BA20527DE}">
      <dgm:prSet/>
      <dgm:spPr/>
      <dgm:t>
        <a:bodyPr/>
        <a:lstStyle/>
        <a:p>
          <a:endParaRPr lang="en-US"/>
        </a:p>
      </dgm:t>
    </dgm:pt>
    <dgm:pt modelId="{7461345C-EB52-4661-AC03-87F81BB32AE7}">
      <dgm:prSet/>
      <dgm:spPr/>
      <dgm:t>
        <a:bodyPr/>
        <a:lstStyle/>
        <a:p>
          <a:r>
            <a:rPr lang="en-US"/>
            <a:t>As only RSSI values of received packets are used to calculate Pf, this metric can present a high value, even with a high number of lost packets due to collisions. </a:t>
          </a:r>
        </a:p>
      </dgm:t>
    </dgm:pt>
    <dgm:pt modelId="{1A5FC7A4-B675-4A74-9978-5F872843F2B0}" type="parTrans" cxnId="{C3525D67-3E1E-474C-8493-68A00E17F9D0}">
      <dgm:prSet/>
      <dgm:spPr/>
      <dgm:t>
        <a:bodyPr/>
        <a:lstStyle/>
        <a:p>
          <a:endParaRPr lang="en-US"/>
        </a:p>
      </dgm:t>
    </dgm:pt>
    <dgm:pt modelId="{9C0FA7E9-F5F5-411F-A1FE-852DC49542B9}" type="sibTrans" cxnId="{C3525D67-3E1E-474C-8493-68A00E17F9D0}">
      <dgm:prSet/>
      <dgm:spPr/>
      <dgm:t>
        <a:bodyPr/>
        <a:lstStyle/>
        <a:p>
          <a:endParaRPr lang="en-US"/>
        </a:p>
      </dgm:t>
    </dgm:pt>
    <dgm:pt modelId="{82D2114C-859B-451E-87FC-454CE4D32AFE}">
      <dgm:prSet/>
      <dgm:spPr/>
      <dgm:t>
        <a:bodyPr/>
        <a:lstStyle/>
        <a:p>
          <a:r>
            <a:rPr lang="en-US"/>
            <a:t>Thus, it is necessary to capture the interference effects to properly estimate the quality of the link</a:t>
          </a:r>
        </a:p>
      </dgm:t>
    </dgm:pt>
    <dgm:pt modelId="{FE301F21-484D-4855-889A-0DF899488741}" type="parTrans" cxnId="{EB391089-0330-4563-8533-4AA067008F0F}">
      <dgm:prSet/>
      <dgm:spPr/>
      <dgm:t>
        <a:bodyPr/>
        <a:lstStyle/>
        <a:p>
          <a:endParaRPr lang="en-US"/>
        </a:p>
      </dgm:t>
    </dgm:pt>
    <dgm:pt modelId="{293C5896-0CD2-46EE-B8A9-76A76EE28EAD}" type="sibTrans" cxnId="{EB391089-0330-4563-8533-4AA067008F0F}">
      <dgm:prSet/>
      <dgm:spPr/>
      <dgm:t>
        <a:bodyPr/>
        <a:lstStyle/>
        <a:p>
          <a:endParaRPr lang="en-US"/>
        </a:p>
      </dgm:t>
    </dgm:pt>
    <dgm:pt modelId="{CE34CE8E-E8A3-4FF7-97FF-EA121C53F5C1}" type="pres">
      <dgm:prSet presAssocID="{5E515C3D-6731-4587-9009-D45552D7112D}" presName="vert0" presStyleCnt="0">
        <dgm:presLayoutVars>
          <dgm:dir/>
          <dgm:animOne val="branch"/>
          <dgm:animLvl val="lvl"/>
        </dgm:presLayoutVars>
      </dgm:prSet>
      <dgm:spPr/>
    </dgm:pt>
    <dgm:pt modelId="{6442D76C-01D0-4A23-866A-8AEABCDE1FE7}" type="pres">
      <dgm:prSet presAssocID="{8276AE00-3154-4BBE-B043-FC30153A8A74}" presName="thickLine" presStyleLbl="alignNode1" presStyleIdx="0" presStyleCnt="3"/>
      <dgm:spPr/>
    </dgm:pt>
    <dgm:pt modelId="{927DC419-FE42-47EB-BA3D-1A59A100B592}" type="pres">
      <dgm:prSet presAssocID="{8276AE00-3154-4BBE-B043-FC30153A8A74}" presName="horz1" presStyleCnt="0"/>
      <dgm:spPr/>
    </dgm:pt>
    <dgm:pt modelId="{EDA3C7A4-7C9D-470C-BEFB-2D96C005AAD3}" type="pres">
      <dgm:prSet presAssocID="{8276AE00-3154-4BBE-B043-FC30153A8A74}" presName="tx1" presStyleLbl="revTx" presStyleIdx="0" presStyleCnt="3"/>
      <dgm:spPr/>
    </dgm:pt>
    <dgm:pt modelId="{2126E510-F76F-442E-83E9-0FCBDAC4B479}" type="pres">
      <dgm:prSet presAssocID="{8276AE00-3154-4BBE-B043-FC30153A8A74}" presName="vert1" presStyleCnt="0"/>
      <dgm:spPr/>
    </dgm:pt>
    <dgm:pt modelId="{280F7BE2-A558-49F8-9269-7B40228C9D25}" type="pres">
      <dgm:prSet presAssocID="{7461345C-EB52-4661-AC03-87F81BB32AE7}" presName="thickLine" presStyleLbl="alignNode1" presStyleIdx="1" presStyleCnt="3"/>
      <dgm:spPr/>
    </dgm:pt>
    <dgm:pt modelId="{4C5A5381-4B91-4FD3-9620-EE74D127A612}" type="pres">
      <dgm:prSet presAssocID="{7461345C-EB52-4661-AC03-87F81BB32AE7}" presName="horz1" presStyleCnt="0"/>
      <dgm:spPr/>
    </dgm:pt>
    <dgm:pt modelId="{7A5701D6-0913-4C91-A637-1D999F79C06D}" type="pres">
      <dgm:prSet presAssocID="{7461345C-EB52-4661-AC03-87F81BB32AE7}" presName="tx1" presStyleLbl="revTx" presStyleIdx="1" presStyleCnt="3"/>
      <dgm:spPr/>
    </dgm:pt>
    <dgm:pt modelId="{37F4322E-157D-4D5C-BADF-A0FA58C69B27}" type="pres">
      <dgm:prSet presAssocID="{7461345C-EB52-4661-AC03-87F81BB32AE7}" presName="vert1" presStyleCnt="0"/>
      <dgm:spPr/>
    </dgm:pt>
    <dgm:pt modelId="{79E1CA92-AD7C-44FA-A170-A68E466F6139}" type="pres">
      <dgm:prSet presAssocID="{82D2114C-859B-451E-87FC-454CE4D32AFE}" presName="thickLine" presStyleLbl="alignNode1" presStyleIdx="2" presStyleCnt="3"/>
      <dgm:spPr/>
    </dgm:pt>
    <dgm:pt modelId="{14297069-AD62-4708-8AF6-706502077D38}" type="pres">
      <dgm:prSet presAssocID="{82D2114C-859B-451E-87FC-454CE4D32AFE}" presName="horz1" presStyleCnt="0"/>
      <dgm:spPr/>
    </dgm:pt>
    <dgm:pt modelId="{4971BF5B-AFA8-4333-B989-A0AB0274A230}" type="pres">
      <dgm:prSet presAssocID="{82D2114C-859B-451E-87FC-454CE4D32AFE}" presName="tx1" presStyleLbl="revTx" presStyleIdx="2" presStyleCnt="3"/>
      <dgm:spPr/>
    </dgm:pt>
    <dgm:pt modelId="{A0782F05-2628-4D10-AF24-4B008608562C}" type="pres">
      <dgm:prSet presAssocID="{82D2114C-859B-451E-87FC-454CE4D32AFE}" presName="vert1" presStyleCnt="0"/>
      <dgm:spPr/>
    </dgm:pt>
  </dgm:ptLst>
  <dgm:cxnLst>
    <dgm:cxn modelId="{6702A728-D13F-4321-8926-E5FA78D5C031}" type="presOf" srcId="{8276AE00-3154-4BBE-B043-FC30153A8A74}" destId="{EDA3C7A4-7C9D-470C-BEFB-2D96C005AAD3}" srcOrd="0" destOrd="0" presId="urn:microsoft.com/office/officeart/2008/layout/LinedList"/>
    <dgm:cxn modelId="{C3525D67-3E1E-474C-8493-68A00E17F9D0}" srcId="{5E515C3D-6731-4587-9009-D45552D7112D}" destId="{7461345C-EB52-4661-AC03-87F81BB32AE7}" srcOrd="1" destOrd="0" parTransId="{1A5FC7A4-B675-4A74-9978-5F872843F2B0}" sibTransId="{9C0FA7E9-F5F5-411F-A1FE-852DC49542B9}"/>
    <dgm:cxn modelId="{CDFF287D-ED3A-4686-B9AF-5876CAA6C6A7}" type="presOf" srcId="{5E515C3D-6731-4587-9009-D45552D7112D}" destId="{CE34CE8E-E8A3-4FF7-97FF-EA121C53F5C1}" srcOrd="0" destOrd="0" presId="urn:microsoft.com/office/officeart/2008/layout/LinedList"/>
    <dgm:cxn modelId="{EB391089-0330-4563-8533-4AA067008F0F}" srcId="{5E515C3D-6731-4587-9009-D45552D7112D}" destId="{82D2114C-859B-451E-87FC-454CE4D32AFE}" srcOrd="2" destOrd="0" parTransId="{FE301F21-484D-4855-889A-0DF899488741}" sibTransId="{293C5896-0CD2-46EE-B8A9-76A76EE28EAD}"/>
    <dgm:cxn modelId="{1484508F-3875-4B71-B91A-9C8BA20527DE}" srcId="{5E515C3D-6731-4587-9009-D45552D7112D}" destId="{8276AE00-3154-4BBE-B043-FC30153A8A74}" srcOrd="0" destOrd="0" parTransId="{BA23E84C-A911-4DB3-8780-615BF37B1CFE}" sibTransId="{4A5DE7C6-66FD-4333-9363-072B98ECA32D}"/>
    <dgm:cxn modelId="{35713DA5-842A-4FCF-8B0A-169EC6E0138A}" type="presOf" srcId="{82D2114C-859B-451E-87FC-454CE4D32AFE}" destId="{4971BF5B-AFA8-4333-B989-A0AB0274A230}" srcOrd="0" destOrd="0" presId="urn:microsoft.com/office/officeart/2008/layout/LinedList"/>
    <dgm:cxn modelId="{264A24C9-4293-4089-BB45-17AB347F7849}" type="presOf" srcId="{7461345C-EB52-4661-AC03-87F81BB32AE7}" destId="{7A5701D6-0913-4C91-A637-1D999F79C06D}" srcOrd="0" destOrd="0" presId="urn:microsoft.com/office/officeart/2008/layout/LinedList"/>
    <dgm:cxn modelId="{95E77E80-9DAF-4B33-B81C-C021DFA47834}" type="presParOf" srcId="{CE34CE8E-E8A3-4FF7-97FF-EA121C53F5C1}" destId="{6442D76C-01D0-4A23-866A-8AEABCDE1FE7}" srcOrd="0" destOrd="0" presId="urn:microsoft.com/office/officeart/2008/layout/LinedList"/>
    <dgm:cxn modelId="{B6E92145-5190-4C53-8B69-B53B7C295D1B}" type="presParOf" srcId="{CE34CE8E-E8A3-4FF7-97FF-EA121C53F5C1}" destId="{927DC419-FE42-47EB-BA3D-1A59A100B592}" srcOrd="1" destOrd="0" presId="urn:microsoft.com/office/officeart/2008/layout/LinedList"/>
    <dgm:cxn modelId="{61AE71D3-5BC3-4D51-92B8-969CC6E3351C}" type="presParOf" srcId="{927DC419-FE42-47EB-BA3D-1A59A100B592}" destId="{EDA3C7A4-7C9D-470C-BEFB-2D96C005AAD3}" srcOrd="0" destOrd="0" presId="urn:microsoft.com/office/officeart/2008/layout/LinedList"/>
    <dgm:cxn modelId="{29505505-FBC3-4C33-B922-4D79A1D46F82}" type="presParOf" srcId="{927DC419-FE42-47EB-BA3D-1A59A100B592}" destId="{2126E510-F76F-442E-83E9-0FCBDAC4B479}" srcOrd="1" destOrd="0" presId="urn:microsoft.com/office/officeart/2008/layout/LinedList"/>
    <dgm:cxn modelId="{562F2161-C77B-47E1-8B69-46E3AC9549BD}" type="presParOf" srcId="{CE34CE8E-E8A3-4FF7-97FF-EA121C53F5C1}" destId="{280F7BE2-A558-49F8-9269-7B40228C9D25}" srcOrd="2" destOrd="0" presId="urn:microsoft.com/office/officeart/2008/layout/LinedList"/>
    <dgm:cxn modelId="{FE3F0EAE-D5E6-48D7-8CE4-C9B30EF19A5D}" type="presParOf" srcId="{CE34CE8E-E8A3-4FF7-97FF-EA121C53F5C1}" destId="{4C5A5381-4B91-4FD3-9620-EE74D127A612}" srcOrd="3" destOrd="0" presId="urn:microsoft.com/office/officeart/2008/layout/LinedList"/>
    <dgm:cxn modelId="{91D9AC00-7C23-4BCA-80D5-DC71BFF66A21}" type="presParOf" srcId="{4C5A5381-4B91-4FD3-9620-EE74D127A612}" destId="{7A5701D6-0913-4C91-A637-1D999F79C06D}" srcOrd="0" destOrd="0" presId="urn:microsoft.com/office/officeart/2008/layout/LinedList"/>
    <dgm:cxn modelId="{39970163-7A46-4BDB-ABCE-917A169A96BB}" type="presParOf" srcId="{4C5A5381-4B91-4FD3-9620-EE74D127A612}" destId="{37F4322E-157D-4D5C-BADF-A0FA58C69B27}" srcOrd="1" destOrd="0" presId="urn:microsoft.com/office/officeart/2008/layout/LinedList"/>
    <dgm:cxn modelId="{B819272C-63EB-428C-8735-8D09AA477A85}" type="presParOf" srcId="{CE34CE8E-E8A3-4FF7-97FF-EA121C53F5C1}" destId="{79E1CA92-AD7C-44FA-A170-A68E466F6139}" srcOrd="4" destOrd="0" presId="urn:microsoft.com/office/officeart/2008/layout/LinedList"/>
    <dgm:cxn modelId="{07903E8B-A3F0-4F45-9AD9-E832148FABBF}" type="presParOf" srcId="{CE34CE8E-E8A3-4FF7-97FF-EA121C53F5C1}" destId="{14297069-AD62-4708-8AF6-706502077D38}" srcOrd="5" destOrd="0" presId="urn:microsoft.com/office/officeart/2008/layout/LinedList"/>
    <dgm:cxn modelId="{A599954B-D359-4D87-B99C-E54FEC474B2C}" type="presParOf" srcId="{14297069-AD62-4708-8AF6-706502077D38}" destId="{4971BF5B-AFA8-4333-B989-A0AB0274A230}" srcOrd="0" destOrd="0" presId="urn:microsoft.com/office/officeart/2008/layout/LinedList"/>
    <dgm:cxn modelId="{F756E57F-92D8-4C40-98CA-6895838F9C2A}" type="presParOf" srcId="{14297069-AD62-4708-8AF6-706502077D38}" destId="{A0782F05-2628-4D10-AF24-4B008608562C}"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463FB6F-9551-40A1-AA32-79E523F35ACB}">
      <dsp:nvSpPr>
        <dsp:cNvPr id="0" name=""/>
        <dsp:cNvSpPr/>
      </dsp:nvSpPr>
      <dsp:spPr>
        <a:xfrm>
          <a:off x="0" y="0"/>
          <a:ext cx="6900512"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BC17EAD-7F87-4C4A-972F-2E490A33402C}">
      <dsp:nvSpPr>
        <dsp:cNvPr id="0" name=""/>
        <dsp:cNvSpPr/>
      </dsp:nvSpPr>
      <dsp:spPr>
        <a:xfrm>
          <a:off x="0" y="0"/>
          <a:ext cx="6900512" cy="27680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The results have considered the values of RSSI obtained from all received packets during a period of 100 s. During this time interval, 1000 packets were transmitted with a rate of 10 packets/s</a:t>
          </a:r>
        </a:p>
      </dsp:txBody>
      <dsp:txXfrm>
        <a:off x="0" y="0"/>
        <a:ext cx="6900512" cy="2768070"/>
      </dsp:txXfrm>
    </dsp:sp>
    <dsp:sp modelId="{A324149E-E040-48B3-BC00-210914A10482}">
      <dsp:nvSpPr>
        <dsp:cNvPr id="0" name=""/>
        <dsp:cNvSpPr/>
      </dsp:nvSpPr>
      <dsp:spPr>
        <a:xfrm>
          <a:off x="0" y="2768070"/>
          <a:ext cx="6900512" cy="0"/>
        </a:xfrm>
        <a:prstGeom prst="line">
          <a:avLst/>
        </a:prstGeom>
        <a:solidFill>
          <a:schemeClr val="accent2">
            <a:hueOff val="-1455363"/>
            <a:satOff val="-83928"/>
            <a:lumOff val="8628"/>
            <a:alphaOff val="0"/>
          </a:schemeClr>
        </a:solidFill>
        <a:ln w="12700" cap="flat" cmpd="sng" algn="ctr">
          <a:solidFill>
            <a:schemeClr val="accent2">
              <a:hueOff val="-1455363"/>
              <a:satOff val="-83928"/>
              <a:lumOff val="8628"/>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A9D51F-074A-43E0-A25A-BAF4E4A9363B}">
      <dsp:nvSpPr>
        <dsp:cNvPr id="0" name=""/>
        <dsp:cNvSpPr/>
      </dsp:nvSpPr>
      <dsp:spPr>
        <a:xfrm>
          <a:off x="0" y="2768070"/>
          <a:ext cx="6900512" cy="27680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7630" tIns="87630" rIns="87630" bIns="87630" numCol="1" spcCol="1270" anchor="t" anchorCtr="0">
          <a:noAutofit/>
        </a:bodyPr>
        <a:lstStyle/>
        <a:p>
          <a:pPr marL="0" lvl="0" indent="0" algn="l" defTabSz="1022350">
            <a:lnSpc>
              <a:spcPct val="90000"/>
            </a:lnSpc>
            <a:spcBef>
              <a:spcPct val="0"/>
            </a:spcBef>
            <a:spcAft>
              <a:spcPct val="35000"/>
            </a:spcAft>
            <a:buNone/>
          </a:pPr>
          <a:r>
            <a:rPr lang="en-US" sz="2300" kern="1200" dirty="0"/>
            <a:t>However, in some applications, the Packet Transmission Rate (PTR) can be less than 10 packets/s. </a:t>
          </a:r>
        </a:p>
        <a:p>
          <a:pPr marL="0" lvl="0" indent="0" algn="l" defTabSz="1022350">
            <a:lnSpc>
              <a:spcPct val="90000"/>
            </a:lnSpc>
            <a:spcBef>
              <a:spcPct val="0"/>
            </a:spcBef>
            <a:spcAft>
              <a:spcPct val="35000"/>
            </a:spcAft>
            <a:buNone/>
          </a:pPr>
          <a:r>
            <a:rPr lang="en-US" sz="2300" kern="1200" dirty="0"/>
            <a:t>To investigate the accuracy of the estimator for other values of PTR, an evaluation was made considering a PTR equal to 10, 5, 1, 0.5, and 0.2 packets/s</a:t>
          </a:r>
        </a:p>
        <a:p>
          <a:pPr marL="0" lvl="0" indent="0" algn="l" defTabSz="1022350">
            <a:lnSpc>
              <a:spcPct val="90000"/>
            </a:lnSpc>
            <a:spcBef>
              <a:spcPct val="0"/>
            </a:spcBef>
            <a:spcAft>
              <a:spcPct val="35000"/>
            </a:spcAft>
            <a:buNone/>
          </a:pPr>
          <a:r>
            <a:rPr lang="en-US" sz="2300" kern="1200" dirty="0"/>
            <a:t>The measured PRR was obtained by calculating a new value for every 200 received packets</a:t>
          </a:r>
        </a:p>
      </dsp:txBody>
      <dsp:txXfrm>
        <a:off x="0" y="2768070"/>
        <a:ext cx="6900512" cy="276807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442D76C-01D0-4A23-866A-8AEABCDE1FE7}">
      <dsp:nvSpPr>
        <dsp:cNvPr id="0" name=""/>
        <dsp:cNvSpPr/>
      </dsp:nvSpPr>
      <dsp:spPr>
        <a:xfrm>
          <a:off x="0" y="2703"/>
          <a:ext cx="6900512"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DA3C7A4-7C9D-470C-BEFB-2D96C005AAD3}">
      <dsp:nvSpPr>
        <dsp:cNvPr id="0" name=""/>
        <dsp:cNvSpPr/>
      </dsp:nvSpPr>
      <dsp:spPr>
        <a:xfrm>
          <a:off x="0" y="2703"/>
          <a:ext cx="6900512" cy="18435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US" sz="2900" kern="1200"/>
            <a:t>The polynomial model is capable to identify multipath problems but does not capture the effect of interference</a:t>
          </a:r>
        </a:p>
      </dsp:txBody>
      <dsp:txXfrm>
        <a:off x="0" y="2703"/>
        <a:ext cx="6900512" cy="1843578"/>
      </dsp:txXfrm>
    </dsp:sp>
    <dsp:sp modelId="{280F7BE2-A558-49F8-9269-7B40228C9D25}">
      <dsp:nvSpPr>
        <dsp:cNvPr id="0" name=""/>
        <dsp:cNvSpPr/>
      </dsp:nvSpPr>
      <dsp:spPr>
        <a:xfrm>
          <a:off x="0" y="1846281"/>
          <a:ext cx="6900512" cy="0"/>
        </a:xfrm>
        <a:prstGeom prst="line">
          <a:avLst/>
        </a:prstGeom>
        <a:solidFill>
          <a:schemeClr val="accent2">
            <a:hueOff val="-727682"/>
            <a:satOff val="-41964"/>
            <a:lumOff val="4314"/>
            <a:alphaOff val="0"/>
          </a:schemeClr>
        </a:solidFill>
        <a:ln w="12700" cap="flat" cmpd="sng" algn="ctr">
          <a:solidFill>
            <a:schemeClr val="accent2">
              <a:hueOff val="-727682"/>
              <a:satOff val="-41964"/>
              <a:lumOff val="431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A5701D6-0913-4C91-A637-1D999F79C06D}">
      <dsp:nvSpPr>
        <dsp:cNvPr id="0" name=""/>
        <dsp:cNvSpPr/>
      </dsp:nvSpPr>
      <dsp:spPr>
        <a:xfrm>
          <a:off x="0" y="1846281"/>
          <a:ext cx="6900512" cy="18435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US" sz="2900" kern="1200"/>
            <a:t>As only RSSI values of received packets are used to calculate Pf, this metric can present a high value, even with a high number of lost packets due to collisions. </a:t>
          </a:r>
        </a:p>
      </dsp:txBody>
      <dsp:txXfrm>
        <a:off x="0" y="1846281"/>
        <a:ext cx="6900512" cy="1843578"/>
      </dsp:txXfrm>
    </dsp:sp>
    <dsp:sp modelId="{79E1CA92-AD7C-44FA-A170-A68E466F6139}">
      <dsp:nvSpPr>
        <dsp:cNvPr id="0" name=""/>
        <dsp:cNvSpPr/>
      </dsp:nvSpPr>
      <dsp:spPr>
        <a:xfrm>
          <a:off x="0" y="3689859"/>
          <a:ext cx="6900512" cy="0"/>
        </a:xfrm>
        <a:prstGeom prst="line">
          <a:avLst/>
        </a:prstGeom>
        <a:solidFill>
          <a:schemeClr val="accent2">
            <a:hueOff val="-1455363"/>
            <a:satOff val="-83928"/>
            <a:lumOff val="8628"/>
            <a:alphaOff val="0"/>
          </a:schemeClr>
        </a:solidFill>
        <a:ln w="12700" cap="flat" cmpd="sng" algn="ctr">
          <a:solidFill>
            <a:schemeClr val="accent2">
              <a:hueOff val="-1455363"/>
              <a:satOff val="-83928"/>
              <a:lumOff val="8628"/>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971BF5B-AFA8-4333-B989-A0AB0274A230}">
      <dsp:nvSpPr>
        <dsp:cNvPr id="0" name=""/>
        <dsp:cNvSpPr/>
      </dsp:nvSpPr>
      <dsp:spPr>
        <a:xfrm>
          <a:off x="0" y="3689859"/>
          <a:ext cx="6900512" cy="184357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en-US" sz="2900" kern="1200"/>
            <a:t>Thus, it is necessary to capture the interference effects to properly estimate the quality of the link</a:t>
          </a:r>
        </a:p>
      </dsp:txBody>
      <dsp:txXfrm>
        <a:off x="0" y="3689859"/>
        <a:ext cx="6900512" cy="1843578"/>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7A1BD1-EBBC-42D7-BDC2-C702B9048A9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95C0459-D2AE-4DAD-8086-1D48F25B90D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78FA42C-32EA-4342-A337-E7ED7DD9A3BA}"/>
              </a:ext>
            </a:extLst>
          </p:cNvPr>
          <p:cNvSpPr>
            <a:spLocks noGrp="1"/>
          </p:cNvSpPr>
          <p:nvPr>
            <p:ph type="dt" sz="half" idx="10"/>
          </p:nvPr>
        </p:nvSpPr>
        <p:spPr/>
        <p:txBody>
          <a:bodyPr/>
          <a:lstStyle/>
          <a:p>
            <a:fld id="{E56A0FF3-AE13-4817-9779-B798AE5609A4}" type="datetimeFigureOut">
              <a:rPr lang="en-US" smtClean="0"/>
              <a:t>1/7/2021</a:t>
            </a:fld>
            <a:endParaRPr lang="en-US"/>
          </a:p>
        </p:txBody>
      </p:sp>
      <p:sp>
        <p:nvSpPr>
          <p:cNvPr id="5" name="Footer Placeholder 4">
            <a:extLst>
              <a:ext uri="{FF2B5EF4-FFF2-40B4-BE49-F238E27FC236}">
                <a16:creationId xmlns:a16="http://schemas.microsoft.com/office/drawing/2014/main" id="{3E2EB248-7258-47BA-ACFB-63FE4A2C020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A3ADF1D-6A1F-4041-982B-D5ACDB0CAFC0}"/>
              </a:ext>
            </a:extLst>
          </p:cNvPr>
          <p:cNvSpPr>
            <a:spLocks noGrp="1"/>
          </p:cNvSpPr>
          <p:nvPr>
            <p:ph type="sldNum" sz="quarter" idx="12"/>
          </p:nvPr>
        </p:nvSpPr>
        <p:spPr/>
        <p:txBody>
          <a:bodyPr/>
          <a:lstStyle/>
          <a:p>
            <a:fld id="{D254DB54-6D67-48C0-93A0-A4FD9619554C}" type="slidenum">
              <a:rPr lang="en-US" smtClean="0"/>
              <a:t>‹#›</a:t>
            </a:fld>
            <a:endParaRPr lang="en-US"/>
          </a:p>
        </p:txBody>
      </p:sp>
    </p:spTree>
    <p:extLst>
      <p:ext uri="{BB962C8B-B14F-4D97-AF65-F5344CB8AC3E}">
        <p14:creationId xmlns:p14="http://schemas.microsoft.com/office/powerpoint/2010/main" val="40704605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96F5EB-99FC-4392-A634-88D261D79A8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701A07C-63C7-4BE7-AAB6-B801D352C58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EE79676-3E96-4B96-A128-CA70EF5689ED}"/>
              </a:ext>
            </a:extLst>
          </p:cNvPr>
          <p:cNvSpPr>
            <a:spLocks noGrp="1"/>
          </p:cNvSpPr>
          <p:nvPr>
            <p:ph type="dt" sz="half" idx="10"/>
          </p:nvPr>
        </p:nvSpPr>
        <p:spPr/>
        <p:txBody>
          <a:bodyPr/>
          <a:lstStyle/>
          <a:p>
            <a:fld id="{E56A0FF3-AE13-4817-9779-B798AE5609A4}" type="datetimeFigureOut">
              <a:rPr lang="en-US" smtClean="0"/>
              <a:t>1/7/2021</a:t>
            </a:fld>
            <a:endParaRPr lang="en-US"/>
          </a:p>
        </p:txBody>
      </p:sp>
      <p:sp>
        <p:nvSpPr>
          <p:cNvPr id="5" name="Footer Placeholder 4">
            <a:extLst>
              <a:ext uri="{FF2B5EF4-FFF2-40B4-BE49-F238E27FC236}">
                <a16:creationId xmlns:a16="http://schemas.microsoft.com/office/drawing/2014/main" id="{E9ECE858-09BA-48D7-BCA5-7A320E103A5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7E33752-93B8-4015-8DAA-FA4868FD9A8D}"/>
              </a:ext>
            </a:extLst>
          </p:cNvPr>
          <p:cNvSpPr>
            <a:spLocks noGrp="1"/>
          </p:cNvSpPr>
          <p:nvPr>
            <p:ph type="sldNum" sz="quarter" idx="12"/>
          </p:nvPr>
        </p:nvSpPr>
        <p:spPr/>
        <p:txBody>
          <a:bodyPr/>
          <a:lstStyle/>
          <a:p>
            <a:fld id="{D254DB54-6D67-48C0-93A0-A4FD9619554C}" type="slidenum">
              <a:rPr lang="en-US" smtClean="0"/>
              <a:t>‹#›</a:t>
            </a:fld>
            <a:endParaRPr lang="en-US"/>
          </a:p>
        </p:txBody>
      </p:sp>
    </p:spTree>
    <p:extLst>
      <p:ext uri="{BB962C8B-B14F-4D97-AF65-F5344CB8AC3E}">
        <p14:creationId xmlns:p14="http://schemas.microsoft.com/office/powerpoint/2010/main" val="15445350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02D75-95AD-4B74-BC41-09352E19D87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8070B15-B36E-4159-AB18-70234CEE0A8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2CF382D-3242-4EAB-BE48-00CEE26BF5A3}"/>
              </a:ext>
            </a:extLst>
          </p:cNvPr>
          <p:cNvSpPr>
            <a:spLocks noGrp="1"/>
          </p:cNvSpPr>
          <p:nvPr>
            <p:ph type="dt" sz="half" idx="10"/>
          </p:nvPr>
        </p:nvSpPr>
        <p:spPr/>
        <p:txBody>
          <a:bodyPr/>
          <a:lstStyle/>
          <a:p>
            <a:fld id="{E56A0FF3-AE13-4817-9779-B798AE5609A4}" type="datetimeFigureOut">
              <a:rPr lang="en-US" smtClean="0"/>
              <a:t>1/7/2021</a:t>
            </a:fld>
            <a:endParaRPr lang="en-US"/>
          </a:p>
        </p:txBody>
      </p:sp>
      <p:sp>
        <p:nvSpPr>
          <p:cNvPr id="5" name="Footer Placeholder 4">
            <a:extLst>
              <a:ext uri="{FF2B5EF4-FFF2-40B4-BE49-F238E27FC236}">
                <a16:creationId xmlns:a16="http://schemas.microsoft.com/office/drawing/2014/main" id="{73845D9D-E43C-4D05-96E9-4A6F6C2DCD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228748-D4FD-49E4-BCB4-CD6544CC1DF9}"/>
              </a:ext>
            </a:extLst>
          </p:cNvPr>
          <p:cNvSpPr>
            <a:spLocks noGrp="1"/>
          </p:cNvSpPr>
          <p:nvPr>
            <p:ph type="sldNum" sz="quarter" idx="12"/>
          </p:nvPr>
        </p:nvSpPr>
        <p:spPr/>
        <p:txBody>
          <a:bodyPr/>
          <a:lstStyle/>
          <a:p>
            <a:fld id="{D254DB54-6D67-48C0-93A0-A4FD9619554C}" type="slidenum">
              <a:rPr lang="en-US" smtClean="0"/>
              <a:t>‹#›</a:t>
            </a:fld>
            <a:endParaRPr lang="en-US"/>
          </a:p>
        </p:txBody>
      </p:sp>
    </p:spTree>
    <p:extLst>
      <p:ext uri="{BB962C8B-B14F-4D97-AF65-F5344CB8AC3E}">
        <p14:creationId xmlns:p14="http://schemas.microsoft.com/office/powerpoint/2010/main" val="26005619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5F566B-1F44-4BA9-99C9-D6D13DCF3FF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E40796C-1D38-49F4-9D56-AD83C304515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5A5715E-7430-49DD-BACC-8724B01E9FE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786FD85-FD59-4862-A494-EEF107A0DD28}"/>
              </a:ext>
            </a:extLst>
          </p:cNvPr>
          <p:cNvSpPr>
            <a:spLocks noGrp="1"/>
          </p:cNvSpPr>
          <p:nvPr>
            <p:ph type="dt" sz="half" idx="10"/>
          </p:nvPr>
        </p:nvSpPr>
        <p:spPr/>
        <p:txBody>
          <a:bodyPr/>
          <a:lstStyle/>
          <a:p>
            <a:fld id="{E56A0FF3-AE13-4817-9779-B798AE5609A4}" type="datetimeFigureOut">
              <a:rPr lang="en-US" smtClean="0"/>
              <a:t>1/7/2021</a:t>
            </a:fld>
            <a:endParaRPr lang="en-US"/>
          </a:p>
        </p:txBody>
      </p:sp>
      <p:sp>
        <p:nvSpPr>
          <p:cNvPr id="6" name="Footer Placeholder 5">
            <a:extLst>
              <a:ext uri="{FF2B5EF4-FFF2-40B4-BE49-F238E27FC236}">
                <a16:creationId xmlns:a16="http://schemas.microsoft.com/office/drawing/2014/main" id="{7C45CDF8-E71F-4306-84D1-134B7985451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CBBC579-8007-4CE0-827F-D1F59BDDDB28}"/>
              </a:ext>
            </a:extLst>
          </p:cNvPr>
          <p:cNvSpPr>
            <a:spLocks noGrp="1"/>
          </p:cNvSpPr>
          <p:nvPr>
            <p:ph type="sldNum" sz="quarter" idx="12"/>
          </p:nvPr>
        </p:nvSpPr>
        <p:spPr/>
        <p:txBody>
          <a:bodyPr/>
          <a:lstStyle/>
          <a:p>
            <a:fld id="{D254DB54-6D67-48C0-93A0-A4FD9619554C}" type="slidenum">
              <a:rPr lang="en-US" smtClean="0"/>
              <a:t>‹#›</a:t>
            </a:fld>
            <a:endParaRPr lang="en-US"/>
          </a:p>
        </p:txBody>
      </p:sp>
    </p:spTree>
    <p:extLst>
      <p:ext uri="{BB962C8B-B14F-4D97-AF65-F5344CB8AC3E}">
        <p14:creationId xmlns:p14="http://schemas.microsoft.com/office/powerpoint/2010/main" val="4096584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FE938-3FD0-4318-8AAA-66AE2857281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F5C7464-3080-4BA3-8C55-35524EE3BDB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C57D125-6E95-4282-906B-D90894E9F5A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422218B-491A-4B91-A06B-E2CB4E7B77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0B77872-2FEB-4685-8F4E-C06215C84A7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874D7B2-F349-4B9F-8313-14AA678E7798}"/>
              </a:ext>
            </a:extLst>
          </p:cNvPr>
          <p:cNvSpPr>
            <a:spLocks noGrp="1"/>
          </p:cNvSpPr>
          <p:nvPr>
            <p:ph type="dt" sz="half" idx="10"/>
          </p:nvPr>
        </p:nvSpPr>
        <p:spPr/>
        <p:txBody>
          <a:bodyPr/>
          <a:lstStyle/>
          <a:p>
            <a:fld id="{E56A0FF3-AE13-4817-9779-B798AE5609A4}" type="datetimeFigureOut">
              <a:rPr lang="en-US" smtClean="0"/>
              <a:t>1/7/2021</a:t>
            </a:fld>
            <a:endParaRPr lang="en-US"/>
          </a:p>
        </p:txBody>
      </p:sp>
      <p:sp>
        <p:nvSpPr>
          <p:cNvPr id="8" name="Footer Placeholder 7">
            <a:extLst>
              <a:ext uri="{FF2B5EF4-FFF2-40B4-BE49-F238E27FC236}">
                <a16:creationId xmlns:a16="http://schemas.microsoft.com/office/drawing/2014/main" id="{A9D7DD02-9760-4578-96F1-C960F690F30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C4C1A3D-FB9E-4C0E-93BA-F150359D66C8}"/>
              </a:ext>
            </a:extLst>
          </p:cNvPr>
          <p:cNvSpPr>
            <a:spLocks noGrp="1"/>
          </p:cNvSpPr>
          <p:nvPr>
            <p:ph type="sldNum" sz="quarter" idx="12"/>
          </p:nvPr>
        </p:nvSpPr>
        <p:spPr/>
        <p:txBody>
          <a:bodyPr/>
          <a:lstStyle/>
          <a:p>
            <a:fld id="{D254DB54-6D67-48C0-93A0-A4FD9619554C}" type="slidenum">
              <a:rPr lang="en-US" smtClean="0"/>
              <a:t>‹#›</a:t>
            </a:fld>
            <a:endParaRPr lang="en-US"/>
          </a:p>
        </p:txBody>
      </p:sp>
    </p:spTree>
    <p:extLst>
      <p:ext uri="{BB962C8B-B14F-4D97-AF65-F5344CB8AC3E}">
        <p14:creationId xmlns:p14="http://schemas.microsoft.com/office/powerpoint/2010/main" val="5913996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8B8C4E-9E54-4941-85AB-AF7AEAE7779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D92C4A-D99C-4A48-B6FE-8A78824563DA}"/>
              </a:ext>
            </a:extLst>
          </p:cNvPr>
          <p:cNvSpPr>
            <a:spLocks noGrp="1"/>
          </p:cNvSpPr>
          <p:nvPr>
            <p:ph type="dt" sz="half" idx="10"/>
          </p:nvPr>
        </p:nvSpPr>
        <p:spPr/>
        <p:txBody>
          <a:bodyPr/>
          <a:lstStyle/>
          <a:p>
            <a:fld id="{E56A0FF3-AE13-4817-9779-B798AE5609A4}" type="datetimeFigureOut">
              <a:rPr lang="en-US" smtClean="0"/>
              <a:t>1/7/2021</a:t>
            </a:fld>
            <a:endParaRPr lang="en-US"/>
          </a:p>
        </p:txBody>
      </p:sp>
      <p:sp>
        <p:nvSpPr>
          <p:cNvPr id="4" name="Footer Placeholder 3">
            <a:extLst>
              <a:ext uri="{FF2B5EF4-FFF2-40B4-BE49-F238E27FC236}">
                <a16:creationId xmlns:a16="http://schemas.microsoft.com/office/drawing/2014/main" id="{6A2DBDBC-36D1-4867-9346-31C4FA810DD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4C02E09-67CF-4A7E-A712-65562B92A9A3}"/>
              </a:ext>
            </a:extLst>
          </p:cNvPr>
          <p:cNvSpPr>
            <a:spLocks noGrp="1"/>
          </p:cNvSpPr>
          <p:nvPr>
            <p:ph type="sldNum" sz="quarter" idx="12"/>
          </p:nvPr>
        </p:nvSpPr>
        <p:spPr/>
        <p:txBody>
          <a:bodyPr/>
          <a:lstStyle/>
          <a:p>
            <a:fld id="{D254DB54-6D67-48C0-93A0-A4FD9619554C}" type="slidenum">
              <a:rPr lang="en-US" smtClean="0"/>
              <a:t>‹#›</a:t>
            </a:fld>
            <a:endParaRPr lang="en-US"/>
          </a:p>
        </p:txBody>
      </p:sp>
    </p:spTree>
    <p:extLst>
      <p:ext uri="{BB962C8B-B14F-4D97-AF65-F5344CB8AC3E}">
        <p14:creationId xmlns:p14="http://schemas.microsoft.com/office/powerpoint/2010/main" val="11682087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745D1E-146E-4AD9-B487-DB2A9D48DEA7}"/>
              </a:ext>
            </a:extLst>
          </p:cNvPr>
          <p:cNvSpPr>
            <a:spLocks noGrp="1"/>
          </p:cNvSpPr>
          <p:nvPr>
            <p:ph type="dt" sz="half" idx="10"/>
          </p:nvPr>
        </p:nvSpPr>
        <p:spPr/>
        <p:txBody>
          <a:bodyPr/>
          <a:lstStyle/>
          <a:p>
            <a:fld id="{E56A0FF3-AE13-4817-9779-B798AE5609A4}" type="datetimeFigureOut">
              <a:rPr lang="en-US" smtClean="0"/>
              <a:t>1/7/2021</a:t>
            </a:fld>
            <a:endParaRPr lang="en-US"/>
          </a:p>
        </p:txBody>
      </p:sp>
      <p:sp>
        <p:nvSpPr>
          <p:cNvPr id="3" name="Footer Placeholder 2">
            <a:extLst>
              <a:ext uri="{FF2B5EF4-FFF2-40B4-BE49-F238E27FC236}">
                <a16:creationId xmlns:a16="http://schemas.microsoft.com/office/drawing/2014/main" id="{B3B2A869-3C0E-4BAB-BF2E-72A2E707D15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574491D-FB67-43DB-92B9-124BA07F8C41}"/>
              </a:ext>
            </a:extLst>
          </p:cNvPr>
          <p:cNvSpPr>
            <a:spLocks noGrp="1"/>
          </p:cNvSpPr>
          <p:nvPr>
            <p:ph type="sldNum" sz="quarter" idx="12"/>
          </p:nvPr>
        </p:nvSpPr>
        <p:spPr/>
        <p:txBody>
          <a:bodyPr/>
          <a:lstStyle/>
          <a:p>
            <a:fld id="{D254DB54-6D67-48C0-93A0-A4FD9619554C}" type="slidenum">
              <a:rPr lang="en-US" smtClean="0"/>
              <a:t>‹#›</a:t>
            </a:fld>
            <a:endParaRPr lang="en-US"/>
          </a:p>
        </p:txBody>
      </p:sp>
    </p:spTree>
    <p:extLst>
      <p:ext uri="{BB962C8B-B14F-4D97-AF65-F5344CB8AC3E}">
        <p14:creationId xmlns:p14="http://schemas.microsoft.com/office/powerpoint/2010/main" val="28197683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F7CFAF-82FA-4F66-BA68-EEEFB427D6A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148FA2-6E06-49DB-BFFD-0167FF04FB6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107E384-4E3F-4704-B510-D9E2DD0C65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ADC5334-FF80-4657-BCEF-56531BE7C0CE}"/>
              </a:ext>
            </a:extLst>
          </p:cNvPr>
          <p:cNvSpPr>
            <a:spLocks noGrp="1"/>
          </p:cNvSpPr>
          <p:nvPr>
            <p:ph type="dt" sz="half" idx="10"/>
          </p:nvPr>
        </p:nvSpPr>
        <p:spPr/>
        <p:txBody>
          <a:bodyPr/>
          <a:lstStyle/>
          <a:p>
            <a:fld id="{E56A0FF3-AE13-4817-9779-B798AE5609A4}" type="datetimeFigureOut">
              <a:rPr lang="en-US" smtClean="0"/>
              <a:t>1/7/2021</a:t>
            </a:fld>
            <a:endParaRPr lang="en-US"/>
          </a:p>
        </p:txBody>
      </p:sp>
      <p:sp>
        <p:nvSpPr>
          <p:cNvPr id="6" name="Footer Placeholder 5">
            <a:extLst>
              <a:ext uri="{FF2B5EF4-FFF2-40B4-BE49-F238E27FC236}">
                <a16:creationId xmlns:a16="http://schemas.microsoft.com/office/drawing/2014/main" id="{B7F2B642-E878-4E50-AB4E-189CE7BF87A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AD6445-ED9C-483E-938D-9832383134F8}"/>
              </a:ext>
            </a:extLst>
          </p:cNvPr>
          <p:cNvSpPr>
            <a:spLocks noGrp="1"/>
          </p:cNvSpPr>
          <p:nvPr>
            <p:ph type="sldNum" sz="quarter" idx="12"/>
          </p:nvPr>
        </p:nvSpPr>
        <p:spPr/>
        <p:txBody>
          <a:bodyPr/>
          <a:lstStyle/>
          <a:p>
            <a:fld id="{D254DB54-6D67-48C0-93A0-A4FD9619554C}" type="slidenum">
              <a:rPr lang="en-US" smtClean="0"/>
              <a:t>‹#›</a:t>
            </a:fld>
            <a:endParaRPr lang="en-US"/>
          </a:p>
        </p:txBody>
      </p:sp>
    </p:spTree>
    <p:extLst>
      <p:ext uri="{BB962C8B-B14F-4D97-AF65-F5344CB8AC3E}">
        <p14:creationId xmlns:p14="http://schemas.microsoft.com/office/powerpoint/2010/main" val="39742534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E8FB0-26EB-4611-BAEA-4E9818C561B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6DFC2BF-1B11-4172-8C07-A7501E68F07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57D7511-CEE9-4DF3-891E-E8D7C49D14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9A859E8-067F-4D84-89B2-3C2FEE9CBAE4}"/>
              </a:ext>
            </a:extLst>
          </p:cNvPr>
          <p:cNvSpPr>
            <a:spLocks noGrp="1"/>
          </p:cNvSpPr>
          <p:nvPr>
            <p:ph type="dt" sz="half" idx="10"/>
          </p:nvPr>
        </p:nvSpPr>
        <p:spPr/>
        <p:txBody>
          <a:bodyPr/>
          <a:lstStyle/>
          <a:p>
            <a:fld id="{E56A0FF3-AE13-4817-9779-B798AE5609A4}" type="datetimeFigureOut">
              <a:rPr lang="en-US" smtClean="0"/>
              <a:t>1/7/2021</a:t>
            </a:fld>
            <a:endParaRPr lang="en-US"/>
          </a:p>
        </p:txBody>
      </p:sp>
      <p:sp>
        <p:nvSpPr>
          <p:cNvPr id="6" name="Footer Placeholder 5">
            <a:extLst>
              <a:ext uri="{FF2B5EF4-FFF2-40B4-BE49-F238E27FC236}">
                <a16:creationId xmlns:a16="http://schemas.microsoft.com/office/drawing/2014/main" id="{29C865FC-41E0-42F1-BDF1-71F6BF2EC2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95801C3-48FA-4177-98F0-24B9D1FCF0BE}"/>
              </a:ext>
            </a:extLst>
          </p:cNvPr>
          <p:cNvSpPr>
            <a:spLocks noGrp="1"/>
          </p:cNvSpPr>
          <p:nvPr>
            <p:ph type="sldNum" sz="quarter" idx="12"/>
          </p:nvPr>
        </p:nvSpPr>
        <p:spPr/>
        <p:txBody>
          <a:bodyPr/>
          <a:lstStyle/>
          <a:p>
            <a:fld id="{D254DB54-6D67-48C0-93A0-A4FD9619554C}" type="slidenum">
              <a:rPr lang="en-US" smtClean="0"/>
              <a:t>‹#›</a:t>
            </a:fld>
            <a:endParaRPr lang="en-US"/>
          </a:p>
        </p:txBody>
      </p:sp>
    </p:spTree>
    <p:extLst>
      <p:ext uri="{BB962C8B-B14F-4D97-AF65-F5344CB8AC3E}">
        <p14:creationId xmlns:p14="http://schemas.microsoft.com/office/powerpoint/2010/main" val="11599958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1DD3D-542C-42B4-9A9C-9BCDBC9AE5E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327590-94FA-48A4-9427-527DA425FAC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6B4BEC-0B64-4BDF-95A5-70485C668220}"/>
              </a:ext>
            </a:extLst>
          </p:cNvPr>
          <p:cNvSpPr>
            <a:spLocks noGrp="1"/>
          </p:cNvSpPr>
          <p:nvPr>
            <p:ph type="dt" sz="half" idx="10"/>
          </p:nvPr>
        </p:nvSpPr>
        <p:spPr/>
        <p:txBody>
          <a:bodyPr/>
          <a:lstStyle/>
          <a:p>
            <a:fld id="{E56A0FF3-AE13-4817-9779-B798AE5609A4}" type="datetimeFigureOut">
              <a:rPr lang="en-US" smtClean="0"/>
              <a:t>1/7/2021</a:t>
            </a:fld>
            <a:endParaRPr lang="en-US"/>
          </a:p>
        </p:txBody>
      </p:sp>
      <p:sp>
        <p:nvSpPr>
          <p:cNvPr id="5" name="Footer Placeholder 4">
            <a:extLst>
              <a:ext uri="{FF2B5EF4-FFF2-40B4-BE49-F238E27FC236}">
                <a16:creationId xmlns:a16="http://schemas.microsoft.com/office/drawing/2014/main" id="{632687B3-4421-4DD6-8869-D893B4751B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A445CD-C9AC-4F25-86FD-0EA05195FFA5}"/>
              </a:ext>
            </a:extLst>
          </p:cNvPr>
          <p:cNvSpPr>
            <a:spLocks noGrp="1"/>
          </p:cNvSpPr>
          <p:nvPr>
            <p:ph type="sldNum" sz="quarter" idx="12"/>
          </p:nvPr>
        </p:nvSpPr>
        <p:spPr/>
        <p:txBody>
          <a:bodyPr/>
          <a:lstStyle/>
          <a:p>
            <a:fld id="{D254DB54-6D67-48C0-93A0-A4FD9619554C}" type="slidenum">
              <a:rPr lang="en-US" smtClean="0"/>
              <a:t>‹#›</a:t>
            </a:fld>
            <a:endParaRPr lang="en-US"/>
          </a:p>
        </p:txBody>
      </p:sp>
    </p:spTree>
    <p:extLst>
      <p:ext uri="{BB962C8B-B14F-4D97-AF65-F5344CB8AC3E}">
        <p14:creationId xmlns:p14="http://schemas.microsoft.com/office/powerpoint/2010/main" val="20611737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2BBB1E8-27E2-49A9-BA1F-2BF4B75192D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159E826-2D49-4BF6-8CF0-FA2A6C88911F}"/>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C41093-063F-4791-934F-EBCB30C902B0}"/>
              </a:ext>
            </a:extLst>
          </p:cNvPr>
          <p:cNvSpPr>
            <a:spLocks noGrp="1"/>
          </p:cNvSpPr>
          <p:nvPr>
            <p:ph type="dt" sz="half" idx="10"/>
          </p:nvPr>
        </p:nvSpPr>
        <p:spPr/>
        <p:txBody>
          <a:bodyPr/>
          <a:lstStyle/>
          <a:p>
            <a:fld id="{E56A0FF3-AE13-4817-9779-B798AE5609A4}" type="datetimeFigureOut">
              <a:rPr lang="en-US" smtClean="0"/>
              <a:t>1/7/2021</a:t>
            </a:fld>
            <a:endParaRPr lang="en-US"/>
          </a:p>
        </p:txBody>
      </p:sp>
      <p:sp>
        <p:nvSpPr>
          <p:cNvPr id="5" name="Footer Placeholder 4">
            <a:extLst>
              <a:ext uri="{FF2B5EF4-FFF2-40B4-BE49-F238E27FC236}">
                <a16:creationId xmlns:a16="http://schemas.microsoft.com/office/drawing/2014/main" id="{745B27B5-73A0-40B1-9934-303A27D6625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895335-C375-4E71-8F27-98285E2B1426}"/>
              </a:ext>
            </a:extLst>
          </p:cNvPr>
          <p:cNvSpPr>
            <a:spLocks noGrp="1"/>
          </p:cNvSpPr>
          <p:nvPr>
            <p:ph type="sldNum" sz="quarter" idx="12"/>
          </p:nvPr>
        </p:nvSpPr>
        <p:spPr/>
        <p:txBody>
          <a:bodyPr/>
          <a:lstStyle/>
          <a:p>
            <a:fld id="{D254DB54-6D67-48C0-93A0-A4FD9619554C}" type="slidenum">
              <a:rPr lang="en-US" smtClean="0"/>
              <a:t>‹#›</a:t>
            </a:fld>
            <a:endParaRPr lang="en-US"/>
          </a:p>
        </p:txBody>
      </p:sp>
    </p:spTree>
    <p:extLst>
      <p:ext uri="{BB962C8B-B14F-4D97-AF65-F5344CB8AC3E}">
        <p14:creationId xmlns:p14="http://schemas.microsoft.com/office/powerpoint/2010/main" val="36297020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0498E15-2DE1-46A7-86E2-05496F13A5D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1865EB5-0256-41BD-93BD-C25BBD33846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3433492-0B60-4EA9-95B8-2606B3D8D5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56A0FF3-AE13-4817-9779-B798AE5609A4}" type="datetimeFigureOut">
              <a:rPr lang="en-US" smtClean="0"/>
              <a:t>1/7/2021</a:t>
            </a:fld>
            <a:endParaRPr lang="en-US"/>
          </a:p>
        </p:txBody>
      </p:sp>
      <p:sp>
        <p:nvSpPr>
          <p:cNvPr id="5" name="Footer Placeholder 4">
            <a:extLst>
              <a:ext uri="{FF2B5EF4-FFF2-40B4-BE49-F238E27FC236}">
                <a16:creationId xmlns:a16="http://schemas.microsoft.com/office/drawing/2014/main" id="{C6254546-D1D8-46E7-AC0A-136223D2C2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BD94625D-2628-4B51-AE51-F15A614382D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254DB54-6D67-48C0-93A0-A4FD9619554C}" type="slidenum">
              <a:rPr lang="en-US" smtClean="0"/>
              <a:t>‹#›</a:t>
            </a:fld>
            <a:endParaRPr lang="en-US"/>
          </a:p>
        </p:txBody>
      </p:sp>
    </p:spTree>
    <p:extLst>
      <p:ext uri="{BB962C8B-B14F-4D97-AF65-F5344CB8AC3E}">
        <p14:creationId xmlns:p14="http://schemas.microsoft.com/office/powerpoint/2010/main" val="16525736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943CAA20-3569-4189-9E48-239A229A86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FECC430-9F2B-4359-90A0-67193BA63580}"/>
              </a:ext>
            </a:extLst>
          </p:cNvPr>
          <p:cNvSpPr>
            <a:spLocks noGrp="1"/>
          </p:cNvSpPr>
          <p:nvPr>
            <p:ph type="ctrTitle"/>
          </p:nvPr>
        </p:nvSpPr>
        <p:spPr>
          <a:xfrm>
            <a:off x="838200" y="451381"/>
            <a:ext cx="10512552" cy="4066540"/>
          </a:xfrm>
        </p:spPr>
        <p:txBody>
          <a:bodyPr anchor="b">
            <a:normAutofit/>
          </a:bodyPr>
          <a:lstStyle/>
          <a:p>
            <a:pPr algn="l"/>
            <a:br>
              <a:rPr lang="en-US" sz="6100" dirty="0"/>
            </a:br>
            <a:r>
              <a:rPr lang="en-US" sz="6100" dirty="0"/>
              <a:t>Real-time link quality estimation for industrial wireless sensor networks using dedicated nodes</a:t>
            </a:r>
          </a:p>
        </p:txBody>
      </p:sp>
      <p:sp>
        <p:nvSpPr>
          <p:cNvPr id="3" name="Subtitle 2">
            <a:extLst>
              <a:ext uri="{FF2B5EF4-FFF2-40B4-BE49-F238E27FC236}">
                <a16:creationId xmlns:a16="http://schemas.microsoft.com/office/drawing/2014/main" id="{33807E69-C3E6-4228-BE8C-EC63A0EC1192}"/>
              </a:ext>
            </a:extLst>
          </p:cNvPr>
          <p:cNvSpPr>
            <a:spLocks noGrp="1"/>
          </p:cNvSpPr>
          <p:nvPr>
            <p:ph type="subTitle" idx="1"/>
          </p:nvPr>
        </p:nvSpPr>
        <p:spPr>
          <a:xfrm>
            <a:off x="838199" y="4983276"/>
            <a:ext cx="10512552" cy="1126680"/>
          </a:xfrm>
        </p:spPr>
        <p:txBody>
          <a:bodyPr>
            <a:normAutofit/>
          </a:bodyPr>
          <a:lstStyle/>
          <a:p>
            <a:pPr algn="l"/>
            <a:r>
              <a:rPr lang="pt-BR" dirty="0"/>
              <a:t>Ruan D. Gomes, Diego V. Queiroz c , Abel C. Lima Filho, Iguatemi E. Fonseca, Marcelo S. Alencar</a:t>
            </a:r>
            <a:endParaRPr lang="en-US" dirty="0"/>
          </a:p>
        </p:txBody>
      </p:sp>
      <p:sp>
        <p:nvSpPr>
          <p:cNvPr id="37" name="sketch line">
            <a:extLst>
              <a:ext uri="{FF2B5EF4-FFF2-40B4-BE49-F238E27FC236}">
                <a16:creationId xmlns:a16="http://schemas.microsoft.com/office/drawing/2014/main" id="{DA542B6D-E775-4832-91DC-2D20F85781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4718595"/>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9980840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7274778-73D1-4620-9F1A-3CBBB89FFCAA}"/>
              </a:ext>
            </a:extLst>
          </p:cNvPr>
          <p:cNvSpPr>
            <a:spLocks noGrp="1"/>
          </p:cNvSpPr>
          <p:nvPr>
            <p:ph type="title"/>
          </p:nvPr>
        </p:nvSpPr>
        <p:spPr>
          <a:xfrm>
            <a:off x="841248" y="548640"/>
            <a:ext cx="3600860" cy="5431536"/>
          </a:xfrm>
        </p:spPr>
        <p:txBody>
          <a:bodyPr>
            <a:normAutofit/>
          </a:bodyPr>
          <a:lstStyle/>
          <a:p>
            <a:r>
              <a:rPr lang="en-US" sz="5400" dirty="0"/>
              <a:t>Outline</a:t>
            </a:r>
          </a:p>
        </p:txBody>
      </p:sp>
      <p:sp>
        <p:nvSpPr>
          <p:cNvPr id="23"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ontent Placeholder 2">
            <a:extLst>
              <a:ext uri="{FF2B5EF4-FFF2-40B4-BE49-F238E27FC236}">
                <a16:creationId xmlns:a16="http://schemas.microsoft.com/office/drawing/2014/main" id="{22F08C9B-30D4-4E6E-A050-133C88CA1FB1}"/>
              </a:ext>
            </a:extLst>
          </p:cNvPr>
          <p:cNvSpPr>
            <a:spLocks noGrp="1"/>
          </p:cNvSpPr>
          <p:nvPr>
            <p:ph idx="1"/>
          </p:nvPr>
        </p:nvSpPr>
        <p:spPr>
          <a:xfrm>
            <a:off x="5126418" y="552091"/>
            <a:ext cx="6224335" cy="5431536"/>
          </a:xfrm>
        </p:spPr>
        <p:txBody>
          <a:bodyPr anchor="ctr">
            <a:normAutofit/>
          </a:bodyPr>
          <a:lstStyle/>
          <a:p>
            <a:pPr marL="514350" indent="-514350">
              <a:buAutoNum type="arabicPeriod"/>
            </a:pPr>
            <a:r>
              <a:rPr lang="en-US" sz="2200" dirty="0"/>
              <a:t>Main contribution</a:t>
            </a:r>
          </a:p>
          <a:p>
            <a:pPr marL="514350" indent="-514350">
              <a:buAutoNum type="arabicPeriod"/>
            </a:pPr>
            <a:r>
              <a:rPr lang="en-US" sz="2200" dirty="0"/>
              <a:t>The LQE node</a:t>
            </a:r>
          </a:p>
          <a:p>
            <a:pPr marL="514350" indent="-514350">
              <a:buAutoNum type="arabicPeriod"/>
            </a:pPr>
            <a:r>
              <a:rPr lang="en-US" sz="2200" dirty="0"/>
              <a:t>The link quality estimator</a:t>
            </a:r>
          </a:p>
          <a:p>
            <a:pPr marL="971550" lvl="1" indent="-514350">
              <a:buFont typeface="+mj-lt"/>
              <a:buAutoNum type="alphaLcParenR"/>
            </a:pPr>
            <a:r>
              <a:rPr lang="en-US" sz="1800" dirty="0"/>
              <a:t>Estimation of the forward link quality</a:t>
            </a:r>
          </a:p>
          <a:p>
            <a:pPr marL="971550" lvl="1" indent="-514350">
              <a:buFont typeface="+mj-lt"/>
              <a:buAutoNum type="alphaLcParenR"/>
            </a:pPr>
            <a:r>
              <a:rPr lang="en-US" sz="1800" dirty="0"/>
              <a:t>Evaluation for different packet transmission rates</a:t>
            </a:r>
          </a:p>
          <a:p>
            <a:pPr marL="971550" lvl="1" indent="-514350">
              <a:buFont typeface="+mj-lt"/>
              <a:buAutoNum type="alphaLcParenR"/>
            </a:pPr>
            <a:r>
              <a:rPr lang="en-US" sz="1800" dirty="0"/>
              <a:t>Estimation of the interference influence</a:t>
            </a:r>
          </a:p>
          <a:p>
            <a:pPr marL="971550" lvl="1" indent="-514350">
              <a:buFont typeface="+mj-lt"/>
              <a:buAutoNum type="alphaLcParenR"/>
            </a:pPr>
            <a:r>
              <a:rPr lang="en-US" sz="1800" dirty="0"/>
              <a:t>Estimation of the backward link quality</a:t>
            </a:r>
          </a:p>
        </p:txBody>
      </p:sp>
    </p:spTree>
    <p:extLst>
      <p:ext uri="{BB962C8B-B14F-4D97-AF65-F5344CB8AC3E}">
        <p14:creationId xmlns:p14="http://schemas.microsoft.com/office/powerpoint/2010/main" val="15304346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9B08425-23C0-4D4C-BDE0-016D607E7426}"/>
              </a:ext>
            </a:extLst>
          </p:cNvPr>
          <p:cNvSpPr>
            <a:spLocks noGrp="1"/>
          </p:cNvSpPr>
          <p:nvPr>
            <p:ph type="title"/>
          </p:nvPr>
        </p:nvSpPr>
        <p:spPr>
          <a:xfrm>
            <a:off x="841248" y="548640"/>
            <a:ext cx="3600860" cy="5431536"/>
          </a:xfrm>
        </p:spPr>
        <p:txBody>
          <a:bodyPr>
            <a:normAutofit/>
          </a:bodyPr>
          <a:lstStyle/>
          <a:p>
            <a:r>
              <a:rPr lang="en-US" sz="5400"/>
              <a:t>Main contribution</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916C2FA-7F3A-43A7-B460-E089B8A63679}"/>
              </a:ext>
            </a:extLst>
          </p:cNvPr>
          <p:cNvSpPr>
            <a:spLocks noGrp="1"/>
          </p:cNvSpPr>
          <p:nvPr>
            <p:ph idx="1"/>
          </p:nvPr>
        </p:nvSpPr>
        <p:spPr>
          <a:xfrm>
            <a:off x="5126418" y="552091"/>
            <a:ext cx="6224335" cy="5431536"/>
          </a:xfrm>
        </p:spPr>
        <p:txBody>
          <a:bodyPr anchor="ctr">
            <a:normAutofit/>
          </a:bodyPr>
          <a:lstStyle/>
          <a:p>
            <a:r>
              <a:rPr lang="en-US" sz="2200"/>
              <a:t>The realization of a comprehensive set of experiments in a real industrial environment using IEEE 802.15.4 radios to obtain insights on the implementation of the LQE node</a:t>
            </a:r>
          </a:p>
          <a:p>
            <a:r>
              <a:rPr lang="en-US" sz="2200"/>
              <a:t>The development of models to estimate the link quality in both directions and the influence of interference, using samples of RSSI and information obtained from received data packets</a:t>
            </a:r>
          </a:p>
          <a:p>
            <a:r>
              <a:rPr lang="en-US" sz="2200"/>
              <a:t>The design and implementation of a new type of node, the LQE node, and a novel LQE, to estimate the link quality in real-time</a:t>
            </a:r>
          </a:p>
          <a:p>
            <a:r>
              <a:rPr lang="en-US" sz="2200"/>
              <a:t>The validation of the proposed estimator through experiments in a real industrial environment.</a:t>
            </a:r>
          </a:p>
        </p:txBody>
      </p:sp>
    </p:spTree>
    <p:extLst>
      <p:ext uri="{BB962C8B-B14F-4D97-AF65-F5344CB8AC3E}">
        <p14:creationId xmlns:p14="http://schemas.microsoft.com/office/powerpoint/2010/main" val="16888357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A6D37EE4-EA1B-46EE-A54B-5233C63C96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3D0F561-4F2B-483E-915A-BAE0D4FF9879}"/>
              </a:ext>
            </a:extLst>
          </p:cNvPr>
          <p:cNvSpPr>
            <a:spLocks noGrp="1"/>
          </p:cNvSpPr>
          <p:nvPr>
            <p:ph type="title"/>
          </p:nvPr>
        </p:nvSpPr>
        <p:spPr>
          <a:xfrm>
            <a:off x="572493" y="238539"/>
            <a:ext cx="11047013" cy="1434415"/>
          </a:xfrm>
        </p:spPr>
        <p:txBody>
          <a:bodyPr anchor="b">
            <a:normAutofit/>
          </a:bodyPr>
          <a:lstStyle/>
          <a:p>
            <a:r>
              <a:rPr lang="en-US" sz="5400"/>
              <a:t>The LQE node</a:t>
            </a:r>
          </a:p>
        </p:txBody>
      </p:sp>
      <p:sp>
        <p:nvSpPr>
          <p:cNvPr id="52" name="sketch line">
            <a:extLst>
              <a:ext uri="{FF2B5EF4-FFF2-40B4-BE49-F238E27FC236}">
                <a16:creationId xmlns:a16="http://schemas.microsoft.com/office/drawing/2014/main" id="{927D5270-6648-4CC1-8F78-48BE299CAC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767709"/>
            <a:ext cx="10972800" cy="18288"/>
          </a:xfrm>
          <a:custGeom>
            <a:avLst/>
            <a:gdLst>
              <a:gd name="connsiteX0" fmla="*/ 0 w 10972800"/>
              <a:gd name="connsiteY0" fmla="*/ 0 h 18288"/>
              <a:gd name="connsiteX1" fmla="*/ 356616 w 10972800"/>
              <a:gd name="connsiteY1" fmla="*/ 0 h 18288"/>
              <a:gd name="connsiteX2" fmla="*/ 1042416 w 10972800"/>
              <a:gd name="connsiteY2" fmla="*/ 0 h 18288"/>
              <a:gd name="connsiteX3" fmla="*/ 1947672 w 10972800"/>
              <a:gd name="connsiteY3" fmla="*/ 0 h 18288"/>
              <a:gd name="connsiteX4" fmla="*/ 2633472 w 10972800"/>
              <a:gd name="connsiteY4" fmla="*/ 0 h 18288"/>
              <a:gd name="connsiteX5" fmla="*/ 2990088 w 10972800"/>
              <a:gd name="connsiteY5" fmla="*/ 0 h 18288"/>
              <a:gd name="connsiteX6" fmla="*/ 3456432 w 10972800"/>
              <a:gd name="connsiteY6" fmla="*/ 0 h 18288"/>
              <a:gd name="connsiteX7" fmla="*/ 4361688 w 10972800"/>
              <a:gd name="connsiteY7" fmla="*/ 0 h 18288"/>
              <a:gd name="connsiteX8" fmla="*/ 5266944 w 10972800"/>
              <a:gd name="connsiteY8" fmla="*/ 0 h 18288"/>
              <a:gd name="connsiteX9" fmla="*/ 6172200 w 10972800"/>
              <a:gd name="connsiteY9" fmla="*/ 0 h 18288"/>
              <a:gd name="connsiteX10" fmla="*/ 6528816 w 10972800"/>
              <a:gd name="connsiteY10" fmla="*/ 0 h 18288"/>
              <a:gd name="connsiteX11" fmla="*/ 7214616 w 10972800"/>
              <a:gd name="connsiteY11" fmla="*/ 0 h 18288"/>
              <a:gd name="connsiteX12" fmla="*/ 7790688 w 10972800"/>
              <a:gd name="connsiteY12" fmla="*/ 0 h 18288"/>
              <a:gd name="connsiteX13" fmla="*/ 8147304 w 10972800"/>
              <a:gd name="connsiteY13" fmla="*/ 0 h 18288"/>
              <a:gd name="connsiteX14" fmla="*/ 9052560 w 10972800"/>
              <a:gd name="connsiteY14" fmla="*/ 0 h 18288"/>
              <a:gd name="connsiteX15" fmla="*/ 9409176 w 10972800"/>
              <a:gd name="connsiteY15" fmla="*/ 0 h 18288"/>
              <a:gd name="connsiteX16" fmla="*/ 9765792 w 10972800"/>
              <a:gd name="connsiteY16" fmla="*/ 0 h 18288"/>
              <a:gd name="connsiteX17" fmla="*/ 10341864 w 10972800"/>
              <a:gd name="connsiteY17" fmla="*/ 0 h 18288"/>
              <a:gd name="connsiteX18" fmla="*/ 10972800 w 10972800"/>
              <a:gd name="connsiteY18" fmla="*/ 0 h 18288"/>
              <a:gd name="connsiteX19" fmla="*/ 10972800 w 10972800"/>
              <a:gd name="connsiteY19" fmla="*/ 18288 h 18288"/>
              <a:gd name="connsiteX20" fmla="*/ 10177272 w 10972800"/>
              <a:gd name="connsiteY20" fmla="*/ 18288 h 18288"/>
              <a:gd name="connsiteX21" fmla="*/ 9820656 w 10972800"/>
              <a:gd name="connsiteY21" fmla="*/ 18288 h 18288"/>
              <a:gd name="connsiteX22" fmla="*/ 9464040 w 10972800"/>
              <a:gd name="connsiteY22" fmla="*/ 18288 h 18288"/>
              <a:gd name="connsiteX23" fmla="*/ 8778240 w 10972800"/>
              <a:gd name="connsiteY23" fmla="*/ 18288 h 18288"/>
              <a:gd name="connsiteX24" fmla="*/ 8421624 w 10972800"/>
              <a:gd name="connsiteY24" fmla="*/ 18288 h 18288"/>
              <a:gd name="connsiteX25" fmla="*/ 7735824 w 10972800"/>
              <a:gd name="connsiteY25" fmla="*/ 18288 h 18288"/>
              <a:gd name="connsiteX26" fmla="*/ 6940296 w 10972800"/>
              <a:gd name="connsiteY26" fmla="*/ 18288 h 18288"/>
              <a:gd name="connsiteX27" fmla="*/ 6254496 w 10972800"/>
              <a:gd name="connsiteY27" fmla="*/ 18288 h 18288"/>
              <a:gd name="connsiteX28" fmla="*/ 5458968 w 10972800"/>
              <a:gd name="connsiteY28" fmla="*/ 18288 h 18288"/>
              <a:gd name="connsiteX29" fmla="*/ 4663440 w 10972800"/>
              <a:gd name="connsiteY29" fmla="*/ 18288 h 18288"/>
              <a:gd name="connsiteX30" fmla="*/ 4306824 w 10972800"/>
              <a:gd name="connsiteY30" fmla="*/ 18288 h 18288"/>
              <a:gd name="connsiteX31" fmla="*/ 3840480 w 10972800"/>
              <a:gd name="connsiteY31" fmla="*/ 18288 h 18288"/>
              <a:gd name="connsiteX32" fmla="*/ 3264408 w 10972800"/>
              <a:gd name="connsiteY32" fmla="*/ 18288 h 18288"/>
              <a:gd name="connsiteX33" fmla="*/ 2578608 w 10972800"/>
              <a:gd name="connsiteY33" fmla="*/ 18288 h 18288"/>
              <a:gd name="connsiteX34" fmla="*/ 1673352 w 10972800"/>
              <a:gd name="connsiteY34" fmla="*/ 18288 h 18288"/>
              <a:gd name="connsiteX35" fmla="*/ 877824 w 10972800"/>
              <a:gd name="connsiteY35" fmla="*/ 18288 h 18288"/>
              <a:gd name="connsiteX36" fmla="*/ 0 w 10972800"/>
              <a:gd name="connsiteY36" fmla="*/ 18288 h 18288"/>
              <a:gd name="connsiteX37" fmla="*/ 0 w 10972800"/>
              <a:gd name="connsiteY37"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Content Placeholder 2">
            <a:extLst>
              <a:ext uri="{FF2B5EF4-FFF2-40B4-BE49-F238E27FC236}">
                <a16:creationId xmlns:a16="http://schemas.microsoft.com/office/drawing/2014/main" id="{23D7CB63-1A69-4680-8DC6-1CCFDE538874}"/>
              </a:ext>
            </a:extLst>
          </p:cNvPr>
          <p:cNvSpPr>
            <a:spLocks noGrp="1"/>
          </p:cNvSpPr>
          <p:nvPr>
            <p:ph idx="1"/>
          </p:nvPr>
        </p:nvSpPr>
        <p:spPr>
          <a:xfrm>
            <a:off x="4905955" y="2071316"/>
            <a:ext cx="6713552" cy="4114800"/>
          </a:xfrm>
        </p:spPr>
        <p:txBody>
          <a:bodyPr anchor="t">
            <a:normAutofit/>
          </a:bodyPr>
          <a:lstStyle/>
          <a:p>
            <a:r>
              <a:rPr lang="en-US" sz="2200" dirty="0"/>
              <a:t>The LQE nodes estimate, in real-time, the quality of the links of the WSN, using a detailed analysis of the RSSI, while the other nodes remain operating normally</a:t>
            </a:r>
          </a:p>
          <a:p>
            <a:r>
              <a:rPr lang="en-US" sz="2200" dirty="0"/>
              <a:t>The LQE node can also be used to help in the resynchronization process after a channel switch</a:t>
            </a:r>
          </a:p>
          <a:p>
            <a:r>
              <a:rPr lang="en-US" sz="2200" dirty="0"/>
              <a:t>Raw values of RSSI or LQI are not enough to properly estimate the channel quality, but with a more detailed analysis of many values of RSSI it is possible to identify the problems that affect the channel quality</a:t>
            </a:r>
          </a:p>
        </p:txBody>
      </p:sp>
      <p:pic>
        <p:nvPicPr>
          <p:cNvPr id="6" name="Picture 5">
            <a:extLst>
              <a:ext uri="{FF2B5EF4-FFF2-40B4-BE49-F238E27FC236}">
                <a16:creationId xmlns:a16="http://schemas.microsoft.com/office/drawing/2014/main" id="{10DCA0A8-C040-4999-87F0-3DE9F3459062}"/>
              </a:ext>
            </a:extLst>
          </p:cNvPr>
          <p:cNvPicPr>
            <a:picLocks noChangeAspect="1"/>
          </p:cNvPicPr>
          <p:nvPr/>
        </p:nvPicPr>
        <p:blipFill>
          <a:blip r:embed="rId2"/>
          <a:stretch>
            <a:fillRect/>
          </a:stretch>
        </p:blipFill>
        <p:spPr>
          <a:xfrm>
            <a:off x="427946" y="2403907"/>
            <a:ext cx="4478009" cy="2663133"/>
          </a:xfrm>
          <a:prstGeom prst="rect">
            <a:avLst/>
          </a:prstGeom>
        </p:spPr>
      </p:pic>
    </p:spTree>
    <p:extLst>
      <p:ext uri="{BB962C8B-B14F-4D97-AF65-F5344CB8AC3E}">
        <p14:creationId xmlns:p14="http://schemas.microsoft.com/office/powerpoint/2010/main" val="30196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A6D37EE4-EA1B-46EE-A54B-5233C63C96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3F6105E-2DC2-44D9-82BA-984E52FE6819}"/>
              </a:ext>
            </a:extLst>
          </p:cNvPr>
          <p:cNvSpPr>
            <a:spLocks noGrp="1"/>
          </p:cNvSpPr>
          <p:nvPr>
            <p:ph type="title"/>
          </p:nvPr>
        </p:nvSpPr>
        <p:spPr>
          <a:xfrm>
            <a:off x="572493" y="238539"/>
            <a:ext cx="11047013" cy="1434415"/>
          </a:xfrm>
        </p:spPr>
        <p:txBody>
          <a:bodyPr anchor="b">
            <a:normAutofit/>
          </a:bodyPr>
          <a:lstStyle/>
          <a:p>
            <a:r>
              <a:rPr lang="en-US" sz="5400"/>
              <a:t>The LQE node</a:t>
            </a:r>
          </a:p>
        </p:txBody>
      </p:sp>
      <p:sp>
        <p:nvSpPr>
          <p:cNvPr id="15" name="sketch line">
            <a:extLst>
              <a:ext uri="{FF2B5EF4-FFF2-40B4-BE49-F238E27FC236}">
                <a16:creationId xmlns:a16="http://schemas.microsoft.com/office/drawing/2014/main" id="{927D5270-6648-4CC1-8F78-48BE299CAC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767709"/>
            <a:ext cx="10972800" cy="18288"/>
          </a:xfrm>
          <a:custGeom>
            <a:avLst/>
            <a:gdLst>
              <a:gd name="connsiteX0" fmla="*/ 0 w 10972800"/>
              <a:gd name="connsiteY0" fmla="*/ 0 h 18288"/>
              <a:gd name="connsiteX1" fmla="*/ 356616 w 10972800"/>
              <a:gd name="connsiteY1" fmla="*/ 0 h 18288"/>
              <a:gd name="connsiteX2" fmla="*/ 1042416 w 10972800"/>
              <a:gd name="connsiteY2" fmla="*/ 0 h 18288"/>
              <a:gd name="connsiteX3" fmla="*/ 1947672 w 10972800"/>
              <a:gd name="connsiteY3" fmla="*/ 0 h 18288"/>
              <a:gd name="connsiteX4" fmla="*/ 2633472 w 10972800"/>
              <a:gd name="connsiteY4" fmla="*/ 0 h 18288"/>
              <a:gd name="connsiteX5" fmla="*/ 2990088 w 10972800"/>
              <a:gd name="connsiteY5" fmla="*/ 0 h 18288"/>
              <a:gd name="connsiteX6" fmla="*/ 3456432 w 10972800"/>
              <a:gd name="connsiteY6" fmla="*/ 0 h 18288"/>
              <a:gd name="connsiteX7" fmla="*/ 4361688 w 10972800"/>
              <a:gd name="connsiteY7" fmla="*/ 0 h 18288"/>
              <a:gd name="connsiteX8" fmla="*/ 5266944 w 10972800"/>
              <a:gd name="connsiteY8" fmla="*/ 0 h 18288"/>
              <a:gd name="connsiteX9" fmla="*/ 6172200 w 10972800"/>
              <a:gd name="connsiteY9" fmla="*/ 0 h 18288"/>
              <a:gd name="connsiteX10" fmla="*/ 6528816 w 10972800"/>
              <a:gd name="connsiteY10" fmla="*/ 0 h 18288"/>
              <a:gd name="connsiteX11" fmla="*/ 7214616 w 10972800"/>
              <a:gd name="connsiteY11" fmla="*/ 0 h 18288"/>
              <a:gd name="connsiteX12" fmla="*/ 7790688 w 10972800"/>
              <a:gd name="connsiteY12" fmla="*/ 0 h 18288"/>
              <a:gd name="connsiteX13" fmla="*/ 8147304 w 10972800"/>
              <a:gd name="connsiteY13" fmla="*/ 0 h 18288"/>
              <a:gd name="connsiteX14" fmla="*/ 9052560 w 10972800"/>
              <a:gd name="connsiteY14" fmla="*/ 0 h 18288"/>
              <a:gd name="connsiteX15" fmla="*/ 9409176 w 10972800"/>
              <a:gd name="connsiteY15" fmla="*/ 0 h 18288"/>
              <a:gd name="connsiteX16" fmla="*/ 9765792 w 10972800"/>
              <a:gd name="connsiteY16" fmla="*/ 0 h 18288"/>
              <a:gd name="connsiteX17" fmla="*/ 10341864 w 10972800"/>
              <a:gd name="connsiteY17" fmla="*/ 0 h 18288"/>
              <a:gd name="connsiteX18" fmla="*/ 10972800 w 10972800"/>
              <a:gd name="connsiteY18" fmla="*/ 0 h 18288"/>
              <a:gd name="connsiteX19" fmla="*/ 10972800 w 10972800"/>
              <a:gd name="connsiteY19" fmla="*/ 18288 h 18288"/>
              <a:gd name="connsiteX20" fmla="*/ 10177272 w 10972800"/>
              <a:gd name="connsiteY20" fmla="*/ 18288 h 18288"/>
              <a:gd name="connsiteX21" fmla="*/ 9820656 w 10972800"/>
              <a:gd name="connsiteY21" fmla="*/ 18288 h 18288"/>
              <a:gd name="connsiteX22" fmla="*/ 9464040 w 10972800"/>
              <a:gd name="connsiteY22" fmla="*/ 18288 h 18288"/>
              <a:gd name="connsiteX23" fmla="*/ 8778240 w 10972800"/>
              <a:gd name="connsiteY23" fmla="*/ 18288 h 18288"/>
              <a:gd name="connsiteX24" fmla="*/ 8421624 w 10972800"/>
              <a:gd name="connsiteY24" fmla="*/ 18288 h 18288"/>
              <a:gd name="connsiteX25" fmla="*/ 7735824 w 10972800"/>
              <a:gd name="connsiteY25" fmla="*/ 18288 h 18288"/>
              <a:gd name="connsiteX26" fmla="*/ 6940296 w 10972800"/>
              <a:gd name="connsiteY26" fmla="*/ 18288 h 18288"/>
              <a:gd name="connsiteX27" fmla="*/ 6254496 w 10972800"/>
              <a:gd name="connsiteY27" fmla="*/ 18288 h 18288"/>
              <a:gd name="connsiteX28" fmla="*/ 5458968 w 10972800"/>
              <a:gd name="connsiteY28" fmla="*/ 18288 h 18288"/>
              <a:gd name="connsiteX29" fmla="*/ 4663440 w 10972800"/>
              <a:gd name="connsiteY29" fmla="*/ 18288 h 18288"/>
              <a:gd name="connsiteX30" fmla="*/ 4306824 w 10972800"/>
              <a:gd name="connsiteY30" fmla="*/ 18288 h 18288"/>
              <a:gd name="connsiteX31" fmla="*/ 3840480 w 10972800"/>
              <a:gd name="connsiteY31" fmla="*/ 18288 h 18288"/>
              <a:gd name="connsiteX32" fmla="*/ 3264408 w 10972800"/>
              <a:gd name="connsiteY32" fmla="*/ 18288 h 18288"/>
              <a:gd name="connsiteX33" fmla="*/ 2578608 w 10972800"/>
              <a:gd name="connsiteY33" fmla="*/ 18288 h 18288"/>
              <a:gd name="connsiteX34" fmla="*/ 1673352 w 10972800"/>
              <a:gd name="connsiteY34" fmla="*/ 18288 h 18288"/>
              <a:gd name="connsiteX35" fmla="*/ 877824 w 10972800"/>
              <a:gd name="connsiteY35" fmla="*/ 18288 h 18288"/>
              <a:gd name="connsiteX36" fmla="*/ 0 w 10972800"/>
              <a:gd name="connsiteY36" fmla="*/ 18288 h 18288"/>
              <a:gd name="connsiteX37" fmla="*/ 0 w 10972800"/>
              <a:gd name="connsiteY37"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ontent Placeholder 2">
            <a:extLst>
              <a:ext uri="{FF2B5EF4-FFF2-40B4-BE49-F238E27FC236}">
                <a16:creationId xmlns:a16="http://schemas.microsoft.com/office/drawing/2014/main" id="{8B7309C7-FD81-45CD-889E-E180C0CEB4C7}"/>
              </a:ext>
            </a:extLst>
          </p:cNvPr>
          <p:cNvSpPr>
            <a:spLocks noGrp="1"/>
          </p:cNvSpPr>
          <p:nvPr>
            <p:ph idx="1"/>
          </p:nvPr>
        </p:nvSpPr>
        <p:spPr>
          <a:xfrm>
            <a:off x="4905955" y="2071316"/>
            <a:ext cx="6713552" cy="4114800"/>
          </a:xfrm>
        </p:spPr>
        <p:txBody>
          <a:bodyPr anchor="t">
            <a:normAutofit/>
          </a:bodyPr>
          <a:lstStyle/>
          <a:p>
            <a:r>
              <a:rPr lang="en-US" sz="2200" dirty="0"/>
              <a:t>The LQE node associated to one WSN node</a:t>
            </a:r>
          </a:p>
          <a:p>
            <a:r>
              <a:rPr lang="en-US" sz="2200" dirty="0"/>
              <a:t>composed by two micro-controllers, and two 2.4 GHz IEEE 802.15.4 transceivers</a:t>
            </a:r>
          </a:p>
          <a:p>
            <a:r>
              <a:rPr lang="en-US" sz="2200" dirty="0"/>
              <a:t>The two micro-controllers are connected to each other using a bus of 10 bits (composed by one interrupt bit, and nine data bits), that can be used to exchange data between the LQE node and the WSN node</a:t>
            </a:r>
          </a:p>
        </p:txBody>
      </p:sp>
      <p:pic>
        <p:nvPicPr>
          <p:cNvPr id="7" name="Picture 6">
            <a:extLst>
              <a:ext uri="{FF2B5EF4-FFF2-40B4-BE49-F238E27FC236}">
                <a16:creationId xmlns:a16="http://schemas.microsoft.com/office/drawing/2014/main" id="{BB8CAA6B-63C0-4D7D-AB67-8510B0F77C03}"/>
              </a:ext>
            </a:extLst>
          </p:cNvPr>
          <p:cNvPicPr>
            <a:picLocks noChangeAspect="1"/>
          </p:cNvPicPr>
          <p:nvPr/>
        </p:nvPicPr>
        <p:blipFill>
          <a:blip r:embed="rId2"/>
          <a:stretch>
            <a:fillRect/>
          </a:stretch>
        </p:blipFill>
        <p:spPr>
          <a:xfrm>
            <a:off x="111967" y="2191265"/>
            <a:ext cx="4793988" cy="3797529"/>
          </a:xfrm>
          <a:prstGeom prst="rect">
            <a:avLst/>
          </a:prstGeom>
        </p:spPr>
      </p:pic>
    </p:spTree>
    <p:extLst>
      <p:ext uri="{BB962C8B-B14F-4D97-AF65-F5344CB8AC3E}">
        <p14:creationId xmlns:p14="http://schemas.microsoft.com/office/powerpoint/2010/main" val="3794116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C45E4CD-8199-4A07-A963-DDBBDC425A35}"/>
              </a:ext>
            </a:extLst>
          </p:cNvPr>
          <p:cNvSpPr>
            <a:spLocks noGrp="1"/>
          </p:cNvSpPr>
          <p:nvPr>
            <p:ph type="title"/>
          </p:nvPr>
        </p:nvSpPr>
        <p:spPr>
          <a:xfrm>
            <a:off x="841248" y="548640"/>
            <a:ext cx="3600860" cy="5431536"/>
          </a:xfrm>
        </p:spPr>
        <p:txBody>
          <a:bodyPr>
            <a:normAutofit/>
          </a:bodyPr>
          <a:lstStyle/>
          <a:p>
            <a:r>
              <a:rPr lang="en-US" sz="5400" dirty="0"/>
              <a:t>The link quality estimator</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AE21EF4-4A2E-4945-B145-E419CECEA717}"/>
              </a:ext>
            </a:extLst>
          </p:cNvPr>
          <p:cNvSpPr>
            <a:spLocks noGrp="1"/>
          </p:cNvSpPr>
          <p:nvPr>
            <p:ph idx="1"/>
          </p:nvPr>
        </p:nvSpPr>
        <p:spPr>
          <a:xfrm>
            <a:off x="5126418" y="552091"/>
            <a:ext cx="6224335" cy="5431536"/>
          </a:xfrm>
        </p:spPr>
        <p:txBody>
          <a:bodyPr anchor="ctr">
            <a:normAutofit/>
          </a:bodyPr>
          <a:lstStyle/>
          <a:p>
            <a:r>
              <a:rPr lang="en-US" sz="2200" dirty="0"/>
              <a:t>The proposed estimator is executed at the receiver side, and combines three metrics, the </a:t>
            </a:r>
            <a:r>
              <a:rPr lang="en-US" sz="2200" i="1" dirty="0" err="1"/>
              <a:t>Pf</a:t>
            </a:r>
            <a:r>
              <a:rPr lang="en-US" sz="2200" i="1" dirty="0"/>
              <a:t> , Ca </a:t>
            </a:r>
            <a:r>
              <a:rPr lang="en-US" sz="2200" dirty="0"/>
              <a:t>, and </a:t>
            </a:r>
            <a:r>
              <a:rPr lang="en-US" sz="2200" i="1" dirty="0"/>
              <a:t>Pb </a:t>
            </a:r>
            <a:r>
              <a:rPr lang="en-US" sz="2200" dirty="0"/>
              <a:t>.</a:t>
            </a:r>
          </a:p>
          <a:p>
            <a:r>
              <a:rPr lang="en-US" sz="2200" dirty="0"/>
              <a:t>The </a:t>
            </a:r>
            <a:r>
              <a:rPr lang="en-US" sz="2200" i="1" dirty="0" err="1"/>
              <a:t>Pf</a:t>
            </a:r>
            <a:r>
              <a:rPr lang="en-US" sz="2200" i="1" dirty="0"/>
              <a:t> </a:t>
            </a:r>
            <a:r>
              <a:rPr lang="en-US" sz="2200" dirty="0"/>
              <a:t>is based on the analysis of the RSSI of received packets, and captures the effects of fading and shadowing in the channel quality. It has high correlation with the PRR at the receiver (forward PRR).</a:t>
            </a:r>
          </a:p>
          <a:p>
            <a:r>
              <a:rPr lang="en-US" sz="2200" dirty="0"/>
              <a:t>The </a:t>
            </a:r>
            <a:r>
              <a:rPr lang="en-US" sz="2200" i="1" dirty="0"/>
              <a:t>Ca </a:t>
            </a:r>
            <a:r>
              <a:rPr lang="en-US" sz="2200" dirty="0"/>
              <a:t>is based on the analysis of RSSI values obtained in periods without packet reception, and captures the influence of interference sources in the channel quality </a:t>
            </a:r>
          </a:p>
          <a:p>
            <a:r>
              <a:rPr lang="en-US" sz="2200" dirty="0"/>
              <a:t>The </a:t>
            </a:r>
            <a:r>
              <a:rPr lang="en-US" sz="2200" i="1" dirty="0"/>
              <a:t>Pb </a:t>
            </a:r>
            <a:r>
              <a:rPr lang="en-US" sz="2200" dirty="0"/>
              <a:t>is based on the number of duplicate packets received, and has high correlation with the PRR at the transmitter (backward PRR)</a:t>
            </a:r>
          </a:p>
        </p:txBody>
      </p:sp>
    </p:spTree>
    <p:extLst>
      <p:ext uri="{BB962C8B-B14F-4D97-AF65-F5344CB8AC3E}">
        <p14:creationId xmlns:p14="http://schemas.microsoft.com/office/powerpoint/2010/main" val="35482188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AFB3ED3-B631-4721-B2B5-05F89C1C3407}"/>
              </a:ext>
            </a:extLst>
          </p:cNvPr>
          <p:cNvSpPr>
            <a:spLocks noGrp="1"/>
          </p:cNvSpPr>
          <p:nvPr>
            <p:ph type="title"/>
          </p:nvPr>
        </p:nvSpPr>
        <p:spPr>
          <a:xfrm>
            <a:off x="841248" y="548640"/>
            <a:ext cx="3600860" cy="5431536"/>
          </a:xfrm>
        </p:spPr>
        <p:txBody>
          <a:bodyPr>
            <a:normAutofit/>
          </a:bodyPr>
          <a:lstStyle/>
          <a:p>
            <a:r>
              <a:rPr lang="en-US" sz="5400" dirty="0"/>
              <a:t>Estimation of the forward link quality</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67A24FE-F4F9-4D13-8DE6-F0999F17B730}"/>
              </a:ext>
            </a:extLst>
          </p:cNvPr>
          <p:cNvSpPr>
            <a:spLocks noGrp="1"/>
          </p:cNvSpPr>
          <p:nvPr>
            <p:ph idx="1"/>
          </p:nvPr>
        </p:nvSpPr>
        <p:spPr>
          <a:xfrm>
            <a:off x="5126418" y="552091"/>
            <a:ext cx="6224335" cy="5431536"/>
          </a:xfrm>
        </p:spPr>
        <p:txBody>
          <a:bodyPr anchor="ctr">
            <a:normAutofit/>
          </a:bodyPr>
          <a:lstStyle/>
          <a:p>
            <a:r>
              <a:rPr lang="en-US" sz="2200" dirty="0"/>
              <a:t>To analyze the channel characteristics, two metrics were obtained from the RSSI and LQI plots.</a:t>
            </a:r>
          </a:p>
          <a:p>
            <a:r>
              <a:rPr lang="en-US" sz="2200" dirty="0"/>
              <a:t>The first metric, called </a:t>
            </a:r>
            <a:r>
              <a:rPr lang="en-US" sz="2200" dirty="0" err="1"/>
              <a:t>Ravg</a:t>
            </a:r>
            <a:r>
              <a:rPr lang="en-US" sz="2200" dirty="0"/>
              <a:t> is the mean value of the normalized RSSI or LQI</a:t>
            </a:r>
          </a:p>
          <a:p>
            <a:r>
              <a:rPr lang="en-US" sz="2200" dirty="0"/>
              <a:t>The second metric, called </a:t>
            </a:r>
            <a:r>
              <a:rPr lang="en-US" sz="2200" dirty="0" err="1"/>
              <a:t>davg</a:t>
            </a:r>
            <a:r>
              <a:rPr lang="en-US" sz="2200" dirty="0"/>
              <a:t> , represents the average variation of the signal in relation to the mean value</a:t>
            </a:r>
          </a:p>
        </p:txBody>
      </p:sp>
    </p:spTree>
    <p:extLst>
      <p:ext uri="{BB962C8B-B14F-4D97-AF65-F5344CB8AC3E}">
        <p14:creationId xmlns:p14="http://schemas.microsoft.com/office/powerpoint/2010/main" val="28013701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AFB3ED3-B631-4721-B2B5-05F89C1C3407}"/>
              </a:ext>
            </a:extLst>
          </p:cNvPr>
          <p:cNvSpPr>
            <a:spLocks noGrp="1"/>
          </p:cNvSpPr>
          <p:nvPr>
            <p:ph type="title"/>
          </p:nvPr>
        </p:nvSpPr>
        <p:spPr>
          <a:xfrm>
            <a:off x="841248" y="548640"/>
            <a:ext cx="3600860" cy="5431536"/>
          </a:xfrm>
        </p:spPr>
        <p:txBody>
          <a:bodyPr>
            <a:normAutofit/>
          </a:bodyPr>
          <a:lstStyle/>
          <a:p>
            <a:r>
              <a:rPr lang="en-US" sz="5400" dirty="0"/>
              <a:t>Estimation of the forward link quality</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67A24FE-F4F9-4D13-8DE6-F0999F17B730}"/>
              </a:ext>
            </a:extLst>
          </p:cNvPr>
          <p:cNvSpPr>
            <a:spLocks noGrp="1"/>
          </p:cNvSpPr>
          <p:nvPr>
            <p:ph idx="1"/>
          </p:nvPr>
        </p:nvSpPr>
        <p:spPr>
          <a:xfrm>
            <a:off x="5126418" y="552091"/>
            <a:ext cx="6224335" cy="5431536"/>
          </a:xfrm>
        </p:spPr>
        <p:txBody>
          <a:bodyPr anchor="ctr">
            <a:normAutofit/>
          </a:bodyPr>
          <a:lstStyle/>
          <a:p>
            <a:r>
              <a:rPr lang="en-US" sz="2200" dirty="0"/>
              <a:t>The </a:t>
            </a:r>
            <a:r>
              <a:rPr lang="en-US" sz="2200" dirty="0" err="1"/>
              <a:t>davg</a:t>
            </a:r>
            <a:r>
              <a:rPr lang="en-US" sz="2200" dirty="0"/>
              <a:t> metric was obtained using:</a:t>
            </a:r>
          </a:p>
          <a:p>
            <a:pPr marL="0" indent="0">
              <a:buNone/>
            </a:pPr>
            <a:r>
              <a:rPr lang="en-US" sz="2200" dirty="0"/>
              <a:t> </a:t>
            </a:r>
          </a:p>
          <a:p>
            <a:pPr marL="0" indent="0">
              <a:buNone/>
            </a:pPr>
            <a:endParaRPr lang="en-US" sz="2200" dirty="0"/>
          </a:p>
          <a:p>
            <a:pPr marL="0" indent="0">
              <a:buNone/>
            </a:pPr>
            <a:endParaRPr lang="en-US" sz="2200" dirty="0"/>
          </a:p>
          <a:p>
            <a:pPr marL="0" indent="0">
              <a:buNone/>
            </a:pPr>
            <a:r>
              <a:rPr lang="en-US" sz="2200" dirty="0"/>
              <a:t>in which, MR is the set of values of RSSI or LQI obtained, Vi is the RSSI or LQI value</a:t>
            </a:r>
          </a:p>
          <a:p>
            <a:pPr marL="0" indent="0">
              <a:buNone/>
            </a:pPr>
            <a:endParaRPr lang="en-US" sz="2200" dirty="0"/>
          </a:p>
        </p:txBody>
      </p:sp>
      <p:pic>
        <p:nvPicPr>
          <p:cNvPr id="5" name="Picture 4">
            <a:extLst>
              <a:ext uri="{FF2B5EF4-FFF2-40B4-BE49-F238E27FC236}">
                <a16:creationId xmlns:a16="http://schemas.microsoft.com/office/drawing/2014/main" id="{FC457EC4-27FF-4D6E-8F13-D3AD9DA83FE1}"/>
              </a:ext>
            </a:extLst>
          </p:cNvPr>
          <p:cNvPicPr>
            <a:picLocks noChangeAspect="1"/>
          </p:cNvPicPr>
          <p:nvPr/>
        </p:nvPicPr>
        <p:blipFill>
          <a:blip r:embed="rId2"/>
          <a:stretch>
            <a:fillRect/>
          </a:stretch>
        </p:blipFill>
        <p:spPr>
          <a:xfrm>
            <a:off x="7028910" y="2362200"/>
            <a:ext cx="2419350" cy="1066800"/>
          </a:xfrm>
          <a:prstGeom prst="rect">
            <a:avLst/>
          </a:prstGeom>
        </p:spPr>
      </p:pic>
    </p:spTree>
    <p:extLst>
      <p:ext uri="{BB962C8B-B14F-4D97-AF65-F5344CB8AC3E}">
        <p14:creationId xmlns:p14="http://schemas.microsoft.com/office/powerpoint/2010/main" val="7356925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9D3A9E89-033E-4C4A-8C41-416DABFFD3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6293361-111E-427D-8E5B-256944AC83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275355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4C186E8-1D9C-4954-8BD9-9E8F84F6714B}"/>
              </a:ext>
            </a:extLst>
          </p:cNvPr>
          <p:cNvSpPr>
            <a:spLocks noGrp="1"/>
          </p:cNvSpPr>
          <p:nvPr>
            <p:ph type="title"/>
          </p:nvPr>
        </p:nvSpPr>
        <p:spPr>
          <a:xfrm>
            <a:off x="594360" y="687479"/>
            <a:ext cx="3444240" cy="1574874"/>
          </a:xfrm>
        </p:spPr>
        <p:txBody>
          <a:bodyPr vert="horz" lIns="91440" tIns="45720" rIns="91440" bIns="45720" rtlCol="0" anchor="b">
            <a:normAutofit/>
          </a:bodyPr>
          <a:lstStyle/>
          <a:p>
            <a:r>
              <a:rPr lang="en-US" sz="3400" kern="1200" dirty="0">
                <a:solidFill>
                  <a:schemeClr val="tx1"/>
                </a:solidFill>
                <a:latin typeface="+mj-lt"/>
                <a:ea typeface="+mj-ea"/>
                <a:cs typeface="+mj-cs"/>
              </a:rPr>
              <a:t>Estimation of the forward link quality</a:t>
            </a:r>
          </a:p>
        </p:txBody>
      </p:sp>
      <p:grpSp>
        <p:nvGrpSpPr>
          <p:cNvPr id="17" name="Group 16">
            <a:extLst>
              <a:ext uri="{FF2B5EF4-FFF2-40B4-BE49-F238E27FC236}">
                <a16:creationId xmlns:a16="http://schemas.microsoft.com/office/drawing/2014/main" id="{A41D73DD-160B-4885-A9CF-94EADD70D42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94360" y="73152"/>
            <a:ext cx="1178966" cy="232963"/>
            <a:chOff x="7763256" y="73152"/>
            <a:chExt cx="1178966" cy="232963"/>
          </a:xfrm>
        </p:grpSpPr>
        <p:sp>
          <p:nvSpPr>
            <p:cNvPr id="18" name="Rectangle 64">
              <a:extLst>
                <a:ext uri="{FF2B5EF4-FFF2-40B4-BE49-F238E27FC236}">
                  <a16:creationId xmlns:a16="http://schemas.microsoft.com/office/drawing/2014/main" id="{163DBB78-4E4E-4B2A-B257-CD3C2408AF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263077" y="73152"/>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66">
              <a:extLst>
                <a:ext uri="{FF2B5EF4-FFF2-40B4-BE49-F238E27FC236}">
                  <a16:creationId xmlns:a16="http://schemas.microsoft.com/office/drawing/2014/main" id="{DD0F509B-05E7-42D0-9A4A-9BBA9ABA47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263077" y="246888"/>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64">
              <a:extLst>
                <a:ext uri="{FF2B5EF4-FFF2-40B4-BE49-F238E27FC236}">
                  <a16:creationId xmlns:a16="http://schemas.microsoft.com/office/drawing/2014/main" id="{FF4A0A03-6FCB-47AB-A889-ABEAF35DE02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138122" y="73152"/>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66">
              <a:extLst>
                <a:ext uri="{FF2B5EF4-FFF2-40B4-BE49-F238E27FC236}">
                  <a16:creationId xmlns:a16="http://schemas.microsoft.com/office/drawing/2014/main" id="{8A6A27D1-12E0-4FAD-8C16-8A32A4EF20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138122" y="246888"/>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64">
              <a:extLst>
                <a:ext uri="{FF2B5EF4-FFF2-40B4-BE49-F238E27FC236}">
                  <a16:creationId xmlns:a16="http://schemas.microsoft.com/office/drawing/2014/main" id="{90BF3193-B4B0-4FDB-9734-8C9FABA532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013167" y="73152"/>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66">
              <a:extLst>
                <a:ext uri="{FF2B5EF4-FFF2-40B4-BE49-F238E27FC236}">
                  <a16:creationId xmlns:a16="http://schemas.microsoft.com/office/drawing/2014/main" id="{AB0CFE0F-0383-4629-9009-F66B040A16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013167" y="246888"/>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64">
              <a:extLst>
                <a:ext uri="{FF2B5EF4-FFF2-40B4-BE49-F238E27FC236}">
                  <a16:creationId xmlns:a16="http://schemas.microsoft.com/office/drawing/2014/main" id="{5C7EB065-8792-4BDB-9863-6F1BAA3C4B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888211" y="73152"/>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66">
              <a:extLst>
                <a:ext uri="{FF2B5EF4-FFF2-40B4-BE49-F238E27FC236}">
                  <a16:creationId xmlns:a16="http://schemas.microsoft.com/office/drawing/2014/main" id="{45ACE59D-97B6-4DD1-BB37-12C292F183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888211" y="246888"/>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64">
              <a:extLst>
                <a:ext uri="{FF2B5EF4-FFF2-40B4-BE49-F238E27FC236}">
                  <a16:creationId xmlns:a16="http://schemas.microsoft.com/office/drawing/2014/main" id="{5F2AAD78-5862-44FE-AB92-AF713D5F1F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63256" y="73152"/>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66">
              <a:extLst>
                <a:ext uri="{FF2B5EF4-FFF2-40B4-BE49-F238E27FC236}">
                  <a16:creationId xmlns:a16="http://schemas.microsoft.com/office/drawing/2014/main" id="{C9BF96B3-92E5-4693-B918-69EDD8FD74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63256" y="246888"/>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64">
              <a:extLst>
                <a:ext uri="{FF2B5EF4-FFF2-40B4-BE49-F238E27FC236}">
                  <a16:creationId xmlns:a16="http://schemas.microsoft.com/office/drawing/2014/main" id="{5B9B69C3-A82A-4F4F-A3C4-9D2B5AFAD1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887854" y="73152"/>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66">
              <a:extLst>
                <a:ext uri="{FF2B5EF4-FFF2-40B4-BE49-F238E27FC236}">
                  <a16:creationId xmlns:a16="http://schemas.microsoft.com/office/drawing/2014/main" id="{ED3C38D4-9B11-4F5F-A279-1A30E0CFBC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887854" y="246888"/>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64">
              <a:extLst>
                <a:ext uri="{FF2B5EF4-FFF2-40B4-BE49-F238E27FC236}">
                  <a16:creationId xmlns:a16="http://schemas.microsoft.com/office/drawing/2014/main" id="{3100DDA4-8F42-4CB2-8921-3894F7BA05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762899" y="73152"/>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66">
              <a:extLst>
                <a:ext uri="{FF2B5EF4-FFF2-40B4-BE49-F238E27FC236}">
                  <a16:creationId xmlns:a16="http://schemas.microsoft.com/office/drawing/2014/main" id="{A5936488-9C8D-40DA-BB04-6850F22355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762899" y="246888"/>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64">
              <a:extLst>
                <a:ext uri="{FF2B5EF4-FFF2-40B4-BE49-F238E27FC236}">
                  <a16:creationId xmlns:a16="http://schemas.microsoft.com/office/drawing/2014/main" id="{1B9028EA-A394-4A9A-865A-E02D2D9AF2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637944" y="73152"/>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66">
              <a:extLst>
                <a:ext uri="{FF2B5EF4-FFF2-40B4-BE49-F238E27FC236}">
                  <a16:creationId xmlns:a16="http://schemas.microsoft.com/office/drawing/2014/main" id="{3E802313-55B4-481A-BFD3-000851BC82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637944" y="246888"/>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64">
              <a:extLst>
                <a:ext uri="{FF2B5EF4-FFF2-40B4-BE49-F238E27FC236}">
                  <a16:creationId xmlns:a16="http://schemas.microsoft.com/office/drawing/2014/main" id="{708829DB-C817-49E6-9A68-CA180E94FB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512988" y="73152"/>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66">
              <a:extLst>
                <a:ext uri="{FF2B5EF4-FFF2-40B4-BE49-F238E27FC236}">
                  <a16:creationId xmlns:a16="http://schemas.microsoft.com/office/drawing/2014/main" id="{F6D48ED4-3DDF-47BF-87FA-07B83FD955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512988" y="246888"/>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64">
              <a:extLst>
                <a:ext uri="{FF2B5EF4-FFF2-40B4-BE49-F238E27FC236}">
                  <a16:creationId xmlns:a16="http://schemas.microsoft.com/office/drawing/2014/main" id="{4796464F-801F-4ACF-8CA7-B166D8E422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388033" y="73152"/>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66">
              <a:extLst>
                <a:ext uri="{FF2B5EF4-FFF2-40B4-BE49-F238E27FC236}">
                  <a16:creationId xmlns:a16="http://schemas.microsoft.com/office/drawing/2014/main" id="{EFBA0710-DB96-4132-8292-1ECBDADD73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388033" y="246888"/>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1F0E9897-714E-41A0-8A19-B44F2526B2A3}"/>
              </a:ext>
            </a:extLst>
          </p:cNvPr>
          <p:cNvSpPr txBox="1"/>
          <p:nvPr/>
        </p:nvSpPr>
        <p:spPr>
          <a:xfrm>
            <a:off x="594360" y="3155626"/>
            <a:ext cx="3444240" cy="2935176"/>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lang="en-US" dirty="0"/>
              <a:t>The Figures show the relation between </a:t>
            </a:r>
            <a:r>
              <a:rPr lang="en-US" dirty="0" err="1"/>
              <a:t>Ravg</a:t>
            </a:r>
            <a:r>
              <a:rPr lang="en-US" dirty="0"/>
              <a:t>, </a:t>
            </a:r>
            <a:r>
              <a:rPr lang="en-US" dirty="0" err="1"/>
              <a:t>davg</a:t>
            </a:r>
            <a:r>
              <a:rPr lang="en-US" dirty="0"/>
              <a:t> and PRR when using RSSI, and LQI respectively</a:t>
            </a:r>
          </a:p>
          <a:p>
            <a:pPr indent="-228600">
              <a:lnSpc>
                <a:spcPct val="90000"/>
              </a:lnSpc>
              <a:spcAft>
                <a:spcPts val="600"/>
              </a:spcAft>
              <a:buFont typeface="Arial" panose="020B0604020202020204" pitchFamily="34" charset="0"/>
              <a:buChar char="•"/>
            </a:pPr>
            <a:r>
              <a:rPr lang="en-US" dirty="0"/>
              <a:t>Scenario 1: distance about 13 m, with line-of-sight, few metallic objects near the nodes</a:t>
            </a:r>
          </a:p>
          <a:p>
            <a:pPr indent="-228600">
              <a:lnSpc>
                <a:spcPct val="90000"/>
              </a:lnSpc>
              <a:spcAft>
                <a:spcPts val="600"/>
              </a:spcAft>
              <a:buFont typeface="Arial" panose="020B0604020202020204" pitchFamily="34" charset="0"/>
              <a:buChar char="•"/>
            </a:pPr>
            <a:r>
              <a:rPr lang="en-US" dirty="0"/>
              <a:t>Scenario 2: distance about 30 m without line-of-sight, several metallic objects near the nodes</a:t>
            </a:r>
          </a:p>
        </p:txBody>
      </p:sp>
      <p:pic>
        <p:nvPicPr>
          <p:cNvPr id="5" name="Content Placeholder 4" descr="Chart, scatter chart&#10;&#10;Description automatically generated">
            <a:extLst>
              <a:ext uri="{FF2B5EF4-FFF2-40B4-BE49-F238E27FC236}">
                <a16:creationId xmlns:a16="http://schemas.microsoft.com/office/drawing/2014/main" id="{4F6B35DE-CA9F-4552-823B-534275A4F709}"/>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l="3817" r="5485" b="5738"/>
          <a:stretch/>
        </p:blipFill>
        <p:spPr>
          <a:xfrm>
            <a:off x="4466900" y="531074"/>
            <a:ext cx="3686602" cy="5434720"/>
          </a:xfrm>
          <a:prstGeom prst="rect">
            <a:avLst/>
          </a:prstGeom>
        </p:spPr>
      </p:pic>
      <p:pic>
        <p:nvPicPr>
          <p:cNvPr id="7" name="Picture 6" descr="Chart, line chart, scatter chart&#10;&#10;Description automatically generated">
            <a:extLst>
              <a:ext uri="{FF2B5EF4-FFF2-40B4-BE49-F238E27FC236}">
                <a16:creationId xmlns:a16="http://schemas.microsoft.com/office/drawing/2014/main" id="{B9562947-67F8-4713-8AA8-31BF5C6F4B61}"/>
              </a:ext>
            </a:extLst>
          </p:cNvPr>
          <p:cNvPicPr>
            <a:picLocks noChangeAspect="1"/>
          </p:cNvPicPr>
          <p:nvPr/>
        </p:nvPicPr>
        <p:blipFill rotWithShape="1">
          <a:blip r:embed="rId3">
            <a:extLst>
              <a:ext uri="{28A0092B-C50C-407E-A947-70E740481C1C}">
                <a14:useLocalDpi xmlns:a14="http://schemas.microsoft.com/office/drawing/2010/main" val="0"/>
              </a:ext>
            </a:extLst>
          </a:blip>
          <a:srcRect r="11192" b="1"/>
          <a:stretch/>
        </p:blipFill>
        <p:spPr>
          <a:xfrm>
            <a:off x="8321044" y="531074"/>
            <a:ext cx="3566160" cy="5577118"/>
          </a:xfrm>
          <a:prstGeom prst="rect">
            <a:avLst/>
          </a:prstGeom>
        </p:spPr>
      </p:pic>
      <p:sp>
        <p:nvSpPr>
          <p:cNvPr id="39" name="Rectangle 38">
            <a:extLst>
              <a:ext uri="{FF2B5EF4-FFF2-40B4-BE49-F238E27FC236}">
                <a16:creationId xmlns:a16="http://schemas.microsoft.com/office/drawing/2014/main" id="{78907291-9D6D-4740-81DB-441477BCA2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01384"/>
            <a:ext cx="12192000" cy="356616"/>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310429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4039D59-D896-4D49-97DF-B70A81AACFD2}"/>
              </a:ext>
            </a:extLst>
          </p:cNvPr>
          <p:cNvSpPr>
            <a:spLocks noGrp="1"/>
          </p:cNvSpPr>
          <p:nvPr>
            <p:ph type="title"/>
          </p:nvPr>
        </p:nvSpPr>
        <p:spPr>
          <a:xfrm>
            <a:off x="841248" y="548640"/>
            <a:ext cx="3600860" cy="5431536"/>
          </a:xfrm>
        </p:spPr>
        <p:txBody>
          <a:bodyPr>
            <a:normAutofit/>
          </a:bodyPr>
          <a:lstStyle/>
          <a:p>
            <a:r>
              <a:rPr lang="en-US" sz="5400" dirty="0"/>
              <a:t>Estimation of the forward link quality</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DFB1926-3639-486A-BEAD-900FD0D631CA}"/>
              </a:ext>
            </a:extLst>
          </p:cNvPr>
          <p:cNvSpPr>
            <a:spLocks noGrp="1"/>
          </p:cNvSpPr>
          <p:nvPr>
            <p:ph idx="1"/>
          </p:nvPr>
        </p:nvSpPr>
        <p:spPr>
          <a:xfrm>
            <a:off x="5126418" y="552091"/>
            <a:ext cx="6224335" cy="5431536"/>
          </a:xfrm>
        </p:spPr>
        <p:txBody>
          <a:bodyPr anchor="ctr">
            <a:normAutofit/>
          </a:bodyPr>
          <a:lstStyle/>
          <a:p>
            <a:endParaRPr lang="en-US" sz="2200" dirty="0"/>
          </a:p>
          <a:p>
            <a:r>
              <a:rPr lang="en-US" sz="2200" dirty="0"/>
              <a:t>When using LQI, the </a:t>
            </a:r>
            <a:r>
              <a:rPr lang="en-US" sz="2200" dirty="0" err="1"/>
              <a:t>davg</a:t>
            </a:r>
            <a:r>
              <a:rPr lang="en-US" sz="2200" dirty="0"/>
              <a:t>[LQI] presented a higher correlation than </a:t>
            </a:r>
            <a:r>
              <a:rPr lang="en-US" sz="2200" dirty="0" err="1"/>
              <a:t>Ravg</a:t>
            </a:r>
            <a:r>
              <a:rPr lang="en-US" sz="2200" dirty="0"/>
              <a:t>[LQI]</a:t>
            </a:r>
          </a:p>
          <a:p>
            <a:r>
              <a:rPr lang="en-US" sz="2200" dirty="0"/>
              <a:t>The implementation of LQI is vendor-specific, which makes difficult to develop a general solution using this metric</a:t>
            </a:r>
          </a:p>
          <a:p>
            <a:r>
              <a:rPr lang="en-US" sz="2200" dirty="0"/>
              <a:t>Because of those limitations of LQI, the RSSI was chosen in this paper to develop the model to estimate the forward link quality</a:t>
            </a:r>
          </a:p>
        </p:txBody>
      </p:sp>
    </p:spTree>
    <p:extLst>
      <p:ext uri="{BB962C8B-B14F-4D97-AF65-F5344CB8AC3E}">
        <p14:creationId xmlns:p14="http://schemas.microsoft.com/office/powerpoint/2010/main" val="15050186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4039D59-D896-4D49-97DF-B70A81AACFD2}"/>
              </a:ext>
            </a:extLst>
          </p:cNvPr>
          <p:cNvSpPr>
            <a:spLocks noGrp="1"/>
          </p:cNvSpPr>
          <p:nvPr>
            <p:ph type="title"/>
          </p:nvPr>
        </p:nvSpPr>
        <p:spPr>
          <a:xfrm>
            <a:off x="841248" y="548640"/>
            <a:ext cx="3600860" cy="5431536"/>
          </a:xfrm>
        </p:spPr>
        <p:txBody>
          <a:bodyPr>
            <a:normAutofit/>
          </a:bodyPr>
          <a:lstStyle/>
          <a:p>
            <a:r>
              <a:rPr lang="en-US" sz="5400" dirty="0"/>
              <a:t>Estimation of the forward link quality</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DFB1926-3639-486A-BEAD-900FD0D631CA}"/>
              </a:ext>
            </a:extLst>
          </p:cNvPr>
          <p:cNvSpPr>
            <a:spLocks noGrp="1"/>
          </p:cNvSpPr>
          <p:nvPr>
            <p:ph idx="1"/>
          </p:nvPr>
        </p:nvSpPr>
        <p:spPr>
          <a:xfrm>
            <a:off x="5126418" y="552091"/>
            <a:ext cx="6224335" cy="5431536"/>
          </a:xfrm>
        </p:spPr>
        <p:txBody>
          <a:bodyPr anchor="ctr">
            <a:normAutofit/>
          </a:bodyPr>
          <a:lstStyle/>
          <a:p>
            <a:endParaRPr lang="en-US" sz="2200" dirty="0"/>
          </a:p>
          <a:p>
            <a:r>
              <a:rPr lang="en-US" sz="2200" dirty="0"/>
              <a:t>Two approaches to estimate the forward link quality was implemented:</a:t>
            </a:r>
          </a:p>
          <a:p>
            <a:r>
              <a:rPr lang="en-US" sz="2200" dirty="0"/>
              <a:t>Artificial Neural Networks (ANN) using the metrics </a:t>
            </a:r>
            <a:r>
              <a:rPr lang="en-US" sz="2200" dirty="0" err="1"/>
              <a:t>davg</a:t>
            </a:r>
            <a:r>
              <a:rPr lang="en-US" sz="2200" dirty="0"/>
              <a:t>[RSSI] and </a:t>
            </a:r>
            <a:r>
              <a:rPr lang="en-US" sz="2200" dirty="0" err="1"/>
              <a:t>Ravg</a:t>
            </a:r>
            <a:r>
              <a:rPr lang="en-US" sz="2200" dirty="0"/>
              <a:t>[RSSI] as parameters</a:t>
            </a:r>
          </a:p>
          <a:p>
            <a:r>
              <a:rPr lang="en-US" sz="2200" dirty="0"/>
              <a:t>polynomial model, using only </a:t>
            </a:r>
            <a:r>
              <a:rPr lang="en-US" sz="2200" dirty="0" err="1"/>
              <a:t>Ravg</a:t>
            </a:r>
            <a:r>
              <a:rPr lang="en-US" sz="2200" dirty="0"/>
              <a:t>[RSSI] as the parameter</a:t>
            </a:r>
          </a:p>
        </p:txBody>
      </p:sp>
    </p:spTree>
    <p:extLst>
      <p:ext uri="{BB962C8B-B14F-4D97-AF65-F5344CB8AC3E}">
        <p14:creationId xmlns:p14="http://schemas.microsoft.com/office/powerpoint/2010/main" val="21665410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4039D59-D896-4D49-97DF-B70A81AACFD2}"/>
              </a:ext>
            </a:extLst>
          </p:cNvPr>
          <p:cNvSpPr>
            <a:spLocks noGrp="1"/>
          </p:cNvSpPr>
          <p:nvPr>
            <p:ph type="title"/>
          </p:nvPr>
        </p:nvSpPr>
        <p:spPr>
          <a:xfrm>
            <a:off x="841248" y="548640"/>
            <a:ext cx="3600860" cy="5431536"/>
          </a:xfrm>
        </p:spPr>
        <p:txBody>
          <a:bodyPr>
            <a:normAutofit/>
          </a:bodyPr>
          <a:lstStyle/>
          <a:p>
            <a:r>
              <a:rPr lang="en-US" sz="5400" dirty="0"/>
              <a:t>Estimation of the forward link quality</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DFB1926-3639-486A-BEAD-900FD0D631CA}"/>
              </a:ext>
            </a:extLst>
          </p:cNvPr>
          <p:cNvSpPr>
            <a:spLocks noGrp="1"/>
          </p:cNvSpPr>
          <p:nvPr>
            <p:ph idx="1"/>
          </p:nvPr>
        </p:nvSpPr>
        <p:spPr>
          <a:xfrm>
            <a:off x="5126418" y="552091"/>
            <a:ext cx="6224335" cy="5431536"/>
          </a:xfrm>
        </p:spPr>
        <p:txBody>
          <a:bodyPr anchor="ctr">
            <a:normAutofit/>
          </a:bodyPr>
          <a:lstStyle/>
          <a:p>
            <a:r>
              <a:rPr lang="en-US" sz="2200" dirty="0"/>
              <a:t>In ANN approach:</a:t>
            </a:r>
          </a:p>
          <a:p>
            <a:r>
              <a:rPr lang="en-US" sz="2200" dirty="0"/>
              <a:t>Two neurons in the input layer, that receive as input the metrics </a:t>
            </a:r>
            <a:r>
              <a:rPr lang="en-US" sz="2200" dirty="0" err="1"/>
              <a:t>davg</a:t>
            </a:r>
            <a:r>
              <a:rPr lang="en-US" sz="2200" dirty="0"/>
              <a:t>, and </a:t>
            </a:r>
            <a:r>
              <a:rPr lang="en-US" sz="2200" dirty="0" err="1"/>
              <a:t>Ravg</a:t>
            </a:r>
            <a:endParaRPr lang="en-US" sz="2200" dirty="0"/>
          </a:p>
          <a:p>
            <a:r>
              <a:rPr lang="en-US" sz="2200" dirty="0"/>
              <a:t>Eight neurons in the hidden layer(Tests were performed varying the number of hidden neurons from one to ten neurons)</a:t>
            </a:r>
          </a:p>
          <a:p>
            <a:r>
              <a:rPr lang="en-US" sz="2200" dirty="0"/>
              <a:t>one neuron in the output layer, that generates the estimated forward link quality (</a:t>
            </a:r>
            <a:r>
              <a:rPr lang="en-US" sz="2200" dirty="0" err="1"/>
              <a:t>Pf</a:t>
            </a:r>
            <a:r>
              <a:rPr lang="en-US" sz="2200" dirty="0"/>
              <a:t>) as output</a:t>
            </a:r>
          </a:p>
          <a:p>
            <a:r>
              <a:rPr lang="en-US" sz="2200" dirty="0"/>
              <a:t>Half of the values obtained in the experiments were used to train the ANN, and the other half was used for validation</a:t>
            </a:r>
          </a:p>
        </p:txBody>
      </p:sp>
    </p:spTree>
    <p:extLst>
      <p:ext uri="{BB962C8B-B14F-4D97-AF65-F5344CB8AC3E}">
        <p14:creationId xmlns:p14="http://schemas.microsoft.com/office/powerpoint/2010/main" val="27361973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4039D59-D896-4D49-97DF-B70A81AACFD2}"/>
              </a:ext>
            </a:extLst>
          </p:cNvPr>
          <p:cNvSpPr>
            <a:spLocks noGrp="1"/>
          </p:cNvSpPr>
          <p:nvPr>
            <p:ph type="title"/>
          </p:nvPr>
        </p:nvSpPr>
        <p:spPr>
          <a:xfrm>
            <a:off x="841248" y="548640"/>
            <a:ext cx="3600860" cy="5431536"/>
          </a:xfrm>
        </p:spPr>
        <p:txBody>
          <a:bodyPr>
            <a:normAutofit/>
          </a:bodyPr>
          <a:lstStyle/>
          <a:p>
            <a:r>
              <a:rPr lang="en-US" sz="5400" dirty="0"/>
              <a:t>Estimation of the forward link quality</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3DFB1926-3639-486A-BEAD-900FD0D631CA}"/>
              </a:ext>
            </a:extLst>
          </p:cNvPr>
          <p:cNvSpPr>
            <a:spLocks noGrp="1"/>
          </p:cNvSpPr>
          <p:nvPr>
            <p:ph idx="1"/>
          </p:nvPr>
        </p:nvSpPr>
        <p:spPr>
          <a:xfrm>
            <a:off x="5126418" y="552091"/>
            <a:ext cx="6224335" cy="5431536"/>
          </a:xfrm>
        </p:spPr>
        <p:txBody>
          <a:bodyPr anchor="ctr">
            <a:normAutofit/>
          </a:bodyPr>
          <a:lstStyle/>
          <a:p>
            <a:r>
              <a:rPr lang="en-US" sz="2200" dirty="0"/>
              <a:t>In polynomial model approach:</a:t>
            </a:r>
          </a:p>
          <a:p>
            <a:r>
              <a:rPr lang="en-US" sz="2200" dirty="0"/>
              <a:t>the best fit to the curve was obtained with a polynomial of degree six, with a coefficient of determination (R2) equal to 0.9464. With the polynomial model the </a:t>
            </a:r>
            <a:r>
              <a:rPr lang="en-US" sz="2200" dirty="0" err="1"/>
              <a:t>Pf</a:t>
            </a:r>
            <a:r>
              <a:rPr lang="en-US" sz="2200" dirty="0"/>
              <a:t> can be obtained using:</a:t>
            </a:r>
          </a:p>
        </p:txBody>
      </p:sp>
      <p:pic>
        <p:nvPicPr>
          <p:cNvPr id="5" name="Picture 4">
            <a:extLst>
              <a:ext uri="{FF2B5EF4-FFF2-40B4-BE49-F238E27FC236}">
                <a16:creationId xmlns:a16="http://schemas.microsoft.com/office/drawing/2014/main" id="{06A60BD5-AADF-4A3A-8785-CC8BF43053B3}"/>
              </a:ext>
            </a:extLst>
          </p:cNvPr>
          <p:cNvPicPr>
            <a:picLocks noChangeAspect="1"/>
          </p:cNvPicPr>
          <p:nvPr/>
        </p:nvPicPr>
        <p:blipFill>
          <a:blip r:embed="rId2"/>
          <a:stretch>
            <a:fillRect/>
          </a:stretch>
        </p:blipFill>
        <p:spPr>
          <a:xfrm>
            <a:off x="5696155" y="4304965"/>
            <a:ext cx="5238750" cy="885825"/>
          </a:xfrm>
          <a:prstGeom prst="rect">
            <a:avLst/>
          </a:prstGeom>
        </p:spPr>
      </p:pic>
    </p:spTree>
    <p:extLst>
      <p:ext uri="{BB962C8B-B14F-4D97-AF65-F5344CB8AC3E}">
        <p14:creationId xmlns:p14="http://schemas.microsoft.com/office/powerpoint/2010/main" val="6786922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2" name="Rectangle 16">
            <a:extLst>
              <a:ext uri="{FF2B5EF4-FFF2-40B4-BE49-F238E27FC236}">
                <a16:creationId xmlns:a16="http://schemas.microsoft.com/office/drawing/2014/main" id="{9D3A9E89-033E-4C4A-8C41-416DABFFD3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18">
            <a:extLst>
              <a:ext uri="{FF2B5EF4-FFF2-40B4-BE49-F238E27FC236}">
                <a16:creationId xmlns:a16="http://schemas.microsoft.com/office/drawing/2014/main" id="{86293361-111E-427D-8E5B-256944AC83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445887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4039D59-D896-4D49-97DF-B70A81AACFD2}"/>
              </a:ext>
            </a:extLst>
          </p:cNvPr>
          <p:cNvSpPr>
            <a:spLocks noGrp="1"/>
          </p:cNvSpPr>
          <p:nvPr>
            <p:ph type="title"/>
          </p:nvPr>
        </p:nvSpPr>
        <p:spPr>
          <a:xfrm>
            <a:off x="7763256" y="1122363"/>
            <a:ext cx="3834384" cy="2902882"/>
          </a:xfrm>
        </p:spPr>
        <p:txBody>
          <a:bodyPr vert="horz" lIns="91440" tIns="45720" rIns="91440" bIns="45720" rtlCol="0" anchor="b">
            <a:normAutofit/>
          </a:bodyPr>
          <a:lstStyle/>
          <a:p>
            <a:r>
              <a:rPr lang="en-US" sz="4800" dirty="0"/>
              <a:t>Estimation of the forward link quality</a:t>
            </a:r>
          </a:p>
        </p:txBody>
      </p:sp>
      <p:sp>
        <p:nvSpPr>
          <p:cNvPr id="12" name="TextBox 11">
            <a:extLst>
              <a:ext uri="{FF2B5EF4-FFF2-40B4-BE49-F238E27FC236}">
                <a16:creationId xmlns:a16="http://schemas.microsoft.com/office/drawing/2014/main" id="{3A3844F4-B47E-42CA-B91B-EE5EB65A6B20}"/>
              </a:ext>
            </a:extLst>
          </p:cNvPr>
          <p:cNvSpPr txBox="1"/>
          <p:nvPr/>
        </p:nvSpPr>
        <p:spPr>
          <a:xfrm>
            <a:off x="7408149" y="4683947"/>
            <a:ext cx="3919227" cy="1371177"/>
          </a:xfrm>
          <a:prstGeom prst="rect">
            <a:avLst/>
          </a:prstGeom>
        </p:spPr>
        <p:txBody>
          <a:bodyPr vert="horz" lIns="91440" tIns="45720" rIns="91440" bIns="45720" rtlCol="0" anchor="t">
            <a:normAutofit lnSpcReduction="10000"/>
          </a:bodyPr>
          <a:lstStyle/>
          <a:p>
            <a:pPr>
              <a:lnSpc>
                <a:spcPct val="90000"/>
              </a:lnSpc>
              <a:spcBef>
                <a:spcPts val="1000"/>
              </a:spcBef>
            </a:pPr>
            <a:r>
              <a:rPr lang="en-US" sz="1600" dirty="0"/>
              <a:t>The measured PRR for all replications performed in the three scenarios (Scenarios 1 and 2 in the industry, and Scenario 3 in an open field) and the values estimated using the ANN-based model and using the Polynomial Model (PM) </a:t>
            </a:r>
          </a:p>
        </p:txBody>
      </p:sp>
      <p:grpSp>
        <p:nvGrpSpPr>
          <p:cNvPr id="45" name="Group 20">
            <a:extLst>
              <a:ext uri="{FF2B5EF4-FFF2-40B4-BE49-F238E27FC236}">
                <a16:creationId xmlns:a16="http://schemas.microsoft.com/office/drawing/2014/main" id="{FCDE997A-E6D1-4881-88E5-269E5AC3DD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763256" y="73152"/>
            <a:ext cx="1178966" cy="232963"/>
            <a:chOff x="7763256" y="73152"/>
            <a:chExt cx="1178966" cy="232963"/>
          </a:xfrm>
        </p:grpSpPr>
        <p:sp>
          <p:nvSpPr>
            <p:cNvPr id="22" name="Rectangle 64">
              <a:extLst>
                <a:ext uri="{FF2B5EF4-FFF2-40B4-BE49-F238E27FC236}">
                  <a16:creationId xmlns:a16="http://schemas.microsoft.com/office/drawing/2014/main" id="{C5A17791-3735-41AA-BC18-9EE281D2BB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263077" y="73152"/>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66">
              <a:extLst>
                <a:ext uri="{FF2B5EF4-FFF2-40B4-BE49-F238E27FC236}">
                  <a16:creationId xmlns:a16="http://schemas.microsoft.com/office/drawing/2014/main" id="{F95E12FB-5FC2-40B9-A965-8D75253579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263077" y="246888"/>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64">
              <a:extLst>
                <a:ext uri="{FF2B5EF4-FFF2-40B4-BE49-F238E27FC236}">
                  <a16:creationId xmlns:a16="http://schemas.microsoft.com/office/drawing/2014/main" id="{E8C32A1A-9FA0-41F6-9AFF-8ECB7FAEDF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138122" y="73152"/>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66">
              <a:extLst>
                <a:ext uri="{FF2B5EF4-FFF2-40B4-BE49-F238E27FC236}">
                  <a16:creationId xmlns:a16="http://schemas.microsoft.com/office/drawing/2014/main" id="{7CF33DCF-317C-4DA0-AB10-D7FFD765B5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138122" y="246888"/>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64">
              <a:extLst>
                <a:ext uri="{FF2B5EF4-FFF2-40B4-BE49-F238E27FC236}">
                  <a16:creationId xmlns:a16="http://schemas.microsoft.com/office/drawing/2014/main" id="{2903C14D-D613-4770-8686-F92B1DD38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013167" y="73152"/>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66">
              <a:extLst>
                <a:ext uri="{FF2B5EF4-FFF2-40B4-BE49-F238E27FC236}">
                  <a16:creationId xmlns:a16="http://schemas.microsoft.com/office/drawing/2014/main" id="{D5F133F7-E38D-4DA1-99C1-86F681CA33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013167" y="246888"/>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64">
              <a:extLst>
                <a:ext uri="{FF2B5EF4-FFF2-40B4-BE49-F238E27FC236}">
                  <a16:creationId xmlns:a16="http://schemas.microsoft.com/office/drawing/2014/main" id="{5CAB3553-58B3-4262-BE0D-58D7CA75B8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888211" y="73152"/>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66">
              <a:extLst>
                <a:ext uri="{FF2B5EF4-FFF2-40B4-BE49-F238E27FC236}">
                  <a16:creationId xmlns:a16="http://schemas.microsoft.com/office/drawing/2014/main" id="{9D1B417A-9677-4C16-A473-B9683700F9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888211" y="246888"/>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64">
              <a:extLst>
                <a:ext uri="{FF2B5EF4-FFF2-40B4-BE49-F238E27FC236}">
                  <a16:creationId xmlns:a16="http://schemas.microsoft.com/office/drawing/2014/main" id="{7302AEA5-098D-4C81-88C5-07902BF9CF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63256" y="73152"/>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66">
              <a:extLst>
                <a:ext uri="{FF2B5EF4-FFF2-40B4-BE49-F238E27FC236}">
                  <a16:creationId xmlns:a16="http://schemas.microsoft.com/office/drawing/2014/main" id="{7C4E3ACA-8B17-422E-90A9-7586D06E6E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7763256" y="246888"/>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64">
              <a:extLst>
                <a:ext uri="{FF2B5EF4-FFF2-40B4-BE49-F238E27FC236}">
                  <a16:creationId xmlns:a16="http://schemas.microsoft.com/office/drawing/2014/main" id="{BD4A1ED5-82F7-4465-9B76-3F80A489F3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887854" y="73152"/>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66">
              <a:extLst>
                <a:ext uri="{FF2B5EF4-FFF2-40B4-BE49-F238E27FC236}">
                  <a16:creationId xmlns:a16="http://schemas.microsoft.com/office/drawing/2014/main" id="{69D1CC06-3A23-41C0-8EBB-28E61278E2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887854" y="246888"/>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64">
              <a:extLst>
                <a:ext uri="{FF2B5EF4-FFF2-40B4-BE49-F238E27FC236}">
                  <a16:creationId xmlns:a16="http://schemas.microsoft.com/office/drawing/2014/main" id="{462044AD-4120-4B1C-B41A-A45DA55513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762899" y="73152"/>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66">
              <a:extLst>
                <a:ext uri="{FF2B5EF4-FFF2-40B4-BE49-F238E27FC236}">
                  <a16:creationId xmlns:a16="http://schemas.microsoft.com/office/drawing/2014/main" id="{30623D13-D545-4F2E-8425-E59D1BEF9C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762899" y="246888"/>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64">
              <a:extLst>
                <a:ext uri="{FF2B5EF4-FFF2-40B4-BE49-F238E27FC236}">
                  <a16:creationId xmlns:a16="http://schemas.microsoft.com/office/drawing/2014/main" id="{E139ADAB-729A-4C31-B7E7-2532FF3FB2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637944" y="73152"/>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66">
              <a:extLst>
                <a:ext uri="{FF2B5EF4-FFF2-40B4-BE49-F238E27FC236}">
                  <a16:creationId xmlns:a16="http://schemas.microsoft.com/office/drawing/2014/main" id="{C7589FD1-9BFF-4E61-8C5E-8CF2AF79A8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637944" y="246888"/>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64">
              <a:extLst>
                <a:ext uri="{FF2B5EF4-FFF2-40B4-BE49-F238E27FC236}">
                  <a16:creationId xmlns:a16="http://schemas.microsoft.com/office/drawing/2014/main" id="{5F53515D-4E5F-4534-90F9-BD9DE4786B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512988" y="73152"/>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66">
              <a:extLst>
                <a:ext uri="{FF2B5EF4-FFF2-40B4-BE49-F238E27FC236}">
                  <a16:creationId xmlns:a16="http://schemas.microsoft.com/office/drawing/2014/main" id="{C13CB45B-7C83-43EA-878D-FE9C4593EB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512988" y="246888"/>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64">
              <a:extLst>
                <a:ext uri="{FF2B5EF4-FFF2-40B4-BE49-F238E27FC236}">
                  <a16:creationId xmlns:a16="http://schemas.microsoft.com/office/drawing/2014/main" id="{38BA5C82-1285-46A1-BA10-254B216636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388033" y="73152"/>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66">
              <a:extLst>
                <a:ext uri="{FF2B5EF4-FFF2-40B4-BE49-F238E27FC236}">
                  <a16:creationId xmlns:a16="http://schemas.microsoft.com/office/drawing/2014/main" id="{199FE72C-20A3-4FB4-BD67-E7EDF540D0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388033" y="246888"/>
              <a:ext cx="54368" cy="59227"/>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9" name="Picture 8">
            <a:extLst>
              <a:ext uri="{FF2B5EF4-FFF2-40B4-BE49-F238E27FC236}">
                <a16:creationId xmlns:a16="http://schemas.microsoft.com/office/drawing/2014/main" id="{051D36AC-801A-4171-82AD-8D239691C79C}"/>
              </a:ext>
            </a:extLst>
          </p:cNvPr>
          <p:cNvPicPr>
            <a:picLocks noChangeAspect="1"/>
          </p:cNvPicPr>
          <p:nvPr/>
        </p:nvPicPr>
        <p:blipFill rotWithShape="1">
          <a:blip r:embed="rId2"/>
          <a:srcRect l="3250" r="7383"/>
          <a:stretch/>
        </p:blipFill>
        <p:spPr>
          <a:xfrm>
            <a:off x="509517" y="576072"/>
            <a:ext cx="6692560" cy="5522976"/>
          </a:xfrm>
          <a:prstGeom prst="rect">
            <a:avLst/>
          </a:prstGeom>
        </p:spPr>
      </p:pic>
      <p:sp>
        <p:nvSpPr>
          <p:cNvPr id="43" name="Rectangle 42">
            <a:extLst>
              <a:ext uri="{FF2B5EF4-FFF2-40B4-BE49-F238E27FC236}">
                <a16:creationId xmlns:a16="http://schemas.microsoft.com/office/drawing/2014/main" id="{78907291-9D6D-4740-81DB-441477BCA2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01384"/>
            <a:ext cx="12192000" cy="356616"/>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038213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A6D37EE4-EA1B-46EE-A54B-5233C63C96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6E31518-74F9-49AD-9507-43992628435A}"/>
              </a:ext>
            </a:extLst>
          </p:cNvPr>
          <p:cNvSpPr>
            <a:spLocks noGrp="1"/>
          </p:cNvSpPr>
          <p:nvPr>
            <p:ph type="title"/>
          </p:nvPr>
        </p:nvSpPr>
        <p:spPr>
          <a:xfrm>
            <a:off x="572493" y="238539"/>
            <a:ext cx="11047013" cy="1434415"/>
          </a:xfrm>
        </p:spPr>
        <p:txBody>
          <a:bodyPr vert="horz" lIns="91440" tIns="45720" rIns="91440" bIns="45720" rtlCol="0" anchor="b">
            <a:normAutofit/>
          </a:bodyPr>
          <a:lstStyle/>
          <a:p>
            <a:r>
              <a:rPr lang="en-US" sz="5400"/>
              <a:t>Estimation of the forward link quality</a:t>
            </a:r>
          </a:p>
        </p:txBody>
      </p:sp>
      <p:sp>
        <p:nvSpPr>
          <p:cNvPr id="14" name="sketch line">
            <a:extLst>
              <a:ext uri="{FF2B5EF4-FFF2-40B4-BE49-F238E27FC236}">
                <a16:creationId xmlns:a16="http://schemas.microsoft.com/office/drawing/2014/main" id="{927D5270-6648-4CC1-8F78-48BE299CAC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767709"/>
            <a:ext cx="10972800" cy="18288"/>
          </a:xfrm>
          <a:custGeom>
            <a:avLst/>
            <a:gdLst>
              <a:gd name="connsiteX0" fmla="*/ 0 w 10972800"/>
              <a:gd name="connsiteY0" fmla="*/ 0 h 18288"/>
              <a:gd name="connsiteX1" fmla="*/ 356616 w 10972800"/>
              <a:gd name="connsiteY1" fmla="*/ 0 h 18288"/>
              <a:gd name="connsiteX2" fmla="*/ 1042416 w 10972800"/>
              <a:gd name="connsiteY2" fmla="*/ 0 h 18288"/>
              <a:gd name="connsiteX3" fmla="*/ 1947672 w 10972800"/>
              <a:gd name="connsiteY3" fmla="*/ 0 h 18288"/>
              <a:gd name="connsiteX4" fmla="*/ 2633472 w 10972800"/>
              <a:gd name="connsiteY4" fmla="*/ 0 h 18288"/>
              <a:gd name="connsiteX5" fmla="*/ 2990088 w 10972800"/>
              <a:gd name="connsiteY5" fmla="*/ 0 h 18288"/>
              <a:gd name="connsiteX6" fmla="*/ 3456432 w 10972800"/>
              <a:gd name="connsiteY6" fmla="*/ 0 h 18288"/>
              <a:gd name="connsiteX7" fmla="*/ 4361688 w 10972800"/>
              <a:gd name="connsiteY7" fmla="*/ 0 h 18288"/>
              <a:gd name="connsiteX8" fmla="*/ 5266944 w 10972800"/>
              <a:gd name="connsiteY8" fmla="*/ 0 h 18288"/>
              <a:gd name="connsiteX9" fmla="*/ 6172200 w 10972800"/>
              <a:gd name="connsiteY9" fmla="*/ 0 h 18288"/>
              <a:gd name="connsiteX10" fmla="*/ 6528816 w 10972800"/>
              <a:gd name="connsiteY10" fmla="*/ 0 h 18288"/>
              <a:gd name="connsiteX11" fmla="*/ 7214616 w 10972800"/>
              <a:gd name="connsiteY11" fmla="*/ 0 h 18288"/>
              <a:gd name="connsiteX12" fmla="*/ 7790688 w 10972800"/>
              <a:gd name="connsiteY12" fmla="*/ 0 h 18288"/>
              <a:gd name="connsiteX13" fmla="*/ 8147304 w 10972800"/>
              <a:gd name="connsiteY13" fmla="*/ 0 h 18288"/>
              <a:gd name="connsiteX14" fmla="*/ 9052560 w 10972800"/>
              <a:gd name="connsiteY14" fmla="*/ 0 h 18288"/>
              <a:gd name="connsiteX15" fmla="*/ 9409176 w 10972800"/>
              <a:gd name="connsiteY15" fmla="*/ 0 h 18288"/>
              <a:gd name="connsiteX16" fmla="*/ 9765792 w 10972800"/>
              <a:gd name="connsiteY16" fmla="*/ 0 h 18288"/>
              <a:gd name="connsiteX17" fmla="*/ 10341864 w 10972800"/>
              <a:gd name="connsiteY17" fmla="*/ 0 h 18288"/>
              <a:gd name="connsiteX18" fmla="*/ 10972800 w 10972800"/>
              <a:gd name="connsiteY18" fmla="*/ 0 h 18288"/>
              <a:gd name="connsiteX19" fmla="*/ 10972800 w 10972800"/>
              <a:gd name="connsiteY19" fmla="*/ 18288 h 18288"/>
              <a:gd name="connsiteX20" fmla="*/ 10177272 w 10972800"/>
              <a:gd name="connsiteY20" fmla="*/ 18288 h 18288"/>
              <a:gd name="connsiteX21" fmla="*/ 9820656 w 10972800"/>
              <a:gd name="connsiteY21" fmla="*/ 18288 h 18288"/>
              <a:gd name="connsiteX22" fmla="*/ 9464040 w 10972800"/>
              <a:gd name="connsiteY22" fmla="*/ 18288 h 18288"/>
              <a:gd name="connsiteX23" fmla="*/ 8778240 w 10972800"/>
              <a:gd name="connsiteY23" fmla="*/ 18288 h 18288"/>
              <a:gd name="connsiteX24" fmla="*/ 8421624 w 10972800"/>
              <a:gd name="connsiteY24" fmla="*/ 18288 h 18288"/>
              <a:gd name="connsiteX25" fmla="*/ 7735824 w 10972800"/>
              <a:gd name="connsiteY25" fmla="*/ 18288 h 18288"/>
              <a:gd name="connsiteX26" fmla="*/ 6940296 w 10972800"/>
              <a:gd name="connsiteY26" fmla="*/ 18288 h 18288"/>
              <a:gd name="connsiteX27" fmla="*/ 6254496 w 10972800"/>
              <a:gd name="connsiteY27" fmla="*/ 18288 h 18288"/>
              <a:gd name="connsiteX28" fmla="*/ 5458968 w 10972800"/>
              <a:gd name="connsiteY28" fmla="*/ 18288 h 18288"/>
              <a:gd name="connsiteX29" fmla="*/ 4663440 w 10972800"/>
              <a:gd name="connsiteY29" fmla="*/ 18288 h 18288"/>
              <a:gd name="connsiteX30" fmla="*/ 4306824 w 10972800"/>
              <a:gd name="connsiteY30" fmla="*/ 18288 h 18288"/>
              <a:gd name="connsiteX31" fmla="*/ 3840480 w 10972800"/>
              <a:gd name="connsiteY31" fmla="*/ 18288 h 18288"/>
              <a:gd name="connsiteX32" fmla="*/ 3264408 w 10972800"/>
              <a:gd name="connsiteY32" fmla="*/ 18288 h 18288"/>
              <a:gd name="connsiteX33" fmla="*/ 2578608 w 10972800"/>
              <a:gd name="connsiteY33" fmla="*/ 18288 h 18288"/>
              <a:gd name="connsiteX34" fmla="*/ 1673352 w 10972800"/>
              <a:gd name="connsiteY34" fmla="*/ 18288 h 18288"/>
              <a:gd name="connsiteX35" fmla="*/ 877824 w 10972800"/>
              <a:gd name="connsiteY35" fmla="*/ 18288 h 18288"/>
              <a:gd name="connsiteX36" fmla="*/ 0 w 10972800"/>
              <a:gd name="connsiteY36" fmla="*/ 18288 h 18288"/>
              <a:gd name="connsiteX37" fmla="*/ 0 w 10972800"/>
              <a:gd name="connsiteY37"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EF3EF3F6-6042-448E-A328-FBC146740AC1}"/>
              </a:ext>
            </a:extLst>
          </p:cNvPr>
          <p:cNvSpPr txBox="1"/>
          <p:nvPr/>
        </p:nvSpPr>
        <p:spPr>
          <a:xfrm>
            <a:off x="5410199" y="2071316"/>
            <a:ext cx="6209307" cy="4114800"/>
          </a:xfrm>
          <a:prstGeom prst="rect">
            <a:avLst/>
          </a:prstGeom>
        </p:spPr>
        <p:txBody>
          <a:bodyPr vert="horz" lIns="91440" tIns="45720" rIns="91440" bIns="45720" rtlCol="0" anchor="t">
            <a:normAutofit/>
          </a:bodyPr>
          <a:lstStyle/>
          <a:p>
            <a:pPr marL="285750" indent="-228600">
              <a:lnSpc>
                <a:spcPct val="90000"/>
              </a:lnSpc>
              <a:spcAft>
                <a:spcPts val="600"/>
              </a:spcAft>
              <a:buFont typeface="Arial" panose="020B0604020202020204" pitchFamily="34" charset="0"/>
              <a:buChar char="•"/>
            </a:pPr>
            <a:r>
              <a:rPr lang="en-US" sz="2200" dirty="0"/>
              <a:t>From the result, it is possible to observe that the models were able to estimate the PRR for all scenarios considered for validation, with good accuracy.</a:t>
            </a:r>
          </a:p>
          <a:p>
            <a:pPr marL="285750" indent="-228600">
              <a:lnSpc>
                <a:spcPct val="90000"/>
              </a:lnSpc>
              <a:spcAft>
                <a:spcPts val="600"/>
              </a:spcAft>
              <a:buFont typeface="Arial" panose="020B0604020202020204" pitchFamily="34" charset="0"/>
              <a:buChar char="•"/>
            </a:pPr>
            <a:r>
              <a:rPr lang="en-US" sz="2200" dirty="0"/>
              <a:t>The polynomial model provided a higher correlation with the measured forward PRR and is less computationally complex than the ANN model. Thus, it was used to implement the proposed estimator</a:t>
            </a:r>
          </a:p>
        </p:txBody>
      </p:sp>
      <p:pic>
        <p:nvPicPr>
          <p:cNvPr id="15" name="Picture 14">
            <a:extLst>
              <a:ext uri="{FF2B5EF4-FFF2-40B4-BE49-F238E27FC236}">
                <a16:creationId xmlns:a16="http://schemas.microsoft.com/office/drawing/2014/main" id="{43133C3D-4EBF-4EFE-A66F-1AF1F6EB869B}"/>
              </a:ext>
            </a:extLst>
          </p:cNvPr>
          <p:cNvPicPr>
            <a:picLocks noChangeAspect="1"/>
          </p:cNvPicPr>
          <p:nvPr/>
        </p:nvPicPr>
        <p:blipFill>
          <a:blip r:embed="rId2"/>
          <a:stretch>
            <a:fillRect/>
          </a:stretch>
        </p:blipFill>
        <p:spPr>
          <a:xfrm>
            <a:off x="93306" y="2237280"/>
            <a:ext cx="5410200" cy="1971675"/>
          </a:xfrm>
          <a:prstGeom prst="rect">
            <a:avLst/>
          </a:prstGeom>
        </p:spPr>
      </p:pic>
      <p:sp>
        <p:nvSpPr>
          <p:cNvPr id="17" name="TextBox 16">
            <a:extLst>
              <a:ext uri="{FF2B5EF4-FFF2-40B4-BE49-F238E27FC236}">
                <a16:creationId xmlns:a16="http://schemas.microsoft.com/office/drawing/2014/main" id="{4CDCF524-1F8B-4D5C-BAF0-B4F24E5740FA}"/>
              </a:ext>
            </a:extLst>
          </p:cNvPr>
          <p:cNvSpPr txBox="1"/>
          <p:nvPr/>
        </p:nvSpPr>
        <p:spPr>
          <a:xfrm>
            <a:off x="93306" y="4311139"/>
            <a:ext cx="5316893" cy="840230"/>
          </a:xfrm>
          <a:prstGeom prst="rect">
            <a:avLst/>
          </a:prstGeom>
          <a:noFill/>
        </p:spPr>
        <p:txBody>
          <a:bodyPr wrap="square">
            <a:spAutoFit/>
          </a:bodyPr>
          <a:lstStyle/>
          <a:p>
            <a:pPr marL="285750" indent="-228600">
              <a:lnSpc>
                <a:spcPct val="90000"/>
              </a:lnSpc>
              <a:spcAft>
                <a:spcPts val="600"/>
              </a:spcAft>
              <a:buFont typeface="Arial" panose="020B0604020202020204" pitchFamily="34" charset="0"/>
              <a:buChar char="•"/>
            </a:pPr>
            <a:r>
              <a:rPr lang="en-US" sz="1800" dirty="0"/>
              <a:t>Table 1 shows the Spearman correlation, the p-value, and the mean absolute error for each approach</a:t>
            </a:r>
          </a:p>
        </p:txBody>
      </p:sp>
    </p:spTree>
    <p:extLst>
      <p:ext uri="{BB962C8B-B14F-4D97-AF65-F5344CB8AC3E}">
        <p14:creationId xmlns:p14="http://schemas.microsoft.com/office/powerpoint/2010/main" val="18448287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C294341-DEAB-4726-A432-F8ED79AD53CD}"/>
              </a:ext>
            </a:extLst>
          </p:cNvPr>
          <p:cNvSpPr>
            <a:spLocks noGrp="1"/>
          </p:cNvSpPr>
          <p:nvPr>
            <p:ph type="title"/>
          </p:nvPr>
        </p:nvSpPr>
        <p:spPr>
          <a:xfrm>
            <a:off x="635000" y="640823"/>
            <a:ext cx="3418659" cy="5583148"/>
          </a:xfrm>
        </p:spPr>
        <p:txBody>
          <a:bodyPr anchor="ctr">
            <a:normAutofit/>
          </a:bodyPr>
          <a:lstStyle/>
          <a:p>
            <a:r>
              <a:rPr lang="en-US" sz="5000" dirty="0"/>
              <a:t>Evaluation for different packet transmission rates</a:t>
            </a:r>
          </a:p>
        </p:txBody>
      </p:sp>
      <p:sp>
        <p:nvSpPr>
          <p:cNvPr id="11"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27450" y="3462719"/>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BF191846-1932-42C9-8320-5C717D728754}"/>
              </a:ext>
            </a:extLst>
          </p:cNvPr>
          <p:cNvGraphicFramePr>
            <a:graphicFrameLocks noGrp="1"/>
          </p:cNvGraphicFramePr>
          <p:nvPr>
            <p:ph idx="1"/>
            <p:extLst>
              <p:ext uri="{D42A27DB-BD31-4B8C-83A1-F6EECF244321}">
                <p14:modId xmlns:p14="http://schemas.microsoft.com/office/powerpoint/2010/main" val="2013551840"/>
              </p:ext>
            </p:extLst>
          </p:nvPr>
        </p:nvGraphicFramePr>
        <p:xfrm>
          <a:off x="4648018" y="640822"/>
          <a:ext cx="6900512"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52374962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C294341-DEAB-4726-A432-F8ED79AD53CD}"/>
              </a:ext>
            </a:extLst>
          </p:cNvPr>
          <p:cNvSpPr>
            <a:spLocks noGrp="1"/>
          </p:cNvSpPr>
          <p:nvPr>
            <p:ph type="title"/>
          </p:nvPr>
        </p:nvSpPr>
        <p:spPr>
          <a:xfrm>
            <a:off x="635000" y="640823"/>
            <a:ext cx="3418659" cy="5583148"/>
          </a:xfrm>
        </p:spPr>
        <p:txBody>
          <a:bodyPr anchor="ctr">
            <a:normAutofit/>
          </a:bodyPr>
          <a:lstStyle/>
          <a:p>
            <a:r>
              <a:rPr lang="en-US" sz="5000" dirty="0"/>
              <a:t>Evaluation for different packet transmission rates</a:t>
            </a:r>
          </a:p>
        </p:txBody>
      </p:sp>
      <p:sp>
        <p:nvSpPr>
          <p:cNvPr id="11"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27450" y="3462719"/>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A72B3EF5-8153-4F28-8BAB-2A44191B56A6}"/>
              </a:ext>
            </a:extLst>
          </p:cNvPr>
          <p:cNvPicPr>
            <a:picLocks noChangeAspect="1"/>
          </p:cNvPicPr>
          <p:nvPr/>
        </p:nvPicPr>
        <p:blipFill>
          <a:blip r:embed="rId2"/>
          <a:stretch>
            <a:fillRect/>
          </a:stretch>
        </p:blipFill>
        <p:spPr>
          <a:xfrm>
            <a:off x="4546301" y="1385110"/>
            <a:ext cx="7150008" cy="4173505"/>
          </a:xfrm>
          <a:prstGeom prst="rect">
            <a:avLst/>
          </a:prstGeom>
        </p:spPr>
      </p:pic>
    </p:spTree>
    <p:extLst>
      <p:ext uri="{BB962C8B-B14F-4D97-AF65-F5344CB8AC3E}">
        <p14:creationId xmlns:p14="http://schemas.microsoft.com/office/powerpoint/2010/main" val="1581429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C294341-DEAB-4726-A432-F8ED79AD53CD}"/>
              </a:ext>
            </a:extLst>
          </p:cNvPr>
          <p:cNvSpPr>
            <a:spLocks noGrp="1"/>
          </p:cNvSpPr>
          <p:nvPr>
            <p:ph type="title"/>
          </p:nvPr>
        </p:nvSpPr>
        <p:spPr>
          <a:xfrm>
            <a:off x="635000" y="640823"/>
            <a:ext cx="3418659" cy="5583148"/>
          </a:xfrm>
        </p:spPr>
        <p:txBody>
          <a:bodyPr anchor="ctr">
            <a:normAutofit/>
          </a:bodyPr>
          <a:lstStyle/>
          <a:p>
            <a:r>
              <a:rPr lang="en-US" sz="5000" dirty="0"/>
              <a:t>Evaluation for different packet transmission rates</a:t>
            </a:r>
          </a:p>
        </p:txBody>
      </p:sp>
      <p:sp>
        <p:nvSpPr>
          <p:cNvPr id="11"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27450" y="3462719"/>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893B9BB7-9C67-4CEB-BA46-50F987B9DB11}"/>
              </a:ext>
            </a:extLst>
          </p:cNvPr>
          <p:cNvPicPr>
            <a:picLocks noChangeAspect="1"/>
          </p:cNvPicPr>
          <p:nvPr/>
        </p:nvPicPr>
        <p:blipFill>
          <a:blip r:embed="rId2"/>
          <a:stretch>
            <a:fillRect/>
          </a:stretch>
        </p:blipFill>
        <p:spPr>
          <a:xfrm>
            <a:off x="5069685" y="1895475"/>
            <a:ext cx="6391275" cy="3067050"/>
          </a:xfrm>
          <a:prstGeom prst="rect">
            <a:avLst/>
          </a:prstGeom>
        </p:spPr>
      </p:pic>
    </p:spTree>
    <p:extLst>
      <p:ext uri="{BB962C8B-B14F-4D97-AF65-F5344CB8AC3E}">
        <p14:creationId xmlns:p14="http://schemas.microsoft.com/office/powerpoint/2010/main" val="13965098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E442304-DDBD-4F7B-8017-36BCC863FB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281B020-53D3-4E74-9DB2-2FAE98472A94}"/>
              </a:ext>
            </a:extLst>
          </p:cNvPr>
          <p:cNvSpPr>
            <a:spLocks noGrp="1"/>
          </p:cNvSpPr>
          <p:nvPr>
            <p:ph type="title"/>
          </p:nvPr>
        </p:nvSpPr>
        <p:spPr>
          <a:xfrm>
            <a:off x="635000" y="640823"/>
            <a:ext cx="3418659" cy="5583148"/>
          </a:xfrm>
        </p:spPr>
        <p:txBody>
          <a:bodyPr anchor="ctr">
            <a:normAutofit/>
          </a:bodyPr>
          <a:lstStyle/>
          <a:p>
            <a:r>
              <a:rPr lang="en-US" sz="5000" dirty="0"/>
              <a:t>Estimation of the interference influence</a:t>
            </a:r>
          </a:p>
        </p:txBody>
      </p:sp>
      <p:sp>
        <p:nvSpPr>
          <p:cNvPr id="11" name="sketch line">
            <a:extLst>
              <a:ext uri="{FF2B5EF4-FFF2-40B4-BE49-F238E27FC236}">
                <a16:creationId xmlns:a16="http://schemas.microsoft.com/office/drawing/2014/main" id="{5E107275-3853-46FD-A241-DE4355A426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627450" y="3462719"/>
            <a:ext cx="5410200" cy="18288"/>
          </a:xfrm>
          <a:custGeom>
            <a:avLst/>
            <a:gdLst>
              <a:gd name="connsiteX0" fmla="*/ 0 w 5410200"/>
              <a:gd name="connsiteY0" fmla="*/ 0 h 18288"/>
              <a:gd name="connsiteX1" fmla="*/ 568071 w 5410200"/>
              <a:gd name="connsiteY1" fmla="*/ 0 h 18288"/>
              <a:gd name="connsiteX2" fmla="*/ 1298448 w 5410200"/>
              <a:gd name="connsiteY2" fmla="*/ 0 h 18288"/>
              <a:gd name="connsiteX3" fmla="*/ 1920621 w 5410200"/>
              <a:gd name="connsiteY3" fmla="*/ 0 h 18288"/>
              <a:gd name="connsiteX4" fmla="*/ 2488692 w 5410200"/>
              <a:gd name="connsiteY4" fmla="*/ 0 h 18288"/>
              <a:gd name="connsiteX5" fmla="*/ 3219069 w 5410200"/>
              <a:gd name="connsiteY5" fmla="*/ 0 h 18288"/>
              <a:gd name="connsiteX6" fmla="*/ 3895344 w 5410200"/>
              <a:gd name="connsiteY6" fmla="*/ 0 h 18288"/>
              <a:gd name="connsiteX7" fmla="*/ 4571619 w 5410200"/>
              <a:gd name="connsiteY7" fmla="*/ 0 h 18288"/>
              <a:gd name="connsiteX8" fmla="*/ 5410200 w 5410200"/>
              <a:gd name="connsiteY8" fmla="*/ 0 h 18288"/>
              <a:gd name="connsiteX9" fmla="*/ 5410200 w 5410200"/>
              <a:gd name="connsiteY9" fmla="*/ 18288 h 18288"/>
              <a:gd name="connsiteX10" fmla="*/ 4842129 w 5410200"/>
              <a:gd name="connsiteY10" fmla="*/ 18288 h 18288"/>
              <a:gd name="connsiteX11" fmla="*/ 4328160 w 5410200"/>
              <a:gd name="connsiteY11" fmla="*/ 18288 h 18288"/>
              <a:gd name="connsiteX12" fmla="*/ 3597783 w 5410200"/>
              <a:gd name="connsiteY12" fmla="*/ 18288 h 18288"/>
              <a:gd name="connsiteX13" fmla="*/ 3029712 w 5410200"/>
              <a:gd name="connsiteY13" fmla="*/ 18288 h 18288"/>
              <a:gd name="connsiteX14" fmla="*/ 2299335 w 5410200"/>
              <a:gd name="connsiteY14" fmla="*/ 18288 h 18288"/>
              <a:gd name="connsiteX15" fmla="*/ 1514856 w 5410200"/>
              <a:gd name="connsiteY15" fmla="*/ 18288 h 18288"/>
              <a:gd name="connsiteX16" fmla="*/ 892683 w 5410200"/>
              <a:gd name="connsiteY16" fmla="*/ 18288 h 18288"/>
              <a:gd name="connsiteX17" fmla="*/ 0 w 5410200"/>
              <a:gd name="connsiteY17" fmla="*/ 18288 h 18288"/>
              <a:gd name="connsiteX18" fmla="*/ 0 w 541020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410200" h="18288" fill="none" extrusionOk="0">
                <a:moveTo>
                  <a:pt x="0" y="0"/>
                </a:moveTo>
                <a:cubicBezTo>
                  <a:pt x="163050" y="-18707"/>
                  <a:pt x="319321" y="-16364"/>
                  <a:pt x="568071" y="0"/>
                </a:cubicBezTo>
                <a:cubicBezTo>
                  <a:pt x="816821" y="16364"/>
                  <a:pt x="1013224" y="-7268"/>
                  <a:pt x="1298448" y="0"/>
                </a:cubicBezTo>
                <a:cubicBezTo>
                  <a:pt x="1583672" y="7268"/>
                  <a:pt x="1631711" y="-3367"/>
                  <a:pt x="1920621" y="0"/>
                </a:cubicBezTo>
                <a:cubicBezTo>
                  <a:pt x="2209531" y="3367"/>
                  <a:pt x="2364420" y="-19184"/>
                  <a:pt x="2488692" y="0"/>
                </a:cubicBezTo>
                <a:cubicBezTo>
                  <a:pt x="2612964" y="19184"/>
                  <a:pt x="3023298" y="-34627"/>
                  <a:pt x="3219069" y="0"/>
                </a:cubicBezTo>
                <a:cubicBezTo>
                  <a:pt x="3414840" y="34627"/>
                  <a:pt x="3656810" y="24043"/>
                  <a:pt x="3895344" y="0"/>
                </a:cubicBezTo>
                <a:cubicBezTo>
                  <a:pt x="4133879" y="-24043"/>
                  <a:pt x="4393984" y="-19577"/>
                  <a:pt x="4571619" y="0"/>
                </a:cubicBezTo>
                <a:cubicBezTo>
                  <a:pt x="4749255" y="19577"/>
                  <a:pt x="5179928" y="-6281"/>
                  <a:pt x="5410200" y="0"/>
                </a:cubicBezTo>
                <a:cubicBezTo>
                  <a:pt x="5410730" y="6954"/>
                  <a:pt x="5410934" y="12839"/>
                  <a:pt x="5410200" y="18288"/>
                </a:cubicBezTo>
                <a:cubicBezTo>
                  <a:pt x="5139060" y="6751"/>
                  <a:pt x="5121593" y="31035"/>
                  <a:pt x="4842129" y="18288"/>
                </a:cubicBezTo>
                <a:cubicBezTo>
                  <a:pt x="4562665" y="5541"/>
                  <a:pt x="4448273" y="9487"/>
                  <a:pt x="4328160" y="18288"/>
                </a:cubicBezTo>
                <a:cubicBezTo>
                  <a:pt x="4208047" y="27089"/>
                  <a:pt x="3760936" y="22567"/>
                  <a:pt x="3597783" y="18288"/>
                </a:cubicBezTo>
                <a:cubicBezTo>
                  <a:pt x="3434630" y="14009"/>
                  <a:pt x="3299718" y="33213"/>
                  <a:pt x="3029712" y="18288"/>
                </a:cubicBezTo>
                <a:cubicBezTo>
                  <a:pt x="2759706" y="3363"/>
                  <a:pt x="2640159" y="27394"/>
                  <a:pt x="2299335" y="18288"/>
                </a:cubicBezTo>
                <a:cubicBezTo>
                  <a:pt x="1958511" y="9182"/>
                  <a:pt x="1801186" y="28985"/>
                  <a:pt x="1514856" y="18288"/>
                </a:cubicBezTo>
                <a:cubicBezTo>
                  <a:pt x="1228526" y="7591"/>
                  <a:pt x="1063509" y="-5305"/>
                  <a:pt x="892683" y="18288"/>
                </a:cubicBezTo>
                <a:cubicBezTo>
                  <a:pt x="721857" y="41881"/>
                  <a:pt x="186945" y="-20897"/>
                  <a:pt x="0" y="18288"/>
                </a:cubicBezTo>
                <a:cubicBezTo>
                  <a:pt x="-570" y="9279"/>
                  <a:pt x="132" y="5100"/>
                  <a:pt x="0" y="0"/>
                </a:cubicBezTo>
                <a:close/>
              </a:path>
              <a:path w="5410200" h="18288" stroke="0" extrusionOk="0">
                <a:moveTo>
                  <a:pt x="0" y="0"/>
                </a:moveTo>
                <a:cubicBezTo>
                  <a:pt x="285096" y="-4925"/>
                  <a:pt x="376456" y="22268"/>
                  <a:pt x="622173" y="0"/>
                </a:cubicBezTo>
                <a:cubicBezTo>
                  <a:pt x="867890" y="-22268"/>
                  <a:pt x="1031392" y="7228"/>
                  <a:pt x="1136142" y="0"/>
                </a:cubicBezTo>
                <a:cubicBezTo>
                  <a:pt x="1240892" y="-7228"/>
                  <a:pt x="1561853" y="9877"/>
                  <a:pt x="1920621" y="0"/>
                </a:cubicBezTo>
                <a:cubicBezTo>
                  <a:pt x="2279389" y="-9877"/>
                  <a:pt x="2367255" y="19546"/>
                  <a:pt x="2542794" y="0"/>
                </a:cubicBezTo>
                <a:cubicBezTo>
                  <a:pt x="2718333" y="-19546"/>
                  <a:pt x="2866732" y="-22226"/>
                  <a:pt x="3164967" y="0"/>
                </a:cubicBezTo>
                <a:cubicBezTo>
                  <a:pt x="3463202" y="22226"/>
                  <a:pt x="3568055" y="-2765"/>
                  <a:pt x="3949446" y="0"/>
                </a:cubicBezTo>
                <a:cubicBezTo>
                  <a:pt x="4330837" y="2765"/>
                  <a:pt x="4287895" y="10557"/>
                  <a:pt x="4517517" y="0"/>
                </a:cubicBezTo>
                <a:cubicBezTo>
                  <a:pt x="4747139" y="-10557"/>
                  <a:pt x="5149588" y="8716"/>
                  <a:pt x="5410200" y="0"/>
                </a:cubicBezTo>
                <a:cubicBezTo>
                  <a:pt x="5409517" y="5414"/>
                  <a:pt x="5409480" y="12510"/>
                  <a:pt x="5410200" y="18288"/>
                </a:cubicBezTo>
                <a:cubicBezTo>
                  <a:pt x="5163327" y="41494"/>
                  <a:pt x="5008749" y="10693"/>
                  <a:pt x="4842129" y="18288"/>
                </a:cubicBezTo>
                <a:cubicBezTo>
                  <a:pt x="4675509" y="25883"/>
                  <a:pt x="4433401" y="-615"/>
                  <a:pt x="4165854" y="18288"/>
                </a:cubicBezTo>
                <a:cubicBezTo>
                  <a:pt x="3898308" y="37191"/>
                  <a:pt x="3809032" y="-8710"/>
                  <a:pt x="3543681" y="18288"/>
                </a:cubicBezTo>
                <a:cubicBezTo>
                  <a:pt x="3278330" y="45286"/>
                  <a:pt x="3073876" y="-15917"/>
                  <a:pt x="2759202" y="18288"/>
                </a:cubicBezTo>
                <a:cubicBezTo>
                  <a:pt x="2444528" y="52493"/>
                  <a:pt x="2204144" y="3372"/>
                  <a:pt x="1974723" y="18288"/>
                </a:cubicBezTo>
                <a:cubicBezTo>
                  <a:pt x="1745302" y="33204"/>
                  <a:pt x="1602335" y="31490"/>
                  <a:pt x="1406652" y="18288"/>
                </a:cubicBezTo>
                <a:cubicBezTo>
                  <a:pt x="1210969" y="5086"/>
                  <a:pt x="923948" y="3161"/>
                  <a:pt x="730377" y="18288"/>
                </a:cubicBezTo>
                <a:cubicBezTo>
                  <a:pt x="536806" y="33415"/>
                  <a:pt x="336496" y="-141"/>
                  <a:pt x="0" y="18288"/>
                </a:cubicBezTo>
                <a:cubicBezTo>
                  <a:pt x="-306" y="11061"/>
                  <a:pt x="-655" y="7751"/>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D1D7D68C-64EE-4223-B3C7-344CFF75AB52}"/>
              </a:ext>
            </a:extLst>
          </p:cNvPr>
          <p:cNvGraphicFramePr>
            <a:graphicFrameLocks noGrp="1"/>
          </p:cNvGraphicFramePr>
          <p:nvPr>
            <p:ph idx="1"/>
            <p:extLst>
              <p:ext uri="{D42A27DB-BD31-4B8C-83A1-F6EECF244321}">
                <p14:modId xmlns:p14="http://schemas.microsoft.com/office/powerpoint/2010/main" val="778093712"/>
              </p:ext>
            </p:extLst>
          </p:nvPr>
        </p:nvGraphicFramePr>
        <p:xfrm>
          <a:off x="4648018" y="640822"/>
          <a:ext cx="6900512" cy="55361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5014847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B012808-F774-4B3F-BDE1-866915BA142D}"/>
              </a:ext>
            </a:extLst>
          </p:cNvPr>
          <p:cNvSpPr>
            <a:spLocks noGrp="1"/>
          </p:cNvSpPr>
          <p:nvPr>
            <p:ph type="title"/>
          </p:nvPr>
        </p:nvSpPr>
        <p:spPr>
          <a:xfrm>
            <a:off x="841248" y="548640"/>
            <a:ext cx="3600860" cy="5431536"/>
          </a:xfrm>
        </p:spPr>
        <p:txBody>
          <a:bodyPr>
            <a:normAutofit/>
          </a:bodyPr>
          <a:lstStyle/>
          <a:p>
            <a:r>
              <a:rPr lang="en-US" sz="5400" dirty="0"/>
              <a:t>Estimation of the interference influence</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5FB295E-854D-4E46-9ED3-38B23C030A82}"/>
              </a:ext>
            </a:extLst>
          </p:cNvPr>
          <p:cNvSpPr>
            <a:spLocks noGrp="1"/>
          </p:cNvSpPr>
          <p:nvPr>
            <p:ph idx="1"/>
          </p:nvPr>
        </p:nvSpPr>
        <p:spPr>
          <a:xfrm>
            <a:off x="5126418" y="552091"/>
            <a:ext cx="6224335" cy="5431536"/>
          </a:xfrm>
        </p:spPr>
        <p:txBody>
          <a:bodyPr anchor="ctr">
            <a:normAutofit/>
          </a:bodyPr>
          <a:lstStyle/>
          <a:p>
            <a:r>
              <a:rPr lang="en-US" sz="2200" dirty="0"/>
              <a:t>In the experiments described in the previous section has no interference source was present</a:t>
            </a:r>
          </a:p>
          <a:p>
            <a:r>
              <a:rPr lang="en-US" sz="2200" dirty="0"/>
              <a:t>Other experiments in the same industry were performed in an environment with external interference caused by Wi-Fi networks, operating in channels 1, 6, and 11.</a:t>
            </a:r>
          </a:p>
          <a:p>
            <a:r>
              <a:rPr lang="en-US" sz="2200" dirty="0"/>
              <a:t>A scan was made using a laptop, and seven Wi-Fi networks in Channel 1, four in Channel 6, and five in Channel 11 were identified</a:t>
            </a:r>
          </a:p>
        </p:txBody>
      </p:sp>
    </p:spTree>
    <p:extLst>
      <p:ext uri="{BB962C8B-B14F-4D97-AF65-F5344CB8AC3E}">
        <p14:creationId xmlns:p14="http://schemas.microsoft.com/office/powerpoint/2010/main" val="32132149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B012808-F774-4B3F-BDE1-866915BA142D}"/>
              </a:ext>
            </a:extLst>
          </p:cNvPr>
          <p:cNvSpPr>
            <a:spLocks noGrp="1"/>
          </p:cNvSpPr>
          <p:nvPr>
            <p:ph type="title"/>
          </p:nvPr>
        </p:nvSpPr>
        <p:spPr>
          <a:xfrm>
            <a:off x="841248" y="548640"/>
            <a:ext cx="3600860" cy="5431536"/>
          </a:xfrm>
        </p:spPr>
        <p:txBody>
          <a:bodyPr>
            <a:normAutofit/>
          </a:bodyPr>
          <a:lstStyle/>
          <a:p>
            <a:r>
              <a:rPr lang="en-US" sz="5400" dirty="0"/>
              <a:t>Estimation of the interference influence</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5FB295E-854D-4E46-9ED3-38B23C030A82}"/>
              </a:ext>
            </a:extLst>
          </p:cNvPr>
          <p:cNvSpPr>
            <a:spLocks noGrp="1"/>
          </p:cNvSpPr>
          <p:nvPr>
            <p:ph idx="1"/>
          </p:nvPr>
        </p:nvSpPr>
        <p:spPr>
          <a:xfrm>
            <a:off x="5126418" y="552091"/>
            <a:ext cx="6224335" cy="5431536"/>
          </a:xfrm>
        </p:spPr>
        <p:txBody>
          <a:bodyPr anchor="ctr">
            <a:normAutofit/>
          </a:bodyPr>
          <a:lstStyle/>
          <a:p>
            <a:r>
              <a:rPr lang="en-US" sz="2200" dirty="0"/>
              <a:t>To estimate the impact of interference it was used the channel availability (Ca) as the metric</a:t>
            </a:r>
          </a:p>
          <a:p>
            <a:r>
              <a:rPr lang="en-US" sz="2200" dirty="0"/>
              <a:t>To calculate Ca the LQE node acquires values of RSSI using its transceiver, during the periods without packet reception</a:t>
            </a:r>
          </a:p>
        </p:txBody>
      </p:sp>
    </p:spTree>
    <p:extLst>
      <p:ext uri="{BB962C8B-B14F-4D97-AF65-F5344CB8AC3E}">
        <p14:creationId xmlns:p14="http://schemas.microsoft.com/office/powerpoint/2010/main" val="14840358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B012808-F774-4B3F-BDE1-866915BA142D}"/>
              </a:ext>
            </a:extLst>
          </p:cNvPr>
          <p:cNvSpPr>
            <a:spLocks noGrp="1"/>
          </p:cNvSpPr>
          <p:nvPr>
            <p:ph type="title"/>
          </p:nvPr>
        </p:nvSpPr>
        <p:spPr>
          <a:xfrm>
            <a:off x="841248" y="548640"/>
            <a:ext cx="3600860" cy="5431536"/>
          </a:xfrm>
        </p:spPr>
        <p:txBody>
          <a:bodyPr>
            <a:normAutofit/>
          </a:bodyPr>
          <a:lstStyle/>
          <a:p>
            <a:r>
              <a:rPr lang="en-US" sz="5400" dirty="0"/>
              <a:t>Estimation of the interference influence</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5FB295E-854D-4E46-9ED3-38B23C030A82}"/>
              </a:ext>
            </a:extLst>
          </p:cNvPr>
          <p:cNvSpPr>
            <a:spLocks noGrp="1"/>
          </p:cNvSpPr>
          <p:nvPr>
            <p:ph idx="1"/>
          </p:nvPr>
        </p:nvSpPr>
        <p:spPr>
          <a:xfrm>
            <a:off x="5126418" y="552091"/>
            <a:ext cx="6224335" cy="5431536"/>
          </a:xfrm>
        </p:spPr>
        <p:txBody>
          <a:bodyPr anchor="ctr">
            <a:normAutofit/>
          </a:bodyPr>
          <a:lstStyle/>
          <a:p>
            <a:r>
              <a:rPr lang="en-US" sz="2200" dirty="0"/>
              <a:t>The channel availability is calculated using:</a:t>
            </a:r>
          </a:p>
          <a:p>
            <a:pPr marL="0" indent="0">
              <a:buNone/>
            </a:pPr>
            <a:endParaRPr lang="en-US" sz="2200" dirty="0"/>
          </a:p>
          <a:p>
            <a:pPr marL="0" indent="0">
              <a:buNone/>
            </a:pPr>
            <a:endParaRPr lang="en-US" sz="2200" dirty="0"/>
          </a:p>
          <a:p>
            <a:pPr marL="0" indent="0">
              <a:buNone/>
            </a:pPr>
            <a:r>
              <a:rPr lang="en-US" sz="2200" dirty="0"/>
              <a:t>in which n is the number of samples used to calculate Ca, and bi is equal to 0 or 1 depending on the value of a threshold (τ)</a:t>
            </a:r>
          </a:p>
          <a:p>
            <a:pPr marL="0" indent="0">
              <a:buNone/>
            </a:pPr>
            <a:endParaRPr lang="en-US" sz="2200" dirty="0"/>
          </a:p>
          <a:p>
            <a:pPr marL="0" indent="0">
              <a:buNone/>
            </a:pPr>
            <a:endParaRPr lang="en-US" sz="2200" dirty="0"/>
          </a:p>
          <a:p>
            <a:pPr marL="0" indent="0">
              <a:buNone/>
            </a:pPr>
            <a:r>
              <a:rPr lang="en-US" sz="2200" dirty="0"/>
              <a:t>in which Ri is the value of RSSI acquired in the </a:t>
            </a:r>
            <a:r>
              <a:rPr lang="en-US" sz="2200" dirty="0" err="1"/>
              <a:t>ith</a:t>
            </a:r>
            <a:r>
              <a:rPr lang="en-US" sz="2200" dirty="0"/>
              <a:t> sample</a:t>
            </a:r>
          </a:p>
          <a:p>
            <a:pPr marL="0" indent="0">
              <a:buNone/>
            </a:pPr>
            <a:endParaRPr lang="en-US" sz="2200" dirty="0"/>
          </a:p>
        </p:txBody>
      </p:sp>
      <p:pic>
        <p:nvPicPr>
          <p:cNvPr id="5" name="Picture 4">
            <a:extLst>
              <a:ext uri="{FF2B5EF4-FFF2-40B4-BE49-F238E27FC236}">
                <a16:creationId xmlns:a16="http://schemas.microsoft.com/office/drawing/2014/main" id="{1EC6C819-F8FE-4A7D-9E64-D4E437B3C5AF}"/>
              </a:ext>
            </a:extLst>
          </p:cNvPr>
          <p:cNvPicPr>
            <a:picLocks noChangeAspect="1"/>
          </p:cNvPicPr>
          <p:nvPr/>
        </p:nvPicPr>
        <p:blipFill>
          <a:blip r:embed="rId2"/>
          <a:stretch>
            <a:fillRect/>
          </a:stretch>
        </p:blipFill>
        <p:spPr>
          <a:xfrm>
            <a:off x="7347997" y="1583252"/>
            <a:ext cx="1781175" cy="723900"/>
          </a:xfrm>
          <a:prstGeom prst="rect">
            <a:avLst/>
          </a:prstGeom>
        </p:spPr>
      </p:pic>
      <p:pic>
        <p:nvPicPr>
          <p:cNvPr id="11" name="Picture 10">
            <a:extLst>
              <a:ext uri="{FF2B5EF4-FFF2-40B4-BE49-F238E27FC236}">
                <a16:creationId xmlns:a16="http://schemas.microsoft.com/office/drawing/2014/main" id="{A511C16B-8D0C-480E-84B8-3B0615175BEE}"/>
              </a:ext>
            </a:extLst>
          </p:cNvPr>
          <p:cNvPicPr>
            <a:picLocks noChangeAspect="1"/>
          </p:cNvPicPr>
          <p:nvPr/>
        </p:nvPicPr>
        <p:blipFill>
          <a:blip r:embed="rId3"/>
          <a:stretch>
            <a:fillRect/>
          </a:stretch>
        </p:blipFill>
        <p:spPr>
          <a:xfrm>
            <a:off x="7181309" y="3429000"/>
            <a:ext cx="2114550" cy="866775"/>
          </a:xfrm>
          <a:prstGeom prst="rect">
            <a:avLst/>
          </a:prstGeom>
        </p:spPr>
      </p:pic>
    </p:spTree>
    <p:extLst>
      <p:ext uri="{BB962C8B-B14F-4D97-AF65-F5344CB8AC3E}">
        <p14:creationId xmlns:p14="http://schemas.microsoft.com/office/powerpoint/2010/main" val="30720161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14">
            <a:extLst>
              <a:ext uri="{FF2B5EF4-FFF2-40B4-BE49-F238E27FC236}">
                <a16:creationId xmlns:a16="http://schemas.microsoft.com/office/drawing/2014/main" id="{A6D37EE4-EA1B-46EE-A54B-5233C63C96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B012808-F774-4B3F-BDE1-866915BA142D}"/>
              </a:ext>
            </a:extLst>
          </p:cNvPr>
          <p:cNvSpPr>
            <a:spLocks noGrp="1"/>
          </p:cNvSpPr>
          <p:nvPr>
            <p:ph type="title"/>
          </p:nvPr>
        </p:nvSpPr>
        <p:spPr>
          <a:xfrm>
            <a:off x="572493" y="238539"/>
            <a:ext cx="11047013" cy="1434415"/>
          </a:xfrm>
        </p:spPr>
        <p:txBody>
          <a:bodyPr anchor="b">
            <a:normAutofit/>
          </a:bodyPr>
          <a:lstStyle/>
          <a:p>
            <a:r>
              <a:rPr lang="en-US" sz="5000"/>
              <a:t>Estimation of the interference influence</a:t>
            </a:r>
          </a:p>
        </p:txBody>
      </p:sp>
      <p:sp>
        <p:nvSpPr>
          <p:cNvPr id="24" name="sketch line">
            <a:extLst>
              <a:ext uri="{FF2B5EF4-FFF2-40B4-BE49-F238E27FC236}">
                <a16:creationId xmlns:a16="http://schemas.microsoft.com/office/drawing/2014/main" id="{927D5270-6648-4CC1-8F78-48BE299CAC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767709"/>
            <a:ext cx="10972800" cy="18288"/>
          </a:xfrm>
          <a:custGeom>
            <a:avLst/>
            <a:gdLst>
              <a:gd name="connsiteX0" fmla="*/ 0 w 10972800"/>
              <a:gd name="connsiteY0" fmla="*/ 0 h 18288"/>
              <a:gd name="connsiteX1" fmla="*/ 356616 w 10972800"/>
              <a:gd name="connsiteY1" fmla="*/ 0 h 18288"/>
              <a:gd name="connsiteX2" fmla="*/ 1042416 w 10972800"/>
              <a:gd name="connsiteY2" fmla="*/ 0 h 18288"/>
              <a:gd name="connsiteX3" fmla="*/ 1947672 w 10972800"/>
              <a:gd name="connsiteY3" fmla="*/ 0 h 18288"/>
              <a:gd name="connsiteX4" fmla="*/ 2633472 w 10972800"/>
              <a:gd name="connsiteY4" fmla="*/ 0 h 18288"/>
              <a:gd name="connsiteX5" fmla="*/ 2990088 w 10972800"/>
              <a:gd name="connsiteY5" fmla="*/ 0 h 18288"/>
              <a:gd name="connsiteX6" fmla="*/ 3456432 w 10972800"/>
              <a:gd name="connsiteY6" fmla="*/ 0 h 18288"/>
              <a:gd name="connsiteX7" fmla="*/ 4361688 w 10972800"/>
              <a:gd name="connsiteY7" fmla="*/ 0 h 18288"/>
              <a:gd name="connsiteX8" fmla="*/ 5266944 w 10972800"/>
              <a:gd name="connsiteY8" fmla="*/ 0 h 18288"/>
              <a:gd name="connsiteX9" fmla="*/ 6172200 w 10972800"/>
              <a:gd name="connsiteY9" fmla="*/ 0 h 18288"/>
              <a:gd name="connsiteX10" fmla="*/ 6528816 w 10972800"/>
              <a:gd name="connsiteY10" fmla="*/ 0 h 18288"/>
              <a:gd name="connsiteX11" fmla="*/ 7214616 w 10972800"/>
              <a:gd name="connsiteY11" fmla="*/ 0 h 18288"/>
              <a:gd name="connsiteX12" fmla="*/ 7790688 w 10972800"/>
              <a:gd name="connsiteY12" fmla="*/ 0 h 18288"/>
              <a:gd name="connsiteX13" fmla="*/ 8147304 w 10972800"/>
              <a:gd name="connsiteY13" fmla="*/ 0 h 18288"/>
              <a:gd name="connsiteX14" fmla="*/ 9052560 w 10972800"/>
              <a:gd name="connsiteY14" fmla="*/ 0 h 18288"/>
              <a:gd name="connsiteX15" fmla="*/ 9409176 w 10972800"/>
              <a:gd name="connsiteY15" fmla="*/ 0 h 18288"/>
              <a:gd name="connsiteX16" fmla="*/ 9765792 w 10972800"/>
              <a:gd name="connsiteY16" fmla="*/ 0 h 18288"/>
              <a:gd name="connsiteX17" fmla="*/ 10341864 w 10972800"/>
              <a:gd name="connsiteY17" fmla="*/ 0 h 18288"/>
              <a:gd name="connsiteX18" fmla="*/ 10972800 w 10972800"/>
              <a:gd name="connsiteY18" fmla="*/ 0 h 18288"/>
              <a:gd name="connsiteX19" fmla="*/ 10972800 w 10972800"/>
              <a:gd name="connsiteY19" fmla="*/ 18288 h 18288"/>
              <a:gd name="connsiteX20" fmla="*/ 10177272 w 10972800"/>
              <a:gd name="connsiteY20" fmla="*/ 18288 h 18288"/>
              <a:gd name="connsiteX21" fmla="*/ 9820656 w 10972800"/>
              <a:gd name="connsiteY21" fmla="*/ 18288 h 18288"/>
              <a:gd name="connsiteX22" fmla="*/ 9464040 w 10972800"/>
              <a:gd name="connsiteY22" fmla="*/ 18288 h 18288"/>
              <a:gd name="connsiteX23" fmla="*/ 8778240 w 10972800"/>
              <a:gd name="connsiteY23" fmla="*/ 18288 h 18288"/>
              <a:gd name="connsiteX24" fmla="*/ 8421624 w 10972800"/>
              <a:gd name="connsiteY24" fmla="*/ 18288 h 18288"/>
              <a:gd name="connsiteX25" fmla="*/ 7735824 w 10972800"/>
              <a:gd name="connsiteY25" fmla="*/ 18288 h 18288"/>
              <a:gd name="connsiteX26" fmla="*/ 6940296 w 10972800"/>
              <a:gd name="connsiteY26" fmla="*/ 18288 h 18288"/>
              <a:gd name="connsiteX27" fmla="*/ 6254496 w 10972800"/>
              <a:gd name="connsiteY27" fmla="*/ 18288 h 18288"/>
              <a:gd name="connsiteX28" fmla="*/ 5458968 w 10972800"/>
              <a:gd name="connsiteY28" fmla="*/ 18288 h 18288"/>
              <a:gd name="connsiteX29" fmla="*/ 4663440 w 10972800"/>
              <a:gd name="connsiteY29" fmla="*/ 18288 h 18288"/>
              <a:gd name="connsiteX30" fmla="*/ 4306824 w 10972800"/>
              <a:gd name="connsiteY30" fmla="*/ 18288 h 18288"/>
              <a:gd name="connsiteX31" fmla="*/ 3840480 w 10972800"/>
              <a:gd name="connsiteY31" fmla="*/ 18288 h 18288"/>
              <a:gd name="connsiteX32" fmla="*/ 3264408 w 10972800"/>
              <a:gd name="connsiteY32" fmla="*/ 18288 h 18288"/>
              <a:gd name="connsiteX33" fmla="*/ 2578608 w 10972800"/>
              <a:gd name="connsiteY33" fmla="*/ 18288 h 18288"/>
              <a:gd name="connsiteX34" fmla="*/ 1673352 w 10972800"/>
              <a:gd name="connsiteY34" fmla="*/ 18288 h 18288"/>
              <a:gd name="connsiteX35" fmla="*/ 877824 w 10972800"/>
              <a:gd name="connsiteY35" fmla="*/ 18288 h 18288"/>
              <a:gd name="connsiteX36" fmla="*/ 0 w 10972800"/>
              <a:gd name="connsiteY36" fmla="*/ 18288 h 18288"/>
              <a:gd name="connsiteX37" fmla="*/ 0 w 10972800"/>
              <a:gd name="connsiteY37"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5FB295E-854D-4E46-9ED3-38B23C030A82}"/>
              </a:ext>
            </a:extLst>
          </p:cNvPr>
          <p:cNvSpPr>
            <a:spLocks noGrp="1"/>
          </p:cNvSpPr>
          <p:nvPr>
            <p:ph idx="1"/>
          </p:nvPr>
        </p:nvSpPr>
        <p:spPr>
          <a:xfrm>
            <a:off x="5645019" y="2071316"/>
            <a:ext cx="5974487" cy="4114800"/>
          </a:xfrm>
        </p:spPr>
        <p:txBody>
          <a:bodyPr anchor="t">
            <a:normAutofit/>
          </a:bodyPr>
          <a:lstStyle/>
          <a:p>
            <a:r>
              <a:rPr lang="en-US" sz="2200" dirty="0"/>
              <a:t>The correlation between the signals received in the transceiver of the LQE node and in the transceiver of the WSN node can be relatively small in some cases. </a:t>
            </a:r>
          </a:p>
          <a:p>
            <a:r>
              <a:rPr lang="en-US" sz="2200" dirty="0"/>
              <a:t>Thus, it was studied if it is possible to accurately calculate Ca using values of RSSI acquired at the LQE node</a:t>
            </a:r>
          </a:p>
          <a:p>
            <a:r>
              <a:rPr lang="en-US" sz="2200" dirty="0"/>
              <a:t>The Figure shows the mean values of Ca, in percentage, for nine different channels, and calculated using values of RSSI acquired from the two nodes simultaneously</a:t>
            </a:r>
          </a:p>
        </p:txBody>
      </p:sp>
      <p:pic>
        <p:nvPicPr>
          <p:cNvPr id="7" name="Picture 6">
            <a:extLst>
              <a:ext uri="{FF2B5EF4-FFF2-40B4-BE49-F238E27FC236}">
                <a16:creationId xmlns:a16="http://schemas.microsoft.com/office/drawing/2014/main" id="{41DEF12A-421A-413F-B719-EF7020D6607B}"/>
              </a:ext>
            </a:extLst>
          </p:cNvPr>
          <p:cNvPicPr>
            <a:picLocks noChangeAspect="1"/>
          </p:cNvPicPr>
          <p:nvPr/>
        </p:nvPicPr>
        <p:blipFill>
          <a:blip r:embed="rId2"/>
          <a:stretch>
            <a:fillRect/>
          </a:stretch>
        </p:blipFill>
        <p:spPr>
          <a:xfrm>
            <a:off x="835595" y="2071316"/>
            <a:ext cx="4809424" cy="3537307"/>
          </a:xfrm>
          <a:prstGeom prst="rect">
            <a:avLst/>
          </a:prstGeom>
        </p:spPr>
      </p:pic>
    </p:spTree>
    <p:extLst>
      <p:ext uri="{BB962C8B-B14F-4D97-AF65-F5344CB8AC3E}">
        <p14:creationId xmlns:p14="http://schemas.microsoft.com/office/powerpoint/2010/main" val="9993484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434CADC-D3DB-4852-9DD6-9A32F0BC75BD}"/>
              </a:ext>
            </a:extLst>
          </p:cNvPr>
          <p:cNvSpPr>
            <a:spLocks noGrp="1"/>
          </p:cNvSpPr>
          <p:nvPr>
            <p:ph type="title"/>
          </p:nvPr>
        </p:nvSpPr>
        <p:spPr>
          <a:xfrm>
            <a:off x="841248" y="548640"/>
            <a:ext cx="3600860" cy="5431536"/>
          </a:xfrm>
        </p:spPr>
        <p:txBody>
          <a:bodyPr>
            <a:normAutofit/>
          </a:bodyPr>
          <a:lstStyle/>
          <a:p>
            <a:r>
              <a:rPr lang="en-US" sz="5400"/>
              <a:t>Estimation of the backward link quality</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02D2224-6497-4A36-98E3-104A987D3DAC}"/>
              </a:ext>
            </a:extLst>
          </p:cNvPr>
          <p:cNvSpPr>
            <a:spLocks noGrp="1"/>
          </p:cNvSpPr>
          <p:nvPr>
            <p:ph idx="1"/>
          </p:nvPr>
        </p:nvSpPr>
        <p:spPr>
          <a:xfrm>
            <a:off x="5126418" y="552091"/>
            <a:ext cx="6224335" cy="5431536"/>
          </a:xfrm>
        </p:spPr>
        <p:txBody>
          <a:bodyPr anchor="ctr">
            <a:normAutofit/>
          </a:bodyPr>
          <a:lstStyle/>
          <a:p>
            <a:r>
              <a:rPr lang="en-US" sz="2200"/>
              <a:t>The Pf, and Ca metrics are capable to identify the channel quality at the receiver, regarding multipath problems, and interference.</a:t>
            </a:r>
          </a:p>
          <a:p>
            <a:r>
              <a:rPr lang="en-US" sz="2200"/>
              <a:t>However, to characterize the overall quality of the link it is necessary to consider the backward link quality since the links are usually asymmetric.</a:t>
            </a:r>
          </a:p>
          <a:p>
            <a:r>
              <a:rPr lang="en-US" sz="2200"/>
              <a:t>Many applications use packet acknowledgment and retransmission, and control packets may also be transmitted to the end nodes</a:t>
            </a:r>
          </a:p>
        </p:txBody>
      </p:sp>
    </p:spTree>
    <p:extLst>
      <p:ext uri="{BB962C8B-B14F-4D97-AF65-F5344CB8AC3E}">
        <p14:creationId xmlns:p14="http://schemas.microsoft.com/office/powerpoint/2010/main" val="38406878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434CADC-D3DB-4852-9DD6-9A32F0BC75BD}"/>
              </a:ext>
            </a:extLst>
          </p:cNvPr>
          <p:cNvSpPr>
            <a:spLocks noGrp="1"/>
          </p:cNvSpPr>
          <p:nvPr>
            <p:ph type="title"/>
          </p:nvPr>
        </p:nvSpPr>
        <p:spPr>
          <a:xfrm>
            <a:off x="841248" y="548640"/>
            <a:ext cx="3600860" cy="5431536"/>
          </a:xfrm>
        </p:spPr>
        <p:txBody>
          <a:bodyPr>
            <a:normAutofit/>
          </a:bodyPr>
          <a:lstStyle/>
          <a:p>
            <a:r>
              <a:rPr lang="en-US" sz="5400"/>
              <a:t>Estimation of the backward link quality</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02D2224-6497-4A36-98E3-104A987D3DAC}"/>
              </a:ext>
            </a:extLst>
          </p:cNvPr>
          <p:cNvSpPr>
            <a:spLocks noGrp="1"/>
          </p:cNvSpPr>
          <p:nvPr>
            <p:ph idx="1"/>
          </p:nvPr>
        </p:nvSpPr>
        <p:spPr>
          <a:xfrm>
            <a:off x="5126418" y="552091"/>
            <a:ext cx="6224335" cy="5431536"/>
          </a:xfrm>
        </p:spPr>
        <p:txBody>
          <a:bodyPr anchor="ctr">
            <a:normAutofit/>
          </a:bodyPr>
          <a:lstStyle/>
          <a:p>
            <a:r>
              <a:rPr lang="en-US" sz="2200" dirty="0"/>
              <a:t>For each received packet, the WSN node that is associated to the LQE node transfers the RSSI value of the packet, and one bit to indicate if the received packet is duplicate, using the 10 bit bus that connects the two micro-controllers</a:t>
            </a:r>
          </a:p>
          <a:p>
            <a:r>
              <a:rPr lang="en-US" sz="2200" dirty="0"/>
              <a:t>A packet duplication occurs when the packet is received successfully, but the ACK packet does not is received correctly at the transmitter</a:t>
            </a:r>
          </a:p>
          <a:p>
            <a:r>
              <a:rPr lang="en-US" sz="2200" dirty="0"/>
              <a:t>the correlation between the number of duplicate packets and the backward PRR was studied, and a model was developed to estimate the backward link quality using this information.</a:t>
            </a:r>
          </a:p>
        </p:txBody>
      </p:sp>
    </p:spTree>
    <p:extLst>
      <p:ext uri="{BB962C8B-B14F-4D97-AF65-F5344CB8AC3E}">
        <p14:creationId xmlns:p14="http://schemas.microsoft.com/office/powerpoint/2010/main" val="49822220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434CADC-D3DB-4852-9DD6-9A32F0BC75BD}"/>
              </a:ext>
            </a:extLst>
          </p:cNvPr>
          <p:cNvSpPr>
            <a:spLocks noGrp="1"/>
          </p:cNvSpPr>
          <p:nvPr>
            <p:ph type="title"/>
          </p:nvPr>
        </p:nvSpPr>
        <p:spPr>
          <a:xfrm>
            <a:off x="841248" y="548640"/>
            <a:ext cx="3600860" cy="5431536"/>
          </a:xfrm>
        </p:spPr>
        <p:txBody>
          <a:bodyPr>
            <a:normAutofit/>
          </a:bodyPr>
          <a:lstStyle/>
          <a:p>
            <a:r>
              <a:rPr lang="en-US" sz="5400"/>
              <a:t>Estimation of the backward link quality</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02D2224-6497-4A36-98E3-104A987D3DAC}"/>
              </a:ext>
            </a:extLst>
          </p:cNvPr>
          <p:cNvSpPr>
            <a:spLocks noGrp="1"/>
          </p:cNvSpPr>
          <p:nvPr>
            <p:ph idx="1"/>
          </p:nvPr>
        </p:nvSpPr>
        <p:spPr>
          <a:xfrm>
            <a:off x="5126418" y="552091"/>
            <a:ext cx="6224335" cy="5431536"/>
          </a:xfrm>
        </p:spPr>
        <p:txBody>
          <a:bodyPr anchor="ctr">
            <a:normAutofit/>
          </a:bodyPr>
          <a:lstStyle/>
          <a:p>
            <a:r>
              <a:rPr lang="en-US" sz="2200" dirty="0"/>
              <a:t>Experiments were performed to obtain the total number of received packets, and the number of duplicate packets at the receiver for three different channels (11, 15, and 25)</a:t>
            </a:r>
          </a:p>
          <a:p>
            <a:r>
              <a:rPr lang="en-US" sz="2200" dirty="0"/>
              <a:t>To obtain the real backward PRR, the transmitter saved in its memory the total number of transmitted packets (including the retransmissions), and the total number of ACKs received in intervals of 10 s</a:t>
            </a:r>
          </a:p>
          <a:p>
            <a:r>
              <a:rPr lang="en-US" sz="2200" dirty="0"/>
              <a:t>the data saved on the transmitter was downloaded using a serial port</a:t>
            </a:r>
          </a:p>
        </p:txBody>
      </p:sp>
    </p:spTree>
    <p:extLst>
      <p:ext uri="{BB962C8B-B14F-4D97-AF65-F5344CB8AC3E}">
        <p14:creationId xmlns:p14="http://schemas.microsoft.com/office/powerpoint/2010/main" val="428942710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434CADC-D3DB-4852-9DD6-9A32F0BC75BD}"/>
              </a:ext>
            </a:extLst>
          </p:cNvPr>
          <p:cNvSpPr>
            <a:spLocks noGrp="1"/>
          </p:cNvSpPr>
          <p:nvPr>
            <p:ph type="title"/>
          </p:nvPr>
        </p:nvSpPr>
        <p:spPr>
          <a:xfrm>
            <a:off x="841248" y="548640"/>
            <a:ext cx="3600860" cy="5431536"/>
          </a:xfrm>
        </p:spPr>
        <p:txBody>
          <a:bodyPr>
            <a:normAutofit/>
          </a:bodyPr>
          <a:lstStyle/>
          <a:p>
            <a:r>
              <a:rPr lang="en-US" sz="5400"/>
              <a:t>Estimation of the backward link quality</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02D2224-6497-4A36-98E3-104A987D3DAC}"/>
              </a:ext>
            </a:extLst>
          </p:cNvPr>
          <p:cNvSpPr>
            <a:spLocks noGrp="1"/>
          </p:cNvSpPr>
          <p:nvPr>
            <p:ph idx="1"/>
          </p:nvPr>
        </p:nvSpPr>
        <p:spPr>
          <a:xfrm>
            <a:off x="5126418" y="552091"/>
            <a:ext cx="6224335" cy="5431536"/>
          </a:xfrm>
        </p:spPr>
        <p:txBody>
          <a:bodyPr anchor="ctr">
            <a:normAutofit/>
          </a:bodyPr>
          <a:lstStyle/>
          <a:p>
            <a:r>
              <a:rPr lang="en-US" sz="2200" dirty="0"/>
              <a:t>Considering a window of n received packets for the estimation, the average number of retransmissions per packet (Nr) is calculated using:</a:t>
            </a:r>
          </a:p>
          <a:p>
            <a:endParaRPr lang="en-US" sz="2200" dirty="0"/>
          </a:p>
          <a:p>
            <a:endParaRPr lang="en-US" sz="2200" dirty="0"/>
          </a:p>
          <a:p>
            <a:pPr marL="0" indent="0">
              <a:buNone/>
            </a:pPr>
            <a:r>
              <a:rPr lang="en-US" sz="2200" dirty="0"/>
              <a:t>in which, Nd is the number of duplicate packets inside the set of n packets</a:t>
            </a:r>
          </a:p>
          <a:p>
            <a:endParaRPr lang="en-US" sz="2200" dirty="0"/>
          </a:p>
        </p:txBody>
      </p:sp>
      <p:pic>
        <p:nvPicPr>
          <p:cNvPr id="5" name="Picture 4">
            <a:extLst>
              <a:ext uri="{FF2B5EF4-FFF2-40B4-BE49-F238E27FC236}">
                <a16:creationId xmlns:a16="http://schemas.microsoft.com/office/drawing/2014/main" id="{20A5AD83-6BB3-4927-84CF-402766ED3ABC}"/>
              </a:ext>
            </a:extLst>
          </p:cNvPr>
          <p:cNvPicPr>
            <a:picLocks noChangeAspect="1"/>
          </p:cNvPicPr>
          <p:nvPr/>
        </p:nvPicPr>
        <p:blipFill>
          <a:blip r:embed="rId2"/>
          <a:stretch>
            <a:fillRect/>
          </a:stretch>
        </p:blipFill>
        <p:spPr>
          <a:xfrm>
            <a:off x="7611070" y="2931033"/>
            <a:ext cx="1314450" cy="666750"/>
          </a:xfrm>
          <a:prstGeom prst="rect">
            <a:avLst/>
          </a:prstGeom>
        </p:spPr>
      </p:pic>
    </p:spTree>
    <p:extLst>
      <p:ext uri="{BB962C8B-B14F-4D97-AF65-F5344CB8AC3E}">
        <p14:creationId xmlns:p14="http://schemas.microsoft.com/office/powerpoint/2010/main" val="9763020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434CADC-D3DB-4852-9DD6-9A32F0BC75BD}"/>
              </a:ext>
            </a:extLst>
          </p:cNvPr>
          <p:cNvSpPr>
            <a:spLocks noGrp="1"/>
          </p:cNvSpPr>
          <p:nvPr>
            <p:ph type="title"/>
          </p:nvPr>
        </p:nvSpPr>
        <p:spPr>
          <a:xfrm>
            <a:off x="841248" y="548640"/>
            <a:ext cx="3600860" cy="5431536"/>
          </a:xfrm>
        </p:spPr>
        <p:txBody>
          <a:bodyPr>
            <a:normAutofit/>
          </a:bodyPr>
          <a:lstStyle/>
          <a:p>
            <a:r>
              <a:rPr lang="en-US" sz="5400"/>
              <a:t>Estimation of the backward link quality</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E714AF38-7957-4DC5-B5AF-3BA33D02CE2F}"/>
              </a:ext>
            </a:extLst>
          </p:cNvPr>
          <p:cNvPicPr>
            <a:picLocks noChangeAspect="1"/>
          </p:cNvPicPr>
          <p:nvPr/>
        </p:nvPicPr>
        <p:blipFill>
          <a:blip r:embed="rId2"/>
          <a:stretch>
            <a:fillRect/>
          </a:stretch>
        </p:blipFill>
        <p:spPr>
          <a:xfrm>
            <a:off x="6094476" y="1027579"/>
            <a:ext cx="5448300" cy="4010025"/>
          </a:xfrm>
          <a:prstGeom prst="rect">
            <a:avLst/>
          </a:prstGeom>
        </p:spPr>
      </p:pic>
      <p:sp>
        <p:nvSpPr>
          <p:cNvPr id="11" name="TextBox 10">
            <a:extLst>
              <a:ext uri="{FF2B5EF4-FFF2-40B4-BE49-F238E27FC236}">
                <a16:creationId xmlns:a16="http://schemas.microsoft.com/office/drawing/2014/main" id="{BA50D5D7-F636-42DD-8CA6-24DC149F645A}"/>
              </a:ext>
            </a:extLst>
          </p:cNvPr>
          <p:cNvSpPr txBox="1"/>
          <p:nvPr/>
        </p:nvSpPr>
        <p:spPr>
          <a:xfrm>
            <a:off x="6537703" y="5056846"/>
            <a:ext cx="6097554" cy="646331"/>
          </a:xfrm>
          <a:prstGeom prst="rect">
            <a:avLst/>
          </a:prstGeom>
          <a:noFill/>
        </p:spPr>
        <p:txBody>
          <a:bodyPr wrap="square">
            <a:spAutoFit/>
          </a:bodyPr>
          <a:lstStyle/>
          <a:p>
            <a:r>
              <a:rPr lang="en-US" dirty="0"/>
              <a:t>The figure shows the relation between the Nr, and the measured backward PRR with n = 10.</a:t>
            </a:r>
          </a:p>
        </p:txBody>
      </p:sp>
    </p:spTree>
    <p:extLst>
      <p:ext uri="{BB962C8B-B14F-4D97-AF65-F5344CB8AC3E}">
        <p14:creationId xmlns:p14="http://schemas.microsoft.com/office/powerpoint/2010/main" val="41248627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434CADC-D3DB-4852-9DD6-9A32F0BC75BD}"/>
              </a:ext>
            </a:extLst>
          </p:cNvPr>
          <p:cNvSpPr>
            <a:spLocks noGrp="1"/>
          </p:cNvSpPr>
          <p:nvPr>
            <p:ph type="title"/>
          </p:nvPr>
        </p:nvSpPr>
        <p:spPr>
          <a:xfrm>
            <a:off x="841248" y="548640"/>
            <a:ext cx="3600860" cy="5431536"/>
          </a:xfrm>
        </p:spPr>
        <p:txBody>
          <a:bodyPr>
            <a:normAutofit/>
          </a:bodyPr>
          <a:lstStyle/>
          <a:p>
            <a:r>
              <a:rPr lang="en-US" sz="5400"/>
              <a:t>Estimation of the backward link quality</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12256B3-0A57-4866-B323-4364FE2590F8}"/>
              </a:ext>
            </a:extLst>
          </p:cNvPr>
          <p:cNvSpPr txBox="1"/>
          <p:nvPr/>
        </p:nvSpPr>
        <p:spPr>
          <a:xfrm>
            <a:off x="5256232" y="1027579"/>
            <a:ext cx="6094520" cy="2308324"/>
          </a:xfrm>
          <a:prstGeom prst="rect">
            <a:avLst/>
          </a:prstGeom>
          <a:noFill/>
        </p:spPr>
        <p:txBody>
          <a:bodyPr wrap="square">
            <a:spAutoFit/>
          </a:bodyPr>
          <a:lstStyle/>
          <a:p>
            <a:pPr marL="285750" indent="-285750">
              <a:buFont typeface="Arial" panose="020B0604020202020204" pitchFamily="34" charset="0"/>
              <a:buChar char="•"/>
            </a:pPr>
            <a:r>
              <a:rPr lang="en-US" dirty="0"/>
              <a:t>Based on these measurements, a polynomial model was developed to calculate the estimated backward link quality (Pb) using the Nr values.</a:t>
            </a:r>
          </a:p>
          <a:p>
            <a:pPr marL="285750" indent="-285750">
              <a:buFont typeface="Arial" panose="020B0604020202020204" pitchFamily="34" charset="0"/>
              <a:buChar char="•"/>
            </a:pPr>
            <a:r>
              <a:rPr lang="en-US" dirty="0"/>
              <a:t>The best fit to the curve was obtained with a polynomial of degree two, with a coefficient of determination (R2) equal to 0.9387.</a:t>
            </a:r>
          </a:p>
          <a:p>
            <a:pPr marL="285750" indent="-285750">
              <a:buFont typeface="Arial" panose="020B0604020202020204" pitchFamily="34" charset="0"/>
              <a:buChar char="•"/>
            </a:pPr>
            <a:r>
              <a:rPr lang="en-US" dirty="0"/>
              <a:t>With the polynomial model, the Pb can be obtained using:</a:t>
            </a:r>
          </a:p>
          <a:p>
            <a:endParaRPr lang="en-US" dirty="0"/>
          </a:p>
        </p:txBody>
      </p:sp>
      <p:pic>
        <p:nvPicPr>
          <p:cNvPr id="5" name="Picture 4">
            <a:extLst>
              <a:ext uri="{FF2B5EF4-FFF2-40B4-BE49-F238E27FC236}">
                <a16:creationId xmlns:a16="http://schemas.microsoft.com/office/drawing/2014/main" id="{4CB4EADE-3310-4B93-8FD1-7ED8C8963661}"/>
              </a:ext>
            </a:extLst>
          </p:cNvPr>
          <p:cNvPicPr>
            <a:picLocks noChangeAspect="1"/>
          </p:cNvPicPr>
          <p:nvPr/>
        </p:nvPicPr>
        <p:blipFill>
          <a:blip r:embed="rId2"/>
          <a:stretch>
            <a:fillRect/>
          </a:stretch>
        </p:blipFill>
        <p:spPr>
          <a:xfrm>
            <a:off x="6554915" y="3128962"/>
            <a:ext cx="3476625" cy="600075"/>
          </a:xfrm>
          <a:prstGeom prst="rect">
            <a:avLst/>
          </a:prstGeom>
        </p:spPr>
      </p:pic>
    </p:spTree>
    <p:extLst>
      <p:ext uri="{BB962C8B-B14F-4D97-AF65-F5344CB8AC3E}">
        <p14:creationId xmlns:p14="http://schemas.microsoft.com/office/powerpoint/2010/main" val="4301267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77A147A-9ED8-46B4-8660-1B3C2AA880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434CADC-D3DB-4852-9DD6-9A32F0BC75BD}"/>
              </a:ext>
            </a:extLst>
          </p:cNvPr>
          <p:cNvSpPr>
            <a:spLocks noGrp="1"/>
          </p:cNvSpPr>
          <p:nvPr>
            <p:ph type="title"/>
          </p:nvPr>
        </p:nvSpPr>
        <p:spPr>
          <a:xfrm>
            <a:off x="841248" y="548640"/>
            <a:ext cx="3600860" cy="5431536"/>
          </a:xfrm>
        </p:spPr>
        <p:txBody>
          <a:bodyPr>
            <a:normAutofit/>
          </a:bodyPr>
          <a:lstStyle/>
          <a:p>
            <a:r>
              <a:rPr lang="en-US" sz="5400"/>
              <a:t>Estimation of the backward link quality</a:t>
            </a:r>
          </a:p>
        </p:txBody>
      </p:sp>
      <p:sp>
        <p:nvSpPr>
          <p:cNvPr id="10" name="sketch line">
            <a:extLst>
              <a:ext uri="{FF2B5EF4-FFF2-40B4-BE49-F238E27FC236}">
                <a16:creationId xmlns:a16="http://schemas.microsoft.com/office/drawing/2014/main" id="{5D6C15A0-C087-4593-8414-2B4EC1CDC3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543983" y="3258715"/>
            <a:ext cx="4480560" cy="18288"/>
          </a:xfrm>
          <a:custGeom>
            <a:avLst/>
            <a:gdLst>
              <a:gd name="connsiteX0" fmla="*/ 0 w 4480560"/>
              <a:gd name="connsiteY0" fmla="*/ 0 h 18288"/>
              <a:gd name="connsiteX1" fmla="*/ 595274 w 4480560"/>
              <a:gd name="connsiteY1" fmla="*/ 0 h 18288"/>
              <a:gd name="connsiteX2" fmla="*/ 1100938 w 4480560"/>
              <a:gd name="connsiteY2" fmla="*/ 0 h 18288"/>
              <a:gd name="connsiteX3" fmla="*/ 1651406 w 4480560"/>
              <a:gd name="connsiteY3" fmla="*/ 0 h 18288"/>
              <a:gd name="connsiteX4" fmla="*/ 2336292 w 4480560"/>
              <a:gd name="connsiteY4" fmla="*/ 0 h 18288"/>
              <a:gd name="connsiteX5" fmla="*/ 2931566 w 4480560"/>
              <a:gd name="connsiteY5" fmla="*/ 0 h 18288"/>
              <a:gd name="connsiteX6" fmla="*/ 3482035 w 4480560"/>
              <a:gd name="connsiteY6" fmla="*/ 0 h 18288"/>
              <a:gd name="connsiteX7" fmla="*/ 4480560 w 4480560"/>
              <a:gd name="connsiteY7" fmla="*/ 0 h 18288"/>
              <a:gd name="connsiteX8" fmla="*/ 4480560 w 4480560"/>
              <a:gd name="connsiteY8" fmla="*/ 18288 h 18288"/>
              <a:gd name="connsiteX9" fmla="*/ 3840480 w 4480560"/>
              <a:gd name="connsiteY9" fmla="*/ 18288 h 18288"/>
              <a:gd name="connsiteX10" fmla="*/ 3290011 w 4480560"/>
              <a:gd name="connsiteY10" fmla="*/ 18288 h 18288"/>
              <a:gd name="connsiteX11" fmla="*/ 2560320 w 4480560"/>
              <a:gd name="connsiteY11" fmla="*/ 18288 h 18288"/>
              <a:gd name="connsiteX12" fmla="*/ 1965046 w 4480560"/>
              <a:gd name="connsiteY12" fmla="*/ 18288 h 18288"/>
              <a:gd name="connsiteX13" fmla="*/ 1459382 w 4480560"/>
              <a:gd name="connsiteY13" fmla="*/ 18288 h 18288"/>
              <a:gd name="connsiteX14" fmla="*/ 774497 w 4480560"/>
              <a:gd name="connsiteY14" fmla="*/ 18288 h 18288"/>
              <a:gd name="connsiteX15" fmla="*/ 0 w 4480560"/>
              <a:gd name="connsiteY15" fmla="*/ 18288 h 18288"/>
              <a:gd name="connsiteX16" fmla="*/ 0 w 4480560"/>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480560" h="18288" fill="none" extrusionOk="0">
                <a:moveTo>
                  <a:pt x="0" y="0"/>
                </a:moveTo>
                <a:cubicBezTo>
                  <a:pt x="267821" y="8731"/>
                  <a:pt x="334105" y="2629"/>
                  <a:pt x="595274" y="0"/>
                </a:cubicBezTo>
                <a:cubicBezTo>
                  <a:pt x="856443" y="-2629"/>
                  <a:pt x="863808" y="-13353"/>
                  <a:pt x="1100938" y="0"/>
                </a:cubicBezTo>
                <a:cubicBezTo>
                  <a:pt x="1338068" y="13353"/>
                  <a:pt x="1431663" y="-25862"/>
                  <a:pt x="1651406" y="0"/>
                </a:cubicBezTo>
                <a:cubicBezTo>
                  <a:pt x="1871149" y="25862"/>
                  <a:pt x="2173163" y="23827"/>
                  <a:pt x="2336292" y="0"/>
                </a:cubicBezTo>
                <a:cubicBezTo>
                  <a:pt x="2499421" y="-23827"/>
                  <a:pt x="2720589" y="28148"/>
                  <a:pt x="2931566" y="0"/>
                </a:cubicBezTo>
                <a:cubicBezTo>
                  <a:pt x="3142543" y="-28148"/>
                  <a:pt x="3323630" y="27022"/>
                  <a:pt x="3482035" y="0"/>
                </a:cubicBezTo>
                <a:cubicBezTo>
                  <a:pt x="3640440" y="-27022"/>
                  <a:pt x="4012110" y="-20118"/>
                  <a:pt x="4480560" y="0"/>
                </a:cubicBezTo>
                <a:cubicBezTo>
                  <a:pt x="4480958" y="7429"/>
                  <a:pt x="4480540" y="10822"/>
                  <a:pt x="4480560" y="18288"/>
                </a:cubicBezTo>
                <a:cubicBezTo>
                  <a:pt x="4314132" y="14924"/>
                  <a:pt x="4028383" y="36632"/>
                  <a:pt x="3840480" y="18288"/>
                </a:cubicBezTo>
                <a:cubicBezTo>
                  <a:pt x="3652577" y="-56"/>
                  <a:pt x="3547615" y="2848"/>
                  <a:pt x="3290011" y="18288"/>
                </a:cubicBezTo>
                <a:cubicBezTo>
                  <a:pt x="3032407" y="33728"/>
                  <a:pt x="2830268" y="8719"/>
                  <a:pt x="2560320" y="18288"/>
                </a:cubicBezTo>
                <a:cubicBezTo>
                  <a:pt x="2290372" y="27857"/>
                  <a:pt x="2147422" y="6728"/>
                  <a:pt x="1965046" y="18288"/>
                </a:cubicBezTo>
                <a:cubicBezTo>
                  <a:pt x="1782670" y="29848"/>
                  <a:pt x="1689791" y="40680"/>
                  <a:pt x="1459382" y="18288"/>
                </a:cubicBezTo>
                <a:cubicBezTo>
                  <a:pt x="1228973" y="-4104"/>
                  <a:pt x="915486" y="36501"/>
                  <a:pt x="774497" y="18288"/>
                </a:cubicBezTo>
                <a:cubicBezTo>
                  <a:pt x="633508" y="75"/>
                  <a:pt x="361442" y="-11107"/>
                  <a:pt x="0" y="18288"/>
                </a:cubicBezTo>
                <a:cubicBezTo>
                  <a:pt x="-591" y="13205"/>
                  <a:pt x="-663" y="6329"/>
                  <a:pt x="0" y="0"/>
                </a:cubicBezTo>
                <a:close/>
              </a:path>
              <a:path w="4480560" h="18288" stroke="0" extrusionOk="0">
                <a:moveTo>
                  <a:pt x="0" y="0"/>
                </a:moveTo>
                <a:cubicBezTo>
                  <a:pt x="285465" y="225"/>
                  <a:pt x="322691" y="16223"/>
                  <a:pt x="595274" y="0"/>
                </a:cubicBezTo>
                <a:cubicBezTo>
                  <a:pt x="867857" y="-16223"/>
                  <a:pt x="989129" y="-11242"/>
                  <a:pt x="1100938" y="0"/>
                </a:cubicBezTo>
                <a:cubicBezTo>
                  <a:pt x="1212747" y="11242"/>
                  <a:pt x="1574350" y="-36410"/>
                  <a:pt x="1830629" y="0"/>
                </a:cubicBezTo>
                <a:cubicBezTo>
                  <a:pt x="2086908" y="36410"/>
                  <a:pt x="2180922" y="4645"/>
                  <a:pt x="2425903" y="0"/>
                </a:cubicBezTo>
                <a:cubicBezTo>
                  <a:pt x="2670884" y="-4645"/>
                  <a:pt x="2782024" y="22929"/>
                  <a:pt x="3021178" y="0"/>
                </a:cubicBezTo>
                <a:cubicBezTo>
                  <a:pt x="3260332" y="-22929"/>
                  <a:pt x="3456982" y="-1586"/>
                  <a:pt x="3750869" y="0"/>
                </a:cubicBezTo>
                <a:cubicBezTo>
                  <a:pt x="4044756" y="1586"/>
                  <a:pt x="4302726" y="17043"/>
                  <a:pt x="4480560" y="0"/>
                </a:cubicBezTo>
                <a:cubicBezTo>
                  <a:pt x="4479674" y="5429"/>
                  <a:pt x="4481381" y="14046"/>
                  <a:pt x="4480560" y="18288"/>
                </a:cubicBezTo>
                <a:cubicBezTo>
                  <a:pt x="4279652" y="-6850"/>
                  <a:pt x="4200762" y="41566"/>
                  <a:pt x="3930091" y="18288"/>
                </a:cubicBezTo>
                <a:cubicBezTo>
                  <a:pt x="3659420" y="-4990"/>
                  <a:pt x="3456052" y="22294"/>
                  <a:pt x="3290011" y="18288"/>
                </a:cubicBezTo>
                <a:cubicBezTo>
                  <a:pt x="3123970" y="14282"/>
                  <a:pt x="2882392" y="32818"/>
                  <a:pt x="2649931" y="18288"/>
                </a:cubicBezTo>
                <a:cubicBezTo>
                  <a:pt x="2417470" y="3758"/>
                  <a:pt x="2238426" y="7337"/>
                  <a:pt x="2054657" y="18288"/>
                </a:cubicBezTo>
                <a:cubicBezTo>
                  <a:pt x="1870888" y="29239"/>
                  <a:pt x="1566368" y="45040"/>
                  <a:pt x="1324966" y="18288"/>
                </a:cubicBezTo>
                <a:cubicBezTo>
                  <a:pt x="1083564" y="-8464"/>
                  <a:pt x="787410" y="10946"/>
                  <a:pt x="595274" y="18288"/>
                </a:cubicBezTo>
                <a:cubicBezTo>
                  <a:pt x="403138" y="25630"/>
                  <a:pt x="169622" y="10499"/>
                  <a:pt x="0" y="18288"/>
                </a:cubicBezTo>
                <a:cubicBezTo>
                  <a:pt x="668" y="13665"/>
                  <a:pt x="578" y="5675"/>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3D79769-01E5-424F-85E9-05891D5DBD2E}"/>
              </a:ext>
            </a:extLst>
          </p:cNvPr>
          <p:cNvSpPr txBox="1"/>
          <p:nvPr/>
        </p:nvSpPr>
        <p:spPr>
          <a:xfrm>
            <a:off x="5442402" y="5184973"/>
            <a:ext cx="6097554" cy="646331"/>
          </a:xfrm>
          <a:prstGeom prst="rect">
            <a:avLst/>
          </a:prstGeom>
          <a:noFill/>
        </p:spPr>
        <p:txBody>
          <a:bodyPr wrap="square">
            <a:spAutoFit/>
          </a:bodyPr>
          <a:lstStyle/>
          <a:p>
            <a:r>
              <a:rPr lang="en-US" dirty="0"/>
              <a:t>The figure shows the measured backward PRR, for all three replications, and the values estimated </a:t>
            </a:r>
          </a:p>
        </p:txBody>
      </p:sp>
      <p:pic>
        <p:nvPicPr>
          <p:cNvPr id="6" name="Picture 5">
            <a:extLst>
              <a:ext uri="{FF2B5EF4-FFF2-40B4-BE49-F238E27FC236}">
                <a16:creationId xmlns:a16="http://schemas.microsoft.com/office/drawing/2014/main" id="{BD19544E-BBE2-4712-9F3F-8C339FA2F9D5}"/>
              </a:ext>
            </a:extLst>
          </p:cNvPr>
          <p:cNvPicPr>
            <a:picLocks noChangeAspect="1"/>
          </p:cNvPicPr>
          <p:nvPr/>
        </p:nvPicPr>
        <p:blipFill>
          <a:blip r:embed="rId2"/>
          <a:stretch>
            <a:fillRect/>
          </a:stretch>
        </p:blipFill>
        <p:spPr>
          <a:xfrm>
            <a:off x="5555785" y="1026696"/>
            <a:ext cx="5467350" cy="4010025"/>
          </a:xfrm>
          <a:prstGeom prst="rect">
            <a:avLst/>
          </a:prstGeom>
        </p:spPr>
      </p:pic>
    </p:spTree>
    <p:extLst>
      <p:ext uri="{BB962C8B-B14F-4D97-AF65-F5344CB8AC3E}">
        <p14:creationId xmlns:p14="http://schemas.microsoft.com/office/powerpoint/2010/main" val="32976247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54</TotalTime>
  <Words>1881</Words>
  <Application>Microsoft Office PowerPoint</Application>
  <PresentationFormat>Widescreen</PresentationFormat>
  <Paragraphs>122</Paragraphs>
  <Slides>30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Calibri Light</vt:lpstr>
      <vt:lpstr>Office Theme</vt:lpstr>
      <vt:lpstr> Real-time link quality estimation for industrial wireless sensor networks using dedicated nodes</vt:lpstr>
      <vt:lpstr>Outline</vt:lpstr>
      <vt:lpstr>Main contribution</vt:lpstr>
      <vt:lpstr>The LQE node</vt:lpstr>
      <vt:lpstr>The LQE node</vt:lpstr>
      <vt:lpstr>The link quality estimator</vt:lpstr>
      <vt:lpstr>Estimation of the forward link quality</vt:lpstr>
      <vt:lpstr>Estimation of the forward link quality</vt:lpstr>
      <vt:lpstr>Estimation of the forward link quality</vt:lpstr>
      <vt:lpstr>Estimation of the forward link quality</vt:lpstr>
      <vt:lpstr>Estimation of the forward link quality</vt:lpstr>
      <vt:lpstr>Estimation of the forward link quality</vt:lpstr>
      <vt:lpstr>Estimation of the forward link quality</vt:lpstr>
      <vt:lpstr>Estimation of the forward link quality</vt:lpstr>
      <vt:lpstr>Estimation of the forward link quality</vt:lpstr>
      <vt:lpstr>Evaluation for different packet transmission rates</vt:lpstr>
      <vt:lpstr>Evaluation for different packet transmission rates</vt:lpstr>
      <vt:lpstr>Evaluation for different packet transmission rates</vt:lpstr>
      <vt:lpstr>Estimation of the interference influence</vt:lpstr>
      <vt:lpstr>Estimation of the interference influence</vt:lpstr>
      <vt:lpstr>Estimation of the interference influence</vt:lpstr>
      <vt:lpstr>Estimation of the interference influence</vt:lpstr>
      <vt:lpstr>Estimation of the interference influence</vt:lpstr>
      <vt:lpstr>Estimation of the backward link quality</vt:lpstr>
      <vt:lpstr>Estimation of the backward link quality</vt:lpstr>
      <vt:lpstr>Estimation of the backward link quality</vt:lpstr>
      <vt:lpstr>Estimation of the backward link quality</vt:lpstr>
      <vt:lpstr>Estimation of the backward link quality</vt:lpstr>
      <vt:lpstr>Estimation of the backward link quality</vt:lpstr>
      <vt:lpstr>Estimation of the backward link quality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Real-time link quality estimation for industrial wireless sensor networks using dedicated nodes</dc:title>
  <dc:creator>Huy Nguyen</dc:creator>
  <cp:lastModifiedBy>Huy Nguyen</cp:lastModifiedBy>
  <cp:revision>5</cp:revision>
  <dcterms:created xsi:type="dcterms:W3CDTF">2021-01-07T16:29:08Z</dcterms:created>
  <dcterms:modified xsi:type="dcterms:W3CDTF">2021-01-07T17:24:00Z</dcterms:modified>
</cp:coreProperties>
</file>
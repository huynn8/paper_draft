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37"/>
  </p:notesMasterIdLst>
  <p:handoutMasterIdLst>
    <p:handoutMasterId r:id="rId38"/>
  </p:handoutMasterIdLst>
  <p:sldIdLst>
    <p:sldId id="256" r:id="rId2"/>
    <p:sldId id="299" r:id="rId3"/>
    <p:sldId id="308" r:id="rId4"/>
    <p:sldId id="313" r:id="rId5"/>
    <p:sldId id="309" r:id="rId6"/>
    <p:sldId id="297" r:id="rId7"/>
    <p:sldId id="288" r:id="rId8"/>
    <p:sldId id="259" r:id="rId9"/>
    <p:sldId id="295" r:id="rId10"/>
    <p:sldId id="327" r:id="rId11"/>
    <p:sldId id="324" r:id="rId12"/>
    <p:sldId id="330" r:id="rId13"/>
    <p:sldId id="293" r:id="rId14"/>
    <p:sldId id="298" r:id="rId15"/>
    <p:sldId id="331" r:id="rId16"/>
    <p:sldId id="332" r:id="rId17"/>
    <p:sldId id="264" r:id="rId18"/>
    <p:sldId id="333" r:id="rId19"/>
    <p:sldId id="323" r:id="rId20"/>
    <p:sldId id="311" r:id="rId21"/>
    <p:sldId id="315" r:id="rId22"/>
    <p:sldId id="334" r:id="rId23"/>
    <p:sldId id="335" r:id="rId24"/>
    <p:sldId id="336" r:id="rId25"/>
    <p:sldId id="306" r:id="rId26"/>
    <p:sldId id="340" r:id="rId27"/>
    <p:sldId id="341" r:id="rId28"/>
    <p:sldId id="343" r:id="rId29"/>
    <p:sldId id="283" r:id="rId30"/>
    <p:sldId id="342" r:id="rId31"/>
    <p:sldId id="307" r:id="rId32"/>
    <p:sldId id="285" r:id="rId33"/>
    <p:sldId id="325" r:id="rId34"/>
    <p:sldId id="326" r:id="rId35"/>
    <p:sldId id="279" r:id="rId36"/>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1CC8"/>
    <a:srgbClr val="3478B0"/>
    <a:srgbClr val="1B0CD8"/>
    <a:srgbClr val="315C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474" autoAdjust="0"/>
    <p:restoredTop sz="94660"/>
  </p:normalViewPr>
  <p:slideViewPr>
    <p:cSldViewPr snapToGrid="0">
      <p:cViewPr varScale="1">
        <p:scale>
          <a:sx n="103" d="100"/>
          <a:sy n="103" d="100"/>
        </p:scale>
        <p:origin x="192" y="22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83F3153E-7C89-4CE0-960B-FEDA148BE9AA}" type="datetimeFigureOut">
              <a:rPr lang="en-US" smtClean="0"/>
              <a:t>11/26/2020</a:t>
            </a:fld>
            <a:endParaRPr lang="en-US"/>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9FEA584A-7F3F-43E8-A64B-5D0CE530FD5B}" type="slidenum">
              <a:rPr lang="en-US" smtClean="0"/>
              <a:t>‹#›</a:t>
            </a:fld>
            <a:endParaRPr lang="en-US"/>
          </a:p>
        </p:txBody>
      </p:sp>
    </p:spTree>
    <p:extLst>
      <p:ext uri="{BB962C8B-B14F-4D97-AF65-F5344CB8AC3E}">
        <p14:creationId xmlns:p14="http://schemas.microsoft.com/office/powerpoint/2010/main" val="19530608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A3E808F-2938-41F2-A17B-4C229269F13B}" type="datetimeFigureOut">
              <a:rPr lang="en-US" smtClean="0"/>
              <a:t>11/26/2020</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5D96377E-A0E4-45AC-B222-DA54D4A203C8}" type="slidenum">
              <a:rPr lang="en-US" smtClean="0"/>
              <a:t>‹#›</a:t>
            </a:fld>
            <a:endParaRPr lang="en-US"/>
          </a:p>
        </p:txBody>
      </p:sp>
    </p:spTree>
    <p:extLst>
      <p:ext uri="{BB962C8B-B14F-4D97-AF65-F5344CB8AC3E}">
        <p14:creationId xmlns:p14="http://schemas.microsoft.com/office/powerpoint/2010/main" val="95453463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a:t>
            </a:fld>
            <a:endParaRPr lang="en-US"/>
          </a:p>
        </p:txBody>
      </p:sp>
    </p:spTree>
    <p:extLst>
      <p:ext uri="{BB962C8B-B14F-4D97-AF65-F5344CB8AC3E}">
        <p14:creationId xmlns:p14="http://schemas.microsoft.com/office/powerpoint/2010/main" val="2386522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a:t>
            </a:fld>
            <a:endParaRPr lang="en-US"/>
          </a:p>
        </p:txBody>
      </p:sp>
    </p:spTree>
    <p:extLst>
      <p:ext uri="{BB962C8B-B14F-4D97-AF65-F5344CB8AC3E}">
        <p14:creationId xmlns:p14="http://schemas.microsoft.com/office/powerpoint/2010/main" val="4211180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3</a:t>
            </a:fld>
            <a:endParaRPr lang="en-US"/>
          </a:p>
        </p:txBody>
      </p:sp>
    </p:spTree>
    <p:extLst>
      <p:ext uri="{BB962C8B-B14F-4D97-AF65-F5344CB8AC3E}">
        <p14:creationId xmlns:p14="http://schemas.microsoft.com/office/powerpoint/2010/main" val="3086415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4</a:t>
            </a:fld>
            <a:endParaRPr lang="en-US"/>
          </a:p>
        </p:txBody>
      </p:sp>
    </p:spTree>
    <p:extLst>
      <p:ext uri="{BB962C8B-B14F-4D97-AF65-F5344CB8AC3E}">
        <p14:creationId xmlns:p14="http://schemas.microsoft.com/office/powerpoint/2010/main" val="4022549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5</a:t>
            </a:fld>
            <a:endParaRPr lang="en-US"/>
          </a:p>
        </p:txBody>
      </p:sp>
    </p:spTree>
    <p:extLst>
      <p:ext uri="{BB962C8B-B14F-4D97-AF65-F5344CB8AC3E}">
        <p14:creationId xmlns:p14="http://schemas.microsoft.com/office/powerpoint/2010/main" val="2379824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6</a:t>
            </a:fld>
            <a:endParaRPr lang="en-US"/>
          </a:p>
        </p:txBody>
      </p:sp>
    </p:spTree>
    <p:extLst>
      <p:ext uri="{BB962C8B-B14F-4D97-AF65-F5344CB8AC3E}">
        <p14:creationId xmlns:p14="http://schemas.microsoft.com/office/powerpoint/2010/main" val="1690985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7</a:t>
            </a:fld>
            <a:endParaRPr lang="en-US"/>
          </a:p>
        </p:txBody>
      </p:sp>
    </p:spTree>
    <p:extLst>
      <p:ext uri="{BB962C8B-B14F-4D97-AF65-F5344CB8AC3E}">
        <p14:creationId xmlns:p14="http://schemas.microsoft.com/office/powerpoint/2010/main" val="3798805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8</a:t>
            </a:fld>
            <a:endParaRPr lang="en-US"/>
          </a:p>
        </p:txBody>
      </p:sp>
    </p:spTree>
    <p:extLst>
      <p:ext uri="{BB962C8B-B14F-4D97-AF65-F5344CB8AC3E}">
        <p14:creationId xmlns:p14="http://schemas.microsoft.com/office/powerpoint/2010/main" val="1405179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9</a:t>
            </a:fld>
            <a:endParaRPr lang="en-US"/>
          </a:p>
        </p:txBody>
      </p:sp>
    </p:spTree>
    <p:extLst>
      <p:ext uri="{BB962C8B-B14F-4D97-AF65-F5344CB8AC3E}">
        <p14:creationId xmlns:p14="http://schemas.microsoft.com/office/powerpoint/2010/main" val="208419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10</a:t>
            </a:fld>
            <a:endParaRPr lang="en-US"/>
          </a:p>
        </p:txBody>
      </p:sp>
    </p:spTree>
    <p:extLst>
      <p:ext uri="{BB962C8B-B14F-4D97-AF65-F5344CB8AC3E}">
        <p14:creationId xmlns:p14="http://schemas.microsoft.com/office/powerpoint/2010/main" val="202762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11</a:t>
            </a:fld>
            <a:endParaRPr lang="en-US"/>
          </a:p>
        </p:txBody>
      </p:sp>
    </p:spTree>
    <p:extLst>
      <p:ext uri="{BB962C8B-B14F-4D97-AF65-F5344CB8AC3E}">
        <p14:creationId xmlns:p14="http://schemas.microsoft.com/office/powerpoint/2010/main" val="503738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12</a:t>
            </a:fld>
            <a:endParaRPr lang="en-US"/>
          </a:p>
        </p:txBody>
      </p:sp>
    </p:spTree>
    <p:extLst>
      <p:ext uri="{BB962C8B-B14F-4D97-AF65-F5344CB8AC3E}">
        <p14:creationId xmlns:p14="http://schemas.microsoft.com/office/powerpoint/2010/main" val="3038549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13</a:t>
            </a:fld>
            <a:endParaRPr lang="en-US"/>
          </a:p>
        </p:txBody>
      </p:sp>
    </p:spTree>
    <p:extLst>
      <p:ext uri="{BB962C8B-B14F-4D97-AF65-F5344CB8AC3E}">
        <p14:creationId xmlns:p14="http://schemas.microsoft.com/office/powerpoint/2010/main" val="3022764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14</a:t>
            </a:fld>
            <a:endParaRPr lang="en-US"/>
          </a:p>
        </p:txBody>
      </p:sp>
    </p:spTree>
    <p:extLst>
      <p:ext uri="{BB962C8B-B14F-4D97-AF65-F5344CB8AC3E}">
        <p14:creationId xmlns:p14="http://schemas.microsoft.com/office/powerpoint/2010/main" val="2306649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15</a:t>
            </a:fld>
            <a:endParaRPr lang="en-US"/>
          </a:p>
        </p:txBody>
      </p:sp>
    </p:spTree>
    <p:extLst>
      <p:ext uri="{BB962C8B-B14F-4D97-AF65-F5344CB8AC3E}">
        <p14:creationId xmlns:p14="http://schemas.microsoft.com/office/powerpoint/2010/main" val="1526527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16</a:t>
            </a:fld>
            <a:endParaRPr lang="en-US"/>
          </a:p>
        </p:txBody>
      </p:sp>
    </p:spTree>
    <p:extLst>
      <p:ext uri="{BB962C8B-B14F-4D97-AF65-F5344CB8AC3E}">
        <p14:creationId xmlns:p14="http://schemas.microsoft.com/office/powerpoint/2010/main" val="2201708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17</a:t>
            </a:fld>
            <a:endParaRPr lang="en-US"/>
          </a:p>
        </p:txBody>
      </p:sp>
    </p:spTree>
    <p:extLst>
      <p:ext uri="{BB962C8B-B14F-4D97-AF65-F5344CB8AC3E}">
        <p14:creationId xmlns:p14="http://schemas.microsoft.com/office/powerpoint/2010/main" val="2770886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18</a:t>
            </a:fld>
            <a:endParaRPr lang="en-US"/>
          </a:p>
        </p:txBody>
      </p:sp>
    </p:spTree>
    <p:extLst>
      <p:ext uri="{BB962C8B-B14F-4D97-AF65-F5344CB8AC3E}">
        <p14:creationId xmlns:p14="http://schemas.microsoft.com/office/powerpoint/2010/main" val="2318763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19</a:t>
            </a:fld>
            <a:endParaRPr lang="en-US"/>
          </a:p>
        </p:txBody>
      </p:sp>
    </p:spTree>
    <p:extLst>
      <p:ext uri="{BB962C8B-B14F-4D97-AF65-F5344CB8AC3E}">
        <p14:creationId xmlns:p14="http://schemas.microsoft.com/office/powerpoint/2010/main" val="2152962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20</a:t>
            </a:fld>
            <a:endParaRPr lang="en-US"/>
          </a:p>
        </p:txBody>
      </p:sp>
    </p:spTree>
    <p:extLst>
      <p:ext uri="{BB962C8B-B14F-4D97-AF65-F5344CB8AC3E}">
        <p14:creationId xmlns:p14="http://schemas.microsoft.com/office/powerpoint/2010/main" val="31571697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21</a:t>
            </a:fld>
            <a:endParaRPr lang="en-US"/>
          </a:p>
        </p:txBody>
      </p:sp>
    </p:spTree>
    <p:extLst>
      <p:ext uri="{BB962C8B-B14F-4D97-AF65-F5344CB8AC3E}">
        <p14:creationId xmlns:p14="http://schemas.microsoft.com/office/powerpoint/2010/main" val="1115745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22</a:t>
            </a:fld>
            <a:endParaRPr lang="en-US"/>
          </a:p>
        </p:txBody>
      </p:sp>
    </p:spTree>
    <p:extLst>
      <p:ext uri="{BB962C8B-B14F-4D97-AF65-F5344CB8AC3E}">
        <p14:creationId xmlns:p14="http://schemas.microsoft.com/office/powerpoint/2010/main" val="23603396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23</a:t>
            </a:fld>
            <a:endParaRPr lang="en-US"/>
          </a:p>
        </p:txBody>
      </p:sp>
    </p:spTree>
    <p:extLst>
      <p:ext uri="{BB962C8B-B14F-4D97-AF65-F5344CB8AC3E}">
        <p14:creationId xmlns:p14="http://schemas.microsoft.com/office/powerpoint/2010/main" val="1886863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24</a:t>
            </a:fld>
            <a:endParaRPr lang="en-US"/>
          </a:p>
        </p:txBody>
      </p:sp>
    </p:spTree>
    <p:extLst>
      <p:ext uri="{BB962C8B-B14F-4D97-AF65-F5344CB8AC3E}">
        <p14:creationId xmlns:p14="http://schemas.microsoft.com/office/powerpoint/2010/main" val="2672076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25</a:t>
            </a:fld>
            <a:endParaRPr lang="en-US"/>
          </a:p>
        </p:txBody>
      </p:sp>
    </p:spTree>
    <p:extLst>
      <p:ext uri="{BB962C8B-B14F-4D97-AF65-F5344CB8AC3E}">
        <p14:creationId xmlns:p14="http://schemas.microsoft.com/office/powerpoint/2010/main" val="5972258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26</a:t>
            </a:fld>
            <a:endParaRPr lang="en-US"/>
          </a:p>
        </p:txBody>
      </p:sp>
    </p:spTree>
    <p:extLst>
      <p:ext uri="{BB962C8B-B14F-4D97-AF65-F5344CB8AC3E}">
        <p14:creationId xmlns:p14="http://schemas.microsoft.com/office/powerpoint/2010/main" val="19946876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27</a:t>
            </a:fld>
            <a:endParaRPr lang="en-US"/>
          </a:p>
        </p:txBody>
      </p:sp>
    </p:spTree>
    <p:extLst>
      <p:ext uri="{BB962C8B-B14F-4D97-AF65-F5344CB8AC3E}">
        <p14:creationId xmlns:p14="http://schemas.microsoft.com/office/powerpoint/2010/main" val="40934264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28</a:t>
            </a:fld>
            <a:endParaRPr lang="en-US"/>
          </a:p>
        </p:txBody>
      </p:sp>
    </p:spTree>
    <p:extLst>
      <p:ext uri="{BB962C8B-B14F-4D97-AF65-F5344CB8AC3E}">
        <p14:creationId xmlns:p14="http://schemas.microsoft.com/office/powerpoint/2010/main" val="153951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29</a:t>
            </a:fld>
            <a:endParaRPr lang="en-US"/>
          </a:p>
        </p:txBody>
      </p:sp>
    </p:spTree>
    <p:extLst>
      <p:ext uri="{BB962C8B-B14F-4D97-AF65-F5344CB8AC3E}">
        <p14:creationId xmlns:p14="http://schemas.microsoft.com/office/powerpoint/2010/main" val="27513320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30</a:t>
            </a:fld>
            <a:endParaRPr lang="en-US"/>
          </a:p>
        </p:txBody>
      </p:sp>
    </p:spTree>
    <p:extLst>
      <p:ext uri="{BB962C8B-B14F-4D97-AF65-F5344CB8AC3E}">
        <p14:creationId xmlns:p14="http://schemas.microsoft.com/office/powerpoint/2010/main" val="11809162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31</a:t>
            </a:fld>
            <a:endParaRPr lang="en-US"/>
          </a:p>
        </p:txBody>
      </p:sp>
    </p:spTree>
    <p:extLst>
      <p:ext uri="{BB962C8B-B14F-4D97-AF65-F5344CB8AC3E}">
        <p14:creationId xmlns:p14="http://schemas.microsoft.com/office/powerpoint/2010/main" val="29217670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32</a:t>
            </a:fld>
            <a:endParaRPr lang="en-US"/>
          </a:p>
        </p:txBody>
      </p:sp>
    </p:spTree>
    <p:extLst>
      <p:ext uri="{BB962C8B-B14F-4D97-AF65-F5344CB8AC3E}">
        <p14:creationId xmlns:p14="http://schemas.microsoft.com/office/powerpoint/2010/main" val="13117587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33</a:t>
            </a:fld>
            <a:endParaRPr lang="en-US"/>
          </a:p>
        </p:txBody>
      </p:sp>
    </p:spTree>
    <p:extLst>
      <p:ext uri="{BB962C8B-B14F-4D97-AF65-F5344CB8AC3E}">
        <p14:creationId xmlns:p14="http://schemas.microsoft.com/office/powerpoint/2010/main" val="6807268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34</a:t>
            </a:fld>
            <a:endParaRPr lang="en-US"/>
          </a:p>
        </p:txBody>
      </p:sp>
    </p:spTree>
    <p:extLst>
      <p:ext uri="{BB962C8B-B14F-4D97-AF65-F5344CB8AC3E}">
        <p14:creationId xmlns:p14="http://schemas.microsoft.com/office/powerpoint/2010/main" val="3251208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96377E-A0E4-45AC-B222-DA54D4A203C8}" type="slidenum">
              <a:rPr lang="en-US" smtClean="0"/>
              <a:t>35</a:t>
            </a:fld>
            <a:endParaRPr lang="en-US"/>
          </a:p>
        </p:txBody>
      </p:sp>
    </p:spTree>
    <p:extLst>
      <p:ext uri="{BB962C8B-B14F-4D97-AF65-F5344CB8AC3E}">
        <p14:creationId xmlns:p14="http://schemas.microsoft.com/office/powerpoint/2010/main" val="2323299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3B3A43-AD8E-4B0E-844C-25C6AC5FA7FD}"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396189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BBFD30-0350-4077-BC02-CD2028508BA5}"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3716708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B0CF6-3EE7-4972-994D-FFD438953740}"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1148968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B5770D-5202-4B16-8030-2767948499D8}" type="datetime1">
              <a:rPr lang="en-US" smtClean="0"/>
              <a:t>11/26/2020</a:t>
            </a:fld>
            <a:endParaRPr lang="en-US"/>
          </a:p>
        </p:txBody>
      </p:sp>
      <p:sp>
        <p:nvSpPr>
          <p:cNvPr id="6" name="Footer Placeholder 5"/>
          <p:cNvSpPr>
            <a:spLocks noGrp="1"/>
          </p:cNvSpPr>
          <p:nvPr>
            <p:ph type="ftr" sz="quarter" idx="11"/>
          </p:nvPr>
        </p:nvSpPr>
        <p:spPr/>
        <p:txBody>
          <a:bodyPr/>
          <a:lstStyle/>
          <a:p>
            <a:r>
              <a:rPr lang="en-US"/>
              <a:t>CNLab</a:t>
            </a:r>
          </a:p>
        </p:txBody>
      </p:sp>
      <p:sp>
        <p:nvSpPr>
          <p:cNvPr id="7" name="Slide Number Placeholder 6"/>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655639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5A32FB-5D74-488E-968C-76A27520063D}" type="datetime1">
              <a:rPr lang="en-US" smtClean="0"/>
              <a:t>11/26/2020</a:t>
            </a:fld>
            <a:endParaRPr lang="en-US"/>
          </a:p>
        </p:txBody>
      </p:sp>
      <p:sp>
        <p:nvSpPr>
          <p:cNvPr id="8" name="Footer Placeholder 7"/>
          <p:cNvSpPr>
            <a:spLocks noGrp="1"/>
          </p:cNvSpPr>
          <p:nvPr>
            <p:ph type="ftr" sz="quarter" idx="11"/>
          </p:nvPr>
        </p:nvSpPr>
        <p:spPr/>
        <p:txBody>
          <a:bodyPr/>
          <a:lstStyle/>
          <a:p>
            <a:r>
              <a:rPr lang="en-US"/>
              <a:t>CNLab</a:t>
            </a:r>
          </a:p>
        </p:txBody>
      </p:sp>
      <p:sp>
        <p:nvSpPr>
          <p:cNvPr id="9" name="Slide Number Placeholder 8"/>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272625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639471-EB7F-42B5-BB1F-AB6C1B035F38}" type="datetime1">
              <a:rPr lang="en-US" smtClean="0"/>
              <a:t>11/26/2020</a:t>
            </a:fld>
            <a:endParaRPr lang="en-US"/>
          </a:p>
        </p:txBody>
      </p:sp>
      <p:sp>
        <p:nvSpPr>
          <p:cNvPr id="4" name="Footer Placeholder 3"/>
          <p:cNvSpPr>
            <a:spLocks noGrp="1"/>
          </p:cNvSpPr>
          <p:nvPr>
            <p:ph type="ftr" sz="quarter" idx="11"/>
          </p:nvPr>
        </p:nvSpPr>
        <p:spPr/>
        <p:txBody>
          <a:bodyPr/>
          <a:lstStyle/>
          <a:p>
            <a:r>
              <a:rPr lang="en-US"/>
              <a:t>CNLab</a:t>
            </a:r>
          </a:p>
        </p:txBody>
      </p:sp>
      <p:sp>
        <p:nvSpPr>
          <p:cNvPr id="5" name="Slide Number Placeholder 4"/>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476508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09C6EA-3191-4997-8F9D-815219DD544D}" type="datetime1">
              <a:rPr lang="en-US" smtClean="0"/>
              <a:t>11/26/2020</a:t>
            </a:fld>
            <a:endParaRPr lang="en-US"/>
          </a:p>
        </p:txBody>
      </p:sp>
      <p:sp>
        <p:nvSpPr>
          <p:cNvPr id="3" name="Footer Placeholder 2"/>
          <p:cNvSpPr>
            <a:spLocks noGrp="1"/>
          </p:cNvSpPr>
          <p:nvPr>
            <p:ph type="ftr" sz="quarter" idx="11"/>
          </p:nvPr>
        </p:nvSpPr>
        <p:spPr/>
        <p:txBody>
          <a:bodyPr/>
          <a:lstStyle/>
          <a:p>
            <a:r>
              <a:rPr lang="en-US"/>
              <a:t>CNLab</a:t>
            </a:r>
          </a:p>
        </p:txBody>
      </p:sp>
      <p:sp>
        <p:nvSpPr>
          <p:cNvPr id="4" name="Slide Number Placeholder 3"/>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885590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62AE5D-BAB6-4126-93F2-7C9A1AE499A2}" type="datetime1">
              <a:rPr lang="en-US" smtClean="0"/>
              <a:t>11/26/2020</a:t>
            </a:fld>
            <a:endParaRPr lang="en-US"/>
          </a:p>
        </p:txBody>
      </p:sp>
      <p:sp>
        <p:nvSpPr>
          <p:cNvPr id="6" name="Footer Placeholder 5"/>
          <p:cNvSpPr>
            <a:spLocks noGrp="1"/>
          </p:cNvSpPr>
          <p:nvPr>
            <p:ph type="ftr" sz="quarter" idx="11"/>
          </p:nvPr>
        </p:nvSpPr>
        <p:spPr/>
        <p:txBody>
          <a:bodyPr/>
          <a:lstStyle/>
          <a:p>
            <a:r>
              <a:rPr lang="en-US"/>
              <a:t>CNLab</a:t>
            </a:r>
          </a:p>
        </p:txBody>
      </p:sp>
      <p:sp>
        <p:nvSpPr>
          <p:cNvPr id="7" name="Slide Number Placeholder 6"/>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2255695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7EFEDC-0B57-4DF2-B255-043532FA0F4D}" type="datetime1">
              <a:rPr lang="en-US" smtClean="0"/>
              <a:t>11/26/2020</a:t>
            </a:fld>
            <a:endParaRPr lang="en-US"/>
          </a:p>
        </p:txBody>
      </p:sp>
      <p:sp>
        <p:nvSpPr>
          <p:cNvPr id="6" name="Footer Placeholder 5"/>
          <p:cNvSpPr>
            <a:spLocks noGrp="1"/>
          </p:cNvSpPr>
          <p:nvPr>
            <p:ph type="ftr" sz="quarter" idx="11"/>
          </p:nvPr>
        </p:nvSpPr>
        <p:spPr/>
        <p:txBody>
          <a:bodyPr/>
          <a:lstStyle/>
          <a:p>
            <a:r>
              <a:rPr lang="en-US"/>
              <a:t>CNLab</a:t>
            </a:r>
          </a:p>
        </p:txBody>
      </p:sp>
      <p:sp>
        <p:nvSpPr>
          <p:cNvPr id="7" name="Slide Number Placeholder 6"/>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84051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365BFB-BEF9-4F6B-A75B-0E6863F3FB7C}"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555905183"/>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365BFB-BEF9-4F6B-A75B-0E6863F3FB7C}"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37481024"/>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365BFB-BEF9-4F6B-A75B-0E6863F3FB7C}"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251197134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365BFB-BEF9-4F6B-A75B-0E6863F3FB7C}"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12801970"/>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365BFB-BEF9-4F6B-A75B-0E6863F3FB7C}"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243082428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788D13-9548-46A7-9915-563D2EC574FC}"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3963934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BADA76-01CD-4733-BC7B-A2F4F53A91A8}" type="datetime1">
              <a:rPr lang="en-US" smtClean="0"/>
              <a:t>11/26/2020</a:t>
            </a:fld>
            <a:endParaRPr lang="en-US"/>
          </a:p>
        </p:txBody>
      </p:sp>
      <p:sp>
        <p:nvSpPr>
          <p:cNvPr id="5" name="Footer Placeholder 4"/>
          <p:cNvSpPr>
            <a:spLocks noGrp="1"/>
          </p:cNvSpPr>
          <p:nvPr>
            <p:ph type="ftr" sz="quarter" idx="11"/>
          </p:nvPr>
        </p:nvSpPr>
        <p:spPr/>
        <p:txBody>
          <a:bodyPr/>
          <a:lstStyle/>
          <a:p>
            <a:r>
              <a:rPr lang="en-US"/>
              <a:t>CNLab</a:t>
            </a:r>
          </a:p>
        </p:txBody>
      </p:sp>
      <p:sp>
        <p:nvSpPr>
          <p:cNvPr id="6" name="Slide Number Placeholder 5"/>
          <p:cNvSpPr>
            <a:spLocks noGrp="1"/>
          </p:cNvSpPr>
          <p:nvPr>
            <p:ph type="sldNum" sz="quarter" idx="12"/>
          </p:nvPr>
        </p:nvSpPr>
        <p:spPr/>
        <p:txBody>
          <a:bodyPr/>
          <a:lstStyle/>
          <a:p>
            <a:fld id="{B0D10098-D5BE-4AD4-82BA-A58407293577}" type="slidenum">
              <a:rPr lang="en-US" smtClean="0"/>
              <a:t>‹#›</a:t>
            </a:fld>
            <a:endParaRPr lang="en-US"/>
          </a:p>
        </p:txBody>
      </p:sp>
    </p:spTree>
    <p:extLst>
      <p:ext uri="{BB962C8B-B14F-4D97-AF65-F5344CB8AC3E}">
        <p14:creationId xmlns:p14="http://schemas.microsoft.com/office/powerpoint/2010/main" val="1945953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365BFB-BEF9-4F6B-A75B-0E6863F3FB7C}" type="datetime1">
              <a:rPr lang="en-US" smtClean="0"/>
              <a:t>11/26/2020</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CNLab</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0D10098-D5BE-4AD4-82BA-A58407293577}" type="slidenum">
              <a:rPr lang="en-US" smtClean="0"/>
              <a:t>‹#›</a:t>
            </a:fld>
            <a:endParaRPr lang="en-US"/>
          </a:p>
        </p:txBody>
      </p:sp>
    </p:spTree>
    <p:extLst>
      <p:ext uri="{BB962C8B-B14F-4D97-AF65-F5344CB8AC3E}">
        <p14:creationId xmlns:p14="http://schemas.microsoft.com/office/powerpoint/2010/main" val="393148725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0.emf"/><Relationship Id="rId5" Type="http://schemas.openxmlformats.org/officeDocument/2006/relationships/oleObject" Target="../embeddings/oleObject1.bin"/><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2.emf"/><Relationship Id="rId5" Type="http://schemas.openxmlformats.org/officeDocument/2006/relationships/oleObject" Target="../embeddings/oleObject2.bin"/><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ctrTitle"/>
          </p:nvPr>
        </p:nvSpPr>
        <p:spPr>
          <a:xfrm>
            <a:off x="1538406" y="1287220"/>
            <a:ext cx="9144000" cy="1295400"/>
          </a:xfrm>
        </p:spPr>
        <p:txBody>
          <a:bodyPr lIns="0" tIns="0" rIns="0" bIns="0"/>
          <a:lstStyle/>
          <a:p>
            <a:pPr algn="ctr">
              <a:defRPr/>
            </a:pPr>
            <a:r>
              <a:rPr lang="en-US" sz="2800" b="1">
                <a:solidFill>
                  <a:schemeClr val="tx1"/>
                </a:solidFill>
              </a:rPr>
              <a:t>Link Quality Estimation for Industrial Wireless Sensor Network using Burstiness Distribution Metric</a:t>
            </a:r>
            <a:br>
              <a:rPr lang="en-US" sz="2800" b="1">
                <a:solidFill>
                  <a:schemeClr val="tx1"/>
                </a:solidFill>
              </a:rPr>
            </a:br>
            <a:endParaRPr lang="en-US" sz="1100" b="1" kern="1200">
              <a:solidFill>
                <a:schemeClr val="tx1"/>
              </a:solidFill>
              <a:latin typeface="Times New Roman" panose="02020603050405020304" pitchFamily="18" charset="0"/>
              <a:cs typeface="Times New Roman" panose="02020603050405020304" pitchFamily="18" charset="0"/>
            </a:endParaRPr>
          </a:p>
        </p:txBody>
      </p:sp>
      <p:sp>
        <p:nvSpPr>
          <p:cNvPr id="12" name="Subtitle 2">
            <a:extLst>
              <a:ext uri="{FF2B5EF4-FFF2-40B4-BE49-F238E27FC236}">
                <a16:creationId xmlns:a16="http://schemas.microsoft.com/office/drawing/2014/main" id="{CB27E351-12BA-459C-B1F6-C26E0C2970E2}"/>
              </a:ext>
            </a:extLst>
          </p:cNvPr>
          <p:cNvSpPr txBox="1">
            <a:spLocks noGrp="1"/>
          </p:cNvSpPr>
          <p:nvPr>
            <p:ph type="subTitle" idx="1"/>
          </p:nvPr>
        </p:nvSpPr>
        <p:spPr bwMode="auto">
          <a:xfrm>
            <a:off x="1538404" y="2582620"/>
            <a:ext cx="9144000" cy="10550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0" indent="0" algn="ctr" rtl="0" eaLnBrk="0" fontAlgn="base" hangingPunct="0">
              <a:spcBef>
                <a:spcPct val="20000"/>
              </a:spcBef>
              <a:spcAft>
                <a:spcPct val="0"/>
              </a:spcAft>
              <a:buClr>
                <a:schemeClr val="bg2"/>
              </a:buClr>
              <a:buSzPct val="75000"/>
              <a:buNone/>
              <a:defRPr sz="2400">
                <a:solidFill>
                  <a:schemeClr val="tx1"/>
                </a:solidFill>
                <a:latin typeface="+mn-lt"/>
                <a:ea typeface="+mn-ea"/>
                <a:cs typeface="+mn-cs"/>
              </a:defRPr>
            </a:lvl1pPr>
            <a:lvl2pPr marL="457200" indent="0" algn="ctr" rtl="0" eaLnBrk="0" fontAlgn="base" hangingPunct="0">
              <a:spcBef>
                <a:spcPct val="20000"/>
              </a:spcBef>
              <a:spcAft>
                <a:spcPct val="0"/>
              </a:spcAft>
              <a:buClr>
                <a:schemeClr val="accent2"/>
              </a:buClr>
              <a:buSzPct val="80000"/>
              <a:buFontTx/>
              <a:buNone/>
              <a:defRPr sz="2400">
                <a:solidFill>
                  <a:schemeClr val="tx1"/>
                </a:solidFill>
                <a:latin typeface="+mn-lt"/>
              </a:defRPr>
            </a:lvl2pPr>
            <a:lvl3pPr marL="914400" indent="0" algn="ctr" rtl="0" eaLnBrk="0" fontAlgn="base" hangingPunct="0">
              <a:spcBef>
                <a:spcPct val="20000"/>
              </a:spcBef>
              <a:spcAft>
                <a:spcPct val="0"/>
              </a:spcAft>
              <a:buClr>
                <a:schemeClr val="bg2"/>
              </a:buClr>
              <a:buSzPct val="65000"/>
              <a:buFontTx/>
              <a:buNone/>
              <a:defRPr sz="2000">
                <a:solidFill>
                  <a:schemeClr val="tx1"/>
                </a:solidFill>
                <a:latin typeface="+mn-lt"/>
              </a:defRPr>
            </a:lvl3pPr>
            <a:lvl4pPr marL="1371600" indent="0" algn="ctr" rtl="0" eaLnBrk="0" fontAlgn="base" hangingPunct="0">
              <a:spcBef>
                <a:spcPct val="20000"/>
              </a:spcBef>
              <a:spcAft>
                <a:spcPct val="0"/>
              </a:spcAft>
              <a:buClr>
                <a:schemeClr val="accent2"/>
              </a:buClr>
              <a:buSzPct val="70000"/>
              <a:buFont typeface="Wingdings" pitchFamily="2" charset="2"/>
              <a:buNone/>
              <a:defRPr>
                <a:solidFill>
                  <a:schemeClr val="tx1"/>
                </a:solidFill>
                <a:latin typeface="+mn-lt"/>
              </a:defRPr>
            </a:lvl4pPr>
            <a:lvl5pPr marL="1828800" indent="0" algn="ctr" rtl="0" eaLnBrk="0" fontAlgn="base" hangingPunct="0">
              <a:spcBef>
                <a:spcPct val="20000"/>
              </a:spcBef>
              <a:spcAft>
                <a:spcPct val="0"/>
              </a:spcAft>
              <a:buClr>
                <a:schemeClr val="bg2"/>
              </a:buClr>
              <a:buFont typeface="Wingdings" pitchFamily="2" charset="2"/>
              <a:buNone/>
              <a:defRPr>
                <a:solidFill>
                  <a:schemeClr val="tx1"/>
                </a:solidFill>
                <a:latin typeface="+mn-lt"/>
              </a:defRPr>
            </a:lvl5pPr>
            <a:lvl6pPr marL="2286000" indent="0" algn="ctr" rtl="0" fontAlgn="base">
              <a:spcBef>
                <a:spcPct val="20000"/>
              </a:spcBef>
              <a:spcAft>
                <a:spcPct val="0"/>
              </a:spcAft>
              <a:buClr>
                <a:schemeClr val="bg2"/>
              </a:buClr>
              <a:buFont typeface="Wingdings" pitchFamily="2" charset="2"/>
              <a:buNone/>
              <a:defRPr sz="2000">
                <a:solidFill>
                  <a:schemeClr val="tx1"/>
                </a:solidFill>
                <a:latin typeface="+mn-lt"/>
              </a:defRPr>
            </a:lvl6pPr>
            <a:lvl7pPr marL="2743200" indent="0" algn="ctr" rtl="0" fontAlgn="base">
              <a:spcBef>
                <a:spcPct val="20000"/>
              </a:spcBef>
              <a:spcAft>
                <a:spcPct val="0"/>
              </a:spcAft>
              <a:buClr>
                <a:schemeClr val="bg2"/>
              </a:buClr>
              <a:buFont typeface="Wingdings" pitchFamily="2" charset="2"/>
              <a:buNone/>
              <a:defRPr sz="2000">
                <a:solidFill>
                  <a:schemeClr val="tx1"/>
                </a:solidFill>
                <a:latin typeface="+mn-lt"/>
              </a:defRPr>
            </a:lvl7pPr>
            <a:lvl8pPr marL="3200400" indent="0" algn="ctr" rtl="0" fontAlgn="base">
              <a:spcBef>
                <a:spcPct val="20000"/>
              </a:spcBef>
              <a:spcAft>
                <a:spcPct val="0"/>
              </a:spcAft>
              <a:buClr>
                <a:schemeClr val="bg2"/>
              </a:buClr>
              <a:buFont typeface="Wingdings" pitchFamily="2" charset="2"/>
              <a:buNone/>
              <a:defRPr sz="2000">
                <a:solidFill>
                  <a:schemeClr val="tx1"/>
                </a:solidFill>
                <a:latin typeface="+mn-lt"/>
              </a:defRPr>
            </a:lvl8pPr>
            <a:lvl9pPr marL="3657600" indent="0" algn="ctr" rtl="0" fontAlgn="base">
              <a:spcBef>
                <a:spcPct val="20000"/>
              </a:spcBef>
              <a:spcAft>
                <a:spcPct val="0"/>
              </a:spcAft>
              <a:buClr>
                <a:schemeClr val="bg2"/>
              </a:buClr>
              <a:buFont typeface="Wingdings" pitchFamily="2" charset="2"/>
              <a:buNone/>
              <a:defRPr sz="2000">
                <a:solidFill>
                  <a:schemeClr val="tx1"/>
                </a:solidFill>
                <a:latin typeface="+mn-lt"/>
              </a:defRPr>
            </a:lvl9pPr>
          </a:lstStyle>
          <a:p>
            <a:pPr latinLnBrk="1">
              <a:buClrTx/>
              <a:buSzTx/>
              <a:defRPr/>
            </a:pPr>
            <a:r>
              <a:rPr lang="en-US" altLang="ko-KR" sz="2100" b="1" kern="0">
                <a:latin typeface="Times New Roman" panose="02020603050405020304" pitchFamily="18" charset="0"/>
                <a:cs typeface="Times New Roman" panose="02020603050405020304" pitchFamily="18" charset="0"/>
              </a:rPr>
              <a:t>by </a:t>
            </a:r>
          </a:p>
          <a:p>
            <a:pPr latinLnBrk="1">
              <a:buClrTx/>
              <a:buSzTx/>
              <a:defRPr/>
            </a:pPr>
            <a:r>
              <a:rPr lang="en-US" altLang="ko-KR" sz="2000" b="1" kern="0">
                <a:latin typeface="Times New Roman" panose="02020603050405020304" pitchFamily="18" charset="0"/>
                <a:cs typeface="Times New Roman" panose="02020603050405020304" pitchFamily="18" charset="0"/>
              </a:rPr>
              <a:t>Ngoc Huy Nguyen</a:t>
            </a:r>
          </a:p>
        </p:txBody>
      </p:sp>
      <p:sp>
        <p:nvSpPr>
          <p:cNvPr id="11" name="Footer Placeholder 10"/>
          <p:cNvSpPr>
            <a:spLocks noGrp="1"/>
          </p:cNvSpPr>
          <p:nvPr>
            <p:ph type="ftr" sz="quarter" idx="11"/>
          </p:nvPr>
        </p:nvSpPr>
        <p:spPr>
          <a:xfrm>
            <a:off x="9666171" y="6492875"/>
            <a:ext cx="2525829"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6" name="Rectangle 5"/>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13" name="부제목 2">
            <a:extLst>
              <a:ext uri="{FF2B5EF4-FFF2-40B4-BE49-F238E27FC236}">
                <a16:creationId xmlns:a16="http://schemas.microsoft.com/office/drawing/2014/main" id="{4852523B-3379-44B6-B085-B71AD9C5376A}"/>
              </a:ext>
            </a:extLst>
          </p:cNvPr>
          <p:cNvSpPr txBox="1">
            <a:spLocks/>
          </p:cNvSpPr>
          <p:nvPr/>
        </p:nvSpPr>
        <p:spPr>
          <a:xfrm>
            <a:off x="4193504" y="3544770"/>
            <a:ext cx="3833799" cy="583223"/>
          </a:xfrm>
          <a:prstGeom prst="rect">
            <a:avLst/>
          </a:prstGeom>
          <a:noFill/>
        </p:spPr>
        <p:txBody>
          <a:bodyPr lIns="0" tIns="0" rIns="0" bIns="0">
            <a:noAutofit/>
          </a:bodyPr>
          <a:lstStyle/>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altLang="ko-KR" i="0" u="none" strike="noStrike" kern="1200" cap="none" spc="0" normalizeH="0" baseline="0" noProof="0">
                <a:ln>
                  <a:noFill/>
                </a:ln>
                <a:solidFill>
                  <a:srgbClr val="3399FF"/>
                </a:solidFill>
                <a:effectLst/>
                <a:uLnTx/>
                <a:uFillTx/>
                <a:latin typeface="Times New Roman" panose="02020603050405020304" pitchFamily="18" charset="0"/>
                <a:ea typeface="굴림" pitchFamily="50" charset="-127"/>
                <a:cs typeface="Times New Roman" panose="02020603050405020304" pitchFamily="18" charset="0"/>
              </a:rPr>
              <a:t>Supervisor: Prof. </a:t>
            </a:r>
            <a:r>
              <a:rPr lang="en-US" altLang="ko-KR" noProof="0">
                <a:solidFill>
                  <a:srgbClr val="3399FF"/>
                </a:solidFill>
                <a:latin typeface="Times New Roman" panose="02020603050405020304" pitchFamily="18" charset="0"/>
                <a:ea typeface="굴림" pitchFamily="50" charset="-127"/>
                <a:cs typeface="Times New Roman" panose="02020603050405020304" pitchFamily="18" charset="0"/>
              </a:rPr>
              <a:t>Myung Kyun Kim</a:t>
            </a:r>
            <a:endParaRPr kumimoji="0" lang="en-US" altLang="ko-KR" i="0" u="none" strike="noStrike" kern="1200" cap="none" spc="0" normalizeH="0" baseline="0" noProof="0">
              <a:ln>
                <a:noFill/>
              </a:ln>
              <a:solidFill>
                <a:srgbClr val="3399FF"/>
              </a:solidFill>
              <a:effectLst/>
              <a:uLnTx/>
              <a:uFillTx/>
              <a:latin typeface="Times New Roman" panose="02020603050405020304" pitchFamily="18" charset="0"/>
              <a:ea typeface="굴림" pitchFamily="50" charset="-127"/>
              <a:cs typeface="Times New Roman" panose="02020603050405020304" pitchFamily="18" charset="0"/>
            </a:endParaRP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altLang="ko-KR" sz="1200" i="0" u="none" strike="noStrike" kern="1200" cap="none" spc="0" normalizeH="0" baseline="0" noProof="0">
                <a:ln>
                  <a:noFill/>
                </a:ln>
                <a:solidFill>
                  <a:schemeClr val="bg2">
                    <a:lumMod val="25000"/>
                  </a:schemeClr>
                </a:solidFill>
                <a:effectLst/>
                <a:uLnTx/>
                <a:uFillTx/>
                <a:latin typeface="Times New Roman" panose="02020603050405020304" pitchFamily="18" charset="0"/>
                <a:ea typeface="굴림" pitchFamily="50" charset="-127"/>
                <a:cs typeface="Times New Roman" panose="02020603050405020304" pitchFamily="18" charset="0"/>
              </a:rPr>
              <a:t>UNIVERSITY OF ULSAN</a:t>
            </a: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US" altLang="ko-KR" sz="1200" b="0" i="0" u="none" strike="noStrike" kern="1200" cap="none" spc="0" normalizeH="0" baseline="0" noProof="0">
              <a:ln>
                <a:noFill/>
              </a:ln>
              <a:solidFill>
                <a:schemeClr val="tx1"/>
              </a:solidFill>
              <a:effectLst/>
              <a:uLnTx/>
              <a:uFillTx/>
              <a:latin typeface="Arial" pitchFamily="34" charset="0"/>
              <a:ea typeface="굴림" pitchFamily="50" charset="-127"/>
              <a:cs typeface="Arial" pitchFamily="34" charset="0"/>
            </a:endParaRPr>
          </a:p>
        </p:txBody>
      </p:sp>
      <p:sp>
        <p:nvSpPr>
          <p:cNvPr id="14" name="TextBox 13">
            <a:extLst>
              <a:ext uri="{FF2B5EF4-FFF2-40B4-BE49-F238E27FC236}">
                <a16:creationId xmlns:a16="http://schemas.microsoft.com/office/drawing/2014/main" id="{AEBC278E-B477-42F5-AF2C-10C633C78A5C}"/>
              </a:ext>
            </a:extLst>
          </p:cNvPr>
          <p:cNvSpPr txBox="1"/>
          <p:nvPr/>
        </p:nvSpPr>
        <p:spPr>
          <a:xfrm>
            <a:off x="4815003" y="5419943"/>
            <a:ext cx="2590800" cy="369332"/>
          </a:xfrm>
          <a:prstGeom prst="rect">
            <a:avLst/>
          </a:prstGeom>
          <a:noFill/>
        </p:spPr>
        <p:txBody>
          <a:bodyPr wrap="square" rtlCol="0">
            <a:spAutoFit/>
          </a:bodyPr>
          <a:lstStyle/>
          <a:p>
            <a:pPr algn="ctr"/>
            <a:r>
              <a:rPr lang="en-US" b="0">
                <a:solidFill>
                  <a:schemeClr val="bg2">
                    <a:lumMod val="50000"/>
                  </a:schemeClr>
                </a:solidFill>
                <a:latin typeface="Times New Roman" panose="02020603050405020304" pitchFamily="18" charset="0"/>
                <a:cs typeface="Times New Roman" panose="02020603050405020304" pitchFamily="18" charset="0"/>
              </a:rPr>
              <a:t>Nov 27, 2020</a:t>
            </a:r>
          </a:p>
        </p:txBody>
      </p:sp>
      <p:sp>
        <p:nvSpPr>
          <p:cNvPr id="16" name="TextBox 15"/>
          <p:cNvSpPr txBox="1"/>
          <p:nvPr/>
        </p:nvSpPr>
        <p:spPr>
          <a:xfrm>
            <a:off x="1161887" y="4516735"/>
            <a:ext cx="10336306" cy="369332"/>
          </a:xfrm>
          <a:prstGeom prst="rect">
            <a:avLst/>
          </a:prstGeom>
          <a:noFill/>
        </p:spPr>
        <p:txBody>
          <a:bodyPr wrap="square" rtlCol="0">
            <a:spAutoFit/>
          </a:bodyPr>
          <a:lstStyle/>
          <a:p>
            <a:pPr lvl="0" algn="ctr"/>
            <a:r>
              <a:rPr lang="en-US" altLang="ko-KR" kern="0">
                <a:latin typeface="Times New Roman" panose="02020603050405020304" pitchFamily="18" charset="0"/>
                <a:ea typeface="맑은 고딕" pitchFamily="50" charset="-127"/>
                <a:cs typeface="Times New Roman" panose="02020603050405020304" pitchFamily="18" charset="0"/>
              </a:rPr>
              <a:t>Thesis presentation in partial fulfillment of the Requirements for a Degree of Master</a:t>
            </a:r>
            <a:endParaRPr lang="en-US"/>
          </a:p>
        </p:txBody>
      </p:sp>
    </p:spTree>
    <p:extLst>
      <p:ext uri="{BB962C8B-B14F-4D97-AF65-F5344CB8AC3E}">
        <p14:creationId xmlns:p14="http://schemas.microsoft.com/office/powerpoint/2010/main" val="3719041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Presentation Outline</a:t>
            </a:r>
          </a:p>
        </p:txBody>
      </p:sp>
      <p:sp>
        <p:nvSpPr>
          <p:cNvPr id="12" name="Footer Placeholder 11"/>
          <p:cNvSpPr>
            <a:spLocks noGrp="1"/>
          </p:cNvSpPr>
          <p:nvPr>
            <p:ph type="ftr" sz="quarter" idx="11"/>
          </p:nvPr>
        </p:nvSpPr>
        <p:spPr>
          <a:xfrm>
            <a:off x="9415312" y="6492875"/>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6751"/>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61449"/>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utoShape 46"/>
          <p:cNvSpPr>
            <a:spLocks noChangeArrowheads="1"/>
          </p:cNvSpPr>
          <p:nvPr/>
        </p:nvSpPr>
        <p:spPr bwMode="ltGray">
          <a:xfrm rot="5400000">
            <a:off x="-2422526"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2"/>
                  <a:pt x="10800" y="322"/>
                </a:cubicBezTo>
                <a:cubicBezTo>
                  <a:pt x="16524" y="322"/>
                  <a:pt x="21189" y="4916"/>
                  <a:pt x="21276" y="10641"/>
                </a:cubicBezTo>
                <a:lnTo>
                  <a:pt x="21598" y="10636"/>
                </a:lnTo>
                <a:cubicBezTo>
                  <a:pt x="21509" y="4736"/>
                  <a:pt x="16700" y="0"/>
                  <a:pt x="10799" y="0"/>
                </a:cubicBezTo>
                <a:cubicBezTo>
                  <a:pt x="4899" y="0"/>
                  <a:pt x="90" y="4736"/>
                  <a:pt x="1" y="10636"/>
                </a:cubicBezTo>
                <a:close/>
              </a:path>
            </a:pathLst>
          </a:custGeom>
          <a:solidFill>
            <a:schemeClr val="accent1"/>
          </a:solidFill>
          <a:ln>
            <a:noFill/>
          </a:ln>
          <a:effectLst/>
        </p:spPr>
        <p:txBody>
          <a:bodyPr wrap="none" anchor="ctr"/>
          <a:lstStyle/>
          <a:p>
            <a:pPr eaLnBrk="1" hangingPunct="1">
              <a:defRPr/>
            </a:pPr>
            <a:endParaRPr lang="en-US"/>
          </a:p>
        </p:txBody>
      </p:sp>
      <p:sp>
        <p:nvSpPr>
          <p:cNvPr id="53" name="AutoShape 47"/>
          <p:cNvSpPr>
            <a:spLocks noChangeArrowheads="1"/>
          </p:cNvSpPr>
          <p:nvPr/>
        </p:nvSpPr>
        <p:spPr bwMode="ltGray">
          <a:xfrm rot="5400000" flipH="1">
            <a:off x="-2016918"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4"/>
                  <a:pt x="10856" y="10769"/>
                  <a:pt x="10856" y="10800"/>
                </a:cubicBezTo>
                <a:lnTo>
                  <a:pt x="21600" y="10800"/>
                </a:lnTo>
                <a:cubicBezTo>
                  <a:pt x="21600" y="4835"/>
                  <a:pt x="16764" y="0"/>
                  <a:pt x="10800" y="0"/>
                </a:cubicBezTo>
                <a:cubicBezTo>
                  <a:pt x="4835" y="0"/>
                  <a:pt x="0" y="4835"/>
                  <a:pt x="0" y="10799"/>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a:effectLst/>
        </p:spPr>
        <p:txBody>
          <a:bodyPr wrap="none" anchor="ctr"/>
          <a:lstStyle/>
          <a:p>
            <a:pPr eaLnBrk="1" hangingPunct="1">
              <a:defRPr/>
            </a:pPr>
            <a:endParaRPr lang="en-US"/>
          </a:p>
        </p:txBody>
      </p:sp>
      <p:sp>
        <p:nvSpPr>
          <p:cNvPr id="55" name="AutoShape 49"/>
          <p:cNvSpPr>
            <a:spLocks noChangeArrowheads="1"/>
          </p:cNvSpPr>
          <p:nvPr/>
        </p:nvSpPr>
        <p:spPr bwMode="gray">
          <a:xfrm>
            <a:off x="1959784" y="5587125"/>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5. Conclusion</a:t>
            </a:r>
          </a:p>
        </p:txBody>
      </p:sp>
      <p:sp>
        <p:nvSpPr>
          <p:cNvPr id="56" name="AutoShape 50"/>
          <p:cNvSpPr>
            <a:spLocks noChangeArrowheads="1"/>
          </p:cNvSpPr>
          <p:nvPr/>
        </p:nvSpPr>
        <p:spPr bwMode="gray">
          <a:xfrm>
            <a:off x="2528723" y="4710291"/>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4. Performance Evaluation</a:t>
            </a:r>
          </a:p>
        </p:txBody>
      </p:sp>
      <p:sp>
        <p:nvSpPr>
          <p:cNvPr id="58" name="AutoShape 52"/>
          <p:cNvSpPr>
            <a:spLocks noChangeArrowheads="1"/>
          </p:cNvSpPr>
          <p:nvPr/>
        </p:nvSpPr>
        <p:spPr bwMode="gray">
          <a:xfrm>
            <a:off x="2146304" y="1698610"/>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1. </a:t>
            </a:r>
            <a:r>
              <a:rPr lang="en-US" sz="2400" b="1">
                <a:solidFill>
                  <a:schemeClr val="tx1">
                    <a:lumMod val="75000"/>
                    <a:lumOff val="25000"/>
                  </a:schemeClr>
                </a:solidFill>
                <a:latin typeface="Times New Roman" panose="02020603050405020304" pitchFamily="18" charset="0"/>
                <a:cs typeface="Times New Roman" panose="02020603050405020304" pitchFamily="18" charset="0"/>
              </a:rPr>
              <a:t>Introduction</a:t>
            </a:r>
            <a:r>
              <a:rPr lang="en-US" sz="2400" b="1">
                <a:latin typeface="Times New Roman" panose="02020603050405020304" pitchFamily="18" charset="0"/>
                <a:cs typeface="Times New Roman" panose="02020603050405020304" pitchFamily="18" charset="0"/>
              </a:rPr>
              <a:t>  </a:t>
            </a:r>
          </a:p>
        </p:txBody>
      </p:sp>
      <p:grpSp>
        <p:nvGrpSpPr>
          <p:cNvPr id="59" name="Group 53"/>
          <p:cNvGrpSpPr>
            <a:grpSpLocks/>
          </p:cNvGrpSpPr>
          <p:nvPr/>
        </p:nvGrpSpPr>
        <p:grpSpPr bwMode="auto">
          <a:xfrm>
            <a:off x="1533069" y="1754176"/>
            <a:ext cx="640080" cy="640080"/>
            <a:chOff x="2078" y="1680"/>
            <a:chExt cx="1615" cy="1615"/>
          </a:xfrm>
        </p:grpSpPr>
        <p:sp>
          <p:nvSpPr>
            <p:cNvPr id="60" name="Oval 5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1" name="Oval 5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2" name="Oval 56"/>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63" name="Oval 57"/>
            <p:cNvSpPr>
              <a:spLocks noChangeArrowheads="1"/>
            </p:cNvSpPr>
            <p:nvPr/>
          </p:nvSpPr>
          <p:spPr bwMode="gray">
            <a:xfrm>
              <a:off x="2254" y="1856"/>
              <a:ext cx="1262" cy="1264"/>
            </a:xfrm>
            <a:prstGeom prst="ellipse">
              <a:avLst/>
            </a:prstGeom>
            <a:gradFill rotWithShape="1">
              <a:gsLst>
                <a:gs pos="0">
                  <a:srgbClr val="000000"/>
                </a:gs>
                <a:gs pos="100000">
                  <a:srgbClr val="FFCC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4" name="Oval 58"/>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65" name="Oval 59"/>
            <p:cNvSpPr>
              <a:spLocks noChangeArrowheads="1"/>
            </p:cNvSpPr>
            <p:nvPr/>
          </p:nvSpPr>
          <p:spPr bwMode="gray">
            <a:xfrm>
              <a:off x="2337" y="1939"/>
              <a:ext cx="1096" cy="1098"/>
            </a:xfrm>
            <a:prstGeom prst="ellipse">
              <a:avLst/>
            </a:prstGeom>
            <a:gradFill rotWithShape="1">
              <a:gsLst>
                <a:gs pos="0">
                  <a:srgbClr val="FFCC00"/>
                </a:gs>
                <a:gs pos="100000">
                  <a:srgbClr val="7C63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66" name="Group 60"/>
          <p:cNvGrpSpPr>
            <a:grpSpLocks/>
          </p:cNvGrpSpPr>
          <p:nvPr/>
        </p:nvGrpSpPr>
        <p:grpSpPr bwMode="auto">
          <a:xfrm>
            <a:off x="2203478" y="3711578"/>
            <a:ext cx="640080" cy="640080"/>
            <a:chOff x="2078" y="1680"/>
            <a:chExt cx="1615" cy="1615"/>
          </a:xfrm>
        </p:grpSpPr>
        <p:sp>
          <p:nvSpPr>
            <p:cNvPr id="67"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8"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9"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0"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1"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2" name="Oval 66"/>
            <p:cNvSpPr>
              <a:spLocks noChangeArrowheads="1"/>
            </p:cNvSpPr>
            <p:nvPr/>
          </p:nvSpPr>
          <p:spPr bwMode="gray">
            <a:xfrm>
              <a:off x="2337" y="1939"/>
              <a:ext cx="1096" cy="1098"/>
            </a:xfrm>
            <a:prstGeom prst="ellipse">
              <a:avLst/>
            </a:prstGeom>
            <a:gradFill rotWithShape="1">
              <a:gsLst>
                <a:gs pos="0">
                  <a:srgbClr val="48BE67"/>
                </a:gs>
                <a:gs pos="100000">
                  <a:srgbClr val="235C32"/>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73" name="Group 67"/>
          <p:cNvGrpSpPr>
            <a:grpSpLocks/>
          </p:cNvGrpSpPr>
          <p:nvPr/>
        </p:nvGrpSpPr>
        <p:grpSpPr bwMode="auto">
          <a:xfrm>
            <a:off x="1992482" y="4757061"/>
            <a:ext cx="640080" cy="640080"/>
            <a:chOff x="2078" y="1680"/>
            <a:chExt cx="1615" cy="1615"/>
          </a:xfrm>
        </p:grpSpPr>
        <p:sp>
          <p:nvSpPr>
            <p:cNvPr id="74" name="Oval 6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5" name="Oval 6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6" name="Oval 70"/>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7" name="Oval 71"/>
            <p:cNvSpPr>
              <a:spLocks noChangeArrowheads="1"/>
            </p:cNvSpPr>
            <p:nvPr/>
          </p:nvSpPr>
          <p:spPr bwMode="gray">
            <a:xfrm>
              <a:off x="2254" y="1856"/>
              <a:ext cx="1262" cy="1264"/>
            </a:xfrm>
            <a:prstGeom prst="ellipse">
              <a:avLst/>
            </a:prstGeom>
            <a:gradFill rotWithShape="1">
              <a:gsLst>
                <a:gs pos="0">
                  <a:srgbClr val="21B3E1"/>
                </a:gs>
                <a:gs pos="100000">
                  <a:srgbClr val="0F5368"/>
                </a:gs>
              </a:gsLst>
              <a:lin ang="54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8" name="Oval 72"/>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9" name="Oval 73"/>
            <p:cNvSpPr>
              <a:spLocks noChangeArrowheads="1"/>
            </p:cNvSpPr>
            <p:nvPr/>
          </p:nvSpPr>
          <p:spPr bwMode="gray">
            <a:xfrm>
              <a:off x="2337" y="1939"/>
              <a:ext cx="1096" cy="1098"/>
            </a:xfrm>
            <a:prstGeom prst="ellipse">
              <a:avLst/>
            </a:prstGeom>
            <a:gradFill rotWithShape="1">
              <a:gsLst>
                <a:gs pos="0">
                  <a:srgbClr val="21B3E1"/>
                </a:gs>
                <a:gs pos="100000">
                  <a:srgbClr val="1057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80" name="Group 74"/>
          <p:cNvGrpSpPr>
            <a:grpSpLocks/>
          </p:cNvGrpSpPr>
          <p:nvPr/>
        </p:nvGrpSpPr>
        <p:grpSpPr bwMode="auto">
          <a:xfrm>
            <a:off x="1358148" y="5586074"/>
            <a:ext cx="640080" cy="640080"/>
            <a:chOff x="2078" y="1680"/>
            <a:chExt cx="1615" cy="1615"/>
          </a:xfrm>
        </p:grpSpPr>
        <p:sp>
          <p:nvSpPr>
            <p:cNvPr id="81" name="Oval 7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2" name="Oval 7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3" name="Oval 77"/>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4" name="Oval 78"/>
            <p:cNvSpPr>
              <a:spLocks noChangeArrowheads="1"/>
            </p:cNvSpPr>
            <p:nvPr/>
          </p:nvSpPr>
          <p:spPr bwMode="gray">
            <a:xfrm>
              <a:off x="2254" y="1856"/>
              <a:ext cx="1262" cy="1264"/>
            </a:xfrm>
            <a:prstGeom prst="ellipse">
              <a:avLst/>
            </a:prstGeom>
            <a:gradFill rotWithShape="1">
              <a:gsLst>
                <a:gs pos="0">
                  <a:srgbClr val="000000"/>
                </a:gs>
                <a:gs pos="100000">
                  <a:srgbClr val="8D67E1"/>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5" name="Oval 79"/>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86" name="Oval 80"/>
            <p:cNvSpPr>
              <a:spLocks noChangeArrowheads="1"/>
            </p:cNvSpPr>
            <p:nvPr/>
          </p:nvSpPr>
          <p:spPr bwMode="gray">
            <a:xfrm>
              <a:off x="2337" y="1939"/>
              <a:ext cx="1096" cy="1098"/>
            </a:xfrm>
            <a:prstGeom prst="ellipse">
              <a:avLst/>
            </a:prstGeom>
            <a:gradFill rotWithShape="1">
              <a:gsLst>
                <a:gs pos="0">
                  <a:srgbClr val="8D67E1"/>
                </a:gs>
                <a:gs pos="100000">
                  <a:srgbClr val="4532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42" name="AutoShape 51"/>
          <p:cNvSpPr>
            <a:spLocks noChangeArrowheads="1"/>
          </p:cNvSpPr>
          <p:nvPr/>
        </p:nvSpPr>
        <p:spPr bwMode="gray">
          <a:xfrm>
            <a:off x="2756856" y="2705094"/>
            <a:ext cx="6400800" cy="685800"/>
          </a:xfrm>
          <a:prstGeom prst="roundRect">
            <a:avLst>
              <a:gd name="adj" fmla="val 50000"/>
            </a:avLst>
          </a:prstGeom>
          <a:noFill/>
          <a:ln w="28575" algn="ctr">
            <a:solidFill>
              <a:schemeClr val="bg2"/>
            </a:solidFill>
            <a:round/>
            <a:headEnd/>
            <a:tailE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2. Related Work </a:t>
            </a:r>
          </a:p>
        </p:txBody>
      </p:sp>
      <p:grpSp>
        <p:nvGrpSpPr>
          <p:cNvPr id="43" name="Group 60"/>
          <p:cNvGrpSpPr>
            <a:grpSpLocks/>
          </p:cNvGrpSpPr>
          <p:nvPr/>
        </p:nvGrpSpPr>
        <p:grpSpPr bwMode="auto">
          <a:xfrm>
            <a:off x="2155220" y="2689942"/>
            <a:ext cx="640080" cy="640080"/>
            <a:chOff x="2078" y="1680"/>
            <a:chExt cx="1615" cy="1615"/>
          </a:xfrm>
        </p:grpSpPr>
        <p:sp>
          <p:nvSpPr>
            <p:cNvPr id="44"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5"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6"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47"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8"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49" name="Oval 66"/>
            <p:cNvSpPr>
              <a:spLocks noChangeArrowheads="1"/>
            </p:cNvSpPr>
            <p:nvPr/>
          </p:nvSpPr>
          <p:spPr bwMode="gray">
            <a:xfrm>
              <a:off x="2337" y="1939"/>
              <a:ext cx="1096" cy="1098"/>
            </a:xfrm>
            <a:prstGeom prst="ellipse">
              <a:avLst/>
            </a:prstGeom>
            <a:solidFill>
              <a:schemeClr val="accent2"/>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50" name="AutoShape 50"/>
          <p:cNvSpPr>
            <a:spLocks noChangeArrowheads="1"/>
          </p:cNvSpPr>
          <p:nvPr/>
        </p:nvSpPr>
        <p:spPr bwMode="gray">
          <a:xfrm>
            <a:off x="2834640" y="3711578"/>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None/>
            </a:pPr>
            <a:r>
              <a:rPr lang="en-US" sz="2400" b="1">
                <a:latin typeface="Times New Roman" panose="02020603050405020304" pitchFamily="18" charset="0"/>
                <a:cs typeface="Times New Roman" panose="02020603050405020304" pitchFamily="18" charset="0"/>
              </a:rPr>
              <a:t>3. Our Proposal</a:t>
            </a:r>
          </a:p>
        </p:txBody>
      </p:sp>
      <p:pic>
        <p:nvPicPr>
          <p:cNvPr id="51"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4030161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Presentation Outline</a:t>
            </a:r>
          </a:p>
        </p:txBody>
      </p:sp>
      <p:sp>
        <p:nvSpPr>
          <p:cNvPr id="12" name="Footer Placeholder 11"/>
          <p:cNvSpPr>
            <a:spLocks noGrp="1"/>
          </p:cNvSpPr>
          <p:nvPr>
            <p:ph type="ftr" sz="quarter" idx="11"/>
          </p:nvPr>
        </p:nvSpPr>
        <p:spPr>
          <a:xfrm>
            <a:off x="9403882" y="6481449"/>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62909"/>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3</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3688" y="6416995"/>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utoShape 46"/>
          <p:cNvSpPr>
            <a:spLocks noChangeArrowheads="1"/>
          </p:cNvSpPr>
          <p:nvPr/>
        </p:nvSpPr>
        <p:spPr bwMode="ltGray">
          <a:xfrm rot="5400000">
            <a:off x="-2422526"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2"/>
                  <a:pt x="10800" y="322"/>
                </a:cubicBezTo>
                <a:cubicBezTo>
                  <a:pt x="16524" y="322"/>
                  <a:pt x="21189" y="4916"/>
                  <a:pt x="21276" y="10641"/>
                </a:cubicBezTo>
                <a:lnTo>
                  <a:pt x="21598" y="10636"/>
                </a:lnTo>
                <a:cubicBezTo>
                  <a:pt x="21509" y="4736"/>
                  <a:pt x="16700" y="0"/>
                  <a:pt x="10799" y="0"/>
                </a:cubicBezTo>
                <a:cubicBezTo>
                  <a:pt x="4899" y="0"/>
                  <a:pt x="90" y="4736"/>
                  <a:pt x="1" y="10636"/>
                </a:cubicBezTo>
                <a:close/>
              </a:path>
            </a:pathLst>
          </a:custGeom>
          <a:solidFill>
            <a:schemeClr val="accent1"/>
          </a:solidFill>
          <a:ln>
            <a:noFill/>
          </a:ln>
          <a:effectLst/>
        </p:spPr>
        <p:txBody>
          <a:bodyPr wrap="none" anchor="ctr"/>
          <a:lstStyle/>
          <a:p>
            <a:pPr eaLnBrk="1" hangingPunct="1">
              <a:defRPr/>
            </a:pPr>
            <a:endParaRPr lang="en-US"/>
          </a:p>
        </p:txBody>
      </p:sp>
      <p:sp>
        <p:nvSpPr>
          <p:cNvPr id="53" name="AutoShape 47"/>
          <p:cNvSpPr>
            <a:spLocks noChangeArrowheads="1"/>
          </p:cNvSpPr>
          <p:nvPr/>
        </p:nvSpPr>
        <p:spPr bwMode="ltGray">
          <a:xfrm rot="5400000" flipH="1">
            <a:off x="-2016918"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4"/>
                  <a:pt x="10856" y="10769"/>
                  <a:pt x="10856" y="10800"/>
                </a:cubicBezTo>
                <a:lnTo>
                  <a:pt x="21600" y="10800"/>
                </a:lnTo>
                <a:cubicBezTo>
                  <a:pt x="21600" y="4835"/>
                  <a:pt x="16764" y="0"/>
                  <a:pt x="10800" y="0"/>
                </a:cubicBezTo>
                <a:cubicBezTo>
                  <a:pt x="4835" y="0"/>
                  <a:pt x="0" y="4835"/>
                  <a:pt x="0" y="10799"/>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a:effectLst/>
        </p:spPr>
        <p:txBody>
          <a:bodyPr wrap="none" anchor="ctr"/>
          <a:lstStyle/>
          <a:p>
            <a:pPr eaLnBrk="1" hangingPunct="1">
              <a:defRPr/>
            </a:pPr>
            <a:endParaRPr lang="en-US"/>
          </a:p>
        </p:txBody>
      </p:sp>
      <p:sp>
        <p:nvSpPr>
          <p:cNvPr id="55" name="AutoShape 49"/>
          <p:cNvSpPr>
            <a:spLocks noChangeArrowheads="1"/>
          </p:cNvSpPr>
          <p:nvPr/>
        </p:nvSpPr>
        <p:spPr bwMode="gray">
          <a:xfrm>
            <a:off x="1959784" y="5587125"/>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5. Conclusion</a:t>
            </a:r>
          </a:p>
        </p:txBody>
      </p:sp>
      <p:sp>
        <p:nvSpPr>
          <p:cNvPr id="56" name="AutoShape 50"/>
          <p:cNvSpPr>
            <a:spLocks noChangeArrowheads="1"/>
          </p:cNvSpPr>
          <p:nvPr/>
        </p:nvSpPr>
        <p:spPr bwMode="gray">
          <a:xfrm>
            <a:off x="2528723" y="4710291"/>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None/>
            </a:pPr>
            <a:r>
              <a:rPr lang="en-US" sz="2400" b="1">
                <a:latin typeface="Times New Roman" panose="02020603050405020304" pitchFamily="18" charset="0"/>
                <a:cs typeface="Times New Roman" panose="02020603050405020304" pitchFamily="18" charset="0"/>
              </a:rPr>
              <a:t>4. Performance Evaluation</a:t>
            </a:r>
          </a:p>
        </p:txBody>
      </p:sp>
      <p:sp>
        <p:nvSpPr>
          <p:cNvPr id="58" name="AutoShape 52"/>
          <p:cNvSpPr>
            <a:spLocks noChangeArrowheads="1"/>
          </p:cNvSpPr>
          <p:nvPr/>
        </p:nvSpPr>
        <p:spPr bwMode="gray">
          <a:xfrm>
            <a:off x="2146304" y="1698610"/>
            <a:ext cx="6400800" cy="685800"/>
          </a:xfrm>
          <a:prstGeom prst="roundRect">
            <a:avLst>
              <a:gd name="adj" fmla="val 50000"/>
            </a:avLst>
          </a:prstGeom>
          <a:solidFill>
            <a:schemeClr val="accent1"/>
          </a:solidFill>
          <a:ln w="28575" algn="ctr">
            <a:solidFill>
              <a:schemeClr val="bg2"/>
            </a:solidFill>
            <a:round/>
            <a:headEnd/>
            <a:tailE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solidFill>
                  <a:schemeClr val="bg1"/>
                </a:solidFill>
                <a:latin typeface="Times New Roman" panose="02020603050405020304" pitchFamily="18" charset="0"/>
                <a:cs typeface="Times New Roman" panose="02020603050405020304" pitchFamily="18" charset="0"/>
              </a:rPr>
              <a:t>1. Introduction  </a:t>
            </a:r>
          </a:p>
        </p:txBody>
      </p:sp>
      <p:grpSp>
        <p:nvGrpSpPr>
          <p:cNvPr id="59" name="Group 53"/>
          <p:cNvGrpSpPr>
            <a:grpSpLocks/>
          </p:cNvGrpSpPr>
          <p:nvPr/>
        </p:nvGrpSpPr>
        <p:grpSpPr bwMode="auto">
          <a:xfrm>
            <a:off x="1533069" y="1754176"/>
            <a:ext cx="640080" cy="640080"/>
            <a:chOff x="2078" y="1680"/>
            <a:chExt cx="1615" cy="1615"/>
          </a:xfrm>
        </p:grpSpPr>
        <p:sp>
          <p:nvSpPr>
            <p:cNvPr id="60" name="Oval 5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1" name="Oval 5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2" name="Oval 56"/>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63" name="Oval 57"/>
            <p:cNvSpPr>
              <a:spLocks noChangeArrowheads="1"/>
            </p:cNvSpPr>
            <p:nvPr/>
          </p:nvSpPr>
          <p:spPr bwMode="gray">
            <a:xfrm>
              <a:off x="2254" y="1856"/>
              <a:ext cx="1262" cy="1264"/>
            </a:xfrm>
            <a:prstGeom prst="ellipse">
              <a:avLst/>
            </a:prstGeom>
            <a:gradFill rotWithShape="1">
              <a:gsLst>
                <a:gs pos="0">
                  <a:srgbClr val="000000"/>
                </a:gs>
                <a:gs pos="100000">
                  <a:srgbClr val="FFCC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4" name="Oval 58"/>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65" name="Oval 59"/>
            <p:cNvSpPr>
              <a:spLocks noChangeArrowheads="1"/>
            </p:cNvSpPr>
            <p:nvPr/>
          </p:nvSpPr>
          <p:spPr bwMode="gray">
            <a:xfrm>
              <a:off x="2337" y="1939"/>
              <a:ext cx="1096" cy="1098"/>
            </a:xfrm>
            <a:prstGeom prst="ellipse">
              <a:avLst/>
            </a:prstGeom>
            <a:gradFill rotWithShape="1">
              <a:gsLst>
                <a:gs pos="0">
                  <a:srgbClr val="FFCC00"/>
                </a:gs>
                <a:gs pos="100000">
                  <a:srgbClr val="7C63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66" name="Group 60"/>
          <p:cNvGrpSpPr>
            <a:grpSpLocks/>
          </p:cNvGrpSpPr>
          <p:nvPr/>
        </p:nvGrpSpPr>
        <p:grpSpPr bwMode="auto">
          <a:xfrm>
            <a:off x="2203478" y="3711578"/>
            <a:ext cx="640080" cy="640080"/>
            <a:chOff x="2078" y="1680"/>
            <a:chExt cx="1615" cy="1615"/>
          </a:xfrm>
        </p:grpSpPr>
        <p:sp>
          <p:nvSpPr>
            <p:cNvPr id="67"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8"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9"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0"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1"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2" name="Oval 66"/>
            <p:cNvSpPr>
              <a:spLocks noChangeArrowheads="1"/>
            </p:cNvSpPr>
            <p:nvPr/>
          </p:nvSpPr>
          <p:spPr bwMode="gray">
            <a:xfrm>
              <a:off x="2337" y="1939"/>
              <a:ext cx="1096" cy="1098"/>
            </a:xfrm>
            <a:prstGeom prst="ellipse">
              <a:avLst/>
            </a:prstGeom>
            <a:gradFill rotWithShape="1">
              <a:gsLst>
                <a:gs pos="0">
                  <a:srgbClr val="48BE67"/>
                </a:gs>
                <a:gs pos="100000">
                  <a:srgbClr val="235C32"/>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73" name="Group 67"/>
          <p:cNvGrpSpPr>
            <a:grpSpLocks/>
          </p:cNvGrpSpPr>
          <p:nvPr/>
        </p:nvGrpSpPr>
        <p:grpSpPr bwMode="auto">
          <a:xfrm>
            <a:off x="1992482" y="4757061"/>
            <a:ext cx="640080" cy="640080"/>
            <a:chOff x="2078" y="1680"/>
            <a:chExt cx="1615" cy="1615"/>
          </a:xfrm>
        </p:grpSpPr>
        <p:sp>
          <p:nvSpPr>
            <p:cNvPr id="74" name="Oval 6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5" name="Oval 6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6" name="Oval 70"/>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7" name="Oval 71"/>
            <p:cNvSpPr>
              <a:spLocks noChangeArrowheads="1"/>
            </p:cNvSpPr>
            <p:nvPr/>
          </p:nvSpPr>
          <p:spPr bwMode="gray">
            <a:xfrm>
              <a:off x="2254" y="1856"/>
              <a:ext cx="1262" cy="1264"/>
            </a:xfrm>
            <a:prstGeom prst="ellipse">
              <a:avLst/>
            </a:prstGeom>
            <a:gradFill rotWithShape="1">
              <a:gsLst>
                <a:gs pos="0">
                  <a:srgbClr val="21B3E1"/>
                </a:gs>
                <a:gs pos="100000">
                  <a:srgbClr val="0F5368"/>
                </a:gs>
              </a:gsLst>
              <a:lin ang="54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8" name="Oval 72"/>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9" name="Oval 73"/>
            <p:cNvSpPr>
              <a:spLocks noChangeArrowheads="1"/>
            </p:cNvSpPr>
            <p:nvPr/>
          </p:nvSpPr>
          <p:spPr bwMode="gray">
            <a:xfrm>
              <a:off x="2337" y="1939"/>
              <a:ext cx="1096" cy="1098"/>
            </a:xfrm>
            <a:prstGeom prst="ellipse">
              <a:avLst/>
            </a:prstGeom>
            <a:gradFill rotWithShape="1">
              <a:gsLst>
                <a:gs pos="0">
                  <a:srgbClr val="21B3E1"/>
                </a:gs>
                <a:gs pos="100000">
                  <a:srgbClr val="1057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80" name="Group 74"/>
          <p:cNvGrpSpPr>
            <a:grpSpLocks/>
          </p:cNvGrpSpPr>
          <p:nvPr/>
        </p:nvGrpSpPr>
        <p:grpSpPr bwMode="auto">
          <a:xfrm>
            <a:off x="1358148" y="5586074"/>
            <a:ext cx="640080" cy="640080"/>
            <a:chOff x="2078" y="1680"/>
            <a:chExt cx="1615" cy="1615"/>
          </a:xfrm>
        </p:grpSpPr>
        <p:sp>
          <p:nvSpPr>
            <p:cNvPr id="81" name="Oval 7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2" name="Oval 7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3" name="Oval 77"/>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4" name="Oval 78"/>
            <p:cNvSpPr>
              <a:spLocks noChangeArrowheads="1"/>
            </p:cNvSpPr>
            <p:nvPr/>
          </p:nvSpPr>
          <p:spPr bwMode="gray">
            <a:xfrm>
              <a:off x="2254" y="1856"/>
              <a:ext cx="1262" cy="1264"/>
            </a:xfrm>
            <a:prstGeom prst="ellipse">
              <a:avLst/>
            </a:prstGeom>
            <a:gradFill rotWithShape="1">
              <a:gsLst>
                <a:gs pos="0">
                  <a:srgbClr val="000000"/>
                </a:gs>
                <a:gs pos="100000">
                  <a:srgbClr val="8D67E1"/>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5" name="Oval 79"/>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86" name="Oval 80"/>
            <p:cNvSpPr>
              <a:spLocks noChangeArrowheads="1"/>
            </p:cNvSpPr>
            <p:nvPr/>
          </p:nvSpPr>
          <p:spPr bwMode="gray">
            <a:xfrm>
              <a:off x="2337" y="1939"/>
              <a:ext cx="1096" cy="1098"/>
            </a:xfrm>
            <a:prstGeom prst="ellipse">
              <a:avLst/>
            </a:prstGeom>
            <a:gradFill rotWithShape="1">
              <a:gsLst>
                <a:gs pos="0">
                  <a:srgbClr val="8D67E1"/>
                </a:gs>
                <a:gs pos="100000">
                  <a:srgbClr val="4532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42" name="AutoShape 51"/>
          <p:cNvSpPr>
            <a:spLocks noChangeArrowheads="1"/>
          </p:cNvSpPr>
          <p:nvPr/>
        </p:nvSpPr>
        <p:spPr bwMode="gray">
          <a:xfrm>
            <a:off x="2756856" y="2705094"/>
            <a:ext cx="6400800" cy="685800"/>
          </a:xfrm>
          <a:prstGeom prst="roundRect">
            <a:avLst>
              <a:gd name="adj" fmla="val 50000"/>
            </a:avLst>
          </a:prstGeom>
          <a:noFill/>
          <a:ln w="28575" algn="ctr">
            <a:solidFill>
              <a:schemeClr val="bg2"/>
            </a:solidFill>
            <a:round/>
            <a:headEnd/>
            <a:tailE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2. Related Work </a:t>
            </a:r>
          </a:p>
        </p:txBody>
      </p:sp>
      <p:grpSp>
        <p:nvGrpSpPr>
          <p:cNvPr id="43" name="Group 60"/>
          <p:cNvGrpSpPr>
            <a:grpSpLocks/>
          </p:cNvGrpSpPr>
          <p:nvPr/>
        </p:nvGrpSpPr>
        <p:grpSpPr bwMode="auto">
          <a:xfrm>
            <a:off x="2155220" y="2689942"/>
            <a:ext cx="640080" cy="640080"/>
            <a:chOff x="2078" y="1680"/>
            <a:chExt cx="1615" cy="1615"/>
          </a:xfrm>
        </p:grpSpPr>
        <p:sp>
          <p:nvSpPr>
            <p:cNvPr id="44"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5"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6"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47"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8"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49" name="Oval 66"/>
            <p:cNvSpPr>
              <a:spLocks noChangeArrowheads="1"/>
            </p:cNvSpPr>
            <p:nvPr/>
          </p:nvSpPr>
          <p:spPr bwMode="gray">
            <a:xfrm>
              <a:off x="2337" y="1939"/>
              <a:ext cx="1096" cy="1098"/>
            </a:xfrm>
            <a:prstGeom prst="ellipse">
              <a:avLst/>
            </a:prstGeom>
            <a:solidFill>
              <a:schemeClr val="accent2"/>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50" name="AutoShape 50"/>
          <p:cNvSpPr>
            <a:spLocks noChangeArrowheads="1"/>
          </p:cNvSpPr>
          <p:nvPr/>
        </p:nvSpPr>
        <p:spPr bwMode="gray">
          <a:xfrm>
            <a:off x="2834640" y="3711578"/>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None/>
            </a:pPr>
            <a:r>
              <a:rPr lang="en-US" sz="2400" b="1">
                <a:latin typeface="Times New Roman" panose="02020603050405020304" pitchFamily="18" charset="0"/>
                <a:cs typeface="Times New Roman" panose="02020603050405020304" pitchFamily="18" charset="0"/>
              </a:rPr>
              <a:t>3. Our Proposal</a:t>
            </a:r>
          </a:p>
        </p:txBody>
      </p:sp>
      <p:pic>
        <p:nvPicPr>
          <p:cNvPr id="51"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1083354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Introduction</a:t>
            </a:r>
          </a:p>
        </p:txBody>
      </p:sp>
      <p:sp>
        <p:nvSpPr>
          <p:cNvPr id="7" name="Slide Number Placeholder 6"/>
          <p:cNvSpPr>
            <a:spLocks noGrp="1"/>
          </p:cNvSpPr>
          <p:nvPr>
            <p:ph type="sldNum" sz="quarter" idx="12"/>
          </p:nvPr>
        </p:nvSpPr>
        <p:spPr>
          <a:xfrm>
            <a:off x="4724400" y="6470332"/>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4</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1052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56159" y="1525122"/>
            <a:ext cx="9247723" cy="498068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Industrial wireless sensor networks are deployed in many applications:</a:t>
            </a:r>
          </a:p>
          <a:p>
            <a:pPr lvl="1" algn="just">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 Environment monitoring</a:t>
            </a:r>
          </a:p>
          <a:p>
            <a:pPr lvl="1" algn="just">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 Smart factory</a:t>
            </a:r>
          </a:p>
          <a:p>
            <a:pPr lvl="1" algn="just">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 Healthcare</a:t>
            </a:r>
          </a:p>
          <a:p>
            <a:pPr lvl="1" algn="just">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 Radiation checks, leakage detection</a:t>
            </a:r>
          </a:p>
          <a:p>
            <a:pPr lvl="1" algn="just">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 Process and control application.</a:t>
            </a:r>
          </a:p>
          <a:p>
            <a:pPr marL="571500" indent="-571500" algn="just">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Reliability of data transmission is the most important in designing a protocol of Industrial wireless sensor networks.</a:t>
            </a:r>
          </a:p>
          <a:p>
            <a:pPr marL="571500" indent="-571500" algn="just">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Many studies tried to improve the reliability of data transmission on wireless sensor networks by improving the physical layer [1], MAC protocol [2], and routing protocol [3-6].</a:t>
            </a:r>
          </a:p>
          <a:p>
            <a:pPr algn="just">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9" name="Footer Placeholder 11">
            <a:extLst>
              <a:ext uri="{FF2B5EF4-FFF2-40B4-BE49-F238E27FC236}">
                <a16:creationId xmlns:a16="http://schemas.microsoft.com/office/drawing/2014/main" id="{D7FBCCE8-0CB9-4892-BABD-2F45C1BAF67E}"/>
              </a:ext>
            </a:extLst>
          </p:cNvPr>
          <p:cNvSpPr>
            <a:spLocks noGrp="1"/>
          </p:cNvSpPr>
          <p:nvPr>
            <p:ph type="ftr" sz="quarter" idx="11"/>
          </p:nvPr>
        </p:nvSpPr>
        <p:spPr>
          <a:xfrm>
            <a:off x="9403882" y="6481449"/>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Tree>
    <p:extLst>
      <p:ext uri="{BB962C8B-B14F-4D97-AF65-F5344CB8AC3E}">
        <p14:creationId xmlns:p14="http://schemas.microsoft.com/office/powerpoint/2010/main" val="3775454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Introduction</a:t>
            </a:r>
          </a:p>
        </p:txBody>
      </p:sp>
      <p:sp>
        <p:nvSpPr>
          <p:cNvPr id="7" name="Slide Number Placeholder 6"/>
          <p:cNvSpPr>
            <a:spLocks noGrp="1"/>
          </p:cNvSpPr>
          <p:nvPr>
            <p:ph type="sldNum" sz="quarter" idx="12"/>
          </p:nvPr>
        </p:nvSpPr>
        <p:spPr>
          <a:xfrm>
            <a:off x="4724400" y="6470332"/>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5</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1052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56159" y="1510164"/>
            <a:ext cx="9323743" cy="49460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520700"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However, the previous study does not consider the effect of link quality, they assume that the link quality is always stable.</a:t>
            </a:r>
          </a:p>
          <a:p>
            <a:pPr marL="520700" indent="-520700" algn="just">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In the real application, the link quality is not very stable and it can be varying depending on the environment and time.</a:t>
            </a:r>
          </a:p>
          <a:p>
            <a:pPr marL="520700" indent="-520700" algn="just">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sym typeface="Wingdings" panose="05000000000000000000" pitchFamily="2" charset="2"/>
              </a:rPr>
              <a:t> I</a:t>
            </a:r>
            <a:r>
              <a:rPr lang="en-US" sz="2400">
                <a:latin typeface="Times New Roman" panose="02020603050405020304" pitchFamily="18" charset="0"/>
                <a:cs typeface="Times New Roman" panose="02020603050405020304" pitchFamily="18" charset="0"/>
              </a:rPr>
              <a:t>t is necessary to study a link quality measurement that is low complexity computational, low energy consumption but it can guarantee reliability for industrial wireless sensor networks.</a:t>
            </a: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9" name="Footer Placeholder 11">
            <a:extLst>
              <a:ext uri="{FF2B5EF4-FFF2-40B4-BE49-F238E27FC236}">
                <a16:creationId xmlns:a16="http://schemas.microsoft.com/office/drawing/2014/main" id="{1278800F-4823-404C-A618-E3D8F53860BD}"/>
              </a:ext>
            </a:extLst>
          </p:cNvPr>
          <p:cNvSpPr>
            <a:spLocks noGrp="1"/>
          </p:cNvSpPr>
          <p:nvPr>
            <p:ph type="ftr" sz="quarter" idx="11"/>
          </p:nvPr>
        </p:nvSpPr>
        <p:spPr>
          <a:xfrm>
            <a:off x="9403882" y="6481449"/>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Tree>
    <p:extLst>
      <p:ext uri="{BB962C8B-B14F-4D97-AF65-F5344CB8AC3E}">
        <p14:creationId xmlns:p14="http://schemas.microsoft.com/office/powerpoint/2010/main" val="3565226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Introduction</a:t>
            </a:r>
            <a:r>
              <a:rPr lang="en-US" b="1">
                <a:latin typeface="Times New Roman" panose="02020603050405020304" pitchFamily="18" charset="0"/>
                <a:cs typeface="Times New Roman" panose="02020603050405020304" pitchFamily="18" charset="0"/>
              </a:rPr>
              <a:t> </a:t>
            </a:r>
          </a:p>
        </p:txBody>
      </p:sp>
      <p:sp>
        <p:nvSpPr>
          <p:cNvPr id="12" name="Footer Placeholder 11"/>
          <p:cNvSpPr>
            <a:spLocks noGrp="1"/>
          </p:cNvSpPr>
          <p:nvPr>
            <p:ph type="ftr" sz="quarter" idx="11"/>
          </p:nvPr>
        </p:nvSpPr>
        <p:spPr>
          <a:xfrm>
            <a:off x="9403882" y="6507771"/>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8312"/>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6</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29629"/>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40064" y="1458131"/>
            <a:ext cx="9063818" cy="4154984"/>
          </a:xfrm>
          <a:prstGeom prst="rect">
            <a:avLst/>
          </a:prstGeom>
          <a:noFill/>
        </p:spPr>
        <p:txBody>
          <a:bodyPr wrap="square" rtlCol="0">
            <a:spAutoFit/>
          </a:bodyPr>
          <a:lstStyle/>
          <a:p>
            <a:pPr marL="520700" indent="-5207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In this study, we study and examine the effect of the link quality on designing a MAC protocol of wireless sensor networks.</a:t>
            </a:r>
          </a:p>
          <a:p>
            <a:pPr marL="520700" indent="-520700">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520700" indent="-5207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We propose a link quality estimation metric based on:</a:t>
            </a:r>
          </a:p>
          <a:p>
            <a:pPr marL="977900" lvl="1" indent="-5207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Counting the number of consecutive loss packet happenings in each link at the receiver node.</a:t>
            </a:r>
          </a:p>
          <a:p>
            <a:pPr marL="977900" lvl="1" indent="-5207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Makes the distribution of burstiness of each link.</a:t>
            </a:r>
          </a:p>
          <a:p>
            <a:pPr marL="977900" lvl="1" indent="-520700">
              <a:buFont typeface="Wingdings" panose="05000000000000000000" pitchFamily="2" charset="2"/>
              <a:buChar char="v"/>
            </a:pPr>
            <a:endParaRPr lang="en-US" sz="2400">
              <a:latin typeface="Times New Roman" panose="02020603050405020304" pitchFamily="18" charset="0"/>
              <a:cs typeface="Times New Roman" panose="02020603050405020304" pitchFamily="18" charset="0"/>
            </a:endParaRPr>
          </a:p>
          <a:p>
            <a:pPr marL="520700" indent="-5207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sym typeface="Wingdings" panose="05000000000000000000" pitchFamily="2" charset="2"/>
              </a:rPr>
              <a:t>From new link quality estimation  W</a:t>
            </a:r>
            <a:r>
              <a:rPr lang="en-US" sz="2400">
                <a:latin typeface="Times New Roman" panose="02020603050405020304" pitchFamily="18" charset="0"/>
                <a:cs typeface="Times New Roman" panose="02020603050405020304" pitchFamily="18" charset="0"/>
              </a:rPr>
              <a:t>e propose a metric called Burstiness Distribution Metric to estimate the number of transmission for archiving a target packet reception rate.</a:t>
            </a: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2179795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Presentation Outline</a:t>
            </a:r>
          </a:p>
        </p:txBody>
      </p:sp>
      <p:sp>
        <p:nvSpPr>
          <p:cNvPr id="12" name="Footer Placeholder 11"/>
          <p:cNvSpPr>
            <a:spLocks noGrp="1"/>
          </p:cNvSpPr>
          <p:nvPr>
            <p:ph type="ftr" sz="quarter" idx="11"/>
          </p:nvPr>
        </p:nvSpPr>
        <p:spPr>
          <a:xfrm>
            <a:off x="9403882" y="6492874"/>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7581"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7</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926" y="640749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utoShape 46"/>
          <p:cNvSpPr>
            <a:spLocks noChangeArrowheads="1"/>
          </p:cNvSpPr>
          <p:nvPr/>
        </p:nvSpPr>
        <p:spPr bwMode="ltGray">
          <a:xfrm rot="5400000">
            <a:off x="-2422526"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2"/>
                  <a:pt x="10800" y="322"/>
                </a:cubicBezTo>
                <a:cubicBezTo>
                  <a:pt x="16524" y="322"/>
                  <a:pt x="21189" y="4916"/>
                  <a:pt x="21276" y="10641"/>
                </a:cubicBezTo>
                <a:lnTo>
                  <a:pt x="21598" y="10636"/>
                </a:lnTo>
                <a:cubicBezTo>
                  <a:pt x="21509" y="4736"/>
                  <a:pt x="16700" y="0"/>
                  <a:pt x="10799" y="0"/>
                </a:cubicBezTo>
                <a:cubicBezTo>
                  <a:pt x="4899" y="0"/>
                  <a:pt x="90" y="4736"/>
                  <a:pt x="1" y="10636"/>
                </a:cubicBezTo>
                <a:close/>
              </a:path>
            </a:pathLst>
          </a:custGeom>
          <a:solidFill>
            <a:schemeClr val="accent1"/>
          </a:solidFill>
          <a:ln>
            <a:noFill/>
          </a:ln>
          <a:effectLst/>
        </p:spPr>
        <p:txBody>
          <a:bodyPr wrap="none" anchor="ctr"/>
          <a:lstStyle/>
          <a:p>
            <a:pPr eaLnBrk="1" hangingPunct="1">
              <a:defRPr/>
            </a:pPr>
            <a:endParaRPr lang="en-US"/>
          </a:p>
        </p:txBody>
      </p:sp>
      <p:sp>
        <p:nvSpPr>
          <p:cNvPr id="53" name="AutoShape 47"/>
          <p:cNvSpPr>
            <a:spLocks noChangeArrowheads="1"/>
          </p:cNvSpPr>
          <p:nvPr/>
        </p:nvSpPr>
        <p:spPr bwMode="ltGray">
          <a:xfrm rot="5400000" flipH="1">
            <a:off x="-2016918"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4"/>
                  <a:pt x="10856" y="10769"/>
                  <a:pt x="10856" y="10800"/>
                </a:cubicBezTo>
                <a:lnTo>
                  <a:pt x="21600" y="10800"/>
                </a:lnTo>
                <a:cubicBezTo>
                  <a:pt x="21600" y="4835"/>
                  <a:pt x="16764" y="0"/>
                  <a:pt x="10800" y="0"/>
                </a:cubicBezTo>
                <a:cubicBezTo>
                  <a:pt x="4835" y="0"/>
                  <a:pt x="0" y="4835"/>
                  <a:pt x="0" y="10799"/>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a:effectLst/>
        </p:spPr>
        <p:txBody>
          <a:bodyPr wrap="none" anchor="ctr"/>
          <a:lstStyle/>
          <a:p>
            <a:pPr eaLnBrk="1" hangingPunct="1">
              <a:defRPr/>
            </a:pPr>
            <a:endParaRPr lang="en-US"/>
          </a:p>
        </p:txBody>
      </p:sp>
      <p:sp>
        <p:nvSpPr>
          <p:cNvPr id="55" name="AutoShape 49"/>
          <p:cNvSpPr>
            <a:spLocks noChangeArrowheads="1"/>
          </p:cNvSpPr>
          <p:nvPr/>
        </p:nvSpPr>
        <p:spPr bwMode="gray">
          <a:xfrm>
            <a:off x="1959784" y="5587125"/>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5. Conclusion</a:t>
            </a:r>
          </a:p>
        </p:txBody>
      </p:sp>
      <p:sp>
        <p:nvSpPr>
          <p:cNvPr id="56" name="AutoShape 50"/>
          <p:cNvSpPr>
            <a:spLocks noChangeArrowheads="1"/>
          </p:cNvSpPr>
          <p:nvPr/>
        </p:nvSpPr>
        <p:spPr bwMode="gray">
          <a:xfrm>
            <a:off x="2528723" y="4710291"/>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None/>
            </a:pPr>
            <a:r>
              <a:rPr lang="en-US" sz="2400" b="1">
                <a:latin typeface="Times New Roman" panose="02020603050405020304" pitchFamily="18" charset="0"/>
                <a:cs typeface="Times New Roman" panose="02020603050405020304" pitchFamily="18" charset="0"/>
              </a:rPr>
              <a:t>4. Performance Evaluation</a:t>
            </a:r>
          </a:p>
        </p:txBody>
      </p:sp>
      <p:sp>
        <p:nvSpPr>
          <p:cNvPr id="58" name="AutoShape 52"/>
          <p:cNvSpPr>
            <a:spLocks noChangeArrowheads="1"/>
          </p:cNvSpPr>
          <p:nvPr/>
        </p:nvSpPr>
        <p:spPr bwMode="gray">
          <a:xfrm>
            <a:off x="2146304" y="1698610"/>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1. Introduction </a:t>
            </a:r>
          </a:p>
        </p:txBody>
      </p:sp>
      <p:grpSp>
        <p:nvGrpSpPr>
          <p:cNvPr id="59" name="Group 53"/>
          <p:cNvGrpSpPr>
            <a:grpSpLocks/>
          </p:cNvGrpSpPr>
          <p:nvPr/>
        </p:nvGrpSpPr>
        <p:grpSpPr bwMode="auto">
          <a:xfrm>
            <a:off x="1533069" y="1754176"/>
            <a:ext cx="640080" cy="640080"/>
            <a:chOff x="2078" y="1680"/>
            <a:chExt cx="1615" cy="1615"/>
          </a:xfrm>
        </p:grpSpPr>
        <p:sp>
          <p:nvSpPr>
            <p:cNvPr id="60" name="Oval 5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1" name="Oval 5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2" name="Oval 56"/>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63" name="Oval 57"/>
            <p:cNvSpPr>
              <a:spLocks noChangeArrowheads="1"/>
            </p:cNvSpPr>
            <p:nvPr/>
          </p:nvSpPr>
          <p:spPr bwMode="gray">
            <a:xfrm>
              <a:off x="2254" y="1856"/>
              <a:ext cx="1262" cy="1264"/>
            </a:xfrm>
            <a:prstGeom prst="ellipse">
              <a:avLst/>
            </a:prstGeom>
            <a:gradFill rotWithShape="1">
              <a:gsLst>
                <a:gs pos="0">
                  <a:srgbClr val="000000"/>
                </a:gs>
                <a:gs pos="100000">
                  <a:srgbClr val="FFCC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4" name="Oval 58"/>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65" name="Oval 59"/>
            <p:cNvSpPr>
              <a:spLocks noChangeArrowheads="1"/>
            </p:cNvSpPr>
            <p:nvPr/>
          </p:nvSpPr>
          <p:spPr bwMode="gray">
            <a:xfrm>
              <a:off x="2337" y="1939"/>
              <a:ext cx="1096" cy="1098"/>
            </a:xfrm>
            <a:prstGeom prst="ellipse">
              <a:avLst/>
            </a:prstGeom>
            <a:gradFill rotWithShape="1">
              <a:gsLst>
                <a:gs pos="0">
                  <a:srgbClr val="FFCC00"/>
                </a:gs>
                <a:gs pos="100000">
                  <a:srgbClr val="7C63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66" name="Group 60"/>
          <p:cNvGrpSpPr>
            <a:grpSpLocks/>
          </p:cNvGrpSpPr>
          <p:nvPr/>
        </p:nvGrpSpPr>
        <p:grpSpPr bwMode="auto">
          <a:xfrm>
            <a:off x="2203478" y="3711578"/>
            <a:ext cx="640080" cy="640080"/>
            <a:chOff x="2078" y="1680"/>
            <a:chExt cx="1615" cy="1615"/>
          </a:xfrm>
        </p:grpSpPr>
        <p:sp>
          <p:nvSpPr>
            <p:cNvPr id="67"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8"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9"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0"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1"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2" name="Oval 66"/>
            <p:cNvSpPr>
              <a:spLocks noChangeArrowheads="1"/>
            </p:cNvSpPr>
            <p:nvPr/>
          </p:nvSpPr>
          <p:spPr bwMode="gray">
            <a:xfrm>
              <a:off x="2337" y="1939"/>
              <a:ext cx="1096" cy="1098"/>
            </a:xfrm>
            <a:prstGeom prst="ellipse">
              <a:avLst/>
            </a:prstGeom>
            <a:gradFill rotWithShape="1">
              <a:gsLst>
                <a:gs pos="0">
                  <a:srgbClr val="48BE67"/>
                </a:gs>
                <a:gs pos="100000">
                  <a:srgbClr val="235C32"/>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73" name="Group 67"/>
          <p:cNvGrpSpPr>
            <a:grpSpLocks/>
          </p:cNvGrpSpPr>
          <p:nvPr/>
        </p:nvGrpSpPr>
        <p:grpSpPr bwMode="auto">
          <a:xfrm>
            <a:off x="1992482" y="4757061"/>
            <a:ext cx="640080" cy="640080"/>
            <a:chOff x="2078" y="1680"/>
            <a:chExt cx="1615" cy="1615"/>
          </a:xfrm>
        </p:grpSpPr>
        <p:sp>
          <p:nvSpPr>
            <p:cNvPr id="74" name="Oval 6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5" name="Oval 6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6" name="Oval 70"/>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7" name="Oval 71"/>
            <p:cNvSpPr>
              <a:spLocks noChangeArrowheads="1"/>
            </p:cNvSpPr>
            <p:nvPr/>
          </p:nvSpPr>
          <p:spPr bwMode="gray">
            <a:xfrm>
              <a:off x="2254" y="1856"/>
              <a:ext cx="1262" cy="1264"/>
            </a:xfrm>
            <a:prstGeom prst="ellipse">
              <a:avLst/>
            </a:prstGeom>
            <a:gradFill rotWithShape="1">
              <a:gsLst>
                <a:gs pos="0">
                  <a:srgbClr val="21B3E1"/>
                </a:gs>
                <a:gs pos="100000">
                  <a:srgbClr val="0F5368"/>
                </a:gs>
              </a:gsLst>
              <a:lin ang="54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8" name="Oval 72"/>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9" name="Oval 73"/>
            <p:cNvSpPr>
              <a:spLocks noChangeArrowheads="1"/>
            </p:cNvSpPr>
            <p:nvPr/>
          </p:nvSpPr>
          <p:spPr bwMode="gray">
            <a:xfrm>
              <a:off x="2337" y="1939"/>
              <a:ext cx="1096" cy="1098"/>
            </a:xfrm>
            <a:prstGeom prst="ellipse">
              <a:avLst/>
            </a:prstGeom>
            <a:gradFill rotWithShape="1">
              <a:gsLst>
                <a:gs pos="0">
                  <a:srgbClr val="21B3E1"/>
                </a:gs>
                <a:gs pos="100000">
                  <a:srgbClr val="1057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80" name="Group 74"/>
          <p:cNvGrpSpPr>
            <a:grpSpLocks/>
          </p:cNvGrpSpPr>
          <p:nvPr/>
        </p:nvGrpSpPr>
        <p:grpSpPr bwMode="auto">
          <a:xfrm>
            <a:off x="1358148" y="5586074"/>
            <a:ext cx="640080" cy="640080"/>
            <a:chOff x="2078" y="1680"/>
            <a:chExt cx="1615" cy="1615"/>
          </a:xfrm>
        </p:grpSpPr>
        <p:sp>
          <p:nvSpPr>
            <p:cNvPr id="81" name="Oval 7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2" name="Oval 7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3" name="Oval 77"/>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4" name="Oval 78"/>
            <p:cNvSpPr>
              <a:spLocks noChangeArrowheads="1"/>
            </p:cNvSpPr>
            <p:nvPr/>
          </p:nvSpPr>
          <p:spPr bwMode="gray">
            <a:xfrm>
              <a:off x="2254" y="1856"/>
              <a:ext cx="1262" cy="1264"/>
            </a:xfrm>
            <a:prstGeom prst="ellipse">
              <a:avLst/>
            </a:prstGeom>
            <a:gradFill rotWithShape="1">
              <a:gsLst>
                <a:gs pos="0">
                  <a:srgbClr val="000000"/>
                </a:gs>
                <a:gs pos="100000">
                  <a:srgbClr val="8D67E1"/>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5" name="Oval 79"/>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86" name="Oval 80"/>
            <p:cNvSpPr>
              <a:spLocks noChangeArrowheads="1"/>
            </p:cNvSpPr>
            <p:nvPr/>
          </p:nvSpPr>
          <p:spPr bwMode="gray">
            <a:xfrm>
              <a:off x="2337" y="1939"/>
              <a:ext cx="1096" cy="1098"/>
            </a:xfrm>
            <a:prstGeom prst="ellipse">
              <a:avLst/>
            </a:prstGeom>
            <a:gradFill rotWithShape="1">
              <a:gsLst>
                <a:gs pos="0">
                  <a:srgbClr val="8D67E1"/>
                </a:gs>
                <a:gs pos="100000">
                  <a:srgbClr val="4532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42" name="AutoShape 51"/>
          <p:cNvSpPr>
            <a:spLocks noChangeArrowheads="1"/>
          </p:cNvSpPr>
          <p:nvPr/>
        </p:nvSpPr>
        <p:spPr bwMode="gray">
          <a:xfrm>
            <a:off x="2756856" y="2705094"/>
            <a:ext cx="6400800" cy="685800"/>
          </a:xfrm>
          <a:prstGeom prst="roundRect">
            <a:avLst>
              <a:gd name="adj" fmla="val 50000"/>
            </a:avLst>
          </a:prstGeom>
          <a:solidFill>
            <a:schemeClr val="accent1"/>
          </a:solidFill>
          <a:ln w="28575" algn="ctr">
            <a:solidFill>
              <a:schemeClr val="accent2"/>
            </a:solidFill>
            <a:round/>
            <a:headEnd/>
            <a:tailE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solidFill>
                  <a:schemeClr val="bg1"/>
                </a:solidFill>
                <a:latin typeface="Times New Roman" panose="02020603050405020304" pitchFamily="18" charset="0"/>
                <a:cs typeface="Times New Roman" panose="02020603050405020304" pitchFamily="18" charset="0"/>
              </a:rPr>
              <a:t>2. Related Work </a:t>
            </a:r>
          </a:p>
        </p:txBody>
      </p:sp>
      <p:grpSp>
        <p:nvGrpSpPr>
          <p:cNvPr id="43" name="Group 60"/>
          <p:cNvGrpSpPr>
            <a:grpSpLocks/>
          </p:cNvGrpSpPr>
          <p:nvPr/>
        </p:nvGrpSpPr>
        <p:grpSpPr bwMode="auto">
          <a:xfrm>
            <a:off x="2155220" y="2689942"/>
            <a:ext cx="640080" cy="640080"/>
            <a:chOff x="2078" y="1680"/>
            <a:chExt cx="1615" cy="1615"/>
          </a:xfrm>
        </p:grpSpPr>
        <p:sp>
          <p:nvSpPr>
            <p:cNvPr id="44"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5"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6"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47"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48"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49" name="Oval 66"/>
            <p:cNvSpPr>
              <a:spLocks noChangeArrowheads="1"/>
            </p:cNvSpPr>
            <p:nvPr/>
          </p:nvSpPr>
          <p:spPr bwMode="gray">
            <a:xfrm>
              <a:off x="2337" y="1939"/>
              <a:ext cx="1096" cy="1098"/>
            </a:xfrm>
            <a:prstGeom prst="ellipse">
              <a:avLst/>
            </a:prstGeom>
            <a:solidFill>
              <a:schemeClr val="accent2"/>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50" name="AutoShape 50"/>
          <p:cNvSpPr>
            <a:spLocks noChangeArrowheads="1"/>
          </p:cNvSpPr>
          <p:nvPr/>
        </p:nvSpPr>
        <p:spPr bwMode="gray">
          <a:xfrm>
            <a:off x="2834640" y="3711578"/>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3. Our Proposal</a:t>
            </a:r>
          </a:p>
        </p:txBody>
      </p:sp>
      <p:pic>
        <p:nvPicPr>
          <p:cNvPr id="51"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3715919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Related work  </a:t>
            </a:r>
          </a:p>
        </p:txBody>
      </p:sp>
      <p:sp>
        <p:nvSpPr>
          <p:cNvPr id="12" name="Footer Placeholder 11"/>
          <p:cNvSpPr>
            <a:spLocks noGrp="1"/>
          </p:cNvSpPr>
          <p:nvPr>
            <p:ph type="ftr" sz="quarter" idx="11"/>
          </p:nvPr>
        </p:nvSpPr>
        <p:spPr>
          <a:xfrm>
            <a:off x="9403882" y="6473619"/>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511377"/>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8</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05499"/>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75477" y="1385722"/>
            <a:ext cx="9328406" cy="49596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11" name="TextBox 10">
            <a:extLst>
              <a:ext uri="{FF2B5EF4-FFF2-40B4-BE49-F238E27FC236}">
                <a16:creationId xmlns:a16="http://schemas.microsoft.com/office/drawing/2014/main" id="{4719B266-6AAB-40D2-976E-067F146F4A2D}"/>
              </a:ext>
            </a:extLst>
          </p:cNvPr>
          <p:cNvSpPr txBox="1"/>
          <p:nvPr/>
        </p:nvSpPr>
        <p:spPr>
          <a:xfrm>
            <a:off x="0" y="1404237"/>
            <a:ext cx="9403882" cy="4339650"/>
          </a:xfrm>
          <a:prstGeom prst="rect">
            <a:avLst/>
          </a:prstGeom>
          <a:noFill/>
        </p:spPr>
        <p:txBody>
          <a:bodyPr wrap="square" rtlCol="0">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Link quality estimators (LQE) can be divided into two groups: </a:t>
            </a:r>
          </a:p>
          <a:p>
            <a:pPr marL="800100" lvl="1"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Hardware-based estimators</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does not require the computation resources.</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directly obtained from the hardware.</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Ex: Link Quality Indicator (LQI), Received Signal Strength Indicator (RSSI), Signal-to-Noise Ratio (SNR), …</a:t>
            </a:r>
          </a:p>
          <a:p>
            <a:pPr marL="800100" lvl="1"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Software-based estimators</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based on the calculated information from the upper layer.</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count or estimate either the rate of reception or the average number of (re)transmissions of packets needed before their complete reception.</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Ex: Packet Reception Rate (PRR), Expected Transmission Count (ETX), Four-Bit (FB), …</a:t>
            </a:r>
          </a:p>
          <a:p>
            <a:pPr marL="1257300" lvl="2"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5828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476"/>
            <a:ext cx="12192000" cy="1325563"/>
          </a:xfrm>
        </p:spPr>
        <p:txBody>
          <a:bodyPr/>
          <a:lstStyle/>
          <a:p>
            <a:r>
              <a:rPr lang="en-US">
                <a:latin typeface="Times New Roman" panose="02020603050405020304" pitchFamily="18" charset="0"/>
                <a:cs typeface="Times New Roman" panose="02020603050405020304" pitchFamily="18" charset="0"/>
              </a:rPr>
              <a:t>Related work</a:t>
            </a:r>
          </a:p>
        </p:txBody>
      </p:sp>
      <p:sp>
        <p:nvSpPr>
          <p:cNvPr id="12" name="Footer Placeholder 11"/>
          <p:cNvSpPr>
            <a:spLocks noGrp="1"/>
          </p:cNvSpPr>
          <p:nvPr>
            <p:ph type="ftr" sz="quarter" idx="11"/>
          </p:nvPr>
        </p:nvSpPr>
        <p:spPr>
          <a:xfrm>
            <a:off x="9403882" y="6468175"/>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68176"/>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9</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06973"/>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1404237"/>
            <a:ext cx="9403882" cy="4524315"/>
          </a:xfrm>
          <a:prstGeom prst="rect">
            <a:avLst/>
          </a:prstGeom>
          <a:noFill/>
        </p:spPr>
        <p:txBody>
          <a:bodyPr wrap="square" rtlCol="0">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Some studies used </a:t>
            </a:r>
            <a:r>
              <a:rPr lang="en-US" sz="2400" dirty="0">
                <a:solidFill>
                  <a:srgbClr val="FF0000"/>
                </a:solidFill>
                <a:latin typeface="Times New Roman" panose="02020603050405020304" pitchFamily="18" charset="0"/>
                <a:cs typeface="Times New Roman" panose="02020603050405020304" pitchFamily="18" charset="0"/>
              </a:rPr>
              <a:t>hardware-based</a:t>
            </a:r>
            <a:r>
              <a:rPr lang="en-US" sz="2400" dirty="0">
                <a:latin typeface="Times New Roman" panose="02020603050405020304" pitchFamily="18" charset="0"/>
                <a:cs typeface="Times New Roman" panose="02020603050405020304" pitchFamily="18" charset="0"/>
              </a:rPr>
              <a:t> metrics to evaluate the link quality:</a:t>
            </a:r>
          </a:p>
          <a:p>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HJ </a:t>
            </a:r>
            <a:r>
              <a:rPr lang="en-US" sz="2000" dirty="0" err="1">
                <a:latin typeface="Times New Roman" panose="02020603050405020304" pitchFamily="18" charset="0"/>
                <a:cs typeface="Times New Roman" panose="02020603050405020304" pitchFamily="18" charset="0"/>
              </a:rPr>
              <a:t>Audéoud</a:t>
            </a:r>
            <a:r>
              <a:rPr lang="en-US" sz="2000" dirty="0">
                <a:latin typeface="Times New Roman" panose="02020603050405020304" pitchFamily="18" charset="0"/>
                <a:cs typeface="Times New Roman" panose="02020603050405020304" pitchFamily="18" charset="0"/>
              </a:rPr>
              <a:t> et al. [7] studied the correlation between the RSSI, LQI, </a:t>
            </a:r>
            <a:r>
              <a:rPr lang="en-US" sz="2000">
                <a:latin typeface="Times New Roman" panose="02020603050405020304" pitchFamily="18" charset="0"/>
                <a:cs typeface="Times New Roman" panose="02020603050405020304" pitchFamily="18" charset="0"/>
              </a:rPr>
              <a:t>and PRR.</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RSSI is a poor indication, loosely correlated with PRR.</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The LQI  can gives more information.</a:t>
            </a: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However, LQI may overestimate the channel quality in scenarios with impulsive noise, since the LQI does not account for the packet loss.</a:t>
            </a:r>
          </a:p>
          <a:p>
            <a:pPr marL="800100" lvl="1" indent="-342900">
              <a:buFont typeface="Wingdings" panose="05000000000000000000" pitchFamily="2" charset="2"/>
              <a:buChar char="v"/>
            </a:pPr>
            <a:endParaRPr lang="en-US" sz="200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Gomes et al. [8] proposed a new type of node, the LQE node to estimating the link quality in real-time.</a:t>
            </a:r>
          </a:p>
          <a:p>
            <a:pPr marL="1371600" lvl="2"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They use the RSSI and LQI values to infer the PRR of the given links.</a:t>
            </a:r>
          </a:p>
          <a:p>
            <a:pPr marL="1371600" lvl="2"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However, RSSI and PRR have been proved to be only loosely correlated in many situations.</a:t>
            </a:r>
          </a:p>
          <a:p>
            <a:pPr marL="800100" lvl="1"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599807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Related work</a:t>
            </a:r>
          </a:p>
        </p:txBody>
      </p:sp>
      <p:sp>
        <p:nvSpPr>
          <p:cNvPr id="12" name="Footer Placeholder 11"/>
          <p:cNvSpPr>
            <a:spLocks noGrp="1"/>
          </p:cNvSpPr>
          <p:nvPr>
            <p:ph type="ftr" sz="quarter" idx="11"/>
          </p:nvPr>
        </p:nvSpPr>
        <p:spPr>
          <a:xfrm>
            <a:off x="9403882" y="648628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10</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3793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1404237"/>
            <a:ext cx="9403882" cy="3908762"/>
          </a:xfrm>
          <a:prstGeom prst="rect">
            <a:avLst/>
          </a:prstGeom>
          <a:noFill/>
        </p:spPr>
        <p:txBody>
          <a:bodyPr wrap="square" rtlCol="0">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Some studies used </a:t>
            </a:r>
            <a:r>
              <a:rPr lang="en-US" sz="2400">
                <a:solidFill>
                  <a:srgbClr val="FF0000"/>
                </a:solidFill>
                <a:latin typeface="Times New Roman" panose="02020603050405020304" pitchFamily="18" charset="0"/>
                <a:cs typeface="Times New Roman" panose="02020603050405020304" pitchFamily="18" charset="0"/>
              </a:rPr>
              <a:t>software-based</a:t>
            </a:r>
            <a:r>
              <a:rPr lang="en-US" sz="2400">
                <a:latin typeface="Times New Roman" panose="02020603050405020304" pitchFamily="18" charset="0"/>
                <a:cs typeface="Times New Roman" panose="02020603050405020304" pitchFamily="18" charset="0"/>
              </a:rPr>
              <a:t> metrics to evaluate the link quality:</a:t>
            </a:r>
          </a:p>
          <a:p>
            <a:pPr marL="342900" indent="-342900">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The ETX [9] is a receiver-initiated estimator that uses active monitoring using PRR backward and PRR forward.</a:t>
            </a:r>
          </a:p>
          <a:p>
            <a:pPr marL="1371600" lvl="2"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However, ETX fails in congested networks since a large number of nodes are not able to compute the ETX because they do not receive packets.</a:t>
            </a:r>
          </a:p>
          <a:p>
            <a:pPr marL="914400" lvl="1" indent="-457200">
              <a:buFont typeface="Wingdings" panose="05000000000000000000" pitchFamily="2" charset="2"/>
              <a:buChar char="v"/>
            </a:pPr>
            <a:endParaRPr lang="en-US" sz="200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The Four-Bit (FB) [10] link estimation is designed with four bits of information.</a:t>
            </a:r>
          </a:p>
          <a:p>
            <a:pPr marL="1371600" lvl="2"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However, they are not considering the burstiness link during their measurements.</a:t>
            </a:r>
          </a:p>
          <a:p>
            <a:pPr marL="1371600" lvl="2" indent="-457200">
              <a:buFont typeface="Arial" panose="020B0604020202020204" pitchFamily="34" charset="0"/>
              <a:buChar char="•"/>
            </a:pPr>
            <a:endParaRPr lang="en-US" sz="2000">
              <a:latin typeface="Times New Roman" panose="02020603050405020304" pitchFamily="18" charset="0"/>
              <a:cs typeface="Times New Roman" panose="02020603050405020304" pitchFamily="18" charset="0"/>
            </a:endParaRPr>
          </a:p>
          <a:p>
            <a:pPr marL="1371600" lvl="2" indent="-457200">
              <a:buFont typeface="Arial" panose="020B0604020202020204" pitchFamily="34" charset="0"/>
              <a:buChar char="•"/>
            </a:pPr>
            <a:endParaRPr lang="en-US" sz="200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1626077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Link burstiness research overview</a:t>
            </a:r>
          </a:p>
        </p:txBody>
      </p:sp>
      <p:sp>
        <p:nvSpPr>
          <p:cNvPr id="12" name="Footer Placeholder 11"/>
          <p:cNvSpPr>
            <a:spLocks noGrp="1"/>
          </p:cNvSpPr>
          <p:nvPr>
            <p:ph type="ftr" sz="quarter" idx="11"/>
          </p:nvPr>
        </p:nvSpPr>
        <p:spPr>
          <a:xfrm>
            <a:off x="9403882" y="648628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11</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3793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1404237"/>
            <a:ext cx="9403882" cy="5509200"/>
          </a:xfrm>
          <a:prstGeom prst="rect">
            <a:avLst/>
          </a:prstGeom>
          <a:noFill/>
        </p:spPr>
        <p:txBody>
          <a:bodyPr wrap="square" rtlCol="0">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Link burstiness is a physical property which implies that transmissions on a wireless link do not have an independent probability of failure, they have consecutive message loss in a burst.</a:t>
            </a:r>
          </a:p>
          <a:p>
            <a:pPr marL="342900" indent="-342900">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Somes studies try to solve the burstiness link problem:</a:t>
            </a:r>
          </a:p>
          <a:p>
            <a:pPr marL="342900" indent="-342900">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Srinivasan et al. [11] presented a new metric called β to measure the link burstiness</a:t>
            </a:r>
          </a:p>
          <a:p>
            <a:pPr marL="800100" lvl="1" indent="-342900">
              <a:buFont typeface="Wingdings" panose="05000000000000000000" pitchFamily="2" charset="2"/>
              <a:buChar char="v"/>
            </a:pPr>
            <a:endParaRPr lang="en-US" sz="2000">
              <a:latin typeface="Times New Roman" panose="02020603050405020304" pitchFamily="18" charset="0"/>
              <a:cs typeface="Times New Roman" panose="02020603050405020304" pitchFamily="18" charset="0"/>
            </a:endParaRP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We can avoid link burstiness by having an inter-packet delay of 500 ms.</a:t>
            </a:r>
          </a:p>
          <a:p>
            <a:pPr marL="1257300" lvl="2" indent="-342900">
              <a:buFont typeface="Arial" panose="020B0604020202020204" pitchFamily="34" charset="0"/>
              <a:buChar char="•"/>
            </a:pPr>
            <a:endParaRPr lang="en-US" sz="2000">
              <a:latin typeface="Times New Roman" panose="02020603050405020304" pitchFamily="18" charset="0"/>
              <a:cs typeface="Times New Roman" panose="02020603050405020304" pitchFamily="18" charset="0"/>
            </a:endParaRPr>
          </a:p>
          <a:p>
            <a:pPr marL="1257300" lvl="2"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However, 500ms of delay is a disadvantage for the network performance.</a:t>
            </a:r>
          </a:p>
          <a:p>
            <a:pPr marL="800100" lvl="1" indent="-342900">
              <a:buFont typeface="Wingdings" panose="05000000000000000000" pitchFamily="2" charset="2"/>
              <a:buChar char="v"/>
            </a:pPr>
            <a:endParaRPr lang="en-US" sz="200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endParaRPr lang="en-US" sz="200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endParaRPr lang="en-US" sz="240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endParaRPr lang="en-US" sz="240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328357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Link burstiness research overview</a:t>
            </a:r>
          </a:p>
        </p:txBody>
      </p:sp>
      <p:sp>
        <p:nvSpPr>
          <p:cNvPr id="12" name="Footer Placeholder 11"/>
          <p:cNvSpPr>
            <a:spLocks noGrp="1"/>
          </p:cNvSpPr>
          <p:nvPr>
            <p:ph type="ftr" sz="quarter" idx="11"/>
          </p:nvPr>
        </p:nvSpPr>
        <p:spPr>
          <a:xfrm>
            <a:off x="9403882" y="648628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12</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3793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1404237"/>
            <a:ext cx="9403882" cy="4524315"/>
          </a:xfrm>
          <a:prstGeom prst="rect">
            <a:avLst/>
          </a:prstGeom>
          <a:noFill/>
        </p:spPr>
        <p:txBody>
          <a:bodyPr wrap="square" rtlCol="0">
            <a:spAutoFit/>
          </a:bodyPr>
          <a:lstStyle/>
          <a:p>
            <a:pPr marL="800100" lvl="1" indent="-342900">
              <a:buFont typeface="Wingdings" panose="05000000000000000000" pitchFamily="2" charset="2"/>
              <a:buChar char="v"/>
            </a:pPr>
            <a:r>
              <a:rPr lang="en-US" sz="2000">
                <a:latin typeface="Times New Roman" panose="02020603050405020304" pitchFamily="18" charset="0"/>
                <a:cs typeface="Times New Roman" panose="02020603050405020304" pitchFamily="18" charset="0"/>
              </a:rPr>
              <a:t>Munir et al. [12] propose a new metric called maximum burst length (Bmax) as the maximum length of error burst.</a:t>
            </a:r>
          </a:p>
          <a:p>
            <a:pPr marL="1257300" lvl="2" indent="-342900">
              <a:buFont typeface="Arial" panose="020B0604020202020204" pitchFamily="34" charset="0"/>
              <a:buChar char="•"/>
            </a:pPr>
            <a:endParaRPr lang="en-US" sz="2000">
              <a:latin typeface="Times New Roman" panose="02020603050405020304" pitchFamily="18" charset="0"/>
              <a:cs typeface="Times New Roman" panose="02020603050405020304" pitchFamily="18" charset="0"/>
            </a:endParaRPr>
          </a:p>
          <a:p>
            <a:pPr marL="1371600" lvl="2"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Bmax estimated by using empirical data for a long experiment.</a:t>
            </a:r>
          </a:p>
          <a:p>
            <a:pPr marL="1371600" lvl="2" indent="-457200">
              <a:buFont typeface="Arial" panose="020B0604020202020204" pitchFamily="34" charset="0"/>
              <a:buChar char="•"/>
            </a:pPr>
            <a:endParaRPr lang="en-US" sz="2000">
              <a:latin typeface="Times New Roman" panose="02020603050405020304" pitchFamily="18" charset="0"/>
              <a:cs typeface="Times New Roman" panose="02020603050405020304" pitchFamily="18" charset="0"/>
            </a:endParaRPr>
          </a:p>
          <a:p>
            <a:pPr marL="1371600" lvl="2"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However, the algorithm to calculate Bmax value based on long experiment data-trace before constructing their network. </a:t>
            </a:r>
            <a:r>
              <a:rPr lang="en-US" sz="2000">
                <a:latin typeface="Times New Roman" panose="02020603050405020304" pitchFamily="18" charset="0"/>
                <a:cs typeface="Times New Roman" panose="02020603050405020304" pitchFamily="18" charset="0"/>
                <a:sym typeface="Wingdings" panose="05000000000000000000" pitchFamily="2" charset="2"/>
              </a:rPr>
              <a:t> </a:t>
            </a:r>
            <a:r>
              <a:rPr lang="en-US" sz="2000">
                <a:latin typeface="Times New Roman" panose="02020603050405020304" pitchFamily="18" charset="0"/>
                <a:cs typeface="Times New Roman" panose="02020603050405020304" pitchFamily="18" charset="0"/>
              </a:rPr>
              <a:t>It makes this algorithm hard to apply to the ad-hoc network.</a:t>
            </a:r>
          </a:p>
          <a:p>
            <a:pPr marL="1371600" lvl="2" indent="-457200">
              <a:buFont typeface="Arial" panose="020B0604020202020204" pitchFamily="34" charset="0"/>
              <a:buChar char="•"/>
            </a:pPr>
            <a:endParaRPr lang="en-US" sz="2000">
              <a:latin typeface="Times New Roman" panose="02020603050405020304" pitchFamily="18" charset="0"/>
              <a:cs typeface="Times New Roman" panose="02020603050405020304" pitchFamily="18" charset="0"/>
            </a:endParaRPr>
          </a:p>
          <a:p>
            <a:pPr marL="1371600" lvl="2"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This algorithm uses the number of retransmissions for a packet is larger, so it increases end-to-end delay.</a:t>
            </a:r>
          </a:p>
          <a:p>
            <a:pPr marL="800100" lvl="1" indent="-342900">
              <a:buFont typeface="Wingdings" panose="05000000000000000000" pitchFamily="2" charset="2"/>
              <a:buChar char="v"/>
            </a:pPr>
            <a:endParaRPr lang="en-US" sz="200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endParaRPr lang="en-US" sz="240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endParaRPr lang="en-US" sz="240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3218275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Presentation Outline</a:t>
            </a:r>
          </a:p>
        </p:txBody>
      </p:sp>
      <p:sp>
        <p:nvSpPr>
          <p:cNvPr id="12" name="Footer Placeholder 11"/>
          <p:cNvSpPr>
            <a:spLocks noGrp="1"/>
          </p:cNvSpPr>
          <p:nvPr>
            <p:ph type="ftr" sz="quarter" idx="11"/>
          </p:nvPr>
        </p:nvSpPr>
        <p:spPr>
          <a:xfrm>
            <a:off x="9403882" y="6492634"/>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13</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926" y="6446915"/>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utoShape 46"/>
          <p:cNvSpPr>
            <a:spLocks noChangeArrowheads="1"/>
          </p:cNvSpPr>
          <p:nvPr/>
        </p:nvSpPr>
        <p:spPr bwMode="ltGray">
          <a:xfrm rot="5400000">
            <a:off x="-2422526"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2"/>
                  <a:pt x="10800" y="322"/>
                </a:cubicBezTo>
                <a:cubicBezTo>
                  <a:pt x="16524" y="322"/>
                  <a:pt x="21189" y="4916"/>
                  <a:pt x="21276" y="10641"/>
                </a:cubicBezTo>
                <a:lnTo>
                  <a:pt x="21598" y="10636"/>
                </a:lnTo>
                <a:cubicBezTo>
                  <a:pt x="21509" y="4736"/>
                  <a:pt x="16700" y="0"/>
                  <a:pt x="10799" y="0"/>
                </a:cubicBezTo>
                <a:cubicBezTo>
                  <a:pt x="4899" y="0"/>
                  <a:pt x="90" y="4736"/>
                  <a:pt x="1" y="10636"/>
                </a:cubicBezTo>
                <a:close/>
              </a:path>
            </a:pathLst>
          </a:custGeom>
          <a:solidFill>
            <a:schemeClr val="accent1"/>
          </a:solidFill>
          <a:ln>
            <a:noFill/>
          </a:ln>
          <a:effectLst/>
        </p:spPr>
        <p:txBody>
          <a:bodyPr wrap="none" anchor="ctr"/>
          <a:lstStyle/>
          <a:p>
            <a:pPr eaLnBrk="1" hangingPunct="1">
              <a:defRPr/>
            </a:pPr>
            <a:endParaRPr lang="en-US"/>
          </a:p>
        </p:txBody>
      </p:sp>
      <p:sp>
        <p:nvSpPr>
          <p:cNvPr id="53" name="AutoShape 47"/>
          <p:cNvSpPr>
            <a:spLocks noChangeArrowheads="1"/>
          </p:cNvSpPr>
          <p:nvPr/>
        </p:nvSpPr>
        <p:spPr bwMode="ltGray">
          <a:xfrm rot="5400000" flipH="1">
            <a:off x="-2016918"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4"/>
                  <a:pt x="10856" y="10769"/>
                  <a:pt x="10856" y="10800"/>
                </a:cubicBezTo>
                <a:lnTo>
                  <a:pt x="21600" y="10800"/>
                </a:lnTo>
                <a:cubicBezTo>
                  <a:pt x="21600" y="4835"/>
                  <a:pt x="16764" y="0"/>
                  <a:pt x="10800" y="0"/>
                </a:cubicBezTo>
                <a:cubicBezTo>
                  <a:pt x="4835" y="0"/>
                  <a:pt x="0" y="4835"/>
                  <a:pt x="0" y="10799"/>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a:effectLst/>
        </p:spPr>
        <p:txBody>
          <a:bodyPr wrap="none" anchor="ctr"/>
          <a:lstStyle/>
          <a:p>
            <a:pPr eaLnBrk="1" hangingPunct="1">
              <a:defRPr/>
            </a:pPr>
            <a:endParaRPr lang="en-US"/>
          </a:p>
        </p:txBody>
      </p:sp>
      <p:sp>
        <p:nvSpPr>
          <p:cNvPr id="55" name="AutoShape 49"/>
          <p:cNvSpPr>
            <a:spLocks noChangeArrowheads="1"/>
          </p:cNvSpPr>
          <p:nvPr/>
        </p:nvSpPr>
        <p:spPr bwMode="gray">
          <a:xfrm>
            <a:off x="1894389" y="5632374"/>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5. Conclusion</a:t>
            </a:r>
          </a:p>
        </p:txBody>
      </p:sp>
      <p:sp>
        <p:nvSpPr>
          <p:cNvPr id="56" name="AutoShape 50"/>
          <p:cNvSpPr>
            <a:spLocks noChangeArrowheads="1"/>
          </p:cNvSpPr>
          <p:nvPr/>
        </p:nvSpPr>
        <p:spPr bwMode="gray">
          <a:xfrm>
            <a:off x="2528723" y="4710291"/>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None/>
            </a:pPr>
            <a:r>
              <a:rPr lang="en-US" sz="2400" b="1">
                <a:latin typeface="Times New Roman" panose="02020603050405020304" pitchFamily="18" charset="0"/>
                <a:cs typeface="Times New Roman" panose="02020603050405020304" pitchFamily="18" charset="0"/>
              </a:rPr>
              <a:t>4. Performance Evaluation</a:t>
            </a:r>
          </a:p>
        </p:txBody>
      </p:sp>
      <p:sp>
        <p:nvSpPr>
          <p:cNvPr id="58" name="AutoShape 52"/>
          <p:cNvSpPr>
            <a:spLocks noChangeArrowheads="1"/>
          </p:cNvSpPr>
          <p:nvPr/>
        </p:nvSpPr>
        <p:spPr bwMode="gray">
          <a:xfrm>
            <a:off x="2093944" y="1689364"/>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1. Introduction</a:t>
            </a:r>
          </a:p>
        </p:txBody>
      </p:sp>
      <p:grpSp>
        <p:nvGrpSpPr>
          <p:cNvPr id="59" name="Group 53"/>
          <p:cNvGrpSpPr>
            <a:grpSpLocks/>
          </p:cNvGrpSpPr>
          <p:nvPr/>
        </p:nvGrpSpPr>
        <p:grpSpPr bwMode="auto">
          <a:xfrm>
            <a:off x="1533069" y="1754176"/>
            <a:ext cx="640080" cy="640080"/>
            <a:chOff x="2078" y="1680"/>
            <a:chExt cx="1615" cy="1615"/>
          </a:xfrm>
        </p:grpSpPr>
        <p:sp>
          <p:nvSpPr>
            <p:cNvPr id="60" name="Oval 5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1" name="Oval 5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2" name="Oval 56"/>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63" name="Oval 57"/>
            <p:cNvSpPr>
              <a:spLocks noChangeArrowheads="1"/>
            </p:cNvSpPr>
            <p:nvPr/>
          </p:nvSpPr>
          <p:spPr bwMode="gray">
            <a:xfrm>
              <a:off x="2254" y="1856"/>
              <a:ext cx="1262" cy="1264"/>
            </a:xfrm>
            <a:prstGeom prst="ellipse">
              <a:avLst/>
            </a:prstGeom>
            <a:gradFill rotWithShape="1">
              <a:gsLst>
                <a:gs pos="0">
                  <a:srgbClr val="000000"/>
                </a:gs>
                <a:gs pos="100000">
                  <a:srgbClr val="FFCC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4" name="Oval 58"/>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65" name="Oval 59"/>
            <p:cNvSpPr>
              <a:spLocks noChangeArrowheads="1"/>
            </p:cNvSpPr>
            <p:nvPr/>
          </p:nvSpPr>
          <p:spPr bwMode="gray">
            <a:xfrm>
              <a:off x="2337" y="1939"/>
              <a:ext cx="1096" cy="1098"/>
            </a:xfrm>
            <a:prstGeom prst="ellipse">
              <a:avLst/>
            </a:prstGeom>
            <a:gradFill rotWithShape="1">
              <a:gsLst>
                <a:gs pos="0">
                  <a:srgbClr val="FFCC00"/>
                </a:gs>
                <a:gs pos="100000">
                  <a:srgbClr val="7C63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73" name="Group 67"/>
          <p:cNvGrpSpPr>
            <a:grpSpLocks/>
          </p:cNvGrpSpPr>
          <p:nvPr/>
        </p:nvGrpSpPr>
        <p:grpSpPr bwMode="auto">
          <a:xfrm>
            <a:off x="1992482" y="4757061"/>
            <a:ext cx="640080" cy="640080"/>
            <a:chOff x="2078" y="1680"/>
            <a:chExt cx="1615" cy="1615"/>
          </a:xfrm>
        </p:grpSpPr>
        <p:sp>
          <p:nvSpPr>
            <p:cNvPr id="74" name="Oval 6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5" name="Oval 6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6" name="Oval 70"/>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7" name="Oval 71"/>
            <p:cNvSpPr>
              <a:spLocks noChangeArrowheads="1"/>
            </p:cNvSpPr>
            <p:nvPr/>
          </p:nvSpPr>
          <p:spPr bwMode="gray">
            <a:xfrm>
              <a:off x="2254" y="1856"/>
              <a:ext cx="1262" cy="1264"/>
            </a:xfrm>
            <a:prstGeom prst="ellipse">
              <a:avLst/>
            </a:prstGeom>
            <a:gradFill rotWithShape="1">
              <a:gsLst>
                <a:gs pos="0">
                  <a:srgbClr val="21B3E1"/>
                </a:gs>
                <a:gs pos="100000">
                  <a:srgbClr val="0F5368"/>
                </a:gs>
              </a:gsLst>
              <a:lin ang="54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8" name="Oval 72"/>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9" name="Oval 73"/>
            <p:cNvSpPr>
              <a:spLocks noChangeArrowheads="1"/>
            </p:cNvSpPr>
            <p:nvPr/>
          </p:nvSpPr>
          <p:spPr bwMode="gray">
            <a:xfrm>
              <a:off x="2337" y="1939"/>
              <a:ext cx="1096" cy="1098"/>
            </a:xfrm>
            <a:prstGeom prst="ellipse">
              <a:avLst/>
            </a:prstGeom>
            <a:gradFill rotWithShape="1">
              <a:gsLst>
                <a:gs pos="0">
                  <a:srgbClr val="21B3E1"/>
                </a:gs>
                <a:gs pos="100000">
                  <a:srgbClr val="1057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80" name="Group 74"/>
          <p:cNvGrpSpPr>
            <a:grpSpLocks/>
          </p:cNvGrpSpPr>
          <p:nvPr/>
        </p:nvGrpSpPr>
        <p:grpSpPr bwMode="auto">
          <a:xfrm>
            <a:off x="1358148" y="5586074"/>
            <a:ext cx="640080" cy="640080"/>
            <a:chOff x="2078" y="1680"/>
            <a:chExt cx="1615" cy="1615"/>
          </a:xfrm>
        </p:grpSpPr>
        <p:sp>
          <p:nvSpPr>
            <p:cNvPr id="81" name="Oval 7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2" name="Oval 7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3" name="Oval 77"/>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4" name="Oval 78"/>
            <p:cNvSpPr>
              <a:spLocks noChangeArrowheads="1"/>
            </p:cNvSpPr>
            <p:nvPr/>
          </p:nvSpPr>
          <p:spPr bwMode="gray">
            <a:xfrm>
              <a:off x="2254" y="1856"/>
              <a:ext cx="1262" cy="1264"/>
            </a:xfrm>
            <a:prstGeom prst="ellipse">
              <a:avLst/>
            </a:prstGeom>
            <a:gradFill rotWithShape="1">
              <a:gsLst>
                <a:gs pos="0">
                  <a:srgbClr val="000000"/>
                </a:gs>
                <a:gs pos="100000">
                  <a:srgbClr val="8D67E1"/>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5" name="Oval 79"/>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86" name="Oval 80"/>
            <p:cNvSpPr>
              <a:spLocks noChangeArrowheads="1"/>
            </p:cNvSpPr>
            <p:nvPr/>
          </p:nvSpPr>
          <p:spPr bwMode="gray">
            <a:xfrm>
              <a:off x="2337" y="1939"/>
              <a:ext cx="1096" cy="1098"/>
            </a:xfrm>
            <a:prstGeom prst="ellipse">
              <a:avLst/>
            </a:prstGeom>
            <a:gradFill rotWithShape="1">
              <a:gsLst>
                <a:gs pos="0">
                  <a:srgbClr val="8D67E1"/>
                </a:gs>
                <a:gs pos="100000">
                  <a:srgbClr val="4532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42" name="AutoShape 51"/>
          <p:cNvSpPr>
            <a:spLocks noChangeArrowheads="1"/>
          </p:cNvSpPr>
          <p:nvPr/>
        </p:nvSpPr>
        <p:spPr bwMode="gray">
          <a:xfrm>
            <a:off x="2771426" y="3663330"/>
            <a:ext cx="6400800" cy="685800"/>
          </a:xfrm>
          <a:prstGeom prst="roundRect">
            <a:avLst>
              <a:gd name="adj" fmla="val 50000"/>
            </a:avLst>
          </a:prstGeom>
          <a:solidFill>
            <a:schemeClr val="accent1"/>
          </a:solidFill>
          <a:ln w="28575" algn="ctr">
            <a:solidFill>
              <a:schemeClr val="accent2"/>
            </a:solidFill>
            <a:round/>
            <a:headEnd/>
            <a:tailE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solidFill>
                  <a:schemeClr val="bg1"/>
                </a:solidFill>
                <a:latin typeface="Times New Roman" panose="02020603050405020304" pitchFamily="18" charset="0"/>
                <a:cs typeface="Times New Roman" panose="02020603050405020304" pitchFamily="18" charset="0"/>
              </a:rPr>
              <a:t>3. Our Proposal</a:t>
            </a:r>
          </a:p>
        </p:txBody>
      </p:sp>
      <p:sp>
        <p:nvSpPr>
          <p:cNvPr id="50" name="AutoShape 50"/>
          <p:cNvSpPr>
            <a:spLocks noChangeArrowheads="1"/>
          </p:cNvSpPr>
          <p:nvPr/>
        </p:nvSpPr>
        <p:spPr bwMode="gray">
          <a:xfrm>
            <a:off x="2669914" y="2660940"/>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2. Related Work </a:t>
            </a:r>
          </a:p>
        </p:txBody>
      </p:sp>
      <p:grpSp>
        <p:nvGrpSpPr>
          <p:cNvPr id="51" name="Group 60"/>
          <p:cNvGrpSpPr>
            <a:grpSpLocks/>
          </p:cNvGrpSpPr>
          <p:nvPr/>
        </p:nvGrpSpPr>
        <p:grpSpPr bwMode="auto">
          <a:xfrm>
            <a:off x="2203478" y="3711578"/>
            <a:ext cx="640080" cy="640080"/>
            <a:chOff x="2078" y="1680"/>
            <a:chExt cx="1615" cy="1615"/>
          </a:xfrm>
        </p:grpSpPr>
        <p:sp>
          <p:nvSpPr>
            <p:cNvPr id="54"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57"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7"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8"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9"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90" name="Oval 66"/>
            <p:cNvSpPr>
              <a:spLocks noChangeArrowheads="1"/>
            </p:cNvSpPr>
            <p:nvPr/>
          </p:nvSpPr>
          <p:spPr bwMode="gray">
            <a:xfrm>
              <a:off x="2337" y="1939"/>
              <a:ext cx="1096" cy="1098"/>
            </a:xfrm>
            <a:prstGeom prst="ellipse">
              <a:avLst/>
            </a:prstGeom>
            <a:gradFill rotWithShape="1">
              <a:gsLst>
                <a:gs pos="0">
                  <a:srgbClr val="48BE67"/>
                </a:gs>
                <a:gs pos="100000">
                  <a:srgbClr val="235C32"/>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98" name="Group 60"/>
          <p:cNvGrpSpPr>
            <a:grpSpLocks/>
          </p:cNvGrpSpPr>
          <p:nvPr/>
        </p:nvGrpSpPr>
        <p:grpSpPr bwMode="auto">
          <a:xfrm>
            <a:off x="2155220" y="2689942"/>
            <a:ext cx="640080" cy="640080"/>
            <a:chOff x="2078" y="1680"/>
            <a:chExt cx="1615" cy="1615"/>
          </a:xfrm>
        </p:grpSpPr>
        <p:sp>
          <p:nvSpPr>
            <p:cNvPr id="99"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0"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1"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102"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w="38100" algn="ctr">
              <a:solidFill>
                <a:schemeClr val="bg1"/>
              </a:solidFill>
              <a:round/>
              <a:headEnd/>
              <a:tailEnd/>
            </a:ln>
            <a:effectLst/>
            <a:extLs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3"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104" name="Oval 66"/>
            <p:cNvSpPr>
              <a:spLocks noChangeArrowheads="1"/>
            </p:cNvSpPr>
            <p:nvPr/>
          </p:nvSpPr>
          <p:spPr bwMode="gray">
            <a:xfrm>
              <a:off x="2337" y="1939"/>
              <a:ext cx="1096" cy="1098"/>
            </a:xfrm>
            <a:prstGeom prst="ellipse">
              <a:avLst/>
            </a:prstGeom>
            <a:solidFill>
              <a:schemeClr val="accent2"/>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pic>
        <p:nvPicPr>
          <p:cNvPr id="49"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1113270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Measure Link Quality Principles</a:t>
            </a:r>
            <a:endParaRPr lang="en-US" b="1">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92875"/>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14</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62463"/>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18059" y="1469754"/>
            <a:ext cx="7911561" cy="4882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a:endParaRPr lang="en-US" sz="2400">
              <a:latin typeface="Times New Roman" panose="02020603050405020304" pitchFamily="18" charset="0"/>
              <a:cs typeface="Times New Roman" panose="02020603050405020304" pitchFamily="18" charset="0"/>
            </a:endParaRPr>
          </a:p>
        </p:txBody>
      </p:sp>
      <p:pic>
        <p:nvPicPr>
          <p:cNvPr id="8"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grpSp>
        <p:nvGrpSpPr>
          <p:cNvPr id="76" name="Group 75"/>
          <p:cNvGrpSpPr/>
          <p:nvPr/>
        </p:nvGrpSpPr>
        <p:grpSpPr>
          <a:xfrm>
            <a:off x="6029036" y="1821563"/>
            <a:ext cx="458846" cy="448346"/>
            <a:chOff x="5091953" y="1362635"/>
            <a:chExt cx="573556" cy="560433"/>
          </a:xfrm>
        </p:grpSpPr>
        <p:sp>
          <p:nvSpPr>
            <p:cNvPr id="77" name="Oval 76"/>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5225659" y="1389473"/>
              <a:ext cx="329938" cy="500138"/>
            </a:xfrm>
            <a:prstGeom prst="rect">
              <a:avLst/>
            </a:prstGeom>
            <a:noFill/>
          </p:spPr>
          <p:txBody>
            <a:bodyPr wrap="square" rtlCol="0">
              <a:spAutoFit/>
            </a:bodyPr>
            <a:lstStyle/>
            <a:p>
              <a:pPr algn="ctr"/>
              <a:r>
                <a:rPr lang="en-US" sz="2000"/>
                <a:t>y</a:t>
              </a:r>
            </a:p>
          </p:txBody>
        </p:sp>
      </p:grpSp>
      <p:grpSp>
        <p:nvGrpSpPr>
          <p:cNvPr id="79" name="Group 78"/>
          <p:cNvGrpSpPr/>
          <p:nvPr/>
        </p:nvGrpSpPr>
        <p:grpSpPr>
          <a:xfrm>
            <a:off x="3744682" y="1799761"/>
            <a:ext cx="458846" cy="448345"/>
            <a:chOff x="5091953" y="1362635"/>
            <a:chExt cx="573556" cy="560433"/>
          </a:xfrm>
        </p:grpSpPr>
        <p:sp>
          <p:nvSpPr>
            <p:cNvPr id="80" name="Oval 79"/>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a:off x="5213234" y="1389888"/>
              <a:ext cx="329938" cy="500139"/>
            </a:xfrm>
            <a:prstGeom prst="rect">
              <a:avLst/>
            </a:prstGeom>
            <a:noFill/>
          </p:spPr>
          <p:txBody>
            <a:bodyPr wrap="square" rtlCol="0">
              <a:spAutoFit/>
            </a:bodyPr>
            <a:lstStyle/>
            <a:p>
              <a:pPr algn="ctr"/>
              <a:r>
                <a:rPr lang="en-US" sz="2000"/>
                <a:t>x</a:t>
              </a:r>
            </a:p>
          </p:txBody>
        </p:sp>
      </p:grpSp>
      <p:cxnSp>
        <p:nvCxnSpPr>
          <p:cNvPr id="18" name="Straight Arrow Connector 17">
            <a:extLst>
              <a:ext uri="{FF2B5EF4-FFF2-40B4-BE49-F238E27FC236}">
                <a16:creationId xmlns:a16="http://schemas.microsoft.com/office/drawing/2014/main" id="{BE1C492D-8BFA-43F3-8B61-2FCCD8C470BE}"/>
              </a:ext>
            </a:extLst>
          </p:cNvPr>
          <p:cNvCxnSpPr>
            <a:cxnSpLocks/>
          </p:cNvCxnSpPr>
          <p:nvPr/>
        </p:nvCxnSpPr>
        <p:spPr>
          <a:xfrm>
            <a:off x="4335620" y="1892518"/>
            <a:ext cx="159864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9AE836C-D530-462D-B381-4DF0B9D2117C}"/>
              </a:ext>
            </a:extLst>
          </p:cNvPr>
          <p:cNvCxnSpPr>
            <a:cxnSpLocks/>
          </p:cNvCxnSpPr>
          <p:nvPr/>
        </p:nvCxnSpPr>
        <p:spPr>
          <a:xfrm flipH="1">
            <a:off x="4300554" y="2082951"/>
            <a:ext cx="161505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Content Placeholder 5">
            <a:extLst>
              <a:ext uri="{FF2B5EF4-FFF2-40B4-BE49-F238E27FC236}">
                <a16:creationId xmlns:a16="http://schemas.microsoft.com/office/drawing/2014/main" id="{36670552-ED82-4495-8DBD-A68B46169722}"/>
              </a:ext>
            </a:extLst>
          </p:cNvPr>
          <p:cNvSpPr txBox="1">
            <a:spLocks/>
          </p:cNvSpPr>
          <p:nvPr/>
        </p:nvSpPr>
        <p:spPr>
          <a:xfrm>
            <a:off x="181558" y="2589924"/>
            <a:ext cx="9222324" cy="331164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just">
              <a:buFont typeface="Wingdings" panose="05000000000000000000" pitchFamily="2" charset="2"/>
              <a:buChar char="q"/>
            </a:pPr>
            <a:r>
              <a:rPr lang="en-US" sz="2200">
                <a:latin typeface="Times New Roman" panose="02020603050405020304" pitchFamily="18" charset="0"/>
                <a:ea typeface="Calibri" panose="020F0502020204030204" pitchFamily="34" charset="0"/>
              </a:rPr>
              <a:t>To measure link between 2 nodes x, y:</a:t>
            </a:r>
          </a:p>
          <a:p>
            <a:pPr lvl="1" algn="just">
              <a:buFont typeface="Wingdings" panose="05000000000000000000" pitchFamily="2" charset="2"/>
              <a:buChar char="v"/>
            </a:pPr>
            <a:r>
              <a:rPr lang="en-US" sz="2000">
                <a:latin typeface="Times New Roman" panose="02020603050405020304" pitchFamily="18" charset="0"/>
                <a:ea typeface="Calibri" panose="020F0502020204030204" pitchFamily="34" charset="0"/>
              </a:rPr>
              <a:t>Each node generate probe packet P(node id, seqno)</a:t>
            </a:r>
          </a:p>
          <a:p>
            <a:pPr lvl="1" algn="just">
              <a:buFont typeface="Wingdings" panose="05000000000000000000" pitchFamily="2" charset="2"/>
              <a:buChar char="v"/>
            </a:pPr>
            <a:r>
              <a:rPr lang="en-US" sz="2000">
                <a:latin typeface="Times New Roman" panose="02020603050405020304" pitchFamily="18" charset="0"/>
                <a:ea typeface="Calibri" panose="020F0502020204030204" pitchFamily="34" charset="0"/>
              </a:rPr>
              <a:t>seqno: increase from 1 to predefined Number of Probes</a:t>
            </a:r>
          </a:p>
          <a:p>
            <a:pPr lvl="1" algn="just">
              <a:buFont typeface="Wingdings" panose="05000000000000000000" pitchFamily="2" charset="2"/>
              <a:buChar char="v"/>
            </a:pPr>
            <a:endParaRPr lang="en-US" sz="1600">
              <a:latin typeface="Times New Roman" panose="02020603050405020304" pitchFamily="18" charset="0"/>
              <a:ea typeface="Calibri" panose="020F0502020204030204" pitchFamily="34" charset="0"/>
            </a:endParaRPr>
          </a:p>
          <a:p>
            <a:pPr lvl="1" algn="just">
              <a:buFont typeface="Wingdings" panose="05000000000000000000" pitchFamily="2" charset="2"/>
              <a:buChar char="v"/>
            </a:pPr>
            <a:r>
              <a:rPr lang="en-US" sz="2000">
                <a:latin typeface="Times New Roman" panose="02020603050405020304" pitchFamily="18" charset="0"/>
                <a:ea typeface="Calibri" panose="020F0502020204030204" pitchFamily="34" charset="0"/>
              </a:rPr>
              <a:t>When the sensor node x received the probe packet P(y, seqno(y)) from node y</a:t>
            </a:r>
          </a:p>
          <a:p>
            <a:pPr lvl="2" algn="just"/>
            <a:r>
              <a:rPr lang="en-US" sz="1800">
                <a:latin typeface="Times New Roman" panose="02020603050405020304" pitchFamily="18" charset="0"/>
                <a:ea typeface="Calibri" panose="020F0502020204030204" pitchFamily="34" charset="0"/>
              </a:rPr>
              <a:t>It saves node y and seqno(y) to its neighbor list (nbrlist) if node y not belong to x’s nbrlist.</a:t>
            </a:r>
          </a:p>
          <a:p>
            <a:pPr lvl="2" algn="just"/>
            <a:r>
              <a:rPr lang="en-US" sz="1800">
                <a:latin typeface="Times New Roman" panose="02020603050405020304" pitchFamily="18" charset="0"/>
                <a:ea typeface="Calibri" panose="020F0502020204030204" pitchFamily="34" charset="0"/>
              </a:rPr>
              <a:t>If node y belong x’s nbrlist, node x will calculate the burstiness value refer to node y as follows : </a:t>
            </a:r>
          </a:p>
          <a:p>
            <a:pPr marL="914400" lvl="2" indent="0" algn="ctr">
              <a:buNone/>
            </a:pPr>
            <a:r>
              <a:rPr lang="es-ES" sz="1800">
                <a:latin typeface="Times New Roman" panose="02020603050405020304" pitchFamily="18" charset="0"/>
                <a:ea typeface="Calibri" panose="020F0502020204030204" pitchFamily="34" charset="0"/>
              </a:rPr>
              <a:t>burstiness_value (y) = seqno(y) – nbrlist[y].seqno(y) - 1</a:t>
            </a:r>
            <a:endParaRPr lang="en-US" sz="1800">
              <a:latin typeface="Times New Roman" panose="02020603050405020304" pitchFamily="18" charset="0"/>
              <a:ea typeface="Calibri" panose="020F0502020204030204" pitchFamily="34" charset="0"/>
            </a:endParaRPr>
          </a:p>
          <a:p>
            <a:pPr marL="914400" lvl="2" indent="0" algn="just">
              <a:buNone/>
            </a:pPr>
            <a:r>
              <a:rPr lang="en-US" sz="1800">
                <a:latin typeface="Times New Roman" panose="02020603050405020304" pitchFamily="18" charset="0"/>
                <a:ea typeface="Calibri" panose="020F0502020204030204" pitchFamily="34" charset="0"/>
              </a:rPr>
              <a:t>in which, seqno(y): the sequence number get from new incoming probe packet from node y, nbrlist[y].seqno(y): the previous sequence number of node y saved in the neighbor list.</a:t>
            </a:r>
          </a:p>
        </p:txBody>
      </p:sp>
      <p:sp>
        <p:nvSpPr>
          <p:cNvPr id="26" name="TextBox 25">
            <a:extLst>
              <a:ext uri="{FF2B5EF4-FFF2-40B4-BE49-F238E27FC236}">
                <a16:creationId xmlns:a16="http://schemas.microsoft.com/office/drawing/2014/main" id="{5269DC11-3C70-4F21-A91C-A4128F61ED62}"/>
              </a:ext>
            </a:extLst>
          </p:cNvPr>
          <p:cNvSpPr txBox="1"/>
          <p:nvPr/>
        </p:nvSpPr>
        <p:spPr>
          <a:xfrm>
            <a:off x="4516659" y="1521540"/>
            <a:ext cx="1309974" cy="307777"/>
          </a:xfrm>
          <a:prstGeom prst="rect">
            <a:avLst/>
          </a:prstGeom>
          <a:noFill/>
        </p:spPr>
        <p:txBody>
          <a:bodyPr wrap="none" rtlCol="0">
            <a:spAutoFit/>
          </a:bodyPr>
          <a:lstStyle/>
          <a:p>
            <a:r>
              <a:rPr lang="en-US" sz="1400"/>
              <a:t>P(x, seqno(x))</a:t>
            </a:r>
          </a:p>
        </p:txBody>
      </p:sp>
      <p:sp>
        <p:nvSpPr>
          <p:cNvPr id="125" name="TextBox 124">
            <a:extLst>
              <a:ext uri="{FF2B5EF4-FFF2-40B4-BE49-F238E27FC236}">
                <a16:creationId xmlns:a16="http://schemas.microsoft.com/office/drawing/2014/main" id="{47234B76-239B-4AC4-9F2F-5AB8DC22FFAF}"/>
              </a:ext>
            </a:extLst>
          </p:cNvPr>
          <p:cNvSpPr txBox="1"/>
          <p:nvPr/>
        </p:nvSpPr>
        <p:spPr>
          <a:xfrm>
            <a:off x="4516659" y="2076561"/>
            <a:ext cx="1284839" cy="307777"/>
          </a:xfrm>
          <a:prstGeom prst="rect">
            <a:avLst/>
          </a:prstGeom>
          <a:noFill/>
        </p:spPr>
        <p:txBody>
          <a:bodyPr wrap="none" rtlCol="0">
            <a:spAutoFit/>
          </a:bodyPr>
          <a:lstStyle/>
          <a:p>
            <a:r>
              <a:rPr lang="en-US" sz="1400"/>
              <a:t>P(y, seqno(y))</a:t>
            </a:r>
          </a:p>
        </p:txBody>
      </p:sp>
    </p:spTree>
    <p:extLst>
      <p:ext uri="{BB962C8B-B14F-4D97-AF65-F5344CB8AC3E}">
        <p14:creationId xmlns:p14="http://schemas.microsoft.com/office/powerpoint/2010/main" val="4229095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Measure Link Quality Principles</a:t>
            </a:r>
            <a:endParaRPr lang="en-US" b="1">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92875"/>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15</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62463"/>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18059" y="1469754"/>
            <a:ext cx="7911561" cy="4882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a:endParaRPr lang="en-US" sz="2400">
              <a:latin typeface="Times New Roman" panose="02020603050405020304" pitchFamily="18" charset="0"/>
              <a:cs typeface="Times New Roman" panose="02020603050405020304" pitchFamily="18" charset="0"/>
            </a:endParaRPr>
          </a:p>
        </p:txBody>
      </p:sp>
      <p:pic>
        <p:nvPicPr>
          <p:cNvPr id="8"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grpSp>
        <p:nvGrpSpPr>
          <p:cNvPr id="76" name="Group 75"/>
          <p:cNvGrpSpPr/>
          <p:nvPr/>
        </p:nvGrpSpPr>
        <p:grpSpPr>
          <a:xfrm>
            <a:off x="6029036" y="1821563"/>
            <a:ext cx="458846" cy="448346"/>
            <a:chOff x="5091953" y="1362635"/>
            <a:chExt cx="573556" cy="560433"/>
          </a:xfrm>
        </p:grpSpPr>
        <p:sp>
          <p:nvSpPr>
            <p:cNvPr id="77" name="Oval 76"/>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5225659" y="1389473"/>
              <a:ext cx="329938" cy="500138"/>
            </a:xfrm>
            <a:prstGeom prst="rect">
              <a:avLst/>
            </a:prstGeom>
            <a:noFill/>
          </p:spPr>
          <p:txBody>
            <a:bodyPr wrap="square" rtlCol="0">
              <a:spAutoFit/>
            </a:bodyPr>
            <a:lstStyle/>
            <a:p>
              <a:pPr algn="ctr"/>
              <a:r>
                <a:rPr lang="en-US" sz="2000"/>
                <a:t>y</a:t>
              </a:r>
            </a:p>
          </p:txBody>
        </p:sp>
      </p:grpSp>
      <p:grpSp>
        <p:nvGrpSpPr>
          <p:cNvPr id="79" name="Group 78"/>
          <p:cNvGrpSpPr/>
          <p:nvPr/>
        </p:nvGrpSpPr>
        <p:grpSpPr>
          <a:xfrm>
            <a:off x="3744682" y="1799761"/>
            <a:ext cx="458846" cy="448345"/>
            <a:chOff x="5091953" y="1362635"/>
            <a:chExt cx="573556" cy="560433"/>
          </a:xfrm>
        </p:grpSpPr>
        <p:sp>
          <p:nvSpPr>
            <p:cNvPr id="80" name="Oval 79"/>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a:off x="5213234" y="1389888"/>
              <a:ext cx="329938" cy="500139"/>
            </a:xfrm>
            <a:prstGeom prst="rect">
              <a:avLst/>
            </a:prstGeom>
            <a:noFill/>
          </p:spPr>
          <p:txBody>
            <a:bodyPr wrap="square" rtlCol="0">
              <a:spAutoFit/>
            </a:bodyPr>
            <a:lstStyle/>
            <a:p>
              <a:pPr algn="ctr"/>
              <a:r>
                <a:rPr lang="en-US" sz="2000"/>
                <a:t>x</a:t>
              </a:r>
            </a:p>
          </p:txBody>
        </p:sp>
      </p:grpSp>
      <p:cxnSp>
        <p:nvCxnSpPr>
          <p:cNvPr id="18" name="Straight Arrow Connector 17">
            <a:extLst>
              <a:ext uri="{FF2B5EF4-FFF2-40B4-BE49-F238E27FC236}">
                <a16:creationId xmlns:a16="http://schemas.microsoft.com/office/drawing/2014/main" id="{BE1C492D-8BFA-43F3-8B61-2FCCD8C470BE}"/>
              </a:ext>
            </a:extLst>
          </p:cNvPr>
          <p:cNvCxnSpPr>
            <a:cxnSpLocks/>
          </p:cNvCxnSpPr>
          <p:nvPr/>
        </p:nvCxnSpPr>
        <p:spPr>
          <a:xfrm>
            <a:off x="4335620" y="1892518"/>
            <a:ext cx="159864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9AE836C-D530-462D-B381-4DF0B9D2117C}"/>
              </a:ext>
            </a:extLst>
          </p:cNvPr>
          <p:cNvCxnSpPr>
            <a:cxnSpLocks/>
          </p:cNvCxnSpPr>
          <p:nvPr/>
        </p:nvCxnSpPr>
        <p:spPr>
          <a:xfrm flipH="1">
            <a:off x="4300554" y="2082951"/>
            <a:ext cx="161505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Content Placeholder 5">
            <a:extLst>
              <a:ext uri="{FF2B5EF4-FFF2-40B4-BE49-F238E27FC236}">
                <a16:creationId xmlns:a16="http://schemas.microsoft.com/office/drawing/2014/main" id="{36670552-ED82-4495-8DBD-A68B46169722}"/>
              </a:ext>
            </a:extLst>
          </p:cNvPr>
          <p:cNvSpPr txBox="1">
            <a:spLocks/>
          </p:cNvSpPr>
          <p:nvPr/>
        </p:nvSpPr>
        <p:spPr>
          <a:xfrm>
            <a:off x="181558" y="2589924"/>
            <a:ext cx="9222324" cy="331164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q"/>
            </a:pPr>
            <a:r>
              <a:rPr lang="en-US" sz="2200">
                <a:latin typeface="Times New Roman" panose="02020603050405020304" pitchFamily="18" charset="0"/>
                <a:ea typeface="Calibri" panose="020F0502020204030204" pitchFamily="34" charset="0"/>
              </a:rPr>
              <a:t>We use Burstiness Distribution List (BDL) to save the distribution of burstiness value for each neighbor:</a:t>
            </a:r>
          </a:p>
          <a:p>
            <a:pPr lvl="1" algn="just">
              <a:buFont typeface="Wingdings" panose="05000000000000000000" pitchFamily="2" charset="2"/>
              <a:buChar char="v"/>
            </a:pPr>
            <a:r>
              <a:rPr lang="en-US" sz="2000">
                <a:latin typeface="Times New Roman" panose="02020603050405020304" pitchFamily="18" charset="0"/>
                <a:ea typeface="Calibri" panose="020F0502020204030204" pitchFamily="34" charset="0"/>
              </a:rPr>
              <a:t>The BDL contains a pair of burstiness value and burstiness time count.</a:t>
            </a:r>
          </a:p>
          <a:p>
            <a:pPr lvl="1" algn="just">
              <a:buFont typeface="Wingdings" panose="05000000000000000000" pitchFamily="2" charset="2"/>
              <a:buChar char="v"/>
            </a:pPr>
            <a:r>
              <a:rPr lang="en-US" sz="2000">
                <a:latin typeface="Times New Roman" panose="02020603050405020304" pitchFamily="18" charset="0"/>
                <a:ea typeface="Calibri" panose="020F0502020204030204" pitchFamily="34" charset="0"/>
              </a:rPr>
              <a:t>Burstiness time count is the time the burstiness value is reproduced.</a:t>
            </a:r>
          </a:p>
          <a:p>
            <a:pPr lvl="1" algn="just">
              <a:buFont typeface="Wingdings" panose="05000000000000000000" pitchFamily="2" charset="2"/>
              <a:buChar char="v"/>
            </a:pPr>
            <a:endParaRPr lang="en-US" sz="1800">
              <a:latin typeface="Times New Roman" panose="02020603050405020304" pitchFamily="18" charset="0"/>
              <a:ea typeface="Calibri" panose="020F0502020204030204" pitchFamily="34" charset="0"/>
            </a:endParaRPr>
          </a:p>
          <a:p>
            <a:pPr lvl="1" algn="just">
              <a:buFont typeface="Wingdings" panose="05000000000000000000" pitchFamily="2" charset="2"/>
              <a:buChar char="v"/>
            </a:pPr>
            <a:r>
              <a:rPr lang="en-US" sz="1900">
                <a:latin typeface="Times New Roman" panose="02020603050405020304" pitchFamily="18" charset="0"/>
                <a:ea typeface="Calibri" panose="020F0502020204030204" pitchFamily="34" charset="0"/>
              </a:rPr>
              <a:t>After calculate burstiness_value(y), node x will check this value as follows:</a:t>
            </a:r>
          </a:p>
          <a:p>
            <a:pPr lvl="2" algn="just"/>
            <a:r>
              <a:rPr lang="en-US" sz="1900">
                <a:latin typeface="Times New Roman" panose="02020603050405020304" pitchFamily="18" charset="0"/>
                <a:ea typeface="Calibri" panose="020F0502020204030204" pitchFamily="34" charset="0"/>
              </a:rPr>
              <a:t>The burstiness_time_count(y) refer to burtiness_value(y) set to 1, then pair (burstiness_value(y), burstiness_time_count(y)) will be saved in node y’s BDL if this value does not belong to node y’s BDL.</a:t>
            </a:r>
          </a:p>
          <a:p>
            <a:pPr lvl="2" algn="just"/>
            <a:r>
              <a:rPr lang="en-US" sz="1900">
                <a:latin typeface="Times New Roman" panose="02020603050405020304" pitchFamily="18" charset="0"/>
                <a:ea typeface="Calibri" panose="020F0502020204030204" pitchFamily="34" charset="0"/>
              </a:rPr>
              <a:t>If burtiness_value(y) is belong to node y’s BDL, node x will increase the burtiness_time_count(y) refer to burstiness_value(y) one.</a:t>
            </a:r>
          </a:p>
          <a:p>
            <a:pPr lvl="2" algn="just"/>
            <a:r>
              <a:rPr lang="en-US" sz="1900">
                <a:latin typeface="Times New Roman" panose="02020603050405020304" pitchFamily="18" charset="0"/>
                <a:ea typeface="Calibri" panose="020F0502020204030204" pitchFamily="34" charset="0"/>
              </a:rPr>
              <a:t>Then update the seqno(y) value in the neighbor list.</a:t>
            </a:r>
          </a:p>
          <a:p>
            <a:pPr lvl="1" algn="just">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This process will repeat during the measure link quality period.</a:t>
            </a:r>
            <a:endParaRPr lang="en-US" sz="190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5269DC11-3C70-4F21-A91C-A4128F61ED62}"/>
              </a:ext>
            </a:extLst>
          </p:cNvPr>
          <p:cNvSpPr txBox="1"/>
          <p:nvPr/>
        </p:nvSpPr>
        <p:spPr>
          <a:xfrm>
            <a:off x="4516659" y="1521540"/>
            <a:ext cx="1309974" cy="307777"/>
          </a:xfrm>
          <a:prstGeom prst="rect">
            <a:avLst/>
          </a:prstGeom>
          <a:noFill/>
        </p:spPr>
        <p:txBody>
          <a:bodyPr wrap="none" rtlCol="0">
            <a:spAutoFit/>
          </a:bodyPr>
          <a:lstStyle/>
          <a:p>
            <a:r>
              <a:rPr lang="en-US" sz="1400"/>
              <a:t>P(x, seqno(x))</a:t>
            </a:r>
          </a:p>
        </p:txBody>
      </p:sp>
      <p:sp>
        <p:nvSpPr>
          <p:cNvPr id="125" name="TextBox 124">
            <a:extLst>
              <a:ext uri="{FF2B5EF4-FFF2-40B4-BE49-F238E27FC236}">
                <a16:creationId xmlns:a16="http://schemas.microsoft.com/office/drawing/2014/main" id="{47234B76-239B-4AC4-9F2F-5AB8DC22FFAF}"/>
              </a:ext>
            </a:extLst>
          </p:cNvPr>
          <p:cNvSpPr txBox="1"/>
          <p:nvPr/>
        </p:nvSpPr>
        <p:spPr>
          <a:xfrm>
            <a:off x="4516659" y="2076561"/>
            <a:ext cx="1284839" cy="307777"/>
          </a:xfrm>
          <a:prstGeom prst="rect">
            <a:avLst/>
          </a:prstGeom>
          <a:noFill/>
        </p:spPr>
        <p:txBody>
          <a:bodyPr wrap="none" rtlCol="0">
            <a:spAutoFit/>
          </a:bodyPr>
          <a:lstStyle/>
          <a:p>
            <a:r>
              <a:rPr lang="en-US" sz="1400"/>
              <a:t>P(y, seqno(y))</a:t>
            </a:r>
          </a:p>
        </p:txBody>
      </p:sp>
    </p:spTree>
    <p:extLst>
      <p:ext uri="{BB962C8B-B14F-4D97-AF65-F5344CB8AC3E}">
        <p14:creationId xmlns:p14="http://schemas.microsoft.com/office/powerpoint/2010/main" val="3667952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Calculate Burstiness Distribution List</a:t>
            </a:r>
          </a:p>
        </p:txBody>
      </p:sp>
      <p:sp>
        <p:nvSpPr>
          <p:cNvPr id="12" name="Footer Placeholder 11"/>
          <p:cNvSpPr>
            <a:spLocks noGrp="1"/>
          </p:cNvSpPr>
          <p:nvPr>
            <p:ph type="ftr" sz="quarter" idx="11"/>
          </p:nvPr>
        </p:nvSpPr>
        <p:spPr>
          <a:xfrm>
            <a:off x="9403882" y="6478001"/>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87226"/>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16</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5514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81558" y="2462640"/>
            <a:ext cx="6389569" cy="343892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just">
              <a:buFont typeface="Wingdings" panose="05000000000000000000" pitchFamily="2" charset="2"/>
              <a:buChar char="q"/>
            </a:pPr>
            <a:r>
              <a:rPr lang="en-US" sz="2000">
                <a:latin typeface="Times New Roman" panose="02020603050405020304" pitchFamily="18" charset="0"/>
                <a:ea typeface="Calibri" panose="020F0502020204030204" pitchFamily="34" charset="0"/>
              </a:rPr>
              <a:t>Ex: Consider node 1 and node 2</a:t>
            </a:r>
          </a:p>
          <a:p>
            <a:pPr marL="0" indent="0" algn="just">
              <a:buNone/>
            </a:pPr>
            <a:r>
              <a:rPr lang="en-US" sz="1800">
                <a:latin typeface="Times New Roman" panose="02020603050405020304" pitchFamily="18" charset="0"/>
                <a:ea typeface="Calibri" panose="020F0502020204030204" pitchFamily="34" charset="0"/>
              </a:rPr>
              <a:t>Assume node 1 receives first probe packet P(2, 1)</a:t>
            </a:r>
          </a:p>
          <a:p>
            <a:pPr algn="just">
              <a:buFont typeface="Wingdings" panose="05000000000000000000" pitchFamily="2" charset="2"/>
              <a:buChar char="à"/>
            </a:pPr>
            <a:r>
              <a:rPr lang="en-US" sz="1800">
                <a:latin typeface="Times New Roman" panose="02020603050405020304" pitchFamily="18" charset="0"/>
                <a:ea typeface="Calibri" panose="020F0502020204030204" pitchFamily="34" charset="0"/>
                <a:sym typeface="Wingdings" panose="05000000000000000000" pitchFamily="2" charset="2"/>
              </a:rPr>
              <a:t>Node 1 saves node 2 and seqno(2) to its neighbor list: nbrlist = {(2, 1)};</a:t>
            </a:r>
          </a:p>
          <a:p>
            <a:pPr marL="0" indent="0" algn="just">
              <a:buNone/>
            </a:pPr>
            <a:r>
              <a:rPr lang="en-US" sz="1800">
                <a:latin typeface="Times New Roman" panose="02020603050405020304" pitchFamily="18" charset="0"/>
                <a:ea typeface="Calibri" panose="020F0502020204030204" pitchFamily="34" charset="0"/>
                <a:sym typeface="Wingdings" panose="05000000000000000000" pitchFamily="2" charset="2"/>
              </a:rPr>
              <a:t>Node 2 generates P(2, 2), P(2, 3) assume that node 1 failed to receive these probe packet.</a:t>
            </a:r>
          </a:p>
          <a:p>
            <a:pPr marL="0" indent="0" algn="just">
              <a:buNone/>
            </a:pPr>
            <a:r>
              <a:rPr lang="en-US" sz="1800">
                <a:latin typeface="Times New Roman" panose="02020603050405020304" pitchFamily="18" charset="0"/>
                <a:ea typeface="Calibri" panose="020F0502020204030204" pitchFamily="34" charset="0"/>
                <a:sym typeface="Wingdings" panose="05000000000000000000" pitchFamily="2" charset="2"/>
              </a:rPr>
              <a:t>Then next received probe in node 1 is P(2, 4)</a:t>
            </a:r>
          </a:p>
          <a:p>
            <a:pPr algn="just">
              <a:buFont typeface="Wingdings" panose="05000000000000000000" pitchFamily="2" charset="2"/>
              <a:buChar char="à"/>
            </a:pPr>
            <a:r>
              <a:rPr lang="en-US" sz="1800">
                <a:latin typeface="Times New Roman" panose="02020603050405020304" pitchFamily="18" charset="0"/>
                <a:ea typeface="Calibri" panose="020F0502020204030204" pitchFamily="34" charset="0"/>
                <a:sym typeface="Wingdings" panose="05000000000000000000" pitchFamily="2" charset="2"/>
              </a:rPr>
              <a:t>burstiness_value(2) = 4 – 1 – 1 = 2</a:t>
            </a:r>
          </a:p>
          <a:p>
            <a:pPr algn="just">
              <a:buFont typeface="Wingdings" panose="05000000000000000000" pitchFamily="2" charset="2"/>
              <a:buChar char="à"/>
            </a:pPr>
            <a:r>
              <a:rPr lang="en-US" sz="1800">
                <a:latin typeface="Times New Roman" panose="02020603050405020304" pitchFamily="18" charset="0"/>
                <a:ea typeface="Calibri" panose="020F0502020204030204" pitchFamily="34" charset="0"/>
                <a:sym typeface="Wingdings" panose="05000000000000000000" pitchFamily="2" charset="2"/>
              </a:rPr>
              <a:t>burstiness_time_count(2) =  1;</a:t>
            </a:r>
          </a:p>
          <a:p>
            <a:pPr algn="just">
              <a:buFont typeface="Wingdings" panose="05000000000000000000" pitchFamily="2" charset="2"/>
              <a:buChar char="à"/>
            </a:pPr>
            <a:r>
              <a:rPr lang="en-US" sz="1800">
                <a:latin typeface="Times New Roman" panose="02020603050405020304" pitchFamily="18" charset="0"/>
                <a:ea typeface="Calibri" panose="020F0502020204030204" pitchFamily="34" charset="0"/>
                <a:sym typeface="Wingdings" panose="05000000000000000000" pitchFamily="2" charset="2"/>
              </a:rPr>
              <a:t>Node 1 add pair (2, 1) to BDL refer to neighbor Node 2.</a:t>
            </a:r>
          </a:p>
          <a:p>
            <a:pPr algn="just">
              <a:buFont typeface="Wingdings" panose="05000000000000000000" pitchFamily="2" charset="2"/>
              <a:buChar char="à"/>
            </a:pPr>
            <a:r>
              <a:rPr lang="en-US" sz="1800">
                <a:latin typeface="Times New Roman" panose="02020603050405020304" pitchFamily="18" charset="0"/>
                <a:ea typeface="Calibri" panose="020F0502020204030204" pitchFamily="34" charset="0"/>
                <a:sym typeface="Wingdings" panose="05000000000000000000" pitchFamily="2" charset="2"/>
              </a:rPr>
              <a:t>Node 1 update seqno(2) in neighbor list: nbrlist = {(2, 4)}</a:t>
            </a:r>
            <a:endParaRPr lang="en-US" sz="1800">
              <a:latin typeface="Times New Roman" panose="02020603050405020304" pitchFamily="18" charset="0"/>
              <a:ea typeface="Calibri" panose="020F0502020204030204" pitchFamily="34" charset="0"/>
            </a:endParaRPr>
          </a:p>
        </p:txBody>
      </p:sp>
      <p:pic>
        <p:nvPicPr>
          <p:cNvPr id="9"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pic>
        <p:nvPicPr>
          <p:cNvPr id="6" name="Picture 5">
            <a:extLst>
              <a:ext uri="{FF2B5EF4-FFF2-40B4-BE49-F238E27FC236}">
                <a16:creationId xmlns:a16="http://schemas.microsoft.com/office/drawing/2014/main" id="{DCBEFB6B-FEB1-46ED-85D2-4CFE69BC4A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1128" y="1093605"/>
            <a:ext cx="5620871" cy="5286375"/>
          </a:xfrm>
          <a:prstGeom prst="rect">
            <a:avLst/>
          </a:prstGeom>
        </p:spPr>
      </p:pic>
      <p:grpSp>
        <p:nvGrpSpPr>
          <p:cNvPr id="11" name="Group 10">
            <a:extLst>
              <a:ext uri="{FF2B5EF4-FFF2-40B4-BE49-F238E27FC236}">
                <a16:creationId xmlns:a16="http://schemas.microsoft.com/office/drawing/2014/main" id="{94108206-C84D-4550-B7C6-DC731D4B9453}"/>
              </a:ext>
            </a:extLst>
          </p:cNvPr>
          <p:cNvGrpSpPr/>
          <p:nvPr/>
        </p:nvGrpSpPr>
        <p:grpSpPr>
          <a:xfrm>
            <a:off x="4134922" y="1709591"/>
            <a:ext cx="458846" cy="448346"/>
            <a:chOff x="5091953" y="1362635"/>
            <a:chExt cx="573556" cy="560433"/>
          </a:xfrm>
        </p:grpSpPr>
        <p:sp>
          <p:nvSpPr>
            <p:cNvPr id="14" name="Oval 13">
              <a:extLst>
                <a:ext uri="{FF2B5EF4-FFF2-40B4-BE49-F238E27FC236}">
                  <a16:creationId xmlns:a16="http://schemas.microsoft.com/office/drawing/2014/main" id="{84855D66-5661-4B6E-9B72-D4938993B167}"/>
                </a:ext>
              </a:extLst>
            </p:cNvPr>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3CCA8A4-142B-45EC-B9FA-2DDEF76BA7E6}"/>
                </a:ext>
              </a:extLst>
            </p:cNvPr>
            <p:cNvSpPr txBox="1"/>
            <p:nvPr/>
          </p:nvSpPr>
          <p:spPr>
            <a:xfrm>
              <a:off x="5225659" y="1389473"/>
              <a:ext cx="329938" cy="500138"/>
            </a:xfrm>
            <a:prstGeom prst="rect">
              <a:avLst/>
            </a:prstGeom>
            <a:noFill/>
          </p:spPr>
          <p:txBody>
            <a:bodyPr wrap="square" rtlCol="0">
              <a:spAutoFit/>
            </a:bodyPr>
            <a:lstStyle/>
            <a:p>
              <a:pPr algn="ctr"/>
              <a:r>
                <a:rPr lang="en-US" sz="2000"/>
                <a:t>2</a:t>
              </a:r>
            </a:p>
          </p:txBody>
        </p:sp>
      </p:grpSp>
      <p:grpSp>
        <p:nvGrpSpPr>
          <p:cNvPr id="16" name="Group 15">
            <a:extLst>
              <a:ext uri="{FF2B5EF4-FFF2-40B4-BE49-F238E27FC236}">
                <a16:creationId xmlns:a16="http://schemas.microsoft.com/office/drawing/2014/main" id="{C9350694-7A4D-478D-A5B5-823EF21CB20D}"/>
              </a:ext>
            </a:extLst>
          </p:cNvPr>
          <p:cNvGrpSpPr/>
          <p:nvPr/>
        </p:nvGrpSpPr>
        <p:grpSpPr>
          <a:xfrm>
            <a:off x="1850568" y="1687789"/>
            <a:ext cx="458846" cy="448345"/>
            <a:chOff x="5091953" y="1362635"/>
            <a:chExt cx="573556" cy="560433"/>
          </a:xfrm>
        </p:grpSpPr>
        <p:sp>
          <p:nvSpPr>
            <p:cNvPr id="17" name="Oval 16">
              <a:extLst>
                <a:ext uri="{FF2B5EF4-FFF2-40B4-BE49-F238E27FC236}">
                  <a16:creationId xmlns:a16="http://schemas.microsoft.com/office/drawing/2014/main" id="{01AF256C-9E91-453B-903B-81ABB6B78667}"/>
                </a:ext>
              </a:extLst>
            </p:cNvPr>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899159B-24FB-4DF7-93BD-6547B67443E8}"/>
                </a:ext>
              </a:extLst>
            </p:cNvPr>
            <p:cNvSpPr txBox="1"/>
            <p:nvPr/>
          </p:nvSpPr>
          <p:spPr>
            <a:xfrm>
              <a:off x="5213234" y="1389888"/>
              <a:ext cx="329938" cy="500139"/>
            </a:xfrm>
            <a:prstGeom prst="rect">
              <a:avLst/>
            </a:prstGeom>
            <a:noFill/>
          </p:spPr>
          <p:txBody>
            <a:bodyPr wrap="square" rtlCol="0">
              <a:spAutoFit/>
            </a:bodyPr>
            <a:lstStyle/>
            <a:p>
              <a:pPr algn="ctr"/>
              <a:r>
                <a:rPr lang="en-US" sz="2000"/>
                <a:t>1</a:t>
              </a:r>
            </a:p>
          </p:txBody>
        </p:sp>
      </p:grpSp>
      <p:cxnSp>
        <p:nvCxnSpPr>
          <p:cNvPr id="20" name="Straight Arrow Connector 19">
            <a:extLst>
              <a:ext uri="{FF2B5EF4-FFF2-40B4-BE49-F238E27FC236}">
                <a16:creationId xmlns:a16="http://schemas.microsoft.com/office/drawing/2014/main" id="{4B16E87A-AF52-4473-8F9A-B2086A9233A0}"/>
              </a:ext>
            </a:extLst>
          </p:cNvPr>
          <p:cNvCxnSpPr>
            <a:cxnSpLocks/>
          </p:cNvCxnSpPr>
          <p:nvPr/>
        </p:nvCxnSpPr>
        <p:spPr>
          <a:xfrm flipH="1">
            <a:off x="2406440" y="1970979"/>
            <a:ext cx="161505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D88C6BE-5EAF-495D-B82B-21BA6CF757E6}"/>
              </a:ext>
            </a:extLst>
          </p:cNvPr>
          <p:cNvSpPr txBox="1"/>
          <p:nvPr/>
        </p:nvSpPr>
        <p:spPr>
          <a:xfrm>
            <a:off x="2859729" y="1628713"/>
            <a:ext cx="724878" cy="307777"/>
          </a:xfrm>
          <a:prstGeom prst="rect">
            <a:avLst/>
          </a:prstGeom>
          <a:noFill/>
        </p:spPr>
        <p:txBody>
          <a:bodyPr wrap="none" rtlCol="0">
            <a:spAutoFit/>
          </a:bodyPr>
          <a:lstStyle/>
          <a:p>
            <a:r>
              <a:rPr lang="en-US" sz="1400"/>
              <a:t>P(2, 1)</a:t>
            </a:r>
          </a:p>
        </p:txBody>
      </p:sp>
    </p:spTree>
    <p:extLst>
      <p:ext uri="{BB962C8B-B14F-4D97-AF65-F5344CB8AC3E}">
        <p14:creationId xmlns:p14="http://schemas.microsoft.com/office/powerpoint/2010/main" val="3315993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Calculate Burstiness Distribution List</a:t>
            </a:r>
          </a:p>
        </p:txBody>
      </p:sp>
      <p:sp>
        <p:nvSpPr>
          <p:cNvPr id="12" name="Footer Placeholder 11"/>
          <p:cNvSpPr>
            <a:spLocks noGrp="1"/>
          </p:cNvSpPr>
          <p:nvPr>
            <p:ph type="ftr" sz="quarter" idx="11"/>
          </p:nvPr>
        </p:nvSpPr>
        <p:spPr>
          <a:xfrm>
            <a:off x="9403882" y="6478001"/>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87226"/>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17</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5514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81558" y="2462640"/>
            <a:ext cx="6389569" cy="34389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just">
              <a:buFont typeface="Wingdings" panose="05000000000000000000" pitchFamily="2" charset="2"/>
              <a:buChar char="q"/>
            </a:pPr>
            <a:r>
              <a:rPr lang="en-US" sz="2400">
                <a:latin typeface="Times New Roman" panose="02020603050405020304" pitchFamily="18" charset="0"/>
                <a:ea typeface="Calibri" panose="020F0502020204030204" pitchFamily="34" charset="0"/>
              </a:rPr>
              <a:t>Ex: Consider node 1 and node 2</a:t>
            </a:r>
          </a:p>
          <a:p>
            <a:pPr marL="0" indent="0" algn="just">
              <a:buNone/>
            </a:pPr>
            <a:r>
              <a:rPr lang="en-US" sz="2000">
                <a:latin typeface="Times New Roman" panose="02020603050405020304" pitchFamily="18" charset="0"/>
                <a:ea typeface="Calibri" panose="020F0502020204030204" pitchFamily="34" charset="0"/>
                <a:sym typeface="Wingdings" panose="05000000000000000000" pitchFamily="2" charset="2"/>
              </a:rPr>
              <a:t>Node 2 continue generates P(2, 5), P(2, 6) assume that node 1 failed to receive these probe packet.</a:t>
            </a:r>
          </a:p>
          <a:p>
            <a:pPr marL="0" indent="0" algn="just">
              <a:buNone/>
            </a:pPr>
            <a:r>
              <a:rPr lang="en-US" sz="2000">
                <a:latin typeface="Times New Roman" panose="02020603050405020304" pitchFamily="18" charset="0"/>
                <a:ea typeface="Calibri" panose="020F0502020204030204" pitchFamily="34" charset="0"/>
                <a:sym typeface="Wingdings" panose="05000000000000000000" pitchFamily="2" charset="2"/>
              </a:rPr>
              <a:t>Then next received probe in node 1 is P(2, 7)</a:t>
            </a:r>
          </a:p>
          <a:p>
            <a:pPr algn="just">
              <a:buFont typeface="Wingdings" panose="05000000000000000000" pitchFamily="2" charset="2"/>
              <a:buChar char="à"/>
            </a:pPr>
            <a:r>
              <a:rPr lang="en-US" sz="2000">
                <a:latin typeface="Times New Roman" panose="02020603050405020304" pitchFamily="18" charset="0"/>
                <a:ea typeface="Calibri" panose="020F0502020204030204" pitchFamily="34" charset="0"/>
                <a:sym typeface="Wingdings" panose="05000000000000000000" pitchFamily="2" charset="2"/>
              </a:rPr>
              <a:t>burstiness_value(2) = 7 – 4 – 1 = 2</a:t>
            </a:r>
          </a:p>
          <a:p>
            <a:pPr algn="just">
              <a:buFont typeface="Wingdings" panose="05000000000000000000" pitchFamily="2" charset="2"/>
              <a:buChar char="à"/>
            </a:pPr>
            <a:r>
              <a:rPr lang="en-US" sz="2000">
                <a:latin typeface="Times New Roman" panose="02020603050405020304" pitchFamily="18" charset="0"/>
                <a:ea typeface="Calibri" panose="020F0502020204030204" pitchFamily="34" charset="0"/>
                <a:sym typeface="Wingdings" panose="05000000000000000000" pitchFamily="2" charset="2"/>
              </a:rPr>
              <a:t> exists in BDL, only update BDL pair (2, 1) to (2, 2)</a:t>
            </a:r>
            <a:endParaRPr lang="en-US" sz="2000">
              <a:latin typeface="Times New Roman" panose="02020603050405020304" pitchFamily="18" charset="0"/>
              <a:ea typeface="Calibri" panose="020F0502020204030204" pitchFamily="34" charset="0"/>
            </a:endParaRPr>
          </a:p>
        </p:txBody>
      </p:sp>
      <p:pic>
        <p:nvPicPr>
          <p:cNvPr id="9"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pic>
        <p:nvPicPr>
          <p:cNvPr id="6" name="Picture 5">
            <a:extLst>
              <a:ext uri="{FF2B5EF4-FFF2-40B4-BE49-F238E27FC236}">
                <a16:creationId xmlns:a16="http://schemas.microsoft.com/office/drawing/2014/main" id="{DCBEFB6B-FEB1-46ED-85D2-4CFE69BC4A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1128" y="1093605"/>
            <a:ext cx="5620871" cy="5286375"/>
          </a:xfrm>
          <a:prstGeom prst="rect">
            <a:avLst/>
          </a:prstGeom>
        </p:spPr>
      </p:pic>
      <p:grpSp>
        <p:nvGrpSpPr>
          <p:cNvPr id="11" name="Group 10">
            <a:extLst>
              <a:ext uri="{FF2B5EF4-FFF2-40B4-BE49-F238E27FC236}">
                <a16:creationId xmlns:a16="http://schemas.microsoft.com/office/drawing/2014/main" id="{94108206-C84D-4550-B7C6-DC731D4B9453}"/>
              </a:ext>
            </a:extLst>
          </p:cNvPr>
          <p:cNvGrpSpPr/>
          <p:nvPr/>
        </p:nvGrpSpPr>
        <p:grpSpPr>
          <a:xfrm>
            <a:off x="4134922" y="1709591"/>
            <a:ext cx="458846" cy="448346"/>
            <a:chOff x="5091953" y="1362635"/>
            <a:chExt cx="573556" cy="560433"/>
          </a:xfrm>
        </p:grpSpPr>
        <p:sp>
          <p:nvSpPr>
            <p:cNvPr id="14" name="Oval 13">
              <a:extLst>
                <a:ext uri="{FF2B5EF4-FFF2-40B4-BE49-F238E27FC236}">
                  <a16:creationId xmlns:a16="http://schemas.microsoft.com/office/drawing/2014/main" id="{84855D66-5661-4B6E-9B72-D4938993B167}"/>
                </a:ext>
              </a:extLst>
            </p:cNvPr>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3CCA8A4-142B-45EC-B9FA-2DDEF76BA7E6}"/>
                </a:ext>
              </a:extLst>
            </p:cNvPr>
            <p:cNvSpPr txBox="1"/>
            <p:nvPr/>
          </p:nvSpPr>
          <p:spPr>
            <a:xfrm>
              <a:off x="5225659" y="1389473"/>
              <a:ext cx="329938" cy="500138"/>
            </a:xfrm>
            <a:prstGeom prst="rect">
              <a:avLst/>
            </a:prstGeom>
            <a:noFill/>
          </p:spPr>
          <p:txBody>
            <a:bodyPr wrap="square" rtlCol="0">
              <a:spAutoFit/>
            </a:bodyPr>
            <a:lstStyle/>
            <a:p>
              <a:pPr algn="ctr"/>
              <a:r>
                <a:rPr lang="en-US" sz="2000"/>
                <a:t>2</a:t>
              </a:r>
            </a:p>
          </p:txBody>
        </p:sp>
      </p:grpSp>
      <p:grpSp>
        <p:nvGrpSpPr>
          <p:cNvPr id="16" name="Group 15">
            <a:extLst>
              <a:ext uri="{FF2B5EF4-FFF2-40B4-BE49-F238E27FC236}">
                <a16:creationId xmlns:a16="http://schemas.microsoft.com/office/drawing/2014/main" id="{C9350694-7A4D-478D-A5B5-823EF21CB20D}"/>
              </a:ext>
            </a:extLst>
          </p:cNvPr>
          <p:cNvGrpSpPr/>
          <p:nvPr/>
        </p:nvGrpSpPr>
        <p:grpSpPr>
          <a:xfrm>
            <a:off x="1850568" y="1687789"/>
            <a:ext cx="458846" cy="448345"/>
            <a:chOff x="5091953" y="1362635"/>
            <a:chExt cx="573556" cy="560433"/>
          </a:xfrm>
        </p:grpSpPr>
        <p:sp>
          <p:nvSpPr>
            <p:cNvPr id="17" name="Oval 16">
              <a:extLst>
                <a:ext uri="{FF2B5EF4-FFF2-40B4-BE49-F238E27FC236}">
                  <a16:creationId xmlns:a16="http://schemas.microsoft.com/office/drawing/2014/main" id="{01AF256C-9E91-453B-903B-81ABB6B78667}"/>
                </a:ext>
              </a:extLst>
            </p:cNvPr>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899159B-24FB-4DF7-93BD-6547B67443E8}"/>
                </a:ext>
              </a:extLst>
            </p:cNvPr>
            <p:cNvSpPr txBox="1"/>
            <p:nvPr/>
          </p:nvSpPr>
          <p:spPr>
            <a:xfrm>
              <a:off x="5213234" y="1389888"/>
              <a:ext cx="329938" cy="500139"/>
            </a:xfrm>
            <a:prstGeom prst="rect">
              <a:avLst/>
            </a:prstGeom>
            <a:noFill/>
          </p:spPr>
          <p:txBody>
            <a:bodyPr wrap="square" rtlCol="0">
              <a:spAutoFit/>
            </a:bodyPr>
            <a:lstStyle/>
            <a:p>
              <a:pPr algn="ctr"/>
              <a:r>
                <a:rPr lang="en-US" sz="2000"/>
                <a:t>1</a:t>
              </a:r>
            </a:p>
          </p:txBody>
        </p:sp>
      </p:grpSp>
      <p:cxnSp>
        <p:nvCxnSpPr>
          <p:cNvPr id="20" name="Straight Arrow Connector 19">
            <a:extLst>
              <a:ext uri="{FF2B5EF4-FFF2-40B4-BE49-F238E27FC236}">
                <a16:creationId xmlns:a16="http://schemas.microsoft.com/office/drawing/2014/main" id="{4B16E87A-AF52-4473-8F9A-B2086A9233A0}"/>
              </a:ext>
            </a:extLst>
          </p:cNvPr>
          <p:cNvCxnSpPr>
            <a:cxnSpLocks/>
          </p:cNvCxnSpPr>
          <p:nvPr/>
        </p:nvCxnSpPr>
        <p:spPr>
          <a:xfrm flipH="1">
            <a:off x="2406440" y="1970979"/>
            <a:ext cx="161505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D88C6BE-5EAF-495D-B82B-21BA6CF757E6}"/>
              </a:ext>
            </a:extLst>
          </p:cNvPr>
          <p:cNvSpPr txBox="1"/>
          <p:nvPr/>
        </p:nvSpPr>
        <p:spPr>
          <a:xfrm>
            <a:off x="2859729" y="1628713"/>
            <a:ext cx="724878" cy="307777"/>
          </a:xfrm>
          <a:prstGeom prst="rect">
            <a:avLst/>
          </a:prstGeom>
          <a:noFill/>
        </p:spPr>
        <p:txBody>
          <a:bodyPr wrap="none" rtlCol="0">
            <a:spAutoFit/>
          </a:bodyPr>
          <a:lstStyle/>
          <a:p>
            <a:r>
              <a:rPr lang="en-US" sz="1400"/>
              <a:t>P(2, 7)</a:t>
            </a:r>
          </a:p>
        </p:txBody>
      </p:sp>
    </p:spTree>
    <p:extLst>
      <p:ext uri="{BB962C8B-B14F-4D97-AF65-F5344CB8AC3E}">
        <p14:creationId xmlns:p14="http://schemas.microsoft.com/office/powerpoint/2010/main" val="2036648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Calculate Burstiness Distribution List</a:t>
            </a:r>
          </a:p>
        </p:txBody>
      </p:sp>
      <p:sp>
        <p:nvSpPr>
          <p:cNvPr id="12" name="Footer Placeholder 11"/>
          <p:cNvSpPr>
            <a:spLocks noGrp="1"/>
          </p:cNvSpPr>
          <p:nvPr>
            <p:ph type="ftr" sz="quarter" idx="11"/>
          </p:nvPr>
        </p:nvSpPr>
        <p:spPr>
          <a:xfrm>
            <a:off x="9403882" y="6478001"/>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87226"/>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18</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5514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81558" y="2462640"/>
            <a:ext cx="6389569" cy="34389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1800">
              <a:latin typeface="Times New Roman" panose="02020603050405020304" pitchFamily="18" charset="0"/>
              <a:ea typeface="Calibri" panose="020F0502020204030204" pitchFamily="34" charset="0"/>
            </a:endParaRPr>
          </a:p>
        </p:txBody>
      </p:sp>
      <p:pic>
        <p:nvPicPr>
          <p:cNvPr id="9"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pic>
        <p:nvPicPr>
          <p:cNvPr id="6" name="Picture 5">
            <a:extLst>
              <a:ext uri="{FF2B5EF4-FFF2-40B4-BE49-F238E27FC236}">
                <a16:creationId xmlns:a16="http://schemas.microsoft.com/office/drawing/2014/main" id="{DCBEFB6B-FEB1-46ED-85D2-4CFE69BC4A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1128" y="1093605"/>
            <a:ext cx="5620871" cy="5286375"/>
          </a:xfrm>
          <a:prstGeom prst="rect">
            <a:avLst/>
          </a:prstGeom>
        </p:spPr>
      </p:pic>
      <p:grpSp>
        <p:nvGrpSpPr>
          <p:cNvPr id="11" name="Group 10">
            <a:extLst>
              <a:ext uri="{FF2B5EF4-FFF2-40B4-BE49-F238E27FC236}">
                <a16:creationId xmlns:a16="http://schemas.microsoft.com/office/drawing/2014/main" id="{94108206-C84D-4550-B7C6-DC731D4B9453}"/>
              </a:ext>
            </a:extLst>
          </p:cNvPr>
          <p:cNvGrpSpPr/>
          <p:nvPr/>
        </p:nvGrpSpPr>
        <p:grpSpPr>
          <a:xfrm>
            <a:off x="4134922" y="1709591"/>
            <a:ext cx="458846" cy="448346"/>
            <a:chOff x="5091953" y="1362635"/>
            <a:chExt cx="573556" cy="560433"/>
          </a:xfrm>
        </p:grpSpPr>
        <p:sp>
          <p:nvSpPr>
            <p:cNvPr id="14" name="Oval 13">
              <a:extLst>
                <a:ext uri="{FF2B5EF4-FFF2-40B4-BE49-F238E27FC236}">
                  <a16:creationId xmlns:a16="http://schemas.microsoft.com/office/drawing/2014/main" id="{84855D66-5661-4B6E-9B72-D4938993B167}"/>
                </a:ext>
              </a:extLst>
            </p:cNvPr>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3CCA8A4-142B-45EC-B9FA-2DDEF76BA7E6}"/>
                </a:ext>
              </a:extLst>
            </p:cNvPr>
            <p:cNvSpPr txBox="1"/>
            <p:nvPr/>
          </p:nvSpPr>
          <p:spPr>
            <a:xfrm>
              <a:off x="5225659" y="1389473"/>
              <a:ext cx="329938" cy="500138"/>
            </a:xfrm>
            <a:prstGeom prst="rect">
              <a:avLst/>
            </a:prstGeom>
            <a:noFill/>
          </p:spPr>
          <p:txBody>
            <a:bodyPr wrap="square" rtlCol="0">
              <a:spAutoFit/>
            </a:bodyPr>
            <a:lstStyle/>
            <a:p>
              <a:pPr algn="ctr"/>
              <a:r>
                <a:rPr lang="en-US" sz="2000"/>
                <a:t>2</a:t>
              </a:r>
            </a:p>
          </p:txBody>
        </p:sp>
      </p:grpSp>
      <p:grpSp>
        <p:nvGrpSpPr>
          <p:cNvPr id="16" name="Group 15">
            <a:extLst>
              <a:ext uri="{FF2B5EF4-FFF2-40B4-BE49-F238E27FC236}">
                <a16:creationId xmlns:a16="http://schemas.microsoft.com/office/drawing/2014/main" id="{C9350694-7A4D-478D-A5B5-823EF21CB20D}"/>
              </a:ext>
            </a:extLst>
          </p:cNvPr>
          <p:cNvGrpSpPr/>
          <p:nvPr/>
        </p:nvGrpSpPr>
        <p:grpSpPr>
          <a:xfrm>
            <a:off x="1850568" y="1687789"/>
            <a:ext cx="458846" cy="448345"/>
            <a:chOff x="5091953" y="1362635"/>
            <a:chExt cx="573556" cy="560433"/>
          </a:xfrm>
        </p:grpSpPr>
        <p:sp>
          <p:nvSpPr>
            <p:cNvPr id="17" name="Oval 16">
              <a:extLst>
                <a:ext uri="{FF2B5EF4-FFF2-40B4-BE49-F238E27FC236}">
                  <a16:creationId xmlns:a16="http://schemas.microsoft.com/office/drawing/2014/main" id="{01AF256C-9E91-453B-903B-81ABB6B78667}"/>
                </a:ext>
              </a:extLst>
            </p:cNvPr>
            <p:cNvSpPr/>
            <p:nvPr/>
          </p:nvSpPr>
          <p:spPr>
            <a:xfrm>
              <a:off x="5091953" y="1362635"/>
              <a:ext cx="573556" cy="560433"/>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899159B-24FB-4DF7-93BD-6547B67443E8}"/>
                </a:ext>
              </a:extLst>
            </p:cNvPr>
            <p:cNvSpPr txBox="1"/>
            <p:nvPr/>
          </p:nvSpPr>
          <p:spPr>
            <a:xfrm>
              <a:off x="5213234" y="1389888"/>
              <a:ext cx="329938" cy="500139"/>
            </a:xfrm>
            <a:prstGeom prst="rect">
              <a:avLst/>
            </a:prstGeom>
            <a:noFill/>
          </p:spPr>
          <p:txBody>
            <a:bodyPr wrap="square" rtlCol="0">
              <a:spAutoFit/>
            </a:bodyPr>
            <a:lstStyle/>
            <a:p>
              <a:pPr algn="ctr"/>
              <a:r>
                <a:rPr lang="en-US" sz="2000"/>
                <a:t>1</a:t>
              </a:r>
            </a:p>
          </p:txBody>
        </p:sp>
      </p:grpSp>
      <p:cxnSp>
        <p:nvCxnSpPr>
          <p:cNvPr id="20" name="Straight Arrow Connector 19">
            <a:extLst>
              <a:ext uri="{FF2B5EF4-FFF2-40B4-BE49-F238E27FC236}">
                <a16:creationId xmlns:a16="http://schemas.microsoft.com/office/drawing/2014/main" id="{4B16E87A-AF52-4473-8F9A-B2086A9233A0}"/>
              </a:ext>
            </a:extLst>
          </p:cNvPr>
          <p:cNvCxnSpPr>
            <a:cxnSpLocks/>
          </p:cNvCxnSpPr>
          <p:nvPr/>
        </p:nvCxnSpPr>
        <p:spPr>
          <a:xfrm flipH="1">
            <a:off x="2406440" y="1970979"/>
            <a:ext cx="161505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D88C6BE-5EAF-495D-B82B-21BA6CF757E6}"/>
              </a:ext>
            </a:extLst>
          </p:cNvPr>
          <p:cNvSpPr txBox="1"/>
          <p:nvPr/>
        </p:nvSpPr>
        <p:spPr>
          <a:xfrm>
            <a:off x="2859729" y="1628713"/>
            <a:ext cx="728084" cy="307777"/>
          </a:xfrm>
          <a:prstGeom prst="rect">
            <a:avLst/>
          </a:prstGeom>
          <a:noFill/>
        </p:spPr>
        <p:txBody>
          <a:bodyPr wrap="none" rtlCol="0">
            <a:spAutoFit/>
          </a:bodyPr>
          <a:lstStyle/>
          <a:p>
            <a:r>
              <a:rPr lang="en-US" sz="1400"/>
              <a:t>P(2, n)</a:t>
            </a:r>
          </a:p>
        </p:txBody>
      </p:sp>
      <p:graphicFrame>
        <p:nvGraphicFramePr>
          <p:cNvPr id="3" name="Table 2">
            <a:extLst>
              <a:ext uri="{FF2B5EF4-FFF2-40B4-BE49-F238E27FC236}">
                <a16:creationId xmlns:a16="http://schemas.microsoft.com/office/drawing/2014/main" id="{B468A9D0-6092-444A-A62C-EC45B67FBCBF}"/>
              </a:ext>
            </a:extLst>
          </p:cNvPr>
          <p:cNvGraphicFramePr>
            <a:graphicFrameLocks noGrp="1"/>
          </p:cNvGraphicFramePr>
          <p:nvPr>
            <p:extLst>
              <p:ext uri="{D42A27DB-BD31-4B8C-83A1-F6EECF244321}">
                <p14:modId xmlns:p14="http://schemas.microsoft.com/office/powerpoint/2010/main" val="1058683256"/>
              </p:ext>
            </p:extLst>
          </p:nvPr>
        </p:nvGraphicFramePr>
        <p:xfrm>
          <a:off x="571547" y="4102181"/>
          <a:ext cx="5609590" cy="941430"/>
        </p:xfrm>
        <a:graphic>
          <a:graphicData uri="http://schemas.openxmlformats.org/drawingml/2006/table">
            <a:tbl>
              <a:tblPr firstCol="1">
                <a:tableStyleId>{5940675A-B579-460E-94D1-54222C63F5DA}</a:tableStyleId>
              </a:tblPr>
              <a:tblGrid>
                <a:gridCol w="935990">
                  <a:extLst>
                    <a:ext uri="{9D8B030D-6E8A-4147-A177-3AD203B41FA5}">
                      <a16:colId xmlns:a16="http://schemas.microsoft.com/office/drawing/2014/main" val="1730074581"/>
                    </a:ext>
                  </a:extLst>
                </a:gridCol>
                <a:gridCol w="934720">
                  <a:extLst>
                    <a:ext uri="{9D8B030D-6E8A-4147-A177-3AD203B41FA5}">
                      <a16:colId xmlns:a16="http://schemas.microsoft.com/office/drawing/2014/main" val="2910635688"/>
                    </a:ext>
                  </a:extLst>
                </a:gridCol>
                <a:gridCol w="934720">
                  <a:extLst>
                    <a:ext uri="{9D8B030D-6E8A-4147-A177-3AD203B41FA5}">
                      <a16:colId xmlns:a16="http://schemas.microsoft.com/office/drawing/2014/main" val="3666333606"/>
                    </a:ext>
                  </a:extLst>
                </a:gridCol>
                <a:gridCol w="934720">
                  <a:extLst>
                    <a:ext uri="{9D8B030D-6E8A-4147-A177-3AD203B41FA5}">
                      <a16:colId xmlns:a16="http://schemas.microsoft.com/office/drawing/2014/main" val="4148162849"/>
                    </a:ext>
                  </a:extLst>
                </a:gridCol>
                <a:gridCol w="934720">
                  <a:extLst>
                    <a:ext uri="{9D8B030D-6E8A-4147-A177-3AD203B41FA5}">
                      <a16:colId xmlns:a16="http://schemas.microsoft.com/office/drawing/2014/main" val="3571986561"/>
                    </a:ext>
                  </a:extLst>
                </a:gridCol>
                <a:gridCol w="934720">
                  <a:extLst>
                    <a:ext uri="{9D8B030D-6E8A-4147-A177-3AD203B41FA5}">
                      <a16:colId xmlns:a16="http://schemas.microsoft.com/office/drawing/2014/main" val="4221733845"/>
                    </a:ext>
                  </a:extLst>
                </a:gridCol>
              </a:tblGrid>
              <a:tr h="470715">
                <a:tc>
                  <a:txBody>
                    <a:bodyPr/>
                    <a:lstStyle/>
                    <a:p>
                      <a:pPr marL="0" marR="0" algn="ctr">
                        <a:lnSpc>
                          <a:spcPts val="1300"/>
                        </a:lnSpc>
                        <a:spcBef>
                          <a:spcPts val="0"/>
                        </a:spcBef>
                        <a:spcAft>
                          <a:spcPts val="0"/>
                        </a:spcAft>
                      </a:pPr>
                      <a:r>
                        <a:rPr lang="en-US" sz="1000">
                          <a:effectLst/>
                        </a:rPr>
                        <a:t>Burstiness value</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0</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2</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3</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4</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61596519"/>
                  </a:ext>
                </a:extLst>
              </a:tr>
              <a:tr h="470715">
                <a:tc>
                  <a:txBody>
                    <a:bodyPr/>
                    <a:lstStyle/>
                    <a:p>
                      <a:pPr marL="0" marR="0" algn="ctr">
                        <a:lnSpc>
                          <a:spcPts val="1300"/>
                        </a:lnSpc>
                        <a:spcBef>
                          <a:spcPts val="0"/>
                        </a:spcBef>
                        <a:spcAft>
                          <a:spcPts val="0"/>
                        </a:spcAft>
                      </a:pPr>
                      <a:r>
                        <a:rPr lang="en-US" sz="1000">
                          <a:effectLst/>
                        </a:rPr>
                        <a:t>Burstiness time count</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634</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129</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31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2</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56859006"/>
                  </a:ext>
                </a:extLst>
              </a:tr>
            </a:tbl>
          </a:graphicData>
        </a:graphic>
      </p:graphicFrame>
      <p:sp>
        <p:nvSpPr>
          <p:cNvPr id="19" name="Content Placeholder 5">
            <a:extLst>
              <a:ext uri="{FF2B5EF4-FFF2-40B4-BE49-F238E27FC236}">
                <a16:creationId xmlns:a16="http://schemas.microsoft.com/office/drawing/2014/main" id="{3A2130B5-BD62-47D8-B0EA-8A02512107EA}"/>
              </a:ext>
            </a:extLst>
          </p:cNvPr>
          <p:cNvSpPr txBox="1">
            <a:spLocks/>
          </p:cNvSpPr>
          <p:nvPr/>
        </p:nvSpPr>
        <p:spPr>
          <a:xfrm>
            <a:off x="333958" y="2615040"/>
            <a:ext cx="6389569" cy="34389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just">
              <a:buFont typeface="Wingdings" panose="05000000000000000000" pitchFamily="2" charset="2"/>
              <a:buChar char="q"/>
            </a:pPr>
            <a:r>
              <a:rPr lang="en-US" sz="2000">
                <a:latin typeface="Times New Roman" panose="02020603050405020304" pitchFamily="18" charset="0"/>
                <a:ea typeface="Calibri" panose="020F0502020204030204" pitchFamily="34" charset="0"/>
              </a:rPr>
              <a:t>We repeat this process until finish measure link quality period.(reach the number of probe packets).</a:t>
            </a:r>
          </a:p>
          <a:p>
            <a:pPr marL="571500" indent="-571500" algn="just">
              <a:buFont typeface="Wingdings" panose="05000000000000000000" pitchFamily="2" charset="2"/>
              <a:buChar char="q"/>
            </a:pPr>
            <a:r>
              <a:rPr lang="en-US" sz="2000">
                <a:latin typeface="Times New Roman" panose="02020603050405020304" pitchFamily="18" charset="0"/>
                <a:ea typeface="Calibri" panose="020F0502020204030204" pitchFamily="34" charset="0"/>
              </a:rPr>
              <a:t>Finally, we have BDL for each neighbor as follows (with 1000 probe packets):</a:t>
            </a:r>
            <a:endParaRPr lang="en-US" sz="1800">
              <a:latin typeface="Times New Roman" panose="02020603050405020304" pitchFamily="18" charset="0"/>
              <a:ea typeface="Calibri" panose="020F0502020204030204" pitchFamily="34" charset="0"/>
            </a:endParaRPr>
          </a:p>
        </p:txBody>
      </p:sp>
      <p:sp>
        <p:nvSpPr>
          <p:cNvPr id="22" name="TextBox 2">
            <a:extLst>
              <a:ext uri="{FF2B5EF4-FFF2-40B4-BE49-F238E27FC236}">
                <a16:creationId xmlns:a16="http://schemas.microsoft.com/office/drawing/2014/main" id="{8A656034-E310-492E-9B36-2E6EEDEABACF}"/>
              </a:ext>
            </a:extLst>
          </p:cNvPr>
          <p:cNvSpPr txBox="1"/>
          <p:nvPr/>
        </p:nvSpPr>
        <p:spPr>
          <a:xfrm>
            <a:off x="1324244" y="5137007"/>
            <a:ext cx="4004814" cy="307777"/>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a:latin typeface="Times New Roman" panose="02020603050405020304" pitchFamily="18" charset="0"/>
                <a:cs typeface="Times New Roman" panose="02020603050405020304" pitchFamily="18" charset="0"/>
              </a:rPr>
              <a:t>Table 1. The example of Burstiness Distribution List.</a:t>
            </a:r>
          </a:p>
        </p:txBody>
      </p:sp>
    </p:spTree>
    <p:extLst>
      <p:ext uri="{BB962C8B-B14F-4D97-AF65-F5344CB8AC3E}">
        <p14:creationId xmlns:p14="http://schemas.microsoft.com/office/powerpoint/2010/main" val="2989874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Burstiness Distribution compare with link PRR</a:t>
            </a:r>
            <a:endParaRPr lang="en-US" b="1">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9847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19</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4715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56160" y="1330718"/>
            <a:ext cx="4738613" cy="3631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520700" algn="just">
              <a:buFont typeface="Wingdings" panose="05000000000000000000" pitchFamily="2" charset="2"/>
              <a:buChar char="q"/>
            </a:pPr>
            <a:r>
              <a:rPr lang="en-US" sz="2000">
                <a:solidFill>
                  <a:srgbClr val="FF0000"/>
                </a:solidFill>
                <a:latin typeface="Times New Roman" panose="02020603050405020304" pitchFamily="18" charset="0"/>
                <a:cs typeface="Times New Roman" panose="02020603050405020304" pitchFamily="18" charset="0"/>
              </a:rPr>
              <a:t>Good link</a:t>
            </a:r>
            <a:r>
              <a:rPr lang="en-US" sz="2000">
                <a:latin typeface="Times New Roman" panose="02020603050405020304" pitchFamily="18" charset="0"/>
                <a:cs typeface="Times New Roman" panose="02020603050405020304" pitchFamily="18" charset="0"/>
              </a:rPr>
              <a:t>: the burstiness value will be small while the burstiness time count will be large at the min burstiness value.</a:t>
            </a: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r>
              <a:rPr lang="en-US" sz="2000">
                <a:solidFill>
                  <a:srgbClr val="FF0000"/>
                </a:solidFill>
                <a:latin typeface="Times New Roman" panose="02020603050405020304" pitchFamily="18" charset="0"/>
                <a:cs typeface="Times New Roman" panose="02020603050405020304" pitchFamily="18" charset="0"/>
              </a:rPr>
              <a:t>Bad link</a:t>
            </a:r>
            <a:r>
              <a:rPr lang="en-US" sz="2000">
                <a:latin typeface="Times New Roman" panose="02020603050405020304" pitchFamily="18" charset="0"/>
                <a:cs typeface="Times New Roman" panose="02020603050405020304" pitchFamily="18" charset="0"/>
              </a:rPr>
              <a:t>: the higher burstiness value and the burstiness time count will be low at the min burstiness value.</a:t>
            </a:r>
          </a:p>
        </p:txBody>
      </p:sp>
      <p:pic>
        <p:nvPicPr>
          <p:cNvPr id="14"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pic>
        <p:nvPicPr>
          <p:cNvPr id="9" name="Picture 8">
            <a:extLst>
              <a:ext uri="{FF2B5EF4-FFF2-40B4-BE49-F238E27FC236}">
                <a16:creationId xmlns:a16="http://schemas.microsoft.com/office/drawing/2014/main" id="{8D7F1A22-C7F1-46DE-BCDA-AEF783F75619}"/>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960087" y="1554957"/>
            <a:ext cx="4509109" cy="2819507"/>
          </a:xfrm>
          <a:prstGeom prst="rect">
            <a:avLst/>
          </a:prstGeom>
          <a:noFill/>
          <a:ln>
            <a:noFill/>
          </a:ln>
        </p:spPr>
      </p:pic>
      <p:sp>
        <p:nvSpPr>
          <p:cNvPr id="3" name="TextBox 2">
            <a:extLst>
              <a:ext uri="{FF2B5EF4-FFF2-40B4-BE49-F238E27FC236}">
                <a16:creationId xmlns:a16="http://schemas.microsoft.com/office/drawing/2014/main" id="{8A656034-E310-492E-9B36-2E6EEDEABACF}"/>
              </a:ext>
            </a:extLst>
          </p:cNvPr>
          <p:cNvSpPr txBox="1"/>
          <p:nvPr/>
        </p:nvSpPr>
        <p:spPr>
          <a:xfrm>
            <a:off x="5272551" y="4266294"/>
            <a:ext cx="4520725"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Fig 1. The distribution of Burstiness compare with link PRR</a:t>
            </a:r>
          </a:p>
        </p:txBody>
      </p:sp>
    </p:spTree>
    <p:extLst>
      <p:ext uri="{BB962C8B-B14F-4D97-AF65-F5344CB8AC3E}">
        <p14:creationId xmlns:p14="http://schemas.microsoft.com/office/powerpoint/2010/main" val="2870957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3200">
                <a:latin typeface="Times New Roman" panose="02020603050405020304" pitchFamily="18" charset="0"/>
                <a:cs typeface="Times New Roman" panose="02020603050405020304" pitchFamily="18" charset="0"/>
              </a:rPr>
              <a:t>Calculate Burstiness Distribution Metric</a:t>
            </a:r>
            <a:endParaRPr lang="en-US" sz="3200" b="1">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9847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20</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4715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56160" y="1330718"/>
                <a:ext cx="6414969" cy="4882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The number of transmissions estimated by our method called Burstiness Distribution Metric (Bdist).</a:t>
                </a:r>
              </a:p>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We assume that a target PRR is considered, then we calculate the possible loss ratio for each link and determine the Bdist value from BDL.</a:t>
                </a:r>
              </a:p>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For example, with target PRR 99% for the data transmission period, the loss ratio should lower than 1% for each link.</a:t>
                </a:r>
              </a:p>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If the route has h hops, then every link L(i, j) that the route goes through have a loss ratio lower than:</a:t>
                </a:r>
              </a:p>
              <a:p>
                <a:pPr marL="0" indent="0" algn="ctr">
                  <a:buNone/>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𝑒</m:t>
                        </m:r>
                        <m:r>
                          <a:rPr lang="en-US" sz="1800" i="1">
                            <a:latin typeface="Cambria Math" panose="02040503050406030204" pitchFamily="18" charset="0"/>
                          </a:rPr>
                          <m:t>2</m:t>
                        </m:r>
                        <m:r>
                          <a:rPr lang="en-US" sz="1800" i="1">
                            <a:latin typeface="Cambria Math" panose="02040503050406030204" pitchFamily="18" charset="0"/>
                          </a:rPr>
                          <m:t>𝑒</m:t>
                        </m:r>
                      </m:e>
                      <m:sub>
                        <m:r>
                          <a:rPr lang="en-US" sz="1800" i="1">
                            <a:latin typeface="Cambria Math" panose="02040503050406030204" pitchFamily="18" charset="0"/>
                          </a:rPr>
                          <m:t>𝑙𝑜𝑠𝑠</m:t>
                        </m:r>
                        <m:r>
                          <a:rPr lang="en-US" sz="1800" i="1">
                            <a:latin typeface="Cambria Math" panose="02040503050406030204" pitchFamily="18" charset="0"/>
                          </a:rPr>
                          <m:t> </m:t>
                        </m:r>
                        <m:r>
                          <a:rPr lang="en-US" sz="1800" i="1">
                            <a:latin typeface="Cambria Math" panose="02040503050406030204" pitchFamily="18" charset="0"/>
                          </a:rPr>
                          <m:t>𝑟𝑎𝑡𝑖𝑜</m:t>
                        </m:r>
                      </m:sub>
                    </m:sSub>
                    <m:r>
                      <a:rPr lang="en-US" sz="1800">
                        <a:latin typeface="Cambria Math" panose="02040503050406030204" pitchFamily="18" charset="0"/>
                      </a:rPr>
                      <m:t>=1</m:t>
                    </m:r>
                    <m:r>
                      <a:rPr lang="en-US" sz="1800" i="1">
                        <a:latin typeface="Cambria Math" panose="02040503050406030204" pitchFamily="18" charset="0"/>
                      </a:rPr>
                      <m:t>−</m:t>
                    </m:r>
                    <m:r>
                      <a:rPr lang="en-US" sz="1800">
                        <a:latin typeface="Cambria Math" panose="02040503050406030204" pitchFamily="18" charset="0"/>
                      </a:rPr>
                      <m:t> </m:t>
                    </m:r>
                    <m:rad>
                      <m:radPr>
                        <m:ctrlPr>
                          <a:rPr lang="en-US" sz="1800" i="1">
                            <a:latin typeface="Cambria Math" panose="02040503050406030204" pitchFamily="18" charset="0"/>
                          </a:rPr>
                        </m:ctrlPr>
                      </m:radPr>
                      <m:deg>
                        <m:r>
                          <a:rPr lang="en-US" sz="1800" i="1">
                            <a:latin typeface="Cambria Math" panose="02040503050406030204" pitchFamily="18" charset="0"/>
                          </a:rPr>
                          <m:t>h</m:t>
                        </m:r>
                      </m:deg>
                      <m:e>
                        <m:sSub>
                          <m:sSubPr>
                            <m:ctrlPr>
                              <a:rPr lang="en-US" sz="1800" i="1">
                                <a:latin typeface="Cambria Math" panose="02040503050406030204" pitchFamily="18" charset="0"/>
                              </a:rPr>
                            </m:ctrlPr>
                          </m:sSubPr>
                          <m:e>
                            <m:r>
                              <a:rPr lang="en-US" sz="1800" i="1">
                                <a:latin typeface="Cambria Math" panose="02040503050406030204" pitchFamily="18" charset="0"/>
                              </a:rPr>
                              <m:t>𝑃𝑅𝑅</m:t>
                            </m:r>
                          </m:e>
                          <m:sub>
                            <m:r>
                              <a:rPr lang="en-US" sz="1800" i="1">
                                <a:latin typeface="Cambria Math" panose="02040503050406030204" pitchFamily="18" charset="0"/>
                              </a:rPr>
                              <m:t>𝑡𝑎𝑟𝑔𝑒𝑡</m:t>
                            </m:r>
                          </m:sub>
                        </m:sSub>
                      </m:e>
                    </m:rad>
                  </m:oMath>
                </a14:m>
                <a:r>
                  <a:rPr lang="en-US" sz="1800">
                    <a:latin typeface="Times New Roman" panose="02020603050405020304" pitchFamily="18" charset="0"/>
                    <a:cs typeface="Times New Roman" panose="02020603050405020304" pitchFamily="18" charset="0"/>
                  </a:rPr>
                  <a:t> (1)</a:t>
                </a:r>
              </a:p>
              <a:p>
                <a:pPr marL="0" indent="0">
                  <a:buNone/>
                </a:pPr>
                <a:r>
                  <a:rPr lang="en-US" sz="1800">
                    <a:latin typeface="Times New Roman" panose="02020603050405020304" pitchFamily="18" charset="0"/>
                    <a:cs typeface="Times New Roman" panose="02020603050405020304" pitchFamily="18" charset="0"/>
                  </a:rPr>
                  <a:t>in which,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𝑒</m:t>
                        </m:r>
                        <m:r>
                          <a:rPr lang="en-US" sz="1800" i="1">
                            <a:latin typeface="Cambria Math" panose="02040503050406030204" pitchFamily="18" charset="0"/>
                          </a:rPr>
                          <m:t>2</m:t>
                        </m:r>
                        <m:r>
                          <a:rPr lang="en-US" sz="1800" i="1">
                            <a:latin typeface="Cambria Math" panose="02040503050406030204" pitchFamily="18" charset="0"/>
                          </a:rPr>
                          <m:t>𝑒</m:t>
                        </m:r>
                      </m:e>
                      <m:sub>
                        <m:r>
                          <a:rPr lang="en-US" sz="1800" i="1">
                            <a:latin typeface="Cambria Math" panose="02040503050406030204" pitchFamily="18" charset="0"/>
                          </a:rPr>
                          <m:t>𝑙𝑜𝑠𝑠</m:t>
                        </m:r>
                        <m:r>
                          <a:rPr lang="en-US" sz="1800" i="1">
                            <a:latin typeface="Cambria Math" panose="02040503050406030204" pitchFamily="18" charset="0"/>
                          </a:rPr>
                          <m:t> </m:t>
                        </m:r>
                        <m:r>
                          <a:rPr lang="en-US" sz="1800" i="1">
                            <a:latin typeface="Cambria Math" panose="02040503050406030204" pitchFamily="18" charset="0"/>
                          </a:rPr>
                          <m:t>𝑟𝑎𝑡𝑖𝑜</m:t>
                        </m:r>
                      </m:sub>
                    </m:sSub>
                    <m:r>
                      <a:rPr lang="en-US" sz="1800" b="0" i="0" smtClean="0">
                        <a:latin typeface="Cambria Math" panose="02040503050406030204" pitchFamily="18" charset="0"/>
                      </a:rPr>
                      <m:t> </m:t>
                    </m:r>
                    <m:r>
                      <m:rPr>
                        <m:sty m:val="p"/>
                      </m:rPr>
                      <a:rPr lang="en-US" sz="1800" b="0" i="0" smtClean="0">
                        <a:latin typeface="Cambria Math" panose="02040503050406030204" pitchFamily="18" charset="0"/>
                      </a:rPr>
                      <m:t>is</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the</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end</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to</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end</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loss</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ratio</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h</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is</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the</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hop</m:t>
                    </m:r>
                    <m:r>
                      <a:rPr lang="en-US" sz="1800" b="0" i="0" smtClean="0">
                        <a:latin typeface="Cambria Math" panose="02040503050406030204" pitchFamily="18" charset="0"/>
                      </a:rPr>
                      <m:t> </m:t>
                    </m:r>
                    <m:r>
                      <m:rPr>
                        <m:sty m:val="p"/>
                      </m:rPr>
                      <a:rPr lang="en-US" sz="1800" b="0" i="0" smtClean="0">
                        <a:latin typeface="Cambria Math" panose="02040503050406030204" pitchFamily="18" charset="0"/>
                      </a:rPr>
                      <m:t>count</m:t>
                    </m:r>
                  </m:oMath>
                </a14:m>
                <a:endParaRPr lang="en-US" sz="1800">
                  <a:latin typeface="Times New Roman" panose="02020603050405020304" pitchFamily="18" charset="0"/>
                  <a:cs typeface="Times New Roman" panose="02020603050405020304" pitchFamily="18" charset="0"/>
                </a:endParaRPr>
              </a:p>
            </p:txBody>
          </p:sp>
        </mc:Choice>
        <mc:Fallback>
          <p:sp>
            <p:nvSpPr>
              <p:cNvPr id="13" name="Content Placeholder 5">
                <a:extLst>
                  <a:ext uri="{FF2B5EF4-FFF2-40B4-BE49-F238E27FC236}">
                    <a16:creationId xmlns:a16="http://schemas.microsoft.com/office/drawing/2014/main" id="{140D26CF-C9AE-45EF-9A32-A1E229B08456}"/>
                  </a:ext>
                </a:extLst>
              </p:cNvPr>
              <p:cNvSpPr txBox="1">
                <a:spLocks noRot="1" noChangeAspect="1" noMove="1" noResize="1" noEditPoints="1" noAdjustHandles="1" noChangeArrowheads="1" noChangeShapeType="1" noTextEdit="1"/>
              </p:cNvSpPr>
              <p:nvPr/>
            </p:nvSpPr>
            <p:spPr>
              <a:xfrm>
                <a:off x="156160" y="1330718"/>
                <a:ext cx="6414969" cy="4882890"/>
              </a:xfrm>
              <a:prstGeom prst="rect">
                <a:avLst/>
              </a:prstGeom>
              <a:blipFill>
                <a:blip r:embed="rId3"/>
                <a:stretch>
                  <a:fillRect l="-856" t="-1248" r="-951"/>
                </a:stretch>
              </a:blipFill>
            </p:spPr>
            <p:txBody>
              <a:bodyPr/>
              <a:lstStyle/>
              <a:p>
                <a:r>
                  <a:rPr lang="en-US">
                    <a:noFill/>
                  </a:rPr>
                  <a:t> </a:t>
                </a:r>
              </a:p>
            </p:txBody>
          </p:sp>
        </mc:Fallback>
      </mc:AlternateContent>
      <p:pic>
        <p:nvPicPr>
          <p:cNvPr id="14" name="Content Placeholder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pic>
        <p:nvPicPr>
          <p:cNvPr id="6" name="Picture 5">
            <a:extLst>
              <a:ext uri="{FF2B5EF4-FFF2-40B4-BE49-F238E27FC236}">
                <a16:creationId xmlns:a16="http://schemas.microsoft.com/office/drawing/2014/main" id="{1228B63D-72E5-4C63-848A-3217509380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1128" y="1487182"/>
            <a:ext cx="5498951" cy="3883635"/>
          </a:xfrm>
          <a:prstGeom prst="rect">
            <a:avLst/>
          </a:prstGeom>
        </p:spPr>
      </p:pic>
    </p:spTree>
    <p:extLst>
      <p:ext uri="{BB962C8B-B14F-4D97-AF65-F5344CB8AC3E}">
        <p14:creationId xmlns:p14="http://schemas.microsoft.com/office/powerpoint/2010/main" val="1564282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3200" dirty="0">
                <a:latin typeface="Times New Roman" panose="02020603050405020304" pitchFamily="18" charset="0"/>
                <a:cs typeface="Times New Roman" panose="02020603050405020304" pitchFamily="18" charset="0"/>
              </a:rPr>
              <a:t>Calculate </a:t>
            </a:r>
            <a:r>
              <a:rPr lang="en-US" sz="3200" dirty="0" err="1">
                <a:latin typeface="Times New Roman" panose="02020603050405020304" pitchFamily="18" charset="0"/>
                <a:cs typeface="Times New Roman" panose="02020603050405020304" pitchFamily="18" charset="0"/>
              </a:rPr>
              <a:t>Burstiness</a:t>
            </a:r>
            <a:r>
              <a:rPr lang="en-US" sz="3200" dirty="0">
                <a:latin typeface="Times New Roman" panose="02020603050405020304" pitchFamily="18" charset="0"/>
                <a:cs typeface="Times New Roman" panose="02020603050405020304" pitchFamily="18" charset="0"/>
              </a:rPr>
              <a:t> Distribution Metric</a:t>
            </a:r>
            <a:endParaRPr lang="en-US" sz="3200" b="1" dirty="0">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9847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21</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4715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mc:AlternateContent xmlns:mc="http://schemas.openxmlformats.org/markup-compatibility/2006">
        <mc:Choice xmlns:a14="http://schemas.microsoft.com/office/drawing/2010/main" Requires="a14">
          <p:sp>
            <p:nvSpPr>
              <p:cNvPr id="15" name="Content Placeholder 5">
                <a:extLst>
                  <a:ext uri="{FF2B5EF4-FFF2-40B4-BE49-F238E27FC236}">
                    <a16:creationId xmlns:a16="http://schemas.microsoft.com/office/drawing/2014/main" id="{0779D318-9919-4E7C-9011-4237F404FC37}"/>
                  </a:ext>
                </a:extLst>
              </p:cNvPr>
              <p:cNvSpPr txBox="1">
                <a:spLocks/>
              </p:cNvSpPr>
              <p:nvPr/>
            </p:nvSpPr>
            <p:spPr>
              <a:xfrm>
                <a:off x="156160" y="1330718"/>
                <a:ext cx="6414969" cy="4882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5207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We can calculate the packet loss threshold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b="0" i="1" smtClean="0">
                            <a:latin typeface="Cambria Math" panose="02040503050406030204" pitchFamily="18" charset="0"/>
                            <a:cs typeface="Times New Roman" panose="02020603050405020304" pitchFamily="18" charset="0"/>
                          </a:rPr>
                          <m:t>𝑙𝑜𝑠𝑠</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𝑡h𝑟𝑒𝑠h𝑜𝑙𝑑</m:t>
                        </m:r>
                      </m:sub>
                    </m:sSub>
                  </m:oMath>
                </a14:m>
                <a:r>
                  <a:rPr lang="en-US" sz="2000" dirty="0">
                    <a:latin typeface="Times New Roman" panose="02020603050405020304" pitchFamily="18" charset="0"/>
                    <a:cs typeface="Times New Roman" panose="02020603050405020304" pitchFamily="18" charset="0"/>
                  </a:rPr>
                  <a:t>) corresponding with the number of probes (</a:t>
                </a:r>
                <a:r>
                  <a:rPr lang="en-US" sz="2000" dirty="0" err="1">
                    <a:latin typeface="Times New Roman" panose="02020603050405020304" pitchFamily="18" charset="0"/>
                    <a:cs typeface="Times New Roman" panose="02020603050405020304" pitchFamily="18" charset="0"/>
                  </a:rPr>
                  <a:t>Nprobes</a:t>
                </a:r>
                <a:r>
                  <a:rPr lang="en-US" sz="2000" dirty="0">
                    <a:latin typeface="Times New Roman" panose="02020603050405020304" pitchFamily="18" charset="0"/>
                    <a:cs typeface="Times New Roman" panose="02020603050405020304" pitchFamily="18" charset="0"/>
                  </a:rPr>
                  <a:t>) we use in measure link quality period:</a:t>
                </a:r>
              </a:p>
              <a:p>
                <a:pPr marL="0" indent="0" algn="ctr">
                  <a:buNone/>
                </a:pPr>
                <a:endParaRPr lang="en-US" sz="1800" i="1">
                  <a:latin typeface="Cambria Math" panose="020405030504060302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𝑁</m:t>
                          </m:r>
                        </m:e>
                        <m:sub>
                          <m:r>
                            <a:rPr lang="en-US" sz="1800" b="0" i="1" smtClean="0">
                              <a:latin typeface="Cambria Math" panose="02040503050406030204" pitchFamily="18" charset="0"/>
                              <a:cs typeface="Times New Roman" panose="02020603050405020304" pitchFamily="18" charset="0"/>
                            </a:rPr>
                            <m:t>𝑙𝑜𝑠𝑠</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𝑡h𝑟𝑒𝑠h𝑜𝑙𝑑</m:t>
                          </m:r>
                        </m:sub>
                      </m:sSub>
                      <m:r>
                        <a:rPr lang="en-US" sz="1800" b="0" i="1" smtClean="0">
                          <a:latin typeface="Cambria Math" panose="02040503050406030204" pitchFamily="18" charset="0"/>
                          <a:cs typeface="Times New Roman" panose="02020603050405020304" pitchFamily="18" charset="0"/>
                        </a:rPr>
                        <m:t>=</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𝑒</m:t>
                          </m:r>
                          <m:r>
                            <a:rPr lang="en-US" sz="1800" b="0" i="1" smtClean="0">
                              <a:latin typeface="Cambria Math" panose="02040503050406030204" pitchFamily="18" charset="0"/>
                              <a:cs typeface="Times New Roman" panose="02020603050405020304" pitchFamily="18" charset="0"/>
                            </a:rPr>
                            <m:t>2</m:t>
                          </m:r>
                          <m:r>
                            <a:rPr lang="en-US" sz="1800" b="0" i="1" smtClean="0">
                              <a:latin typeface="Cambria Math" panose="02040503050406030204" pitchFamily="18" charset="0"/>
                              <a:cs typeface="Times New Roman" panose="02020603050405020304" pitchFamily="18" charset="0"/>
                            </a:rPr>
                            <m:t>𝑒</m:t>
                          </m:r>
                        </m:e>
                        <m:sub>
                          <m:r>
                            <a:rPr lang="en-US" sz="1800" b="0" i="1" smtClean="0">
                              <a:latin typeface="Cambria Math" panose="02040503050406030204" pitchFamily="18" charset="0"/>
                              <a:cs typeface="Times New Roman" panose="02020603050405020304" pitchFamily="18" charset="0"/>
                            </a:rPr>
                            <m:t>𝑙𝑜𝑠𝑠</m:t>
                          </m:r>
                          <m:r>
                            <a:rPr lang="en-US" sz="1800" b="0" i="1" smtClean="0">
                              <a:latin typeface="Cambria Math" panose="02040503050406030204" pitchFamily="18" charset="0"/>
                              <a:cs typeface="Times New Roman" panose="02020603050405020304" pitchFamily="18" charset="0"/>
                            </a:rPr>
                            <m:t> </m:t>
                          </m:r>
                          <m:r>
                            <a:rPr lang="en-US" sz="1800" b="0" i="1" smtClean="0">
                              <a:latin typeface="Cambria Math" panose="02040503050406030204" pitchFamily="18" charset="0"/>
                              <a:cs typeface="Times New Roman" panose="02020603050405020304" pitchFamily="18" charset="0"/>
                            </a:rPr>
                            <m:t>𝑟𝑎𝑡𝑖𝑜</m:t>
                          </m:r>
                        </m:sub>
                      </m:sSub>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𝑁𝑝𝑟𝑜𝑏𝑒𝑠</m:t>
                      </m:r>
                      <m:r>
                        <a:rPr lang="en-US" sz="1800" b="0" i="1" smtClean="0">
                          <a:latin typeface="Cambria Math" panose="02040503050406030204" pitchFamily="18" charset="0"/>
                          <a:cs typeface="Times New Roman" panose="02020603050405020304" pitchFamily="18" charset="0"/>
                        </a:rPr>
                        <m:t> (2)</m:t>
                      </m:r>
                    </m:oMath>
                  </m:oMathPara>
                </a14:m>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We have current packet loss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b="0" i="1" smtClean="0">
                            <a:latin typeface="Cambria Math" panose="02040503050406030204" pitchFamily="18" charset="0"/>
                            <a:cs typeface="Times New Roman" panose="02020603050405020304" pitchFamily="18" charset="0"/>
                          </a:rPr>
                          <m:t>𝑐𝑢𝑟𝑟𝑒𝑛𝑡</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𝑙𝑜𝑠𝑠</m:t>
                        </m:r>
                      </m:sub>
                    </m:sSub>
                  </m:oMath>
                </a14:m>
                <a:r>
                  <a:rPr lang="en-US" sz="2000" dirty="0">
                    <a:latin typeface="Times New Roman" panose="02020603050405020304" pitchFamily="18" charset="0"/>
                    <a:cs typeface="Times New Roman" panose="02020603050405020304" pitchFamily="18" charset="0"/>
                  </a:rPr>
                  <a:t>) initialize </a:t>
                </a:r>
                <a:r>
                  <a:rPr lang="en-US" sz="2000">
                    <a:latin typeface="Times New Roman" panose="02020603050405020304" pitchFamily="18" charset="0"/>
                    <a:cs typeface="Times New Roman" panose="02020603050405020304" pitchFamily="18" charset="0"/>
                  </a:rPr>
                  <a:t>is the burstiness time count of Bmax.</a:t>
                </a:r>
              </a:p>
              <a:p>
                <a:pP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Bdist</a:t>
                </a:r>
                <a:r>
                  <a:rPr lang="en-US" sz="2000" dirty="0">
                    <a:latin typeface="Times New Roman" panose="02020603050405020304" pitchFamily="18" charset="0"/>
                    <a:cs typeface="Times New Roman" panose="02020603050405020304" pitchFamily="18" charset="0"/>
                  </a:rPr>
                  <a:t> is set equal to the </a:t>
                </a:r>
                <a:r>
                  <a:rPr lang="en-US" sz="2000" err="1">
                    <a:latin typeface="Times New Roman" panose="02020603050405020304" pitchFamily="18" charset="0"/>
                    <a:cs typeface="Times New Roman" panose="02020603050405020304" pitchFamily="18" charset="0"/>
                  </a:rPr>
                  <a:t>burstiness</a:t>
                </a:r>
                <a:r>
                  <a:rPr lang="en-US" sz="2000">
                    <a:latin typeface="Times New Roman" panose="02020603050405020304" pitchFamily="18" charset="0"/>
                    <a:cs typeface="Times New Roman" panose="02020603050405020304" pitchFamily="18" charset="0"/>
                  </a:rPr>
                  <a:t> value + 1 </a:t>
                </a:r>
                <a:r>
                  <a:rPr lang="en-US" sz="2000" dirty="0">
                    <a:latin typeface="Times New Roman" panose="02020603050405020304" pitchFamily="18" charset="0"/>
                    <a:cs typeface="Times New Roman" panose="02020603050405020304" pitchFamily="18" charset="0"/>
                  </a:rPr>
                  <a:t>such that the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oMath>
                </a14:m>
                <a:r>
                  <a:rPr lang="en-US" sz="2000" dirty="0">
                    <a:latin typeface="Times New Roman" panose="02020603050405020304" pitchFamily="18" charset="0"/>
                    <a:cs typeface="Times New Roman" panose="02020603050405020304" pitchFamily="18" charset="0"/>
                  </a:rPr>
                  <a:t> lower or equal </a:t>
                </a:r>
                <a:r>
                  <a:rPr lang="en-US" sz="2000">
                    <a:latin typeface="Times New Roman" panose="02020603050405020304" pitchFamily="18" charset="0"/>
                    <a:cs typeface="Times New Roman" panose="02020603050405020304" pitchFamily="18" charset="0"/>
                  </a:rPr>
                  <a:t>to</a:t>
                </a:r>
                <a:r>
                  <a:rPr lang="en-US" sz="200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𝑙𝑜𝑠𝑠</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𝑡h𝑟𝑒𝑠h𝑜𝑙𝑑</m:t>
                        </m:r>
                      </m:sub>
                    </m:sSub>
                  </m:oMath>
                </a14:m>
                <a:r>
                  <a:rPr lang="en-US" sz="2000">
                    <a:latin typeface="Times New Roman" panose="02020603050405020304" pitchFamily="18" charset="0"/>
                    <a:cs typeface="Times New Roman" panose="02020603050405020304" pitchFamily="18" charset="0"/>
                  </a:rPr>
                  <a:t> we </a:t>
                </a:r>
                <a:r>
                  <a:rPr lang="en-US" sz="2000" dirty="0">
                    <a:latin typeface="Times New Roman" panose="02020603050405020304" pitchFamily="18" charset="0"/>
                    <a:cs typeface="Times New Roman" panose="02020603050405020304" pitchFamily="18" charset="0"/>
                  </a:rPr>
                  <a:t>calculated by </a:t>
                </a:r>
                <a:r>
                  <a:rPr lang="en-US" sz="2000" dirty="0" err="1">
                    <a:latin typeface="Times New Roman" panose="02020603050405020304" pitchFamily="18" charset="0"/>
                    <a:cs typeface="Times New Roman" panose="02020603050405020304" pitchFamily="18" charset="0"/>
                  </a:rPr>
                  <a:t>burstiness</a:t>
                </a:r>
                <a:r>
                  <a:rPr lang="en-US" sz="2000" dirty="0">
                    <a:latin typeface="Times New Roman" panose="02020603050405020304" pitchFamily="18" charset="0"/>
                    <a:cs typeface="Times New Roman" panose="02020603050405020304" pitchFamily="18" charset="0"/>
                  </a:rPr>
                  <a:t> time count from BDL.</a:t>
                </a:r>
              </a:p>
            </p:txBody>
          </p:sp>
        </mc:Choice>
        <mc:Fallback>
          <p:sp>
            <p:nvSpPr>
              <p:cNvPr id="15" name="Content Placeholder 5">
                <a:extLst>
                  <a:ext uri="{FF2B5EF4-FFF2-40B4-BE49-F238E27FC236}">
                    <a16:creationId xmlns:a16="http://schemas.microsoft.com/office/drawing/2014/main" id="{0779D318-9919-4E7C-9011-4237F404FC37}"/>
                  </a:ext>
                </a:extLst>
              </p:cNvPr>
              <p:cNvSpPr txBox="1">
                <a:spLocks noRot="1" noChangeAspect="1" noMove="1" noResize="1" noEditPoints="1" noAdjustHandles="1" noChangeArrowheads="1" noChangeShapeType="1" noTextEdit="1"/>
              </p:cNvSpPr>
              <p:nvPr/>
            </p:nvSpPr>
            <p:spPr>
              <a:xfrm>
                <a:off x="156160" y="1330718"/>
                <a:ext cx="6414969" cy="4882890"/>
              </a:xfrm>
              <a:prstGeom prst="rect">
                <a:avLst/>
              </a:prstGeom>
              <a:blipFill>
                <a:blip r:embed="rId4"/>
                <a:stretch>
                  <a:fillRect l="-856" t="-1248" r="-951"/>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4DD80F79-774C-4A5C-8A7A-651E75936E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1128" y="1487182"/>
            <a:ext cx="5498951" cy="3883635"/>
          </a:xfrm>
          <a:prstGeom prst="rect">
            <a:avLst/>
          </a:prstGeom>
        </p:spPr>
      </p:pic>
    </p:spTree>
    <p:extLst>
      <p:ext uri="{BB962C8B-B14F-4D97-AF65-F5344CB8AC3E}">
        <p14:creationId xmlns:p14="http://schemas.microsoft.com/office/powerpoint/2010/main" val="3975650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3200">
                <a:latin typeface="Times New Roman" panose="02020603050405020304" pitchFamily="18" charset="0"/>
                <a:cs typeface="Times New Roman" panose="02020603050405020304" pitchFamily="18" charset="0"/>
              </a:rPr>
              <a:t>Calculate Burstiness Distribution Metric</a:t>
            </a:r>
            <a:endParaRPr lang="en-US" sz="3200" b="1">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9847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22</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4715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mc:AlternateContent xmlns:mc="http://schemas.openxmlformats.org/markup-compatibility/2006">
        <mc:Choice xmlns:a14="http://schemas.microsoft.com/office/drawing/2010/main" Requires="a14">
          <p:sp>
            <p:nvSpPr>
              <p:cNvPr id="15" name="Content Placeholder 5">
                <a:extLst>
                  <a:ext uri="{FF2B5EF4-FFF2-40B4-BE49-F238E27FC236}">
                    <a16:creationId xmlns:a16="http://schemas.microsoft.com/office/drawing/2014/main" id="{0779D318-9919-4E7C-9011-4237F404FC37}"/>
                  </a:ext>
                </a:extLst>
              </p:cNvPr>
              <p:cNvSpPr txBox="1">
                <a:spLocks/>
              </p:cNvSpPr>
              <p:nvPr/>
            </p:nvSpPr>
            <p:spPr>
              <a:xfrm>
                <a:off x="156160" y="1330718"/>
                <a:ext cx="6414969" cy="4882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Ex: With target PRR 99% for 1-hop node has BDL after 1000 probe packets measure link quality as follow:</a:t>
                </a: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We have: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𝑒</m:t>
                        </m:r>
                        <m:r>
                          <a:rPr lang="en-US" sz="2000" b="0" i="1" smtClean="0">
                            <a:latin typeface="Cambria Math" panose="02040503050406030204" pitchFamily="18" charset="0"/>
                            <a:cs typeface="Times New Roman" panose="02020603050405020304" pitchFamily="18" charset="0"/>
                          </a:rPr>
                          <m:t>2</m:t>
                        </m:r>
                        <m:r>
                          <a:rPr lang="en-US" sz="2000" b="0" i="1" smtClean="0">
                            <a:latin typeface="Cambria Math" panose="02040503050406030204" pitchFamily="18" charset="0"/>
                            <a:cs typeface="Times New Roman" panose="02020603050405020304" pitchFamily="18" charset="0"/>
                          </a:rPr>
                          <m:t>𝑒</m:t>
                        </m:r>
                      </m:e>
                      <m:sub>
                        <m:r>
                          <a:rPr lang="en-US" sz="2000" b="0" i="1" smtClean="0">
                            <a:latin typeface="Cambria Math" panose="02040503050406030204" pitchFamily="18" charset="0"/>
                            <a:cs typeface="Times New Roman" panose="02020603050405020304" pitchFamily="18" charset="0"/>
                          </a:rPr>
                          <m:t>𝑙𝑜𝑠𝑠</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𝑟𝑎𝑡𝑖𝑜</m:t>
                        </m:r>
                      </m:sub>
                    </m:sSub>
                    <m:r>
                      <a:rPr lang="en-US" sz="2000" b="0" i="1" smtClean="0">
                        <a:latin typeface="Cambria Math" panose="02040503050406030204" pitchFamily="18" charset="0"/>
                        <a:cs typeface="Times New Roman" panose="02020603050405020304" pitchFamily="18" charset="0"/>
                      </a:rPr>
                      <m:t>=1 −0.99= </m:t>
                    </m:r>
                  </m:oMath>
                </a14:m>
                <a:r>
                  <a:rPr lang="en-US" sz="2000">
                    <a:latin typeface="Times New Roman" panose="02020603050405020304" pitchFamily="18" charset="0"/>
                    <a:cs typeface="Times New Roman" panose="02020603050405020304" pitchFamily="18" charset="0"/>
                  </a:rPr>
                  <a:t>0.01</a:t>
                </a:r>
              </a:p>
              <a:p>
                <a:pPr marL="520700" indent="-520700" algn="just">
                  <a:buFont typeface="Wingdings" panose="05000000000000000000" pitchFamily="2" charset="2"/>
                  <a:buChar char="q"/>
                </a:pP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b="0" i="1" smtClean="0">
                            <a:latin typeface="Cambria Math" panose="02040503050406030204" pitchFamily="18" charset="0"/>
                            <a:cs typeface="Times New Roman" panose="02020603050405020304" pitchFamily="18" charset="0"/>
                          </a:rPr>
                          <m:t>𝑙𝑜𝑠𝑠</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𝑡h𝑟𝑒𝑠h𝑜𝑙𝑑</m:t>
                        </m:r>
                      </m:sub>
                    </m:sSub>
                    <m:r>
                      <a:rPr lang="en-US" sz="2000" b="0" i="1" smtClean="0">
                        <a:latin typeface="Cambria Math" panose="02040503050406030204" pitchFamily="18" charset="0"/>
                        <a:cs typeface="Times New Roman" panose="02020603050405020304" pitchFamily="18" charset="0"/>
                      </a:rPr>
                      <m:t>=0.01 ∗1000=10 (</m:t>
                    </m:r>
                    <m:r>
                      <a:rPr lang="en-US" sz="2000" b="0" i="1" smtClean="0">
                        <a:latin typeface="Cambria Math" panose="02040503050406030204" pitchFamily="18" charset="0"/>
                        <a:cs typeface="Times New Roman" panose="02020603050405020304" pitchFamily="18" charset="0"/>
                      </a:rPr>
                      <m:t>𝑝𝑎𝑐𝑘𝑒𝑡𝑠</m:t>
                    </m:r>
                    <m:r>
                      <a:rPr lang="en-US" sz="2000" b="0" i="1" smtClean="0">
                        <a:latin typeface="Cambria Math" panose="02040503050406030204" pitchFamily="18" charset="0"/>
                        <a:cs typeface="Times New Roman" panose="02020603050405020304" pitchFamily="18" charset="0"/>
                      </a:rPr>
                      <m:t>)</m:t>
                    </m:r>
                  </m:oMath>
                </a14:m>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oMath>
                </a14:m>
                <a:r>
                  <a:rPr lang="en-US" sz="2000">
                    <a:latin typeface="Times New Roman" panose="02020603050405020304" pitchFamily="18" charset="0"/>
                    <a:cs typeface="Times New Roman" panose="02020603050405020304" pitchFamily="18" charset="0"/>
                  </a:rPr>
                  <a:t> = 1;</a:t>
                </a:r>
              </a:p>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We traverse in BDL, from Bmax: i = 4</a:t>
                </a:r>
              </a:p>
              <a:p>
                <a:pPr marL="520700" indent="-520700" algn="just">
                  <a:buFont typeface="Wingdings" panose="05000000000000000000" pitchFamily="2" charset="2"/>
                  <a:buChar char="q"/>
                </a:pPr>
                <a:r>
                  <a:rPr lang="en-US" sz="2000">
                    <a:cs typeface="Times New Roman" panose="02020603050405020304" pitchFamily="18" charset="0"/>
                  </a:rPr>
                  <a:t>If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r>
                      <a:rPr lang="en-US" sz="2000" i="1">
                        <a:latin typeface="Cambria Math" panose="02040503050406030204" pitchFamily="18" charset="0"/>
                        <a:cs typeface="Times New Roman" panose="02020603050405020304" pitchFamily="18" charset="0"/>
                      </a:rPr>
                      <m:t> </m:t>
                    </m:r>
                  </m:oMath>
                </a14:m>
                <a:r>
                  <a:rPr lang="en-US" sz="20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𝑙𝑜𝑠𝑠</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𝑡h𝑟𝑒𝑠h𝑜𝑙𝑑</m:t>
                        </m:r>
                      </m:sub>
                    </m:sSub>
                    <m:r>
                      <a:rPr lang="en-US" sz="2000" i="1">
                        <a:latin typeface="Cambria Math" panose="02040503050406030204" pitchFamily="18" charset="0"/>
                        <a:cs typeface="Times New Roman" panose="02020603050405020304" pitchFamily="18" charset="0"/>
                      </a:rPr>
                      <m:t>)</m:t>
                    </m:r>
                  </m:oMath>
                </a14:m>
                <a:endParaRPr lang="en-US" sz="2000">
                  <a:latin typeface="Times New Roman" panose="02020603050405020304" pitchFamily="18" charset="0"/>
                  <a:cs typeface="Times New Roman" panose="02020603050405020304" pitchFamily="18" charset="0"/>
                </a:endParaRPr>
              </a:p>
              <a:p>
                <a:pPr marL="0" indent="0" algn="just">
                  <a:buNone/>
                </a:pPr>
                <a:r>
                  <a:rPr lang="en-US" sz="2000">
                    <a:latin typeface="Times New Roman" panose="02020603050405020304" pitchFamily="18" charset="0"/>
                    <a:cs typeface="Times New Roman" panose="02020603050405020304" pitchFamily="18" charset="0"/>
                  </a:rPr>
                  <a:t>TRUE </a:t>
                </a:r>
                <a:r>
                  <a:rPr lang="en-US" sz="2000">
                    <a:latin typeface="Times New Roman" panose="02020603050405020304" pitchFamily="18" charset="0"/>
                    <a:cs typeface="Times New Roman" panose="02020603050405020304" pitchFamily="18" charset="0"/>
                    <a:sym typeface="Wingdings" panose="05000000000000000000" pitchFamily="2" charset="2"/>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oMath>
                </a14:m>
                <a:r>
                  <a:rPr lang="en-US" sz="2000">
                    <a:latin typeface="Times New Roman" panose="02020603050405020304" pitchFamily="18" charset="0"/>
                    <a:cs typeface="Times New Roman" panose="02020603050405020304" pitchFamily="18" charset="0"/>
                  </a:rPr>
                  <a:t> = 1 + 2  = 3</a:t>
                </a: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p:txBody>
          </p:sp>
        </mc:Choice>
        <mc:Fallback>
          <p:sp>
            <p:nvSpPr>
              <p:cNvPr id="15" name="Content Placeholder 5">
                <a:extLst>
                  <a:ext uri="{FF2B5EF4-FFF2-40B4-BE49-F238E27FC236}">
                    <a16:creationId xmlns:a16="http://schemas.microsoft.com/office/drawing/2014/main" id="{0779D318-9919-4E7C-9011-4237F404FC37}"/>
                  </a:ext>
                </a:extLst>
              </p:cNvPr>
              <p:cNvSpPr txBox="1">
                <a:spLocks noRot="1" noChangeAspect="1" noMove="1" noResize="1" noEditPoints="1" noAdjustHandles="1" noChangeArrowheads="1" noChangeShapeType="1" noTextEdit="1"/>
              </p:cNvSpPr>
              <p:nvPr/>
            </p:nvSpPr>
            <p:spPr>
              <a:xfrm>
                <a:off x="156160" y="1330718"/>
                <a:ext cx="6414969" cy="4882890"/>
              </a:xfrm>
              <a:prstGeom prst="rect">
                <a:avLst/>
              </a:prstGeom>
              <a:blipFill>
                <a:blip r:embed="rId4"/>
                <a:stretch>
                  <a:fillRect l="-1046" t="-1248" r="-951"/>
                </a:stretch>
              </a:blipFill>
            </p:spPr>
            <p:txBody>
              <a:bodyPr/>
              <a:lstStyle/>
              <a:p>
                <a:r>
                  <a:rPr lang="en-US">
                    <a:noFill/>
                  </a:rPr>
                  <a:t> </a:t>
                </a:r>
              </a:p>
            </p:txBody>
          </p:sp>
        </mc:Fallback>
      </mc:AlternateContent>
      <p:graphicFrame>
        <p:nvGraphicFramePr>
          <p:cNvPr id="10" name="Table 9">
            <a:extLst>
              <a:ext uri="{FF2B5EF4-FFF2-40B4-BE49-F238E27FC236}">
                <a16:creationId xmlns:a16="http://schemas.microsoft.com/office/drawing/2014/main" id="{A487A7E1-A8FD-493D-A1FD-012916EEE53B}"/>
              </a:ext>
            </a:extLst>
          </p:cNvPr>
          <p:cNvGraphicFramePr>
            <a:graphicFrameLocks noGrp="1"/>
          </p:cNvGraphicFramePr>
          <p:nvPr>
            <p:extLst>
              <p:ext uri="{D42A27DB-BD31-4B8C-83A1-F6EECF244321}">
                <p14:modId xmlns:p14="http://schemas.microsoft.com/office/powerpoint/2010/main" val="4162927476"/>
              </p:ext>
            </p:extLst>
          </p:nvPr>
        </p:nvGraphicFramePr>
        <p:xfrm>
          <a:off x="558849" y="2119209"/>
          <a:ext cx="5609590" cy="941430"/>
        </p:xfrm>
        <a:graphic>
          <a:graphicData uri="http://schemas.openxmlformats.org/drawingml/2006/table">
            <a:tbl>
              <a:tblPr firstCol="1">
                <a:tableStyleId>{5940675A-B579-460E-94D1-54222C63F5DA}</a:tableStyleId>
              </a:tblPr>
              <a:tblGrid>
                <a:gridCol w="935990">
                  <a:extLst>
                    <a:ext uri="{9D8B030D-6E8A-4147-A177-3AD203B41FA5}">
                      <a16:colId xmlns:a16="http://schemas.microsoft.com/office/drawing/2014/main" val="1730074581"/>
                    </a:ext>
                  </a:extLst>
                </a:gridCol>
                <a:gridCol w="934720">
                  <a:extLst>
                    <a:ext uri="{9D8B030D-6E8A-4147-A177-3AD203B41FA5}">
                      <a16:colId xmlns:a16="http://schemas.microsoft.com/office/drawing/2014/main" val="2910635688"/>
                    </a:ext>
                  </a:extLst>
                </a:gridCol>
                <a:gridCol w="934720">
                  <a:extLst>
                    <a:ext uri="{9D8B030D-6E8A-4147-A177-3AD203B41FA5}">
                      <a16:colId xmlns:a16="http://schemas.microsoft.com/office/drawing/2014/main" val="3666333606"/>
                    </a:ext>
                  </a:extLst>
                </a:gridCol>
                <a:gridCol w="934720">
                  <a:extLst>
                    <a:ext uri="{9D8B030D-6E8A-4147-A177-3AD203B41FA5}">
                      <a16:colId xmlns:a16="http://schemas.microsoft.com/office/drawing/2014/main" val="4148162849"/>
                    </a:ext>
                  </a:extLst>
                </a:gridCol>
                <a:gridCol w="934720">
                  <a:extLst>
                    <a:ext uri="{9D8B030D-6E8A-4147-A177-3AD203B41FA5}">
                      <a16:colId xmlns:a16="http://schemas.microsoft.com/office/drawing/2014/main" val="3571986561"/>
                    </a:ext>
                  </a:extLst>
                </a:gridCol>
                <a:gridCol w="934720">
                  <a:extLst>
                    <a:ext uri="{9D8B030D-6E8A-4147-A177-3AD203B41FA5}">
                      <a16:colId xmlns:a16="http://schemas.microsoft.com/office/drawing/2014/main" val="4221733845"/>
                    </a:ext>
                  </a:extLst>
                </a:gridCol>
              </a:tblGrid>
              <a:tr h="470715">
                <a:tc>
                  <a:txBody>
                    <a:bodyPr/>
                    <a:lstStyle/>
                    <a:p>
                      <a:pPr marL="0" marR="0" algn="ctr">
                        <a:lnSpc>
                          <a:spcPts val="1300"/>
                        </a:lnSpc>
                        <a:spcBef>
                          <a:spcPts val="0"/>
                        </a:spcBef>
                        <a:spcAft>
                          <a:spcPts val="0"/>
                        </a:spcAft>
                      </a:pPr>
                      <a:r>
                        <a:rPr lang="en-US" sz="1000">
                          <a:effectLst/>
                        </a:rPr>
                        <a:t>Burstiness value</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0</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2</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3</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4</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61596519"/>
                  </a:ext>
                </a:extLst>
              </a:tr>
              <a:tr h="470715">
                <a:tc>
                  <a:txBody>
                    <a:bodyPr/>
                    <a:lstStyle/>
                    <a:p>
                      <a:pPr marL="0" marR="0" algn="ctr">
                        <a:lnSpc>
                          <a:spcPts val="1300"/>
                        </a:lnSpc>
                        <a:spcBef>
                          <a:spcPts val="0"/>
                        </a:spcBef>
                        <a:spcAft>
                          <a:spcPts val="0"/>
                        </a:spcAft>
                      </a:pPr>
                      <a:r>
                        <a:rPr lang="en-US" sz="1000">
                          <a:effectLst/>
                        </a:rPr>
                        <a:t>Burstiness time count</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634</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129</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31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2</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56859006"/>
                  </a:ext>
                </a:extLst>
              </a:tr>
            </a:tbl>
          </a:graphicData>
        </a:graphic>
      </p:graphicFrame>
      <p:pic>
        <p:nvPicPr>
          <p:cNvPr id="11" name="Picture 10">
            <a:extLst>
              <a:ext uri="{FF2B5EF4-FFF2-40B4-BE49-F238E27FC236}">
                <a16:creationId xmlns:a16="http://schemas.microsoft.com/office/drawing/2014/main" id="{8EF9550A-C7C5-4314-AB5B-489B00C419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1128" y="1487182"/>
            <a:ext cx="5498951" cy="3883635"/>
          </a:xfrm>
          <a:prstGeom prst="rect">
            <a:avLst/>
          </a:prstGeom>
        </p:spPr>
      </p:pic>
    </p:spTree>
    <p:extLst>
      <p:ext uri="{BB962C8B-B14F-4D97-AF65-F5344CB8AC3E}">
        <p14:creationId xmlns:p14="http://schemas.microsoft.com/office/powerpoint/2010/main" val="787831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3200">
                <a:latin typeface="Times New Roman" panose="02020603050405020304" pitchFamily="18" charset="0"/>
                <a:cs typeface="Times New Roman" panose="02020603050405020304" pitchFamily="18" charset="0"/>
              </a:rPr>
              <a:t>Calculate Burstiness Distribution Metric</a:t>
            </a:r>
            <a:endParaRPr lang="en-US" sz="3200" b="1">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9847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23</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4715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mc:AlternateContent xmlns:mc="http://schemas.openxmlformats.org/markup-compatibility/2006" xmlns:a14="http://schemas.microsoft.com/office/drawing/2010/main">
        <mc:Choice Requires="a14">
          <p:sp>
            <p:nvSpPr>
              <p:cNvPr id="15" name="Content Placeholder 5">
                <a:extLst>
                  <a:ext uri="{FF2B5EF4-FFF2-40B4-BE49-F238E27FC236}">
                    <a16:creationId xmlns:a16="http://schemas.microsoft.com/office/drawing/2014/main" id="{0779D318-9919-4E7C-9011-4237F404FC37}"/>
                  </a:ext>
                </a:extLst>
              </p:cNvPr>
              <p:cNvSpPr txBox="1">
                <a:spLocks/>
              </p:cNvSpPr>
              <p:nvPr/>
            </p:nvSpPr>
            <p:spPr>
              <a:xfrm>
                <a:off x="156160" y="1330718"/>
                <a:ext cx="6414969" cy="4882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Ex: With target PRR 99% for a node has BDL after 1000 probe packets measure link quality as Table 1:</a:t>
                </a: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𝑙𝑜𝑠𝑠</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𝑡h𝑟𝑒𝑠h𝑜𝑙𝑑</m:t>
                            </m:r>
                          </m:sub>
                        </m:sSub>
                        <m:r>
                          <a:rPr lang="en-US" sz="2000" i="1">
                            <a:latin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cs typeface="Times New Roman" panose="02020603050405020304" pitchFamily="18" charset="0"/>
                          </a:rPr>
                          <m:t>10,  </m:t>
                        </m:r>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oMath>
                </a14:m>
                <a:r>
                  <a:rPr lang="en-US" sz="2000">
                    <a:latin typeface="Times New Roman" panose="02020603050405020304" pitchFamily="18" charset="0"/>
                    <a:cs typeface="Times New Roman" panose="02020603050405020304" pitchFamily="18" charset="0"/>
                  </a:rPr>
                  <a:t> = 3</a:t>
                </a:r>
              </a:p>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i = 3</a:t>
                </a:r>
              </a:p>
              <a:p>
                <a:pPr marL="520700" indent="-520700" algn="just">
                  <a:buFont typeface="Wingdings" panose="05000000000000000000" pitchFamily="2" charset="2"/>
                  <a:buChar char="q"/>
                </a:pPr>
                <a:r>
                  <a:rPr lang="en-US" sz="2000">
                    <a:cs typeface="Times New Roman" panose="02020603050405020304" pitchFamily="18" charset="0"/>
                  </a:rPr>
                  <a:t>If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r>
                      <a:rPr lang="en-US" sz="2000" i="1">
                        <a:latin typeface="Cambria Math" panose="02040503050406030204" pitchFamily="18" charset="0"/>
                        <a:cs typeface="Times New Roman" panose="02020603050405020304" pitchFamily="18" charset="0"/>
                      </a:rPr>
                      <m:t> </m:t>
                    </m:r>
                  </m:oMath>
                </a14:m>
                <a:r>
                  <a:rPr lang="en-US" sz="20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𝑙𝑜𝑠𝑠</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𝑡h𝑟𝑒𝑠h𝑜𝑙𝑑</m:t>
                        </m:r>
                      </m:sub>
                    </m:sSub>
                    <m:r>
                      <a:rPr lang="en-US" sz="2000" i="1">
                        <a:latin typeface="Cambria Math" panose="02040503050406030204" pitchFamily="18" charset="0"/>
                        <a:cs typeface="Times New Roman" panose="02020603050405020304" pitchFamily="18" charset="0"/>
                      </a:rPr>
                      <m:t>)</m:t>
                    </m:r>
                  </m:oMath>
                </a14:m>
                <a:endParaRPr lang="en-US" sz="2000">
                  <a:latin typeface="Times New Roman" panose="02020603050405020304" pitchFamily="18" charset="0"/>
                  <a:cs typeface="Times New Roman" panose="02020603050405020304" pitchFamily="18" charset="0"/>
                </a:endParaRPr>
              </a:p>
              <a:p>
                <a:pPr marL="0" indent="0" algn="just">
                  <a:buNone/>
                </a:pPr>
                <a:r>
                  <a:rPr lang="en-US" sz="2000">
                    <a:latin typeface="Times New Roman" panose="02020603050405020304" pitchFamily="18" charset="0"/>
                    <a:cs typeface="Times New Roman" panose="02020603050405020304" pitchFamily="18" charset="0"/>
                  </a:rPr>
                  <a:t>TRUE </a:t>
                </a:r>
                <a:r>
                  <a:rPr lang="en-US" sz="2000">
                    <a:latin typeface="Times New Roman" panose="02020603050405020304" pitchFamily="18" charset="0"/>
                    <a:cs typeface="Times New Roman" panose="02020603050405020304" pitchFamily="18" charset="0"/>
                    <a:sym typeface="Wingdings" panose="05000000000000000000" pitchFamily="2" charset="2"/>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𝑃</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oMath>
                </a14:m>
                <a:r>
                  <a:rPr lang="en-US" sz="2000">
                    <a:latin typeface="Times New Roman" panose="02020603050405020304" pitchFamily="18" charset="0"/>
                    <a:cs typeface="Times New Roman" panose="02020603050405020304" pitchFamily="18" charset="0"/>
                  </a:rPr>
                  <a:t> = 3 + 31 = 34</a:t>
                </a: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p:txBody>
          </p:sp>
        </mc:Choice>
        <mc:Fallback xmlns="">
          <p:sp>
            <p:nvSpPr>
              <p:cNvPr id="15" name="Content Placeholder 5">
                <a:extLst>
                  <a:ext uri="{FF2B5EF4-FFF2-40B4-BE49-F238E27FC236}">
                    <a16:creationId xmlns:a16="http://schemas.microsoft.com/office/drawing/2014/main" id="{0779D318-9919-4E7C-9011-4237F404FC37}"/>
                  </a:ext>
                </a:extLst>
              </p:cNvPr>
              <p:cNvSpPr txBox="1">
                <a:spLocks noRot="1" noChangeAspect="1" noMove="1" noResize="1" noEditPoints="1" noAdjustHandles="1" noChangeArrowheads="1" noChangeShapeType="1" noTextEdit="1"/>
              </p:cNvSpPr>
              <p:nvPr/>
            </p:nvSpPr>
            <p:spPr>
              <a:xfrm>
                <a:off x="156160" y="1330718"/>
                <a:ext cx="6414969" cy="4882890"/>
              </a:xfrm>
              <a:prstGeom prst="rect">
                <a:avLst/>
              </a:prstGeom>
              <a:blipFill>
                <a:blip r:embed="rId4"/>
                <a:stretch>
                  <a:fillRect l="-1046" t="-1248" r="-951"/>
                </a:stretch>
              </a:blipFill>
            </p:spPr>
            <p:txBody>
              <a:bodyPr/>
              <a:lstStyle/>
              <a:p>
                <a:r>
                  <a:rPr lang="en-US">
                    <a:noFill/>
                  </a:rPr>
                  <a:t> </a:t>
                </a:r>
              </a:p>
            </p:txBody>
          </p:sp>
        </mc:Fallback>
      </mc:AlternateContent>
      <p:graphicFrame>
        <p:nvGraphicFramePr>
          <p:cNvPr id="10" name="Table 9">
            <a:extLst>
              <a:ext uri="{FF2B5EF4-FFF2-40B4-BE49-F238E27FC236}">
                <a16:creationId xmlns:a16="http://schemas.microsoft.com/office/drawing/2014/main" id="{A487A7E1-A8FD-493D-A1FD-012916EEE53B}"/>
              </a:ext>
            </a:extLst>
          </p:cNvPr>
          <p:cNvGraphicFramePr>
            <a:graphicFrameLocks noGrp="1"/>
          </p:cNvGraphicFramePr>
          <p:nvPr>
            <p:extLst>
              <p:ext uri="{D42A27DB-BD31-4B8C-83A1-F6EECF244321}">
                <p14:modId xmlns:p14="http://schemas.microsoft.com/office/powerpoint/2010/main" val="4209983996"/>
              </p:ext>
            </p:extLst>
          </p:nvPr>
        </p:nvGraphicFramePr>
        <p:xfrm>
          <a:off x="558849" y="2282712"/>
          <a:ext cx="5609590" cy="941430"/>
        </p:xfrm>
        <a:graphic>
          <a:graphicData uri="http://schemas.openxmlformats.org/drawingml/2006/table">
            <a:tbl>
              <a:tblPr firstCol="1">
                <a:tableStyleId>{5940675A-B579-460E-94D1-54222C63F5DA}</a:tableStyleId>
              </a:tblPr>
              <a:tblGrid>
                <a:gridCol w="935990">
                  <a:extLst>
                    <a:ext uri="{9D8B030D-6E8A-4147-A177-3AD203B41FA5}">
                      <a16:colId xmlns:a16="http://schemas.microsoft.com/office/drawing/2014/main" val="1730074581"/>
                    </a:ext>
                  </a:extLst>
                </a:gridCol>
                <a:gridCol w="934720">
                  <a:extLst>
                    <a:ext uri="{9D8B030D-6E8A-4147-A177-3AD203B41FA5}">
                      <a16:colId xmlns:a16="http://schemas.microsoft.com/office/drawing/2014/main" val="2910635688"/>
                    </a:ext>
                  </a:extLst>
                </a:gridCol>
                <a:gridCol w="934720">
                  <a:extLst>
                    <a:ext uri="{9D8B030D-6E8A-4147-A177-3AD203B41FA5}">
                      <a16:colId xmlns:a16="http://schemas.microsoft.com/office/drawing/2014/main" val="3666333606"/>
                    </a:ext>
                  </a:extLst>
                </a:gridCol>
                <a:gridCol w="934720">
                  <a:extLst>
                    <a:ext uri="{9D8B030D-6E8A-4147-A177-3AD203B41FA5}">
                      <a16:colId xmlns:a16="http://schemas.microsoft.com/office/drawing/2014/main" val="4148162849"/>
                    </a:ext>
                  </a:extLst>
                </a:gridCol>
                <a:gridCol w="934720">
                  <a:extLst>
                    <a:ext uri="{9D8B030D-6E8A-4147-A177-3AD203B41FA5}">
                      <a16:colId xmlns:a16="http://schemas.microsoft.com/office/drawing/2014/main" val="3571986561"/>
                    </a:ext>
                  </a:extLst>
                </a:gridCol>
                <a:gridCol w="934720">
                  <a:extLst>
                    <a:ext uri="{9D8B030D-6E8A-4147-A177-3AD203B41FA5}">
                      <a16:colId xmlns:a16="http://schemas.microsoft.com/office/drawing/2014/main" val="4221733845"/>
                    </a:ext>
                  </a:extLst>
                </a:gridCol>
              </a:tblGrid>
              <a:tr h="470715">
                <a:tc>
                  <a:txBody>
                    <a:bodyPr/>
                    <a:lstStyle/>
                    <a:p>
                      <a:pPr marL="0" marR="0" algn="ctr">
                        <a:lnSpc>
                          <a:spcPts val="1300"/>
                        </a:lnSpc>
                        <a:spcBef>
                          <a:spcPts val="0"/>
                        </a:spcBef>
                        <a:spcAft>
                          <a:spcPts val="0"/>
                        </a:spcAft>
                      </a:pPr>
                      <a:r>
                        <a:rPr lang="en-US" sz="1000">
                          <a:effectLst/>
                        </a:rPr>
                        <a:t>Burstiness value</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0</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2</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3</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4</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61596519"/>
                  </a:ext>
                </a:extLst>
              </a:tr>
              <a:tr h="470715">
                <a:tc>
                  <a:txBody>
                    <a:bodyPr/>
                    <a:lstStyle/>
                    <a:p>
                      <a:pPr marL="0" marR="0" algn="ctr">
                        <a:lnSpc>
                          <a:spcPts val="1300"/>
                        </a:lnSpc>
                        <a:spcBef>
                          <a:spcPts val="0"/>
                        </a:spcBef>
                        <a:spcAft>
                          <a:spcPts val="0"/>
                        </a:spcAft>
                      </a:pPr>
                      <a:r>
                        <a:rPr lang="en-US" sz="1000">
                          <a:effectLst/>
                        </a:rPr>
                        <a:t>Burstiness time count</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634</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129</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31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2</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56859006"/>
                  </a:ext>
                </a:extLst>
              </a:tr>
            </a:tbl>
          </a:graphicData>
        </a:graphic>
      </p:graphicFrame>
      <p:pic>
        <p:nvPicPr>
          <p:cNvPr id="11" name="Picture 10">
            <a:extLst>
              <a:ext uri="{FF2B5EF4-FFF2-40B4-BE49-F238E27FC236}">
                <a16:creationId xmlns:a16="http://schemas.microsoft.com/office/drawing/2014/main" id="{58CE3162-6759-4E9C-B8B3-390537C2CF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1128" y="1487182"/>
            <a:ext cx="5498951" cy="3883635"/>
          </a:xfrm>
          <a:prstGeom prst="rect">
            <a:avLst/>
          </a:prstGeom>
        </p:spPr>
      </p:pic>
    </p:spTree>
    <p:extLst>
      <p:ext uri="{BB962C8B-B14F-4D97-AF65-F5344CB8AC3E}">
        <p14:creationId xmlns:p14="http://schemas.microsoft.com/office/powerpoint/2010/main" val="3056504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3200">
                <a:latin typeface="Times New Roman" panose="02020603050405020304" pitchFamily="18" charset="0"/>
                <a:cs typeface="Times New Roman" panose="02020603050405020304" pitchFamily="18" charset="0"/>
              </a:rPr>
              <a:t>Calculate Burstiness Distribution Metric</a:t>
            </a:r>
            <a:endParaRPr lang="en-US" sz="3200" b="1">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98477"/>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24</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4715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mc:AlternateContent xmlns:mc="http://schemas.openxmlformats.org/markup-compatibility/2006" xmlns:a14="http://schemas.microsoft.com/office/drawing/2010/main">
        <mc:Choice Requires="a14">
          <p:sp>
            <p:nvSpPr>
              <p:cNvPr id="15" name="Content Placeholder 5">
                <a:extLst>
                  <a:ext uri="{FF2B5EF4-FFF2-40B4-BE49-F238E27FC236}">
                    <a16:creationId xmlns:a16="http://schemas.microsoft.com/office/drawing/2014/main" id="{0779D318-9919-4E7C-9011-4237F404FC37}"/>
                  </a:ext>
                </a:extLst>
              </p:cNvPr>
              <p:cNvSpPr txBox="1">
                <a:spLocks/>
              </p:cNvSpPr>
              <p:nvPr/>
            </p:nvSpPr>
            <p:spPr>
              <a:xfrm>
                <a:off x="156160" y="1330718"/>
                <a:ext cx="6414969" cy="4882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Ex: With target PRR 99% for a node has BDL after 1000 probe packets measure link quality as Table 1:</a:t>
                </a: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a:p>
                <a:pPr marL="520700" indent="-520700" algn="just">
                  <a:buFont typeface="Wingdings" panose="05000000000000000000" pitchFamily="2" charset="2"/>
                  <a:buChar char="q"/>
                </a:pP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𝑙𝑜𝑠𝑠</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𝑡h𝑟𝑒𝑠h𝑜𝑙𝑑</m:t>
                        </m:r>
                      </m:sub>
                    </m:sSub>
                    <m:r>
                      <a:rPr lang="en-US" sz="2000" i="1">
                        <a:latin typeface="Cambria Math" panose="02040503050406030204" pitchFamily="18" charset="0"/>
                        <a:cs typeface="Times New Roman" panose="02020603050405020304" pitchFamily="18" charset="0"/>
                      </a:rPr>
                      <m:t>=10 </m:t>
                    </m:r>
                    <m:r>
                      <a:rPr lang="en-US" sz="2000" b="0" i="1" smtClean="0">
                        <a:latin typeface="Cambria Math" panose="02040503050406030204" pitchFamily="18" charset="0"/>
                        <a:cs typeface="Times New Roman" panose="02020603050405020304" pitchFamily="18" charset="0"/>
                      </a:rPr>
                      <m:t>,  </m:t>
                    </m:r>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oMath>
                </a14:m>
                <a:r>
                  <a:rPr lang="en-US" sz="2000">
                    <a:latin typeface="Times New Roman" panose="02020603050405020304" pitchFamily="18" charset="0"/>
                    <a:cs typeface="Times New Roman" panose="02020603050405020304" pitchFamily="18" charset="0"/>
                  </a:rPr>
                  <a:t> = 34</a:t>
                </a:r>
              </a:p>
              <a:p>
                <a:pPr marL="520700" indent="-520700" algn="just">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i = 2</a:t>
                </a:r>
              </a:p>
              <a:p>
                <a:pPr marL="520700" indent="-520700" algn="just">
                  <a:buFont typeface="Wingdings" panose="05000000000000000000" pitchFamily="2" charset="2"/>
                  <a:buChar char="q"/>
                </a:pPr>
                <a:r>
                  <a:rPr lang="en-US" sz="2000">
                    <a:cs typeface="Times New Roman" panose="02020603050405020304" pitchFamily="18" charset="0"/>
                  </a:rPr>
                  <a:t>If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𝑐𝑢𝑟𝑟𝑒𝑛𝑡</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𝑙𝑜𝑠𝑠</m:t>
                        </m:r>
                      </m:sub>
                    </m:sSub>
                    <m:r>
                      <a:rPr lang="en-US" sz="2000" i="1">
                        <a:latin typeface="Cambria Math" panose="02040503050406030204" pitchFamily="18" charset="0"/>
                        <a:cs typeface="Times New Roman" panose="02020603050405020304" pitchFamily="18" charset="0"/>
                      </a:rPr>
                      <m:t> </m:t>
                    </m:r>
                  </m:oMath>
                </a14:m>
                <a:r>
                  <a:rPr lang="en-US" sz="20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𝑁</m:t>
                        </m:r>
                      </m:e>
                      <m:sub>
                        <m:r>
                          <a:rPr lang="en-US" sz="2000" i="1">
                            <a:latin typeface="Cambria Math" panose="02040503050406030204" pitchFamily="18" charset="0"/>
                            <a:cs typeface="Times New Roman" panose="02020603050405020304" pitchFamily="18" charset="0"/>
                          </a:rPr>
                          <m:t>𝑙𝑜𝑠𝑠</m:t>
                        </m:r>
                        <m:r>
                          <a:rPr lang="en-US" sz="2000" i="1">
                            <a:latin typeface="Cambria Math" panose="02040503050406030204" pitchFamily="18" charset="0"/>
                            <a:cs typeface="Times New Roman" panose="02020603050405020304" pitchFamily="18" charset="0"/>
                          </a:rPr>
                          <m:t> </m:t>
                        </m:r>
                        <m:r>
                          <a:rPr lang="en-US" sz="2000" i="1">
                            <a:latin typeface="Cambria Math" panose="02040503050406030204" pitchFamily="18" charset="0"/>
                            <a:cs typeface="Times New Roman" panose="02020603050405020304" pitchFamily="18" charset="0"/>
                          </a:rPr>
                          <m:t>𝑡h𝑟𝑒𝑠h𝑜𝑙𝑑</m:t>
                        </m:r>
                      </m:sub>
                    </m:sSub>
                    <m:r>
                      <a:rPr lang="en-US" sz="2000" i="1">
                        <a:latin typeface="Cambria Math" panose="02040503050406030204" pitchFamily="18" charset="0"/>
                        <a:cs typeface="Times New Roman" panose="02020603050405020304" pitchFamily="18" charset="0"/>
                      </a:rPr>
                      <m:t>)</m:t>
                    </m:r>
                  </m:oMath>
                </a14:m>
                <a:endParaRPr lang="en-US" sz="2000">
                  <a:latin typeface="Times New Roman" panose="02020603050405020304" pitchFamily="18" charset="0"/>
                  <a:cs typeface="Times New Roman" panose="02020603050405020304" pitchFamily="18" charset="0"/>
                </a:endParaRPr>
              </a:p>
              <a:p>
                <a:pPr marL="0" indent="0" algn="just">
                  <a:buNone/>
                </a:pPr>
                <a:r>
                  <a:rPr lang="en-US" sz="2000">
                    <a:latin typeface="Times New Roman" panose="02020603050405020304" pitchFamily="18" charset="0"/>
                    <a:cs typeface="Times New Roman" panose="02020603050405020304" pitchFamily="18" charset="0"/>
                  </a:rPr>
                  <a:t>FALSE </a:t>
                </a:r>
                <a:r>
                  <a:rPr lang="en-US" sz="2000">
                    <a:latin typeface="Times New Roman" panose="02020603050405020304" pitchFamily="18" charset="0"/>
                    <a:cs typeface="Times New Roman" panose="02020603050405020304" pitchFamily="18" charset="0"/>
                    <a:sym typeface="Wingdings" panose="05000000000000000000" pitchFamily="2" charset="2"/>
                  </a:rPr>
                  <a:t> </a:t>
                </a:r>
                <a14:m>
                  <m:oMath xmlns:m="http://schemas.openxmlformats.org/officeDocument/2006/math">
                    <m:r>
                      <a:rPr lang="en-US" sz="2000" b="0" i="1" smtClean="0">
                        <a:latin typeface="Cambria Math" panose="02040503050406030204" pitchFamily="18" charset="0"/>
                        <a:cs typeface="Times New Roman" panose="02020603050405020304" pitchFamily="18" charset="0"/>
                      </a:rPr>
                      <m:t>𝐵𝑑𝑖𝑠𝑡</m:t>
                    </m:r>
                  </m:oMath>
                </a14:m>
                <a:r>
                  <a:rPr lang="en-US" sz="2000">
                    <a:latin typeface="Times New Roman" panose="02020603050405020304" pitchFamily="18" charset="0"/>
                    <a:cs typeface="Times New Roman" panose="02020603050405020304" pitchFamily="18" charset="0"/>
                  </a:rPr>
                  <a:t> = i + 1 = 3</a:t>
                </a:r>
              </a:p>
              <a:p>
                <a:pPr marL="520700" indent="-520700" algn="just">
                  <a:buFont typeface="Wingdings" panose="05000000000000000000" pitchFamily="2" charset="2"/>
                  <a:buChar char="q"/>
                </a:pPr>
                <a:endParaRPr lang="en-US" sz="2000">
                  <a:latin typeface="Times New Roman" panose="02020603050405020304" pitchFamily="18" charset="0"/>
                  <a:cs typeface="Times New Roman" panose="02020603050405020304" pitchFamily="18" charset="0"/>
                </a:endParaRPr>
              </a:p>
            </p:txBody>
          </p:sp>
        </mc:Choice>
        <mc:Fallback xmlns="">
          <p:sp>
            <p:nvSpPr>
              <p:cNvPr id="15" name="Content Placeholder 5">
                <a:extLst>
                  <a:ext uri="{FF2B5EF4-FFF2-40B4-BE49-F238E27FC236}">
                    <a16:creationId xmlns:a16="http://schemas.microsoft.com/office/drawing/2014/main" id="{0779D318-9919-4E7C-9011-4237F404FC37}"/>
                  </a:ext>
                </a:extLst>
              </p:cNvPr>
              <p:cNvSpPr txBox="1">
                <a:spLocks noRot="1" noChangeAspect="1" noMove="1" noResize="1" noEditPoints="1" noAdjustHandles="1" noChangeArrowheads="1" noChangeShapeType="1" noTextEdit="1"/>
              </p:cNvSpPr>
              <p:nvPr/>
            </p:nvSpPr>
            <p:spPr>
              <a:xfrm>
                <a:off x="156160" y="1330718"/>
                <a:ext cx="6414969" cy="4882890"/>
              </a:xfrm>
              <a:prstGeom prst="rect">
                <a:avLst/>
              </a:prstGeom>
              <a:blipFill>
                <a:blip r:embed="rId4"/>
                <a:stretch>
                  <a:fillRect l="-1046" t="-1248" r="-951"/>
                </a:stretch>
              </a:blipFill>
            </p:spPr>
            <p:txBody>
              <a:bodyPr/>
              <a:lstStyle/>
              <a:p>
                <a:r>
                  <a:rPr lang="en-US">
                    <a:noFill/>
                  </a:rPr>
                  <a:t> </a:t>
                </a:r>
              </a:p>
            </p:txBody>
          </p:sp>
        </mc:Fallback>
      </mc:AlternateContent>
      <p:graphicFrame>
        <p:nvGraphicFramePr>
          <p:cNvPr id="10" name="Table 9">
            <a:extLst>
              <a:ext uri="{FF2B5EF4-FFF2-40B4-BE49-F238E27FC236}">
                <a16:creationId xmlns:a16="http://schemas.microsoft.com/office/drawing/2014/main" id="{A487A7E1-A8FD-493D-A1FD-012916EEE53B}"/>
              </a:ext>
            </a:extLst>
          </p:cNvPr>
          <p:cNvGraphicFramePr>
            <a:graphicFrameLocks noGrp="1"/>
          </p:cNvGraphicFramePr>
          <p:nvPr>
            <p:extLst>
              <p:ext uri="{D42A27DB-BD31-4B8C-83A1-F6EECF244321}">
                <p14:modId xmlns:p14="http://schemas.microsoft.com/office/powerpoint/2010/main" val="2468474645"/>
              </p:ext>
            </p:extLst>
          </p:nvPr>
        </p:nvGraphicFramePr>
        <p:xfrm>
          <a:off x="558849" y="2282712"/>
          <a:ext cx="5609590" cy="941430"/>
        </p:xfrm>
        <a:graphic>
          <a:graphicData uri="http://schemas.openxmlformats.org/drawingml/2006/table">
            <a:tbl>
              <a:tblPr firstCol="1" bandRow="1">
                <a:tableStyleId>{5940675A-B579-460E-94D1-54222C63F5DA}</a:tableStyleId>
              </a:tblPr>
              <a:tblGrid>
                <a:gridCol w="935990">
                  <a:extLst>
                    <a:ext uri="{9D8B030D-6E8A-4147-A177-3AD203B41FA5}">
                      <a16:colId xmlns:a16="http://schemas.microsoft.com/office/drawing/2014/main" val="1730074581"/>
                    </a:ext>
                  </a:extLst>
                </a:gridCol>
                <a:gridCol w="934720">
                  <a:extLst>
                    <a:ext uri="{9D8B030D-6E8A-4147-A177-3AD203B41FA5}">
                      <a16:colId xmlns:a16="http://schemas.microsoft.com/office/drawing/2014/main" val="2910635688"/>
                    </a:ext>
                  </a:extLst>
                </a:gridCol>
                <a:gridCol w="934720">
                  <a:extLst>
                    <a:ext uri="{9D8B030D-6E8A-4147-A177-3AD203B41FA5}">
                      <a16:colId xmlns:a16="http://schemas.microsoft.com/office/drawing/2014/main" val="3666333606"/>
                    </a:ext>
                  </a:extLst>
                </a:gridCol>
                <a:gridCol w="934720">
                  <a:extLst>
                    <a:ext uri="{9D8B030D-6E8A-4147-A177-3AD203B41FA5}">
                      <a16:colId xmlns:a16="http://schemas.microsoft.com/office/drawing/2014/main" val="4148162849"/>
                    </a:ext>
                  </a:extLst>
                </a:gridCol>
                <a:gridCol w="934720">
                  <a:extLst>
                    <a:ext uri="{9D8B030D-6E8A-4147-A177-3AD203B41FA5}">
                      <a16:colId xmlns:a16="http://schemas.microsoft.com/office/drawing/2014/main" val="3571986561"/>
                    </a:ext>
                  </a:extLst>
                </a:gridCol>
                <a:gridCol w="934720">
                  <a:extLst>
                    <a:ext uri="{9D8B030D-6E8A-4147-A177-3AD203B41FA5}">
                      <a16:colId xmlns:a16="http://schemas.microsoft.com/office/drawing/2014/main" val="4221733845"/>
                    </a:ext>
                  </a:extLst>
                </a:gridCol>
              </a:tblGrid>
              <a:tr h="470715">
                <a:tc>
                  <a:txBody>
                    <a:bodyPr/>
                    <a:lstStyle/>
                    <a:p>
                      <a:pPr marL="0" marR="0" algn="ctr">
                        <a:lnSpc>
                          <a:spcPts val="1300"/>
                        </a:lnSpc>
                        <a:spcBef>
                          <a:spcPts val="0"/>
                        </a:spcBef>
                        <a:spcAft>
                          <a:spcPts val="0"/>
                        </a:spcAft>
                      </a:pPr>
                      <a:r>
                        <a:rPr lang="en-US" sz="1000">
                          <a:effectLst/>
                        </a:rPr>
                        <a:t>Burstiness value</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0</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2</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3</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4</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61596519"/>
                  </a:ext>
                </a:extLst>
              </a:tr>
              <a:tr h="470715">
                <a:tc>
                  <a:txBody>
                    <a:bodyPr/>
                    <a:lstStyle/>
                    <a:p>
                      <a:pPr marL="0" marR="0" algn="ctr">
                        <a:lnSpc>
                          <a:spcPts val="1300"/>
                        </a:lnSpc>
                        <a:spcBef>
                          <a:spcPts val="0"/>
                        </a:spcBef>
                        <a:spcAft>
                          <a:spcPts val="0"/>
                        </a:spcAft>
                      </a:pPr>
                      <a:r>
                        <a:rPr lang="en-US" sz="1000">
                          <a:effectLst/>
                        </a:rPr>
                        <a:t>Burstiness time count</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634</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129</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31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2</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00"/>
                        </a:lnSpc>
                        <a:spcBef>
                          <a:spcPts val="0"/>
                        </a:spcBef>
                        <a:spcAft>
                          <a:spcPts val="0"/>
                        </a:spcAft>
                      </a:pPr>
                      <a:r>
                        <a:rPr lang="en-US" sz="1000">
                          <a:effectLst/>
                        </a:rPr>
                        <a:t>1</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56859006"/>
                  </a:ext>
                </a:extLst>
              </a:tr>
            </a:tbl>
          </a:graphicData>
        </a:graphic>
      </p:graphicFrame>
      <p:pic>
        <p:nvPicPr>
          <p:cNvPr id="11" name="Picture 10">
            <a:extLst>
              <a:ext uri="{FF2B5EF4-FFF2-40B4-BE49-F238E27FC236}">
                <a16:creationId xmlns:a16="http://schemas.microsoft.com/office/drawing/2014/main" id="{76755961-729E-4522-AC8C-CE1637E5C2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1128" y="1487182"/>
            <a:ext cx="5498951" cy="3883635"/>
          </a:xfrm>
          <a:prstGeom prst="rect">
            <a:avLst/>
          </a:prstGeom>
        </p:spPr>
      </p:pic>
    </p:spTree>
    <p:extLst>
      <p:ext uri="{BB962C8B-B14F-4D97-AF65-F5344CB8AC3E}">
        <p14:creationId xmlns:p14="http://schemas.microsoft.com/office/powerpoint/2010/main" val="4279847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Presentation Outline</a:t>
            </a:r>
          </a:p>
        </p:txBody>
      </p:sp>
      <p:pic>
        <p:nvPicPr>
          <p:cNvPr id="11" name="Content Placeholder 10"/>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6401100"/>
            <a:ext cx="2686050" cy="380700"/>
          </a:xfrm>
        </p:spPr>
      </p:pic>
      <p:sp>
        <p:nvSpPr>
          <p:cNvPr id="12" name="Footer Placeholder 11"/>
          <p:cNvSpPr>
            <a:spLocks noGrp="1"/>
          </p:cNvSpPr>
          <p:nvPr>
            <p:ph type="ftr" sz="quarter" idx="11"/>
          </p:nvPr>
        </p:nvSpPr>
        <p:spPr>
          <a:xfrm>
            <a:off x="9403882" y="6416675"/>
            <a:ext cx="2788118" cy="365125"/>
          </a:xfrm>
        </p:spPr>
        <p:txBody>
          <a:bodyPr/>
          <a:lstStyle/>
          <a:p>
            <a:r>
              <a:rPr lang="en-US" sz="4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353484"/>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25</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292282"/>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utoShape 46"/>
          <p:cNvSpPr>
            <a:spLocks noChangeArrowheads="1"/>
          </p:cNvSpPr>
          <p:nvPr/>
        </p:nvSpPr>
        <p:spPr bwMode="ltGray">
          <a:xfrm rot="5400000">
            <a:off x="-2422526"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2"/>
                  <a:pt x="10800" y="322"/>
                </a:cubicBezTo>
                <a:cubicBezTo>
                  <a:pt x="16524" y="322"/>
                  <a:pt x="21189" y="4916"/>
                  <a:pt x="21276" y="10641"/>
                </a:cubicBezTo>
                <a:lnTo>
                  <a:pt x="21598" y="10636"/>
                </a:lnTo>
                <a:cubicBezTo>
                  <a:pt x="21509" y="4736"/>
                  <a:pt x="16700" y="0"/>
                  <a:pt x="10799" y="0"/>
                </a:cubicBezTo>
                <a:cubicBezTo>
                  <a:pt x="4899" y="0"/>
                  <a:pt x="90" y="4736"/>
                  <a:pt x="1" y="10636"/>
                </a:cubicBezTo>
                <a:close/>
              </a:path>
            </a:pathLst>
          </a:custGeom>
          <a:solidFill>
            <a:schemeClr val="accent1"/>
          </a:solidFill>
          <a:ln>
            <a:noFill/>
          </a:ln>
          <a:effectLst/>
        </p:spPr>
        <p:txBody>
          <a:bodyPr wrap="none" anchor="ctr"/>
          <a:lstStyle/>
          <a:p>
            <a:pPr eaLnBrk="1" hangingPunct="1">
              <a:defRPr/>
            </a:pPr>
            <a:endParaRPr lang="en-US"/>
          </a:p>
        </p:txBody>
      </p:sp>
      <p:sp>
        <p:nvSpPr>
          <p:cNvPr id="53" name="AutoShape 47"/>
          <p:cNvSpPr>
            <a:spLocks noChangeArrowheads="1"/>
          </p:cNvSpPr>
          <p:nvPr/>
        </p:nvSpPr>
        <p:spPr bwMode="ltGray">
          <a:xfrm rot="5400000" flipH="1">
            <a:off x="-2016918"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4"/>
                  <a:pt x="10856" y="10769"/>
                  <a:pt x="10856" y="10800"/>
                </a:cubicBezTo>
                <a:lnTo>
                  <a:pt x="21600" y="10800"/>
                </a:lnTo>
                <a:cubicBezTo>
                  <a:pt x="21600" y="4835"/>
                  <a:pt x="16764" y="0"/>
                  <a:pt x="10800" y="0"/>
                </a:cubicBezTo>
                <a:cubicBezTo>
                  <a:pt x="4835" y="0"/>
                  <a:pt x="0" y="4835"/>
                  <a:pt x="0" y="10799"/>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a:effectLst/>
        </p:spPr>
        <p:txBody>
          <a:bodyPr wrap="none" anchor="ctr"/>
          <a:lstStyle/>
          <a:p>
            <a:pPr eaLnBrk="1" hangingPunct="1">
              <a:defRPr/>
            </a:pPr>
            <a:endParaRPr lang="en-US"/>
          </a:p>
        </p:txBody>
      </p:sp>
      <p:sp>
        <p:nvSpPr>
          <p:cNvPr id="55" name="AutoShape 49"/>
          <p:cNvSpPr>
            <a:spLocks noChangeArrowheads="1"/>
          </p:cNvSpPr>
          <p:nvPr/>
        </p:nvSpPr>
        <p:spPr bwMode="gray">
          <a:xfrm>
            <a:off x="1894389" y="5632374"/>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5. Conclusion</a:t>
            </a:r>
          </a:p>
        </p:txBody>
      </p:sp>
      <p:sp>
        <p:nvSpPr>
          <p:cNvPr id="56" name="AutoShape 50"/>
          <p:cNvSpPr>
            <a:spLocks noChangeArrowheads="1"/>
          </p:cNvSpPr>
          <p:nvPr/>
        </p:nvSpPr>
        <p:spPr bwMode="gray">
          <a:xfrm>
            <a:off x="2739719" y="3695587"/>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None/>
            </a:pPr>
            <a:r>
              <a:rPr lang="en-US" sz="2400" b="1">
                <a:latin typeface="Times New Roman" panose="02020603050405020304" pitchFamily="18" charset="0"/>
                <a:cs typeface="Times New Roman" panose="02020603050405020304" pitchFamily="18" charset="0"/>
              </a:rPr>
              <a:t>3. Our Proposal</a:t>
            </a:r>
          </a:p>
        </p:txBody>
      </p:sp>
      <p:sp>
        <p:nvSpPr>
          <p:cNvPr id="58" name="AutoShape 52"/>
          <p:cNvSpPr>
            <a:spLocks noChangeArrowheads="1"/>
          </p:cNvSpPr>
          <p:nvPr/>
        </p:nvSpPr>
        <p:spPr bwMode="gray">
          <a:xfrm>
            <a:off x="2093944" y="1689364"/>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1. Introduction</a:t>
            </a:r>
          </a:p>
        </p:txBody>
      </p:sp>
      <p:grpSp>
        <p:nvGrpSpPr>
          <p:cNvPr id="59" name="Group 53"/>
          <p:cNvGrpSpPr>
            <a:grpSpLocks/>
          </p:cNvGrpSpPr>
          <p:nvPr/>
        </p:nvGrpSpPr>
        <p:grpSpPr bwMode="auto">
          <a:xfrm>
            <a:off x="1533069" y="1754176"/>
            <a:ext cx="640080" cy="640080"/>
            <a:chOff x="2078" y="1680"/>
            <a:chExt cx="1615" cy="1615"/>
          </a:xfrm>
        </p:grpSpPr>
        <p:sp>
          <p:nvSpPr>
            <p:cNvPr id="60" name="Oval 5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1" name="Oval 5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2" name="Oval 56"/>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63" name="Oval 57"/>
            <p:cNvSpPr>
              <a:spLocks noChangeArrowheads="1"/>
            </p:cNvSpPr>
            <p:nvPr/>
          </p:nvSpPr>
          <p:spPr bwMode="gray">
            <a:xfrm>
              <a:off x="2254" y="1856"/>
              <a:ext cx="1262" cy="1264"/>
            </a:xfrm>
            <a:prstGeom prst="ellipse">
              <a:avLst/>
            </a:prstGeom>
            <a:gradFill rotWithShape="1">
              <a:gsLst>
                <a:gs pos="0">
                  <a:srgbClr val="000000"/>
                </a:gs>
                <a:gs pos="100000">
                  <a:srgbClr val="FFCC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4" name="Oval 58"/>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65" name="Oval 59"/>
            <p:cNvSpPr>
              <a:spLocks noChangeArrowheads="1"/>
            </p:cNvSpPr>
            <p:nvPr/>
          </p:nvSpPr>
          <p:spPr bwMode="gray">
            <a:xfrm>
              <a:off x="2337" y="1939"/>
              <a:ext cx="1096" cy="1098"/>
            </a:xfrm>
            <a:prstGeom prst="ellipse">
              <a:avLst/>
            </a:prstGeom>
            <a:gradFill rotWithShape="1">
              <a:gsLst>
                <a:gs pos="0">
                  <a:srgbClr val="FFCC00"/>
                </a:gs>
                <a:gs pos="100000">
                  <a:srgbClr val="7C63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80" name="Group 74"/>
          <p:cNvGrpSpPr>
            <a:grpSpLocks/>
          </p:cNvGrpSpPr>
          <p:nvPr/>
        </p:nvGrpSpPr>
        <p:grpSpPr bwMode="auto">
          <a:xfrm>
            <a:off x="1358148" y="5586074"/>
            <a:ext cx="640080" cy="640080"/>
            <a:chOff x="2078" y="1680"/>
            <a:chExt cx="1615" cy="1615"/>
          </a:xfrm>
        </p:grpSpPr>
        <p:sp>
          <p:nvSpPr>
            <p:cNvPr id="81" name="Oval 7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2" name="Oval 7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3" name="Oval 77"/>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4" name="Oval 78"/>
            <p:cNvSpPr>
              <a:spLocks noChangeArrowheads="1"/>
            </p:cNvSpPr>
            <p:nvPr/>
          </p:nvSpPr>
          <p:spPr bwMode="gray">
            <a:xfrm>
              <a:off x="2254" y="1856"/>
              <a:ext cx="1262" cy="1264"/>
            </a:xfrm>
            <a:prstGeom prst="ellipse">
              <a:avLst/>
            </a:prstGeom>
            <a:gradFill rotWithShape="1">
              <a:gsLst>
                <a:gs pos="0">
                  <a:srgbClr val="000000"/>
                </a:gs>
                <a:gs pos="100000">
                  <a:srgbClr val="8D67E1"/>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5" name="Oval 79"/>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86" name="Oval 80"/>
            <p:cNvSpPr>
              <a:spLocks noChangeArrowheads="1"/>
            </p:cNvSpPr>
            <p:nvPr/>
          </p:nvSpPr>
          <p:spPr bwMode="gray">
            <a:xfrm>
              <a:off x="2337" y="1939"/>
              <a:ext cx="1096" cy="1098"/>
            </a:xfrm>
            <a:prstGeom prst="ellipse">
              <a:avLst/>
            </a:prstGeom>
            <a:gradFill rotWithShape="1">
              <a:gsLst>
                <a:gs pos="0">
                  <a:srgbClr val="8D67E1"/>
                </a:gs>
                <a:gs pos="100000">
                  <a:srgbClr val="4532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42" name="AutoShape 51"/>
          <p:cNvSpPr>
            <a:spLocks noChangeArrowheads="1"/>
          </p:cNvSpPr>
          <p:nvPr/>
        </p:nvSpPr>
        <p:spPr bwMode="gray">
          <a:xfrm>
            <a:off x="2569395" y="4711341"/>
            <a:ext cx="6400800" cy="685800"/>
          </a:xfrm>
          <a:prstGeom prst="roundRect">
            <a:avLst>
              <a:gd name="adj" fmla="val 50000"/>
            </a:avLst>
          </a:prstGeom>
          <a:solidFill>
            <a:schemeClr val="accent1"/>
          </a:solidFill>
          <a:ln w="28575" algn="ctr">
            <a:solidFill>
              <a:schemeClr val="accent2"/>
            </a:solidFill>
            <a:round/>
            <a:headEnd/>
            <a:tailE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solidFill>
                  <a:schemeClr val="bg1"/>
                </a:solidFill>
                <a:latin typeface="Times New Roman" panose="02020603050405020304" pitchFamily="18" charset="0"/>
                <a:cs typeface="Times New Roman" panose="02020603050405020304" pitchFamily="18" charset="0"/>
              </a:rPr>
              <a:t>4. Performance Evaluation </a:t>
            </a:r>
          </a:p>
        </p:txBody>
      </p:sp>
      <p:sp>
        <p:nvSpPr>
          <p:cNvPr id="50" name="AutoShape 50"/>
          <p:cNvSpPr>
            <a:spLocks noChangeArrowheads="1"/>
          </p:cNvSpPr>
          <p:nvPr/>
        </p:nvSpPr>
        <p:spPr bwMode="gray">
          <a:xfrm>
            <a:off x="2669914" y="2660940"/>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2. Related Work </a:t>
            </a:r>
          </a:p>
        </p:txBody>
      </p:sp>
      <p:grpSp>
        <p:nvGrpSpPr>
          <p:cNvPr id="51" name="Group 60"/>
          <p:cNvGrpSpPr>
            <a:grpSpLocks/>
          </p:cNvGrpSpPr>
          <p:nvPr/>
        </p:nvGrpSpPr>
        <p:grpSpPr bwMode="auto">
          <a:xfrm>
            <a:off x="2203478" y="3711578"/>
            <a:ext cx="640080" cy="640080"/>
            <a:chOff x="2078" y="1680"/>
            <a:chExt cx="1615" cy="1615"/>
          </a:xfrm>
        </p:grpSpPr>
        <p:sp>
          <p:nvSpPr>
            <p:cNvPr id="54"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57"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7"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8"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9"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90" name="Oval 66"/>
            <p:cNvSpPr>
              <a:spLocks noChangeArrowheads="1"/>
            </p:cNvSpPr>
            <p:nvPr/>
          </p:nvSpPr>
          <p:spPr bwMode="gray">
            <a:xfrm>
              <a:off x="2337" y="1939"/>
              <a:ext cx="1096" cy="1098"/>
            </a:xfrm>
            <a:prstGeom prst="ellipse">
              <a:avLst/>
            </a:prstGeom>
            <a:gradFill rotWithShape="1">
              <a:gsLst>
                <a:gs pos="0">
                  <a:srgbClr val="48BE67"/>
                </a:gs>
                <a:gs pos="100000">
                  <a:srgbClr val="235C32"/>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98" name="Group 60"/>
          <p:cNvGrpSpPr>
            <a:grpSpLocks/>
          </p:cNvGrpSpPr>
          <p:nvPr/>
        </p:nvGrpSpPr>
        <p:grpSpPr bwMode="auto">
          <a:xfrm>
            <a:off x="2155220" y="2689942"/>
            <a:ext cx="640080" cy="640080"/>
            <a:chOff x="2078" y="1680"/>
            <a:chExt cx="1615" cy="1615"/>
          </a:xfrm>
        </p:grpSpPr>
        <p:sp>
          <p:nvSpPr>
            <p:cNvPr id="99"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0"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1"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102"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w="38100" algn="ctr">
              <a:solidFill>
                <a:schemeClr val="bg1"/>
              </a:solidFill>
              <a:round/>
              <a:headEnd/>
              <a:tailEnd/>
            </a:ln>
            <a:effectLst/>
            <a:extLs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3"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104" name="Oval 66"/>
            <p:cNvSpPr>
              <a:spLocks noChangeArrowheads="1"/>
            </p:cNvSpPr>
            <p:nvPr/>
          </p:nvSpPr>
          <p:spPr bwMode="gray">
            <a:xfrm>
              <a:off x="2337" y="1939"/>
              <a:ext cx="1096" cy="1098"/>
            </a:xfrm>
            <a:prstGeom prst="ellipse">
              <a:avLst/>
            </a:prstGeom>
            <a:solidFill>
              <a:schemeClr val="accent2"/>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66" name="Group 67"/>
          <p:cNvGrpSpPr>
            <a:grpSpLocks/>
          </p:cNvGrpSpPr>
          <p:nvPr/>
        </p:nvGrpSpPr>
        <p:grpSpPr bwMode="auto">
          <a:xfrm>
            <a:off x="1992482" y="4757061"/>
            <a:ext cx="640080" cy="640080"/>
            <a:chOff x="2078" y="1680"/>
            <a:chExt cx="1615" cy="1615"/>
          </a:xfrm>
        </p:grpSpPr>
        <p:sp>
          <p:nvSpPr>
            <p:cNvPr id="67" name="Oval 6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8" name="Oval 6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9" name="Oval 70"/>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0" name="Oval 71"/>
            <p:cNvSpPr>
              <a:spLocks noChangeArrowheads="1"/>
            </p:cNvSpPr>
            <p:nvPr/>
          </p:nvSpPr>
          <p:spPr bwMode="gray">
            <a:xfrm>
              <a:off x="2254" y="1856"/>
              <a:ext cx="1262" cy="1264"/>
            </a:xfrm>
            <a:prstGeom prst="ellipse">
              <a:avLst/>
            </a:prstGeom>
            <a:gradFill rotWithShape="1">
              <a:gsLst>
                <a:gs pos="0">
                  <a:srgbClr val="21B3E1"/>
                </a:gs>
                <a:gs pos="100000">
                  <a:srgbClr val="0F5368"/>
                </a:gs>
              </a:gsLst>
              <a:lin ang="54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1" name="Oval 72"/>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2" name="Oval 73"/>
            <p:cNvSpPr>
              <a:spLocks noChangeArrowheads="1"/>
            </p:cNvSpPr>
            <p:nvPr/>
          </p:nvSpPr>
          <p:spPr bwMode="gray">
            <a:xfrm>
              <a:off x="2337" y="1939"/>
              <a:ext cx="1096" cy="1098"/>
            </a:xfrm>
            <a:prstGeom prst="ellipse">
              <a:avLst/>
            </a:prstGeom>
            <a:gradFill rotWithShape="1">
              <a:gsLst>
                <a:gs pos="0">
                  <a:srgbClr val="21B3E1"/>
                </a:gs>
                <a:gs pos="100000">
                  <a:srgbClr val="1057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Tree>
    <p:extLst>
      <p:ext uri="{BB962C8B-B14F-4D97-AF65-F5344CB8AC3E}">
        <p14:creationId xmlns:p14="http://schemas.microsoft.com/office/powerpoint/2010/main" val="559195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90653" cy="1325563"/>
          </a:xfrm>
        </p:spPr>
        <p:txBody>
          <a:bodyPr/>
          <a:lstStyle/>
          <a:p>
            <a:r>
              <a:rPr lang="en-US">
                <a:latin typeface="Times New Roman" panose="02020603050405020304" pitchFamily="18" charset="0"/>
                <a:cs typeface="Times New Roman" panose="02020603050405020304" pitchFamily="18" charset="0"/>
              </a:rPr>
              <a:t>Effect of the hop count on network performance</a:t>
            </a:r>
          </a:p>
        </p:txBody>
      </p:sp>
      <p:sp>
        <p:nvSpPr>
          <p:cNvPr id="12" name="Footer Placeholder 11"/>
          <p:cNvSpPr>
            <a:spLocks noGrp="1"/>
          </p:cNvSpPr>
          <p:nvPr>
            <p:ph type="ftr" sz="quarter" idx="11"/>
          </p:nvPr>
        </p:nvSpPr>
        <p:spPr>
          <a:xfrm>
            <a:off x="9403882" y="6477700"/>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77701"/>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26</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3198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8" name="Rectangle 7">
            <a:extLst>
              <a:ext uri="{FF2B5EF4-FFF2-40B4-BE49-F238E27FC236}">
                <a16:creationId xmlns:a16="http://schemas.microsoft.com/office/drawing/2014/main" id="{40EB72B3-EF97-4F53-9939-1E5CBBE195AC}"/>
              </a:ext>
            </a:extLst>
          </p:cNvPr>
          <p:cNvSpPr/>
          <p:nvPr/>
        </p:nvSpPr>
        <p:spPr>
          <a:xfrm>
            <a:off x="156160" y="1403232"/>
            <a:ext cx="6414970" cy="3139321"/>
          </a:xfrm>
          <a:prstGeom prst="rect">
            <a:avLst/>
          </a:prstGeom>
        </p:spPr>
        <p:txBody>
          <a:bodyPr wrap="square">
            <a:spAutoFit/>
          </a:bodyPr>
          <a:lstStyle/>
          <a:p>
            <a:pPr marL="461963" indent="-461963" algn="just">
              <a:buFont typeface="Wingdings" panose="05000000000000000000" pitchFamily="2" charset="2"/>
              <a:buChar char="q"/>
            </a:pPr>
            <a:r>
              <a:rPr lang="en-US">
                <a:latin typeface="Times New Roman" panose="02020603050405020304" pitchFamily="18" charset="0"/>
                <a:cs typeface="Times New Roman" panose="02020603050405020304" pitchFamily="18" charset="0"/>
              </a:rPr>
              <a:t>A simple linear network with the hop count varying from 1 to 4 is considered.</a:t>
            </a:r>
          </a:p>
          <a:p>
            <a:pPr marL="461963" indent="-461963" algn="just">
              <a:buFont typeface="Wingdings" panose="05000000000000000000" pitchFamily="2" charset="2"/>
              <a:buChar char="q"/>
            </a:pPr>
            <a:endParaRPr lang="en-US">
              <a:latin typeface="Times New Roman" panose="02020603050405020304" pitchFamily="18" charset="0"/>
              <a:cs typeface="Times New Roman" panose="02020603050405020304" pitchFamily="18" charset="0"/>
            </a:endParaRPr>
          </a:p>
          <a:p>
            <a:pPr marL="461963" indent="-461963" algn="just">
              <a:buFont typeface="Wingdings" panose="05000000000000000000" pitchFamily="2" charset="2"/>
              <a:buChar char="q"/>
            </a:pPr>
            <a:r>
              <a:rPr lang="en-US">
                <a:latin typeface="Times New Roman" panose="02020603050405020304" pitchFamily="18" charset="0"/>
                <a:cs typeface="Times New Roman" panose="02020603050405020304" pitchFamily="18" charset="0"/>
              </a:rPr>
              <a:t>The link quality of each between two nodes is set 90%.</a:t>
            </a:r>
          </a:p>
          <a:p>
            <a:pPr marL="461963" indent="-461963" algn="just">
              <a:buFont typeface="Wingdings" panose="05000000000000000000" pitchFamily="2" charset="2"/>
              <a:buChar char="q"/>
            </a:pPr>
            <a:endParaRPr lang="en-US">
              <a:latin typeface="Times New Roman" panose="02020603050405020304" pitchFamily="18" charset="0"/>
              <a:cs typeface="Times New Roman" panose="02020603050405020304" pitchFamily="18" charset="0"/>
            </a:endParaRPr>
          </a:p>
          <a:p>
            <a:pPr marL="461963" indent="-461963" algn="just">
              <a:buFont typeface="Wingdings" panose="05000000000000000000" pitchFamily="2" charset="2"/>
              <a:buChar char="q"/>
            </a:pPr>
            <a:r>
              <a:rPr lang="en-US">
                <a:latin typeface="Times New Roman" panose="02020603050405020304" pitchFamily="18" charset="0"/>
                <a:cs typeface="Times New Roman" panose="02020603050405020304" pitchFamily="18" charset="0"/>
              </a:rPr>
              <a:t>In which we compare our proposed with some schemes such as ETX, PRR. Each scheme estimates the number of transmissions by itself.</a:t>
            </a:r>
          </a:p>
          <a:p>
            <a:pPr marL="461963" indent="-461963" algn="just">
              <a:buFont typeface="Wingdings" panose="05000000000000000000" pitchFamily="2" charset="2"/>
              <a:buChar char="q"/>
            </a:pPr>
            <a:endParaRPr lang="en-US">
              <a:latin typeface="Times New Roman" panose="02020603050405020304" pitchFamily="18" charset="0"/>
              <a:cs typeface="Times New Roman" panose="02020603050405020304" pitchFamily="18" charset="0"/>
            </a:endParaRPr>
          </a:p>
          <a:p>
            <a:pPr marL="461963" indent="-461963" algn="just">
              <a:buFont typeface="Wingdings" panose="05000000000000000000" pitchFamily="2" charset="2"/>
              <a:buChar char="q"/>
            </a:pPr>
            <a:r>
              <a:rPr lang="en-US">
                <a:latin typeface="Times New Roman" panose="02020603050405020304" pitchFamily="18" charset="0"/>
                <a:cs typeface="Times New Roman" panose="02020603050405020304" pitchFamily="18" charset="0"/>
              </a:rPr>
              <a:t>We will examine the Data PRR at the sink with each value of the hop count.</a:t>
            </a:r>
          </a:p>
        </p:txBody>
      </p:sp>
      <p:grpSp>
        <p:nvGrpSpPr>
          <p:cNvPr id="19" name="Group 18">
            <a:extLst>
              <a:ext uri="{FF2B5EF4-FFF2-40B4-BE49-F238E27FC236}">
                <a16:creationId xmlns:a16="http://schemas.microsoft.com/office/drawing/2014/main" id="{81F3D43A-6B49-4D25-8CDD-CE637446B048}"/>
              </a:ext>
            </a:extLst>
          </p:cNvPr>
          <p:cNvGrpSpPr/>
          <p:nvPr/>
        </p:nvGrpSpPr>
        <p:grpSpPr>
          <a:xfrm>
            <a:off x="6640115" y="1371282"/>
            <a:ext cx="4157826" cy="3600698"/>
            <a:chOff x="6640115" y="1371282"/>
            <a:chExt cx="4157826" cy="3600698"/>
          </a:xfrm>
        </p:grpSpPr>
        <p:pic>
          <p:nvPicPr>
            <p:cNvPr id="14" name="Picture 13">
              <a:extLst>
                <a:ext uri="{FF2B5EF4-FFF2-40B4-BE49-F238E27FC236}">
                  <a16:creationId xmlns:a16="http://schemas.microsoft.com/office/drawing/2014/main" id="{3561D90B-28F8-4C03-8BFA-D0B934A85B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0115" y="1371282"/>
              <a:ext cx="4157826" cy="3600698"/>
            </a:xfrm>
            <a:prstGeom prst="rect">
              <a:avLst/>
            </a:prstGeom>
          </p:spPr>
        </p:pic>
        <p:sp>
          <p:nvSpPr>
            <p:cNvPr id="15" name="TextBox 14">
              <a:extLst>
                <a:ext uri="{FF2B5EF4-FFF2-40B4-BE49-F238E27FC236}">
                  <a16:creationId xmlns:a16="http://schemas.microsoft.com/office/drawing/2014/main" id="{DBBD3C76-55E1-4D26-85C6-91D39ACC3788}"/>
                </a:ext>
              </a:extLst>
            </p:cNvPr>
            <p:cNvSpPr txBox="1"/>
            <p:nvPr/>
          </p:nvSpPr>
          <p:spPr>
            <a:xfrm rot="5400000">
              <a:off x="8423004" y="2420259"/>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16" name="TextBox 15">
              <a:extLst>
                <a:ext uri="{FF2B5EF4-FFF2-40B4-BE49-F238E27FC236}">
                  <a16:creationId xmlns:a16="http://schemas.microsoft.com/office/drawing/2014/main" id="{A16E42B1-9290-457C-A4F9-07E789E32EC8}"/>
                </a:ext>
              </a:extLst>
            </p:cNvPr>
            <p:cNvSpPr txBox="1"/>
            <p:nvPr/>
          </p:nvSpPr>
          <p:spPr>
            <a:xfrm rot="5400000">
              <a:off x="8423004" y="2929197"/>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17" name="TextBox 16">
              <a:extLst>
                <a:ext uri="{FF2B5EF4-FFF2-40B4-BE49-F238E27FC236}">
                  <a16:creationId xmlns:a16="http://schemas.microsoft.com/office/drawing/2014/main" id="{E2D628E0-BF6B-4C1B-A12F-49AC7CEDB8B7}"/>
                </a:ext>
              </a:extLst>
            </p:cNvPr>
            <p:cNvSpPr txBox="1"/>
            <p:nvPr/>
          </p:nvSpPr>
          <p:spPr>
            <a:xfrm rot="5400000">
              <a:off x="8423004" y="3445819"/>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18" name="TextBox 17">
              <a:extLst>
                <a:ext uri="{FF2B5EF4-FFF2-40B4-BE49-F238E27FC236}">
                  <a16:creationId xmlns:a16="http://schemas.microsoft.com/office/drawing/2014/main" id="{A54FB02E-BCA7-4472-8145-66E51259F2C4}"/>
                </a:ext>
              </a:extLst>
            </p:cNvPr>
            <p:cNvSpPr txBox="1"/>
            <p:nvPr/>
          </p:nvSpPr>
          <p:spPr>
            <a:xfrm rot="5400000">
              <a:off x="8423004" y="3971277"/>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grpSp>
      <p:sp>
        <p:nvSpPr>
          <p:cNvPr id="20" name="Rectangle 19">
            <a:extLst>
              <a:ext uri="{FF2B5EF4-FFF2-40B4-BE49-F238E27FC236}">
                <a16:creationId xmlns:a16="http://schemas.microsoft.com/office/drawing/2014/main" id="{2B8EB412-9EA9-493D-92E9-B9868F42B373}"/>
              </a:ext>
            </a:extLst>
          </p:cNvPr>
          <p:cNvSpPr/>
          <p:nvPr/>
        </p:nvSpPr>
        <p:spPr>
          <a:xfrm>
            <a:off x="7587872" y="5038168"/>
            <a:ext cx="2255746" cy="369332"/>
          </a:xfrm>
          <a:prstGeom prst="rect">
            <a:avLst/>
          </a:prstGeom>
        </p:spPr>
        <p:txBody>
          <a:bodyPr wrap="none">
            <a:spAutoFit/>
          </a:bodyPr>
          <a:lstStyle/>
          <a:p>
            <a:r>
              <a:rPr lang="en-US">
                <a:latin typeface="Times New Roman" panose="02020603050405020304" pitchFamily="18" charset="0"/>
                <a:cs typeface="Times New Roman" panose="02020603050405020304" pitchFamily="18" charset="0"/>
              </a:rPr>
              <a:t>Fig 2. Linear network.</a:t>
            </a:r>
          </a:p>
        </p:txBody>
      </p:sp>
    </p:spTree>
    <p:extLst>
      <p:ext uri="{BB962C8B-B14F-4D97-AF65-F5344CB8AC3E}">
        <p14:creationId xmlns:p14="http://schemas.microsoft.com/office/powerpoint/2010/main" val="1652087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90653" cy="1325563"/>
          </a:xfrm>
        </p:spPr>
        <p:txBody>
          <a:bodyPr/>
          <a:lstStyle/>
          <a:p>
            <a:r>
              <a:rPr lang="en-US">
                <a:latin typeface="Times New Roman" panose="02020603050405020304" pitchFamily="18" charset="0"/>
                <a:cs typeface="Times New Roman" panose="02020603050405020304" pitchFamily="18" charset="0"/>
              </a:rPr>
              <a:t>Effect of the hop count on network performance</a:t>
            </a:r>
          </a:p>
        </p:txBody>
      </p:sp>
      <p:sp>
        <p:nvSpPr>
          <p:cNvPr id="12" name="Footer Placeholder 11"/>
          <p:cNvSpPr>
            <a:spLocks noGrp="1"/>
          </p:cNvSpPr>
          <p:nvPr>
            <p:ph type="ftr" sz="quarter" idx="11"/>
          </p:nvPr>
        </p:nvSpPr>
        <p:spPr>
          <a:xfrm>
            <a:off x="9403882" y="6477700"/>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77701"/>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27</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3198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56159" y="4572000"/>
            <a:ext cx="9247723" cy="16348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1963" indent="-461963" algn="just">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From Fig 3, we can see that our proposed scheme and ETX scheme archive very high Data PRR even at the highest hop.</a:t>
            </a:r>
          </a:p>
          <a:p>
            <a:pPr marL="461963" indent="-461963" algn="just">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The PRR scheme shows the Data PRR decrease since the hop count increase </a:t>
            </a:r>
            <a:r>
              <a:rPr lang="en-US" sz="1800">
                <a:latin typeface="Times New Roman" panose="02020603050405020304" pitchFamily="18" charset="0"/>
                <a:cs typeface="Times New Roman" panose="02020603050405020304" pitchFamily="18" charset="0"/>
                <a:sym typeface="Wingdings" panose="05000000000000000000" pitchFamily="2" charset="2"/>
              </a:rPr>
              <a:t> under estimate to reach target reliability.</a:t>
            </a:r>
            <a:endParaRPr lang="en-US" sz="1800">
              <a:latin typeface="Times New Roman" panose="02020603050405020304" pitchFamily="18" charset="0"/>
              <a:cs typeface="Times New Roman" panose="02020603050405020304" pitchFamily="18" charset="0"/>
            </a:endParaRPr>
          </a:p>
          <a:p>
            <a:pPr marL="461963" indent="-461963" algn="just">
              <a:buFont typeface="Wingdings" panose="05000000000000000000" pitchFamily="2" charset="2"/>
              <a:buChar char="q"/>
            </a:pPr>
            <a:endParaRPr lang="en-US" sz="180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14" name="TextBox 13">
            <a:extLst>
              <a:ext uri="{FF2B5EF4-FFF2-40B4-BE49-F238E27FC236}">
                <a16:creationId xmlns:a16="http://schemas.microsoft.com/office/drawing/2014/main" id="{4FE3C46E-498B-437D-9EE0-8C79EBE051F3}"/>
              </a:ext>
            </a:extLst>
          </p:cNvPr>
          <p:cNvSpPr txBox="1"/>
          <p:nvPr/>
        </p:nvSpPr>
        <p:spPr>
          <a:xfrm>
            <a:off x="1208745" y="4186554"/>
            <a:ext cx="4153638"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Fig 3. Effect of the hop count on network performance.</a:t>
            </a:r>
          </a:p>
        </p:txBody>
      </p:sp>
      <p:graphicFrame>
        <p:nvGraphicFramePr>
          <p:cNvPr id="3" name="Table 5">
            <a:extLst>
              <a:ext uri="{FF2B5EF4-FFF2-40B4-BE49-F238E27FC236}">
                <a16:creationId xmlns:a16="http://schemas.microsoft.com/office/drawing/2014/main" id="{C0930C81-739B-447F-9E31-C914944D16D6}"/>
              </a:ext>
            </a:extLst>
          </p:cNvPr>
          <p:cNvGraphicFramePr>
            <a:graphicFrameLocks noGrp="1"/>
          </p:cNvGraphicFramePr>
          <p:nvPr>
            <p:extLst>
              <p:ext uri="{D42A27DB-BD31-4B8C-83A1-F6EECF244321}">
                <p14:modId xmlns:p14="http://schemas.microsoft.com/office/powerpoint/2010/main" val="2340396536"/>
              </p:ext>
            </p:extLst>
          </p:nvPr>
        </p:nvGraphicFramePr>
        <p:xfrm>
          <a:off x="5850765" y="1706652"/>
          <a:ext cx="3339888" cy="1835184"/>
        </p:xfrm>
        <a:graphic>
          <a:graphicData uri="http://schemas.openxmlformats.org/drawingml/2006/table">
            <a:tbl>
              <a:tblPr>
                <a:tableStyleId>{5940675A-B579-460E-94D1-54222C63F5DA}</a:tableStyleId>
              </a:tblPr>
              <a:tblGrid>
                <a:gridCol w="1128532">
                  <a:extLst>
                    <a:ext uri="{9D8B030D-6E8A-4147-A177-3AD203B41FA5}">
                      <a16:colId xmlns:a16="http://schemas.microsoft.com/office/drawing/2014/main" val="962536518"/>
                    </a:ext>
                  </a:extLst>
                </a:gridCol>
                <a:gridCol w="793102">
                  <a:extLst>
                    <a:ext uri="{9D8B030D-6E8A-4147-A177-3AD203B41FA5}">
                      <a16:colId xmlns:a16="http://schemas.microsoft.com/office/drawing/2014/main" val="54745337"/>
                    </a:ext>
                  </a:extLst>
                </a:gridCol>
                <a:gridCol w="690466">
                  <a:extLst>
                    <a:ext uri="{9D8B030D-6E8A-4147-A177-3AD203B41FA5}">
                      <a16:colId xmlns:a16="http://schemas.microsoft.com/office/drawing/2014/main" val="561773943"/>
                    </a:ext>
                  </a:extLst>
                </a:gridCol>
                <a:gridCol w="727788">
                  <a:extLst>
                    <a:ext uri="{9D8B030D-6E8A-4147-A177-3AD203B41FA5}">
                      <a16:colId xmlns:a16="http://schemas.microsoft.com/office/drawing/2014/main" val="3918394747"/>
                    </a:ext>
                  </a:extLst>
                </a:gridCol>
              </a:tblGrid>
              <a:tr h="595690">
                <a:tc>
                  <a:txBody>
                    <a:bodyPr/>
                    <a:lstStyle/>
                    <a:p>
                      <a:pPr algn="ctr"/>
                      <a:r>
                        <a:rPr lang="en-US" sz="1200">
                          <a:latin typeface="Times New Roman" panose="02020603050405020304" pitchFamily="18" charset="0"/>
                          <a:cs typeface="Times New Roman" panose="02020603050405020304" pitchFamily="18" charset="0"/>
                        </a:rPr>
                        <a:t>        Scheme</a:t>
                      </a:r>
                    </a:p>
                  </a:txBody>
                  <a:tcPr>
                    <a:lnTlToBr w="12700" cap="flat" cmpd="sng" algn="ctr">
                      <a:solidFill>
                        <a:schemeClr val="tx1"/>
                      </a:solidFill>
                      <a:prstDash val="solid"/>
                      <a:round/>
                      <a:headEnd type="none" w="med" len="med"/>
                      <a:tailEnd type="none" w="med" len="med"/>
                    </a:lnTlToBr>
                  </a:tcPr>
                </a:tc>
                <a:tc>
                  <a:txBody>
                    <a:bodyPr/>
                    <a:lstStyle/>
                    <a:p>
                      <a:pPr algn="ctr"/>
                      <a:r>
                        <a:rPr lang="en-US" sz="1200">
                          <a:latin typeface="Times New Roman" panose="02020603050405020304" pitchFamily="18" charset="0"/>
                          <a:cs typeface="Times New Roman" panose="02020603050405020304" pitchFamily="18" charset="0"/>
                        </a:rPr>
                        <a:t>ETX</a:t>
                      </a:r>
                    </a:p>
                  </a:txBody>
                  <a:tcPr/>
                </a:tc>
                <a:tc>
                  <a:txBody>
                    <a:bodyPr/>
                    <a:lstStyle/>
                    <a:p>
                      <a:pPr algn="ctr"/>
                      <a:r>
                        <a:rPr lang="en-US" sz="1200">
                          <a:latin typeface="Times New Roman" panose="02020603050405020304" pitchFamily="18" charset="0"/>
                          <a:cs typeface="Times New Roman" panose="02020603050405020304" pitchFamily="18" charset="0"/>
                        </a:rPr>
                        <a:t>PRR</a:t>
                      </a:r>
                    </a:p>
                  </a:txBody>
                  <a:tcPr/>
                </a:tc>
                <a:tc>
                  <a:txBody>
                    <a:bodyPr/>
                    <a:lstStyle/>
                    <a:p>
                      <a:pPr algn="ctr"/>
                      <a:r>
                        <a:rPr lang="en-US" sz="1200">
                          <a:latin typeface="Times New Roman" panose="02020603050405020304" pitchFamily="18" charset="0"/>
                          <a:cs typeface="Times New Roman" panose="02020603050405020304" pitchFamily="18" charset="0"/>
                        </a:rPr>
                        <a:t>Bdist</a:t>
                      </a:r>
                    </a:p>
                  </a:txBody>
                  <a:tcPr/>
                </a:tc>
                <a:extLst>
                  <a:ext uri="{0D108BD9-81ED-4DB2-BD59-A6C34878D82A}">
                    <a16:rowId xmlns:a16="http://schemas.microsoft.com/office/drawing/2014/main" val="2455834919"/>
                  </a:ext>
                </a:extLst>
              </a:tr>
              <a:tr h="291149">
                <a:tc>
                  <a:txBody>
                    <a:bodyPr/>
                    <a:lstStyle/>
                    <a:p>
                      <a:pPr algn="ctr"/>
                      <a:r>
                        <a:rPr lang="en-US" sz="1200">
                          <a:latin typeface="Times New Roman" panose="02020603050405020304" pitchFamily="18" charset="0"/>
                          <a:cs typeface="Times New Roman" panose="02020603050405020304" pitchFamily="18" charset="0"/>
                        </a:rPr>
                        <a:t>1</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2</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2747228602"/>
                  </a:ext>
                </a:extLst>
              </a:tr>
              <a:tr h="244565">
                <a:tc>
                  <a:txBody>
                    <a:bodyPr/>
                    <a:lstStyle/>
                    <a:p>
                      <a:pPr algn="ctr"/>
                      <a:r>
                        <a:rPr lang="en-US" sz="1200">
                          <a:latin typeface="Times New Roman" panose="02020603050405020304" pitchFamily="18" charset="0"/>
                          <a:cs typeface="Times New Roman" panose="02020603050405020304" pitchFamily="18" charset="0"/>
                        </a:rPr>
                        <a:t>2</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432515967"/>
                  </a:ext>
                </a:extLst>
              </a:tr>
              <a:tr h="244565">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1493683250"/>
                  </a:ext>
                </a:extLst>
              </a:tr>
              <a:tr h="399705">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3233831008"/>
                  </a:ext>
                </a:extLst>
              </a:tr>
            </a:tbl>
          </a:graphicData>
        </a:graphic>
      </p:graphicFrame>
      <p:sp>
        <p:nvSpPr>
          <p:cNvPr id="16" name="TextBox 15">
            <a:extLst>
              <a:ext uri="{FF2B5EF4-FFF2-40B4-BE49-F238E27FC236}">
                <a16:creationId xmlns:a16="http://schemas.microsoft.com/office/drawing/2014/main" id="{7A1F7C08-6609-4C50-A6D5-050818DD9B68}"/>
              </a:ext>
            </a:extLst>
          </p:cNvPr>
          <p:cNvSpPr txBox="1"/>
          <p:nvPr/>
        </p:nvSpPr>
        <p:spPr>
          <a:xfrm>
            <a:off x="5290643" y="3679093"/>
            <a:ext cx="4530664"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Table 2. Number of transmissions estimate by each scheme. </a:t>
            </a:r>
          </a:p>
        </p:txBody>
      </p:sp>
      <p:sp>
        <p:nvSpPr>
          <p:cNvPr id="9" name="TextBox 8">
            <a:extLst>
              <a:ext uri="{FF2B5EF4-FFF2-40B4-BE49-F238E27FC236}">
                <a16:creationId xmlns:a16="http://schemas.microsoft.com/office/drawing/2014/main" id="{4377DA4F-04C9-425A-B2F4-DFF8D7B4B0AE}"/>
              </a:ext>
            </a:extLst>
          </p:cNvPr>
          <p:cNvSpPr txBox="1"/>
          <p:nvPr/>
        </p:nvSpPr>
        <p:spPr>
          <a:xfrm>
            <a:off x="5850765" y="2036547"/>
            <a:ext cx="830677" cy="276999"/>
          </a:xfrm>
          <a:prstGeom prst="rect">
            <a:avLst/>
          </a:prstGeom>
          <a:noFill/>
        </p:spPr>
        <p:txBody>
          <a:bodyPr wrap="none" rtlCol="0">
            <a:spAutoFit/>
          </a:bodyPr>
          <a:lstStyle/>
          <a:p>
            <a:r>
              <a:rPr lang="en-US" sz="1200">
                <a:latin typeface="Times New Roman" panose="02020603050405020304" pitchFamily="18" charset="0"/>
                <a:cs typeface="Times New Roman" panose="02020603050405020304" pitchFamily="18" charset="0"/>
              </a:rPr>
              <a:t>Hop count</a:t>
            </a:r>
          </a:p>
        </p:txBody>
      </p:sp>
      <p:graphicFrame>
        <p:nvGraphicFramePr>
          <p:cNvPr id="8" name="Object 7">
            <a:extLst>
              <a:ext uri="{FF2B5EF4-FFF2-40B4-BE49-F238E27FC236}">
                <a16:creationId xmlns:a16="http://schemas.microsoft.com/office/drawing/2014/main" id="{09876FF0-23CD-42E7-BDC3-CA73A8F2796A}"/>
              </a:ext>
            </a:extLst>
          </p:cNvPr>
          <p:cNvGraphicFramePr>
            <a:graphicFrameLocks noChangeAspect="1"/>
          </p:cNvGraphicFramePr>
          <p:nvPr>
            <p:extLst>
              <p:ext uri="{D42A27DB-BD31-4B8C-83A1-F6EECF244321}">
                <p14:modId xmlns:p14="http://schemas.microsoft.com/office/powerpoint/2010/main" val="2248976238"/>
              </p:ext>
            </p:extLst>
          </p:nvPr>
        </p:nvGraphicFramePr>
        <p:xfrm>
          <a:off x="1513120" y="1682352"/>
          <a:ext cx="3544887" cy="2462213"/>
        </p:xfrm>
        <a:graphic>
          <a:graphicData uri="http://schemas.openxmlformats.org/presentationml/2006/ole">
            <mc:AlternateContent xmlns:mc="http://schemas.openxmlformats.org/markup-compatibility/2006">
              <mc:Choice xmlns:v="urn:schemas-microsoft-com:vml" Requires="v">
                <p:oleObj spid="_x0000_s1128" name="Prism 9" r:id="rId5" imgW="3544816" imgH="2462373" progId="Prism9.Document">
                  <p:embed/>
                </p:oleObj>
              </mc:Choice>
              <mc:Fallback>
                <p:oleObj name="Prism 9" r:id="rId5" imgW="3544816" imgH="2462373" progId="Prism9.Document">
                  <p:embed/>
                  <p:pic>
                    <p:nvPicPr>
                      <p:cNvPr id="0" name=""/>
                      <p:cNvPicPr/>
                      <p:nvPr/>
                    </p:nvPicPr>
                    <p:blipFill>
                      <a:blip r:embed="rId6"/>
                      <a:stretch>
                        <a:fillRect/>
                      </a:stretch>
                    </p:blipFill>
                    <p:spPr>
                      <a:xfrm>
                        <a:off x="1513120" y="1682352"/>
                        <a:ext cx="3544887" cy="2462213"/>
                      </a:xfrm>
                      <a:prstGeom prst="rect">
                        <a:avLst/>
                      </a:prstGeom>
                    </p:spPr>
                  </p:pic>
                </p:oleObj>
              </mc:Fallback>
            </mc:AlternateContent>
          </a:graphicData>
        </a:graphic>
      </p:graphicFrame>
    </p:spTree>
    <p:extLst>
      <p:ext uri="{BB962C8B-B14F-4D97-AF65-F5344CB8AC3E}">
        <p14:creationId xmlns:p14="http://schemas.microsoft.com/office/powerpoint/2010/main" val="3713894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399753" cy="1325563"/>
          </a:xfrm>
        </p:spPr>
        <p:txBody>
          <a:bodyPr/>
          <a:lstStyle/>
          <a:p>
            <a:r>
              <a:rPr lang="en-US">
                <a:latin typeface="Times New Roman" panose="02020603050405020304" pitchFamily="18" charset="0"/>
                <a:cs typeface="Times New Roman" panose="02020603050405020304" pitchFamily="18" charset="0"/>
              </a:rPr>
              <a:t>Evaluate the network with some estimation scheme</a:t>
            </a:r>
          </a:p>
        </p:txBody>
      </p:sp>
      <p:sp>
        <p:nvSpPr>
          <p:cNvPr id="12" name="Footer Placeholder 11"/>
          <p:cNvSpPr>
            <a:spLocks noGrp="1"/>
          </p:cNvSpPr>
          <p:nvPr>
            <p:ph type="ftr" sz="quarter" idx="11"/>
          </p:nvPr>
        </p:nvSpPr>
        <p:spPr>
          <a:xfrm>
            <a:off x="9403882" y="6477700"/>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77701"/>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28</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3198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56160" y="1330718"/>
            <a:ext cx="9243594" cy="4876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1963" indent="-461963"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By using Cooja Simulator, the Bdist is compared with some schemes such as ETX, PRR. The key parameter is present in Table 2</a:t>
            </a:r>
            <a:r>
              <a:rPr lang="en-US" sz="2000">
                <a:latin typeface="Times New Roman" panose="02020603050405020304" pitchFamily="18" charset="0"/>
                <a:cs typeface="Times New Roman" panose="02020603050405020304" pitchFamily="18" charset="0"/>
              </a:rPr>
              <a:t>:</a:t>
            </a:r>
            <a:endParaRPr lang="en-US" sz="21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endParaRPr lang="en-US" sz="210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graphicFrame>
        <p:nvGraphicFramePr>
          <p:cNvPr id="3" name="Table 2">
            <a:extLst>
              <a:ext uri="{FF2B5EF4-FFF2-40B4-BE49-F238E27FC236}">
                <a16:creationId xmlns:a16="http://schemas.microsoft.com/office/drawing/2014/main" id="{B8F6722A-9BBB-46F5-B678-740820D628A3}"/>
              </a:ext>
            </a:extLst>
          </p:cNvPr>
          <p:cNvGraphicFramePr>
            <a:graphicFrameLocks noGrp="1"/>
          </p:cNvGraphicFramePr>
          <p:nvPr/>
        </p:nvGraphicFramePr>
        <p:xfrm>
          <a:off x="1096893" y="2559260"/>
          <a:ext cx="5108288" cy="2389381"/>
        </p:xfrm>
        <a:graphic>
          <a:graphicData uri="http://schemas.openxmlformats.org/drawingml/2006/table">
            <a:tbl>
              <a:tblPr firstCol="1" bandRow="1">
                <a:tableStyleId>{5940675A-B579-460E-94D1-54222C63F5DA}</a:tableStyleId>
              </a:tblPr>
              <a:tblGrid>
                <a:gridCol w="2554144">
                  <a:extLst>
                    <a:ext uri="{9D8B030D-6E8A-4147-A177-3AD203B41FA5}">
                      <a16:colId xmlns:a16="http://schemas.microsoft.com/office/drawing/2014/main" val="1731379676"/>
                    </a:ext>
                  </a:extLst>
                </a:gridCol>
                <a:gridCol w="2554144">
                  <a:extLst>
                    <a:ext uri="{9D8B030D-6E8A-4147-A177-3AD203B41FA5}">
                      <a16:colId xmlns:a16="http://schemas.microsoft.com/office/drawing/2014/main" val="3093294478"/>
                    </a:ext>
                  </a:extLst>
                </a:gridCol>
              </a:tblGrid>
              <a:tr h="305943">
                <a:tc>
                  <a:txBody>
                    <a:bodyPr/>
                    <a:lstStyle/>
                    <a:p>
                      <a:pPr marL="0" marR="0" indent="0" algn="just">
                        <a:lnSpc>
                          <a:spcPts val="1300"/>
                        </a:lnSpc>
                        <a:spcBef>
                          <a:spcPts val="0"/>
                        </a:spcBef>
                        <a:spcAft>
                          <a:spcPts val="0"/>
                        </a:spcAft>
                      </a:pPr>
                      <a:r>
                        <a:rPr lang="en-US" sz="1000">
                          <a:effectLst/>
                        </a:rPr>
                        <a:t>Number of nodes</a:t>
                      </a:r>
                      <a:endParaRPr lang="en-US"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hangingPunct="0">
                        <a:lnSpc>
                          <a:spcPts val="1200"/>
                        </a:lnSpc>
                        <a:spcBef>
                          <a:spcPts val="0"/>
                        </a:spcBef>
                        <a:spcAft>
                          <a:spcPts val="0"/>
                        </a:spcAft>
                      </a:pPr>
                      <a:r>
                        <a:rPr lang="en-US" sz="1000">
                          <a:effectLst/>
                        </a:rPr>
                        <a:t>10 </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15717544"/>
                  </a:ext>
                </a:extLst>
              </a:tr>
              <a:tr h="297634">
                <a:tc>
                  <a:txBody>
                    <a:bodyPr/>
                    <a:lstStyle/>
                    <a:p>
                      <a:pPr marL="0" marR="0" algn="just" hangingPunct="0">
                        <a:lnSpc>
                          <a:spcPts val="1200"/>
                        </a:lnSpc>
                        <a:spcBef>
                          <a:spcPts val="0"/>
                        </a:spcBef>
                        <a:spcAft>
                          <a:spcPts val="0"/>
                        </a:spcAft>
                      </a:pPr>
                      <a:r>
                        <a:rPr lang="en-US" sz="1000">
                          <a:effectLst/>
                        </a:rPr>
                        <a:t>Number of probes</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hangingPunct="0">
                        <a:lnSpc>
                          <a:spcPts val="1200"/>
                        </a:lnSpc>
                        <a:spcBef>
                          <a:spcPts val="0"/>
                        </a:spcBef>
                        <a:spcAft>
                          <a:spcPts val="0"/>
                        </a:spcAft>
                      </a:pPr>
                      <a:r>
                        <a:rPr lang="en-US" sz="1000">
                          <a:effectLst/>
                        </a:rPr>
                        <a:t>1000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81405100"/>
                  </a:ext>
                </a:extLst>
              </a:tr>
              <a:tr h="297634">
                <a:tc>
                  <a:txBody>
                    <a:bodyPr/>
                    <a:lstStyle/>
                    <a:p>
                      <a:pPr marL="0" marR="0" algn="just" hangingPunct="0">
                        <a:lnSpc>
                          <a:spcPts val="1200"/>
                        </a:lnSpc>
                        <a:spcBef>
                          <a:spcPts val="0"/>
                        </a:spcBef>
                        <a:spcAft>
                          <a:spcPts val="0"/>
                        </a:spcAft>
                      </a:pPr>
                      <a:r>
                        <a:rPr lang="en-US" sz="1000">
                          <a:effectLst/>
                        </a:rPr>
                        <a:t>Target PRR</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hangingPunct="0">
                        <a:lnSpc>
                          <a:spcPts val="1200"/>
                        </a:lnSpc>
                        <a:spcBef>
                          <a:spcPts val="0"/>
                        </a:spcBef>
                        <a:spcAft>
                          <a:spcPts val="0"/>
                        </a:spcAft>
                      </a:pPr>
                      <a:r>
                        <a:rPr lang="en-US" sz="1000">
                          <a:effectLst/>
                        </a:rPr>
                        <a:t>99%</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86490299"/>
                  </a:ext>
                </a:extLst>
              </a:tr>
              <a:tr h="297634">
                <a:tc>
                  <a:txBody>
                    <a:bodyPr/>
                    <a:lstStyle/>
                    <a:p>
                      <a:pPr marL="0" marR="0" algn="just" hangingPunct="0">
                        <a:lnSpc>
                          <a:spcPts val="1200"/>
                        </a:lnSpc>
                        <a:spcBef>
                          <a:spcPts val="0"/>
                        </a:spcBef>
                        <a:spcAft>
                          <a:spcPts val="0"/>
                        </a:spcAft>
                      </a:pPr>
                      <a:r>
                        <a:rPr lang="en-US" sz="1000">
                          <a:effectLst/>
                        </a:rPr>
                        <a:t>Link quality of the channel (is set)</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hangingPunct="0">
                        <a:lnSpc>
                          <a:spcPts val="1200"/>
                        </a:lnSpc>
                        <a:spcBef>
                          <a:spcPts val="0"/>
                        </a:spcBef>
                        <a:spcAft>
                          <a:spcPts val="0"/>
                        </a:spcAft>
                      </a:pPr>
                      <a:r>
                        <a:rPr lang="en-US" sz="1000">
                          <a:effectLst/>
                        </a:rPr>
                        <a:t>70% - 90%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34063839"/>
                  </a:ext>
                </a:extLst>
              </a:tr>
              <a:tr h="297634">
                <a:tc>
                  <a:txBody>
                    <a:bodyPr/>
                    <a:lstStyle/>
                    <a:p>
                      <a:pPr marL="0" marR="0" algn="just" hangingPunct="0">
                        <a:lnSpc>
                          <a:spcPts val="1200"/>
                        </a:lnSpc>
                        <a:spcBef>
                          <a:spcPts val="0"/>
                        </a:spcBef>
                        <a:spcAft>
                          <a:spcPts val="0"/>
                        </a:spcAft>
                      </a:pPr>
                      <a:r>
                        <a:rPr lang="en-US" sz="1000">
                          <a:effectLst/>
                        </a:rPr>
                        <a:t>Number of the data packets</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hangingPunct="0">
                        <a:lnSpc>
                          <a:spcPts val="1200"/>
                        </a:lnSpc>
                        <a:spcBef>
                          <a:spcPts val="0"/>
                        </a:spcBef>
                        <a:spcAft>
                          <a:spcPts val="0"/>
                        </a:spcAft>
                      </a:pPr>
                      <a:r>
                        <a:rPr lang="en-US" sz="1000">
                          <a:effectLst/>
                        </a:rPr>
                        <a:t>1000</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90649279"/>
                  </a:ext>
                </a:extLst>
              </a:tr>
              <a:tr h="297634">
                <a:tc>
                  <a:txBody>
                    <a:bodyPr/>
                    <a:lstStyle/>
                    <a:p>
                      <a:pPr marL="0" marR="0" algn="just" hangingPunct="0">
                        <a:lnSpc>
                          <a:spcPts val="1200"/>
                        </a:lnSpc>
                        <a:spcBef>
                          <a:spcPts val="0"/>
                        </a:spcBef>
                        <a:spcAft>
                          <a:spcPts val="0"/>
                        </a:spcAft>
                      </a:pPr>
                      <a:r>
                        <a:rPr lang="en-US" sz="1000">
                          <a:effectLst/>
                        </a:rPr>
                        <a:t>Network area</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hangingPunct="0">
                        <a:lnSpc>
                          <a:spcPts val="1200"/>
                        </a:lnSpc>
                        <a:spcBef>
                          <a:spcPts val="0"/>
                        </a:spcBef>
                        <a:spcAft>
                          <a:spcPts val="0"/>
                        </a:spcAft>
                      </a:pPr>
                      <a:r>
                        <a:rPr lang="en-US" sz="1000">
                          <a:effectLst/>
                        </a:rPr>
                        <a:t>100m x 100m</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24176706"/>
                  </a:ext>
                </a:extLst>
              </a:tr>
              <a:tr h="297634">
                <a:tc>
                  <a:txBody>
                    <a:bodyPr/>
                    <a:lstStyle/>
                    <a:p>
                      <a:pPr marL="0" marR="0" algn="just" hangingPunct="0">
                        <a:lnSpc>
                          <a:spcPts val="1200"/>
                        </a:lnSpc>
                        <a:spcBef>
                          <a:spcPts val="0"/>
                        </a:spcBef>
                        <a:spcAft>
                          <a:spcPts val="0"/>
                        </a:spcAft>
                      </a:pPr>
                      <a:r>
                        <a:rPr lang="en-US" sz="1000">
                          <a:effectLst/>
                        </a:rPr>
                        <a:t>Payload size</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hangingPunct="0">
                        <a:lnSpc>
                          <a:spcPts val="1200"/>
                        </a:lnSpc>
                        <a:spcBef>
                          <a:spcPts val="0"/>
                        </a:spcBef>
                        <a:spcAft>
                          <a:spcPts val="0"/>
                        </a:spcAft>
                      </a:pPr>
                      <a:r>
                        <a:rPr lang="en-US" sz="1000">
                          <a:effectLst/>
                        </a:rPr>
                        <a:t>26 bytes</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92595578"/>
                  </a:ext>
                </a:extLst>
              </a:tr>
              <a:tr h="297634">
                <a:tc>
                  <a:txBody>
                    <a:bodyPr/>
                    <a:lstStyle/>
                    <a:p>
                      <a:pPr marL="0" marR="0" algn="just" hangingPunct="0">
                        <a:lnSpc>
                          <a:spcPts val="1200"/>
                        </a:lnSpc>
                        <a:spcBef>
                          <a:spcPts val="0"/>
                        </a:spcBef>
                        <a:spcAft>
                          <a:spcPts val="0"/>
                        </a:spcAft>
                      </a:pPr>
                      <a:r>
                        <a:rPr lang="en-US" sz="1000">
                          <a:effectLst/>
                        </a:rPr>
                        <a:t>Simulation time for each scenario</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hangingPunct="0">
                        <a:lnSpc>
                          <a:spcPts val="1200"/>
                        </a:lnSpc>
                        <a:spcBef>
                          <a:spcPts val="0"/>
                        </a:spcBef>
                        <a:spcAft>
                          <a:spcPts val="0"/>
                        </a:spcAft>
                      </a:pPr>
                      <a:r>
                        <a:rPr lang="en-US" sz="1000">
                          <a:effectLst/>
                        </a:rPr>
                        <a:t>About 55 minutes</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94887655"/>
                  </a:ext>
                </a:extLst>
              </a:tr>
            </a:tbl>
          </a:graphicData>
        </a:graphic>
      </p:graphicFrame>
      <p:sp>
        <p:nvSpPr>
          <p:cNvPr id="11" name="TextBox 10">
            <a:extLst>
              <a:ext uri="{FF2B5EF4-FFF2-40B4-BE49-F238E27FC236}">
                <a16:creationId xmlns:a16="http://schemas.microsoft.com/office/drawing/2014/main" id="{B26DA29B-7C30-4FB6-9A0C-CBECDAB809F7}"/>
              </a:ext>
            </a:extLst>
          </p:cNvPr>
          <p:cNvSpPr txBox="1"/>
          <p:nvPr/>
        </p:nvSpPr>
        <p:spPr>
          <a:xfrm>
            <a:off x="1311999" y="5116073"/>
            <a:ext cx="4112280"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Table 3. Summary of the simulation set up parameters.</a:t>
            </a:r>
          </a:p>
        </p:txBody>
      </p:sp>
      <p:sp>
        <p:nvSpPr>
          <p:cNvPr id="14" name="TextBox 13">
            <a:extLst>
              <a:ext uri="{FF2B5EF4-FFF2-40B4-BE49-F238E27FC236}">
                <a16:creationId xmlns:a16="http://schemas.microsoft.com/office/drawing/2014/main" id="{25168F52-E0E0-407A-BE2B-3C3B636D39AB}"/>
              </a:ext>
            </a:extLst>
          </p:cNvPr>
          <p:cNvSpPr txBox="1"/>
          <p:nvPr/>
        </p:nvSpPr>
        <p:spPr>
          <a:xfrm>
            <a:off x="7740842" y="5423850"/>
            <a:ext cx="1683089"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Fig 3. Tree topology.</a:t>
            </a:r>
          </a:p>
        </p:txBody>
      </p:sp>
      <p:grpSp>
        <p:nvGrpSpPr>
          <p:cNvPr id="25" name="Group 24">
            <a:extLst>
              <a:ext uri="{FF2B5EF4-FFF2-40B4-BE49-F238E27FC236}">
                <a16:creationId xmlns:a16="http://schemas.microsoft.com/office/drawing/2014/main" id="{8D305FAC-B983-4DC1-99F6-FFD241758783}"/>
              </a:ext>
            </a:extLst>
          </p:cNvPr>
          <p:cNvGrpSpPr/>
          <p:nvPr/>
        </p:nvGrpSpPr>
        <p:grpSpPr>
          <a:xfrm>
            <a:off x="6571129" y="2030164"/>
            <a:ext cx="4022516" cy="3393686"/>
            <a:chOff x="6571129" y="2030164"/>
            <a:chExt cx="4022516" cy="3393686"/>
          </a:xfrm>
        </p:grpSpPr>
        <p:pic>
          <p:nvPicPr>
            <p:cNvPr id="9" name="Picture 8">
              <a:extLst>
                <a:ext uri="{FF2B5EF4-FFF2-40B4-BE49-F238E27FC236}">
                  <a16:creationId xmlns:a16="http://schemas.microsoft.com/office/drawing/2014/main" id="{568035AB-A5C2-4385-ABD3-AC1C87C9B4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1129" y="2030164"/>
              <a:ext cx="4022516" cy="3393686"/>
            </a:xfrm>
            <a:prstGeom prst="rect">
              <a:avLst/>
            </a:prstGeom>
          </p:spPr>
        </p:pic>
        <p:sp>
          <p:nvSpPr>
            <p:cNvPr id="15" name="TextBox 14">
              <a:extLst>
                <a:ext uri="{FF2B5EF4-FFF2-40B4-BE49-F238E27FC236}">
                  <a16:creationId xmlns:a16="http://schemas.microsoft.com/office/drawing/2014/main" id="{B4551590-0852-4CD9-93DE-93F5068BB6A0}"/>
                </a:ext>
              </a:extLst>
            </p:cNvPr>
            <p:cNvSpPr txBox="1"/>
            <p:nvPr/>
          </p:nvSpPr>
          <p:spPr>
            <a:xfrm rot="20669627">
              <a:off x="8130305" y="2808514"/>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16" name="TextBox 15">
              <a:extLst>
                <a:ext uri="{FF2B5EF4-FFF2-40B4-BE49-F238E27FC236}">
                  <a16:creationId xmlns:a16="http://schemas.microsoft.com/office/drawing/2014/main" id="{69AFBB19-6AFC-43FB-A48A-BF16E711A413}"/>
                </a:ext>
              </a:extLst>
            </p:cNvPr>
            <p:cNvSpPr txBox="1"/>
            <p:nvPr/>
          </p:nvSpPr>
          <p:spPr>
            <a:xfrm rot="2411202">
              <a:off x="8925978" y="3023298"/>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80%</a:t>
              </a:r>
            </a:p>
          </p:txBody>
        </p:sp>
        <p:sp>
          <p:nvSpPr>
            <p:cNvPr id="17" name="TextBox 16">
              <a:extLst>
                <a:ext uri="{FF2B5EF4-FFF2-40B4-BE49-F238E27FC236}">
                  <a16:creationId xmlns:a16="http://schemas.microsoft.com/office/drawing/2014/main" id="{62D9835B-B611-4B37-888C-5FC8659A81BE}"/>
                </a:ext>
              </a:extLst>
            </p:cNvPr>
            <p:cNvSpPr txBox="1"/>
            <p:nvPr/>
          </p:nvSpPr>
          <p:spPr>
            <a:xfrm rot="18777132">
              <a:off x="7473027" y="3199128"/>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80%</a:t>
              </a:r>
            </a:p>
          </p:txBody>
        </p:sp>
        <p:sp>
          <p:nvSpPr>
            <p:cNvPr id="18" name="TextBox 17">
              <a:extLst>
                <a:ext uri="{FF2B5EF4-FFF2-40B4-BE49-F238E27FC236}">
                  <a16:creationId xmlns:a16="http://schemas.microsoft.com/office/drawing/2014/main" id="{E4FA52A3-EAC7-4ADA-AE79-3D273E0DFBC9}"/>
                </a:ext>
              </a:extLst>
            </p:cNvPr>
            <p:cNvSpPr txBox="1"/>
            <p:nvPr/>
          </p:nvSpPr>
          <p:spPr>
            <a:xfrm rot="3719725">
              <a:off x="8588696" y="3881034"/>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19" name="TextBox 18">
              <a:extLst>
                <a:ext uri="{FF2B5EF4-FFF2-40B4-BE49-F238E27FC236}">
                  <a16:creationId xmlns:a16="http://schemas.microsoft.com/office/drawing/2014/main" id="{225647D1-5365-48A1-902D-6A243C6B066F}"/>
                </a:ext>
              </a:extLst>
            </p:cNvPr>
            <p:cNvSpPr txBox="1"/>
            <p:nvPr/>
          </p:nvSpPr>
          <p:spPr>
            <a:xfrm rot="2689516">
              <a:off x="9427602" y="3536939"/>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20" name="TextBox 19">
              <a:extLst>
                <a:ext uri="{FF2B5EF4-FFF2-40B4-BE49-F238E27FC236}">
                  <a16:creationId xmlns:a16="http://schemas.microsoft.com/office/drawing/2014/main" id="{392BB7E2-29C0-4803-AC4C-354BD0BBB89F}"/>
                </a:ext>
              </a:extLst>
            </p:cNvPr>
            <p:cNvSpPr txBox="1"/>
            <p:nvPr/>
          </p:nvSpPr>
          <p:spPr>
            <a:xfrm rot="4944589">
              <a:off x="9213511" y="3718822"/>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21" name="TextBox 20">
              <a:extLst>
                <a:ext uri="{FF2B5EF4-FFF2-40B4-BE49-F238E27FC236}">
                  <a16:creationId xmlns:a16="http://schemas.microsoft.com/office/drawing/2014/main" id="{98926D37-8370-4FAB-B4C0-ECC2B26A233D}"/>
                </a:ext>
              </a:extLst>
            </p:cNvPr>
            <p:cNvSpPr txBox="1"/>
            <p:nvPr/>
          </p:nvSpPr>
          <p:spPr>
            <a:xfrm rot="5400000">
              <a:off x="7846046" y="3484812"/>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80%</a:t>
              </a:r>
            </a:p>
          </p:txBody>
        </p:sp>
        <p:sp>
          <p:nvSpPr>
            <p:cNvPr id="22" name="TextBox 21">
              <a:extLst>
                <a:ext uri="{FF2B5EF4-FFF2-40B4-BE49-F238E27FC236}">
                  <a16:creationId xmlns:a16="http://schemas.microsoft.com/office/drawing/2014/main" id="{ACB9362E-34F9-44E8-9543-8930532B0DC8}"/>
                </a:ext>
              </a:extLst>
            </p:cNvPr>
            <p:cNvSpPr txBox="1"/>
            <p:nvPr/>
          </p:nvSpPr>
          <p:spPr>
            <a:xfrm rot="17039844">
              <a:off x="8323490" y="3101782"/>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70%</a:t>
              </a:r>
            </a:p>
          </p:txBody>
        </p:sp>
        <p:sp>
          <p:nvSpPr>
            <p:cNvPr id="23" name="TextBox 22">
              <a:extLst>
                <a:ext uri="{FF2B5EF4-FFF2-40B4-BE49-F238E27FC236}">
                  <a16:creationId xmlns:a16="http://schemas.microsoft.com/office/drawing/2014/main" id="{861848F2-FF56-48E5-9DD7-7A5B8A924AB7}"/>
                </a:ext>
              </a:extLst>
            </p:cNvPr>
            <p:cNvSpPr txBox="1"/>
            <p:nvPr/>
          </p:nvSpPr>
          <p:spPr>
            <a:xfrm rot="18354311">
              <a:off x="7065849" y="3709334"/>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grpSp>
    </p:spTree>
    <p:extLst>
      <p:ext uri="{BB962C8B-B14F-4D97-AF65-F5344CB8AC3E}">
        <p14:creationId xmlns:p14="http://schemas.microsoft.com/office/powerpoint/2010/main" val="3844727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399753" cy="1325563"/>
          </a:xfrm>
        </p:spPr>
        <p:txBody>
          <a:bodyPr/>
          <a:lstStyle/>
          <a:p>
            <a:r>
              <a:rPr lang="en-US">
                <a:latin typeface="Times New Roman" panose="02020603050405020304" pitchFamily="18" charset="0"/>
                <a:cs typeface="Times New Roman" panose="02020603050405020304" pitchFamily="18" charset="0"/>
              </a:rPr>
              <a:t>Evaluate the network with some estimation scheme</a:t>
            </a:r>
          </a:p>
        </p:txBody>
      </p:sp>
      <p:sp>
        <p:nvSpPr>
          <p:cNvPr id="12" name="Footer Placeholder 11"/>
          <p:cNvSpPr>
            <a:spLocks noGrp="1"/>
          </p:cNvSpPr>
          <p:nvPr>
            <p:ph type="ftr" sz="quarter" idx="11"/>
          </p:nvPr>
        </p:nvSpPr>
        <p:spPr>
          <a:xfrm>
            <a:off x="9403882" y="6477700"/>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77701"/>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29</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3198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56160" y="1330718"/>
            <a:ext cx="6414968" cy="4876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Each sensor node will generate 1000 packets periodically. The TSCH MAC protocol is used with the PCLLF [13] scheduling algorithm to guarantee that no collision in the network.</a:t>
            </a:r>
          </a:p>
          <a:p>
            <a:pPr marL="285750" indent="-28575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We collect the packet reception rate of each sensor node at the sink.</a:t>
            </a:r>
          </a:p>
          <a:p>
            <a:pPr algn="just">
              <a:buFont typeface="Wingdings" panose="05000000000000000000" pitchFamily="2" charset="2"/>
              <a:buChar char="§"/>
            </a:pPr>
            <a:endParaRPr lang="en-US" sz="2100">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14" name="TextBox 13">
            <a:extLst>
              <a:ext uri="{FF2B5EF4-FFF2-40B4-BE49-F238E27FC236}">
                <a16:creationId xmlns:a16="http://schemas.microsoft.com/office/drawing/2014/main" id="{25168F52-E0E0-407A-BE2B-3C3B636D39AB}"/>
              </a:ext>
            </a:extLst>
          </p:cNvPr>
          <p:cNvSpPr txBox="1"/>
          <p:nvPr/>
        </p:nvSpPr>
        <p:spPr>
          <a:xfrm>
            <a:off x="7722180" y="4882677"/>
            <a:ext cx="1683089"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Fig 3. Tree topology.</a:t>
            </a:r>
          </a:p>
        </p:txBody>
      </p:sp>
      <p:grpSp>
        <p:nvGrpSpPr>
          <p:cNvPr id="25" name="Group 24">
            <a:extLst>
              <a:ext uri="{FF2B5EF4-FFF2-40B4-BE49-F238E27FC236}">
                <a16:creationId xmlns:a16="http://schemas.microsoft.com/office/drawing/2014/main" id="{8D305FAC-B983-4DC1-99F6-FFD241758783}"/>
              </a:ext>
            </a:extLst>
          </p:cNvPr>
          <p:cNvGrpSpPr/>
          <p:nvPr/>
        </p:nvGrpSpPr>
        <p:grpSpPr>
          <a:xfrm>
            <a:off x="6552467" y="1488991"/>
            <a:ext cx="4022516" cy="3393686"/>
            <a:chOff x="6571129" y="2030164"/>
            <a:chExt cx="4022516" cy="3393686"/>
          </a:xfrm>
        </p:grpSpPr>
        <p:pic>
          <p:nvPicPr>
            <p:cNvPr id="9" name="Picture 8">
              <a:extLst>
                <a:ext uri="{FF2B5EF4-FFF2-40B4-BE49-F238E27FC236}">
                  <a16:creationId xmlns:a16="http://schemas.microsoft.com/office/drawing/2014/main" id="{568035AB-A5C2-4385-ABD3-AC1C87C9B4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1129" y="2030164"/>
              <a:ext cx="4022516" cy="3393686"/>
            </a:xfrm>
            <a:prstGeom prst="rect">
              <a:avLst/>
            </a:prstGeom>
          </p:spPr>
        </p:pic>
        <p:sp>
          <p:nvSpPr>
            <p:cNvPr id="15" name="TextBox 14">
              <a:extLst>
                <a:ext uri="{FF2B5EF4-FFF2-40B4-BE49-F238E27FC236}">
                  <a16:creationId xmlns:a16="http://schemas.microsoft.com/office/drawing/2014/main" id="{B4551590-0852-4CD9-93DE-93F5068BB6A0}"/>
                </a:ext>
              </a:extLst>
            </p:cNvPr>
            <p:cNvSpPr txBox="1"/>
            <p:nvPr/>
          </p:nvSpPr>
          <p:spPr>
            <a:xfrm rot="20669627">
              <a:off x="8130305" y="2808514"/>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16" name="TextBox 15">
              <a:extLst>
                <a:ext uri="{FF2B5EF4-FFF2-40B4-BE49-F238E27FC236}">
                  <a16:creationId xmlns:a16="http://schemas.microsoft.com/office/drawing/2014/main" id="{69AFBB19-6AFC-43FB-A48A-BF16E711A413}"/>
                </a:ext>
              </a:extLst>
            </p:cNvPr>
            <p:cNvSpPr txBox="1"/>
            <p:nvPr/>
          </p:nvSpPr>
          <p:spPr>
            <a:xfrm rot="2411202">
              <a:off x="8925978" y="3023298"/>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80%</a:t>
              </a:r>
            </a:p>
          </p:txBody>
        </p:sp>
        <p:sp>
          <p:nvSpPr>
            <p:cNvPr id="17" name="TextBox 16">
              <a:extLst>
                <a:ext uri="{FF2B5EF4-FFF2-40B4-BE49-F238E27FC236}">
                  <a16:creationId xmlns:a16="http://schemas.microsoft.com/office/drawing/2014/main" id="{62D9835B-B611-4B37-888C-5FC8659A81BE}"/>
                </a:ext>
              </a:extLst>
            </p:cNvPr>
            <p:cNvSpPr txBox="1"/>
            <p:nvPr/>
          </p:nvSpPr>
          <p:spPr>
            <a:xfrm rot="18777132">
              <a:off x="7473027" y="3199128"/>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80%</a:t>
              </a:r>
            </a:p>
          </p:txBody>
        </p:sp>
        <p:sp>
          <p:nvSpPr>
            <p:cNvPr id="18" name="TextBox 17">
              <a:extLst>
                <a:ext uri="{FF2B5EF4-FFF2-40B4-BE49-F238E27FC236}">
                  <a16:creationId xmlns:a16="http://schemas.microsoft.com/office/drawing/2014/main" id="{E4FA52A3-EAC7-4ADA-AE79-3D273E0DFBC9}"/>
                </a:ext>
              </a:extLst>
            </p:cNvPr>
            <p:cNvSpPr txBox="1"/>
            <p:nvPr/>
          </p:nvSpPr>
          <p:spPr>
            <a:xfrm rot="3719725">
              <a:off x="8588696" y="3881034"/>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19" name="TextBox 18">
              <a:extLst>
                <a:ext uri="{FF2B5EF4-FFF2-40B4-BE49-F238E27FC236}">
                  <a16:creationId xmlns:a16="http://schemas.microsoft.com/office/drawing/2014/main" id="{225647D1-5365-48A1-902D-6A243C6B066F}"/>
                </a:ext>
              </a:extLst>
            </p:cNvPr>
            <p:cNvSpPr txBox="1"/>
            <p:nvPr/>
          </p:nvSpPr>
          <p:spPr>
            <a:xfrm rot="2689516">
              <a:off x="9427602" y="3536939"/>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20" name="TextBox 19">
              <a:extLst>
                <a:ext uri="{FF2B5EF4-FFF2-40B4-BE49-F238E27FC236}">
                  <a16:creationId xmlns:a16="http://schemas.microsoft.com/office/drawing/2014/main" id="{392BB7E2-29C0-4803-AC4C-354BD0BBB89F}"/>
                </a:ext>
              </a:extLst>
            </p:cNvPr>
            <p:cNvSpPr txBox="1"/>
            <p:nvPr/>
          </p:nvSpPr>
          <p:spPr>
            <a:xfrm rot="4944589">
              <a:off x="9213511" y="3718822"/>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sp>
          <p:nvSpPr>
            <p:cNvPr id="21" name="TextBox 20">
              <a:extLst>
                <a:ext uri="{FF2B5EF4-FFF2-40B4-BE49-F238E27FC236}">
                  <a16:creationId xmlns:a16="http://schemas.microsoft.com/office/drawing/2014/main" id="{98926D37-8370-4FAB-B4C0-ECC2B26A233D}"/>
                </a:ext>
              </a:extLst>
            </p:cNvPr>
            <p:cNvSpPr txBox="1"/>
            <p:nvPr/>
          </p:nvSpPr>
          <p:spPr>
            <a:xfrm rot="5400000">
              <a:off x="7846046" y="3484812"/>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80%</a:t>
              </a:r>
            </a:p>
          </p:txBody>
        </p:sp>
        <p:sp>
          <p:nvSpPr>
            <p:cNvPr id="22" name="TextBox 21">
              <a:extLst>
                <a:ext uri="{FF2B5EF4-FFF2-40B4-BE49-F238E27FC236}">
                  <a16:creationId xmlns:a16="http://schemas.microsoft.com/office/drawing/2014/main" id="{ACB9362E-34F9-44E8-9543-8930532B0DC8}"/>
                </a:ext>
              </a:extLst>
            </p:cNvPr>
            <p:cNvSpPr txBox="1"/>
            <p:nvPr/>
          </p:nvSpPr>
          <p:spPr>
            <a:xfrm rot="17039844">
              <a:off x="8323490" y="3101782"/>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70%</a:t>
              </a:r>
            </a:p>
          </p:txBody>
        </p:sp>
        <p:sp>
          <p:nvSpPr>
            <p:cNvPr id="23" name="TextBox 22">
              <a:extLst>
                <a:ext uri="{FF2B5EF4-FFF2-40B4-BE49-F238E27FC236}">
                  <a16:creationId xmlns:a16="http://schemas.microsoft.com/office/drawing/2014/main" id="{861848F2-FF56-48E5-9DD7-7A5B8A924AB7}"/>
                </a:ext>
              </a:extLst>
            </p:cNvPr>
            <p:cNvSpPr txBox="1"/>
            <p:nvPr/>
          </p:nvSpPr>
          <p:spPr>
            <a:xfrm rot="18354311">
              <a:off x="7065849" y="3709334"/>
              <a:ext cx="442750" cy="261610"/>
            </a:xfrm>
            <a:prstGeom prst="rect">
              <a:avLst/>
            </a:prstGeom>
            <a:noFill/>
          </p:spPr>
          <p:txBody>
            <a:bodyPr wrap="none" rtlCol="0">
              <a:spAutoFit/>
            </a:bodyPr>
            <a:lstStyle/>
            <a:p>
              <a:r>
                <a:rPr lang="en-US" sz="1100">
                  <a:solidFill>
                    <a:srgbClr val="FF0000"/>
                  </a:solidFill>
                  <a:latin typeface="Times New Roman" panose="02020603050405020304" pitchFamily="18" charset="0"/>
                  <a:cs typeface="Times New Roman" panose="02020603050405020304" pitchFamily="18" charset="0"/>
                </a:rPr>
                <a:t>90%</a:t>
              </a:r>
            </a:p>
          </p:txBody>
        </p:sp>
      </p:grpSp>
    </p:spTree>
    <p:extLst>
      <p:ext uri="{BB962C8B-B14F-4D97-AF65-F5344CB8AC3E}">
        <p14:creationId xmlns:p14="http://schemas.microsoft.com/office/powerpoint/2010/main" val="411445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403882" cy="1325563"/>
          </a:xfrm>
        </p:spPr>
        <p:txBody>
          <a:bodyPr/>
          <a:lstStyle/>
          <a:p>
            <a:r>
              <a:rPr lang="en-US">
                <a:latin typeface="Times New Roman" panose="02020603050405020304" pitchFamily="18" charset="0"/>
                <a:cs typeface="Times New Roman" panose="02020603050405020304" pitchFamily="18" charset="0"/>
              </a:rPr>
              <a:t>Evaluate the network with some estimation scheme</a:t>
            </a:r>
          </a:p>
        </p:txBody>
      </p:sp>
      <p:sp>
        <p:nvSpPr>
          <p:cNvPr id="12" name="Footer Placeholder 11"/>
          <p:cNvSpPr>
            <a:spLocks noGrp="1"/>
          </p:cNvSpPr>
          <p:nvPr>
            <p:ph type="ftr" sz="quarter" idx="11"/>
          </p:nvPr>
        </p:nvSpPr>
        <p:spPr>
          <a:xfrm>
            <a:off x="9403882" y="6493175"/>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30</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47156"/>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861391" y="4435867"/>
            <a:ext cx="8542491" cy="2031325"/>
          </a:xfrm>
          <a:prstGeom prst="rect">
            <a:avLst/>
          </a:prstGeom>
          <a:noFill/>
        </p:spPr>
        <p:txBody>
          <a:bodyPr wrap="square" rtlCol="0">
            <a:spAutoFit/>
          </a:bodyPr>
          <a:lstStyle/>
          <a:p>
            <a:pPr marL="285750" indent="-285750">
              <a:buFont typeface="Wingdings" panose="05000000000000000000" pitchFamily="2" charset="2"/>
              <a:buChar char="§"/>
            </a:pPr>
            <a:r>
              <a:rPr lang="en-US">
                <a:latin typeface="Times New Roman" panose="02020603050405020304" pitchFamily="18" charset="0"/>
                <a:cs typeface="Times New Roman" panose="02020603050405020304" pitchFamily="18" charset="0"/>
              </a:rPr>
              <a:t>The Data PRR of the proposed scheme and ETX scheme archives targets PRR with the estimated times of transmission for each sensor node.</a:t>
            </a:r>
          </a:p>
          <a:p>
            <a:pPr marL="285750" indent="-285750">
              <a:buFont typeface="Wingdings" panose="05000000000000000000" pitchFamily="2" charset="2"/>
              <a:buChar char="§"/>
            </a:pPr>
            <a:r>
              <a:rPr lang="en-US">
                <a:latin typeface="Times New Roman" panose="02020603050405020304" pitchFamily="18" charset="0"/>
                <a:cs typeface="Times New Roman" panose="02020603050405020304" pitchFamily="18" charset="0"/>
              </a:rPr>
              <a:t>The PRR scheme archives much lower Data PRR since the estimation of the number of transmissions PRR is not very good. Because PRR did not consider the burstiness happen in the link.</a:t>
            </a:r>
          </a:p>
          <a:p>
            <a:pPr marL="285750" indent="-285750">
              <a:buFont typeface="Wingdings" panose="05000000000000000000" pitchFamily="2" charset="2"/>
              <a:buChar char="§"/>
            </a:pPr>
            <a:r>
              <a:rPr lang="en-US">
                <a:latin typeface="Times New Roman" panose="02020603050405020304" pitchFamily="18" charset="0"/>
                <a:cs typeface="Times New Roman" panose="02020603050405020304" pitchFamily="18" charset="0"/>
              </a:rPr>
              <a:t>ETX scheme also archives targets PRR but in term of energy consumption, the proposed scheme shows the better performances</a:t>
            </a:r>
          </a:p>
        </p:txBody>
      </p:sp>
      <p:pic>
        <p:nvPicPr>
          <p:cNvPr id="15" name="Content Placeholder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14" name="TextBox 13">
            <a:extLst>
              <a:ext uri="{FF2B5EF4-FFF2-40B4-BE49-F238E27FC236}">
                <a16:creationId xmlns:a16="http://schemas.microsoft.com/office/drawing/2014/main" id="{5F0AE57E-BDC6-4D76-A9C2-259B0E5B94CB}"/>
              </a:ext>
            </a:extLst>
          </p:cNvPr>
          <p:cNvSpPr txBox="1"/>
          <p:nvPr/>
        </p:nvSpPr>
        <p:spPr>
          <a:xfrm>
            <a:off x="1254550" y="4078409"/>
            <a:ext cx="3950056"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Fig 4. The data PRR of each sensor node at the sink.</a:t>
            </a:r>
          </a:p>
        </p:txBody>
      </p:sp>
      <p:graphicFrame>
        <p:nvGraphicFramePr>
          <p:cNvPr id="17" name="Table 5">
            <a:extLst>
              <a:ext uri="{FF2B5EF4-FFF2-40B4-BE49-F238E27FC236}">
                <a16:creationId xmlns:a16="http://schemas.microsoft.com/office/drawing/2014/main" id="{2957A676-0815-48BC-AA7E-2B8BBB03A7F8}"/>
              </a:ext>
            </a:extLst>
          </p:cNvPr>
          <p:cNvGraphicFramePr>
            <a:graphicFrameLocks noGrp="1"/>
          </p:cNvGraphicFramePr>
          <p:nvPr>
            <p:extLst>
              <p:ext uri="{D42A27DB-BD31-4B8C-83A1-F6EECF244321}">
                <p14:modId xmlns:p14="http://schemas.microsoft.com/office/powerpoint/2010/main" val="1885067748"/>
              </p:ext>
            </p:extLst>
          </p:nvPr>
        </p:nvGraphicFramePr>
        <p:xfrm>
          <a:off x="5193223" y="1336994"/>
          <a:ext cx="5201078" cy="2808350"/>
        </p:xfrm>
        <a:graphic>
          <a:graphicData uri="http://schemas.openxmlformats.org/drawingml/2006/table">
            <a:tbl>
              <a:tblPr>
                <a:tableStyleId>{5940675A-B579-460E-94D1-54222C63F5DA}</a:tableStyleId>
              </a:tblPr>
              <a:tblGrid>
                <a:gridCol w="1757419">
                  <a:extLst>
                    <a:ext uri="{9D8B030D-6E8A-4147-A177-3AD203B41FA5}">
                      <a16:colId xmlns:a16="http://schemas.microsoft.com/office/drawing/2014/main" val="962536518"/>
                    </a:ext>
                  </a:extLst>
                </a:gridCol>
                <a:gridCol w="1235067">
                  <a:extLst>
                    <a:ext uri="{9D8B030D-6E8A-4147-A177-3AD203B41FA5}">
                      <a16:colId xmlns:a16="http://schemas.microsoft.com/office/drawing/2014/main" val="54745337"/>
                    </a:ext>
                  </a:extLst>
                </a:gridCol>
                <a:gridCol w="1075236">
                  <a:extLst>
                    <a:ext uri="{9D8B030D-6E8A-4147-A177-3AD203B41FA5}">
                      <a16:colId xmlns:a16="http://schemas.microsoft.com/office/drawing/2014/main" val="561773943"/>
                    </a:ext>
                  </a:extLst>
                </a:gridCol>
                <a:gridCol w="1133356">
                  <a:extLst>
                    <a:ext uri="{9D8B030D-6E8A-4147-A177-3AD203B41FA5}">
                      <a16:colId xmlns:a16="http://schemas.microsoft.com/office/drawing/2014/main" val="3918394747"/>
                    </a:ext>
                  </a:extLst>
                </a:gridCol>
              </a:tblGrid>
              <a:tr h="339470">
                <a:tc>
                  <a:txBody>
                    <a:bodyPr/>
                    <a:lstStyle/>
                    <a:p>
                      <a:pPr algn="ctr"/>
                      <a:r>
                        <a:rPr lang="en-US" sz="1200">
                          <a:latin typeface="Times New Roman" panose="02020603050405020304" pitchFamily="18" charset="0"/>
                          <a:cs typeface="Times New Roman" panose="02020603050405020304" pitchFamily="18" charset="0"/>
                        </a:rPr>
                        <a:t>                        Scheme</a:t>
                      </a:r>
                    </a:p>
                  </a:txBody>
                  <a:tcPr>
                    <a:lnTlToBr w="12700" cap="flat" cmpd="sng" algn="ctr">
                      <a:solidFill>
                        <a:schemeClr val="tx1"/>
                      </a:solidFill>
                      <a:prstDash val="solid"/>
                      <a:round/>
                      <a:headEnd type="none" w="med" len="med"/>
                      <a:tailEnd type="none" w="med" len="med"/>
                    </a:lnTlToBr>
                  </a:tcPr>
                </a:tc>
                <a:tc>
                  <a:txBody>
                    <a:bodyPr/>
                    <a:lstStyle/>
                    <a:p>
                      <a:pPr algn="ctr"/>
                      <a:r>
                        <a:rPr lang="en-US" sz="1200">
                          <a:latin typeface="Times New Roman" panose="02020603050405020304" pitchFamily="18" charset="0"/>
                          <a:cs typeface="Times New Roman" panose="02020603050405020304" pitchFamily="18" charset="0"/>
                        </a:rPr>
                        <a:t>ETX</a:t>
                      </a:r>
                    </a:p>
                  </a:txBody>
                  <a:tcPr/>
                </a:tc>
                <a:tc>
                  <a:txBody>
                    <a:bodyPr/>
                    <a:lstStyle/>
                    <a:p>
                      <a:pPr algn="ctr"/>
                      <a:r>
                        <a:rPr lang="en-US" sz="1200">
                          <a:latin typeface="Times New Roman" panose="02020603050405020304" pitchFamily="18" charset="0"/>
                          <a:cs typeface="Times New Roman" panose="02020603050405020304" pitchFamily="18" charset="0"/>
                        </a:rPr>
                        <a:t>PRR</a:t>
                      </a:r>
                    </a:p>
                  </a:txBody>
                  <a:tcPr/>
                </a:tc>
                <a:tc>
                  <a:txBody>
                    <a:bodyPr/>
                    <a:lstStyle/>
                    <a:p>
                      <a:pPr algn="ctr"/>
                      <a:r>
                        <a:rPr lang="en-US" sz="1200">
                          <a:latin typeface="Times New Roman" panose="02020603050405020304" pitchFamily="18" charset="0"/>
                          <a:cs typeface="Times New Roman" panose="02020603050405020304" pitchFamily="18" charset="0"/>
                        </a:rPr>
                        <a:t>Bdist</a:t>
                      </a:r>
                    </a:p>
                  </a:txBody>
                  <a:tcPr/>
                </a:tc>
                <a:extLst>
                  <a:ext uri="{0D108BD9-81ED-4DB2-BD59-A6C34878D82A}">
                    <a16:rowId xmlns:a16="http://schemas.microsoft.com/office/drawing/2014/main" val="2455834919"/>
                  </a:ext>
                </a:extLst>
              </a:tr>
              <a:tr h="165919">
                <a:tc>
                  <a:txBody>
                    <a:bodyPr/>
                    <a:lstStyle/>
                    <a:p>
                      <a:pPr algn="ctr"/>
                      <a:r>
                        <a:rPr lang="en-US" sz="1200">
                          <a:latin typeface="Times New Roman" panose="02020603050405020304" pitchFamily="18" charset="0"/>
                          <a:cs typeface="Times New Roman" panose="02020603050405020304" pitchFamily="18" charset="0"/>
                        </a:rPr>
                        <a:t>2</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2</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2747228602"/>
                  </a:ext>
                </a:extLst>
              </a:tr>
              <a:tr h="156329">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6</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432515967"/>
                  </a:ext>
                </a:extLst>
              </a:tr>
              <a:tr h="156329">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7</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1493683250"/>
                  </a:ext>
                </a:extLst>
              </a:tr>
              <a:tr h="227782">
                <a:tc>
                  <a:txBody>
                    <a:bodyPr/>
                    <a:lstStyle/>
                    <a:p>
                      <a:pPr algn="ctr"/>
                      <a:r>
                        <a:rPr lang="en-US" sz="1200">
                          <a:latin typeface="Times New Roman" panose="02020603050405020304" pitchFamily="18" charset="0"/>
                          <a:cs typeface="Times New Roman" panose="02020603050405020304" pitchFamily="18" charset="0"/>
                        </a:rPr>
                        <a:t>5</a:t>
                      </a:r>
                    </a:p>
                  </a:txBody>
                  <a:tcPr/>
                </a:tc>
                <a:tc>
                  <a:txBody>
                    <a:bodyPr/>
                    <a:lstStyle/>
                    <a:p>
                      <a:pPr algn="ctr"/>
                      <a:r>
                        <a:rPr lang="en-US" sz="1200">
                          <a:latin typeface="Times New Roman" panose="02020603050405020304" pitchFamily="18" charset="0"/>
                          <a:cs typeface="Times New Roman" panose="02020603050405020304" pitchFamily="18" charset="0"/>
                        </a:rPr>
                        <a:t>6</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3233831008"/>
                  </a:ext>
                </a:extLst>
              </a:tr>
              <a:tr h="212167">
                <a:tc>
                  <a:txBody>
                    <a:bodyPr/>
                    <a:lstStyle/>
                    <a:p>
                      <a:pPr algn="ctr"/>
                      <a:r>
                        <a:rPr lang="en-US" sz="1200">
                          <a:latin typeface="Times New Roman" panose="02020603050405020304" pitchFamily="18" charset="0"/>
                          <a:cs typeface="Times New Roman" panose="02020603050405020304" pitchFamily="18" charset="0"/>
                        </a:rPr>
                        <a:t>6</a:t>
                      </a:r>
                    </a:p>
                  </a:txBody>
                  <a:tcPr/>
                </a:tc>
                <a:tc>
                  <a:txBody>
                    <a:bodyPr/>
                    <a:lstStyle/>
                    <a:p>
                      <a:pPr algn="ctr"/>
                      <a:r>
                        <a:rPr lang="en-US" sz="1200">
                          <a:latin typeface="Times New Roman" panose="02020603050405020304" pitchFamily="18" charset="0"/>
                          <a:cs typeface="Times New Roman" panose="02020603050405020304" pitchFamily="18" charset="0"/>
                        </a:rPr>
                        <a:t>5</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873388499"/>
                  </a:ext>
                </a:extLst>
              </a:tr>
              <a:tr h="227782">
                <a:tc>
                  <a:txBody>
                    <a:bodyPr/>
                    <a:lstStyle/>
                    <a:p>
                      <a:pPr algn="ctr"/>
                      <a:r>
                        <a:rPr lang="en-US" sz="1200">
                          <a:latin typeface="Times New Roman" panose="02020603050405020304" pitchFamily="18" charset="0"/>
                          <a:cs typeface="Times New Roman" panose="02020603050405020304" pitchFamily="18" charset="0"/>
                        </a:rPr>
                        <a:t>7</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1868282618"/>
                  </a:ext>
                </a:extLst>
              </a:tr>
              <a:tr h="227782">
                <a:tc>
                  <a:txBody>
                    <a:bodyPr/>
                    <a:lstStyle/>
                    <a:p>
                      <a:pPr algn="ctr"/>
                      <a:r>
                        <a:rPr lang="en-US" sz="1200">
                          <a:latin typeface="Times New Roman" panose="02020603050405020304" pitchFamily="18" charset="0"/>
                          <a:cs typeface="Times New Roman" panose="02020603050405020304" pitchFamily="18" charset="0"/>
                        </a:rPr>
                        <a:t>8</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1005919589"/>
                  </a:ext>
                </a:extLst>
              </a:tr>
              <a:tr h="227782">
                <a:tc>
                  <a:txBody>
                    <a:bodyPr/>
                    <a:lstStyle/>
                    <a:p>
                      <a:pPr algn="ctr"/>
                      <a:r>
                        <a:rPr lang="en-US" sz="1200">
                          <a:latin typeface="Times New Roman" panose="02020603050405020304" pitchFamily="18" charset="0"/>
                          <a:cs typeface="Times New Roman" panose="02020603050405020304" pitchFamily="18" charset="0"/>
                        </a:rPr>
                        <a:t>9</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144768960"/>
                  </a:ext>
                </a:extLst>
              </a:tr>
              <a:tr h="227782">
                <a:tc>
                  <a:txBody>
                    <a:bodyPr/>
                    <a:lstStyle/>
                    <a:p>
                      <a:pPr algn="ctr"/>
                      <a:r>
                        <a:rPr lang="en-US" sz="1200">
                          <a:latin typeface="Times New Roman" panose="02020603050405020304" pitchFamily="18" charset="0"/>
                          <a:cs typeface="Times New Roman" panose="02020603050405020304" pitchFamily="18" charset="0"/>
                        </a:rPr>
                        <a:t>10</a:t>
                      </a:r>
                    </a:p>
                  </a:txBody>
                  <a:tcPr/>
                </a:tc>
                <a:tc>
                  <a:txBody>
                    <a:bodyPr/>
                    <a:lstStyle/>
                    <a:p>
                      <a:pPr algn="ctr"/>
                      <a:r>
                        <a:rPr lang="en-US" sz="1200">
                          <a:latin typeface="Times New Roman" panose="02020603050405020304" pitchFamily="18" charset="0"/>
                          <a:cs typeface="Times New Roman" panose="02020603050405020304" pitchFamily="18" charset="0"/>
                        </a:rPr>
                        <a:t>4</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tc>
                  <a:txBody>
                    <a:bodyPr/>
                    <a:lstStyle/>
                    <a:p>
                      <a:pPr algn="ctr"/>
                      <a:r>
                        <a:rPr lang="en-US" sz="120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956681808"/>
                  </a:ext>
                </a:extLst>
              </a:tr>
            </a:tbl>
          </a:graphicData>
        </a:graphic>
      </p:graphicFrame>
      <p:sp>
        <p:nvSpPr>
          <p:cNvPr id="18" name="TextBox 17">
            <a:extLst>
              <a:ext uri="{FF2B5EF4-FFF2-40B4-BE49-F238E27FC236}">
                <a16:creationId xmlns:a16="http://schemas.microsoft.com/office/drawing/2014/main" id="{D25787DF-D6D7-4544-9731-C965C50E9251}"/>
              </a:ext>
            </a:extLst>
          </p:cNvPr>
          <p:cNvSpPr txBox="1"/>
          <p:nvPr/>
        </p:nvSpPr>
        <p:spPr>
          <a:xfrm>
            <a:off x="5528430" y="4172422"/>
            <a:ext cx="4530664"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Table 4. Number of transmissions estimate by each scheme. </a:t>
            </a:r>
          </a:p>
        </p:txBody>
      </p:sp>
      <p:sp>
        <p:nvSpPr>
          <p:cNvPr id="19" name="TextBox 18">
            <a:extLst>
              <a:ext uri="{FF2B5EF4-FFF2-40B4-BE49-F238E27FC236}">
                <a16:creationId xmlns:a16="http://schemas.microsoft.com/office/drawing/2014/main" id="{37A92E11-5276-4B37-AABD-213EDE30280D}"/>
              </a:ext>
            </a:extLst>
          </p:cNvPr>
          <p:cNvSpPr txBox="1"/>
          <p:nvPr/>
        </p:nvSpPr>
        <p:spPr>
          <a:xfrm>
            <a:off x="5762389" y="1410800"/>
            <a:ext cx="718466" cy="276999"/>
          </a:xfrm>
          <a:prstGeom prst="rect">
            <a:avLst/>
          </a:prstGeom>
          <a:noFill/>
        </p:spPr>
        <p:txBody>
          <a:bodyPr wrap="none" rtlCol="0">
            <a:spAutoFit/>
          </a:bodyPr>
          <a:lstStyle/>
          <a:p>
            <a:r>
              <a:rPr lang="en-US" sz="1200">
                <a:latin typeface="Times New Roman" panose="02020603050405020304" pitchFamily="18" charset="0"/>
                <a:cs typeface="Times New Roman" panose="02020603050405020304" pitchFamily="18" charset="0"/>
              </a:rPr>
              <a:t>Node ID</a:t>
            </a:r>
          </a:p>
        </p:txBody>
      </p:sp>
      <p:graphicFrame>
        <p:nvGraphicFramePr>
          <p:cNvPr id="9" name="Object 8">
            <a:extLst>
              <a:ext uri="{FF2B5EF4-FFF2-40B4-BE49-F238E27FC236}">
                <a16:creationId xmlns:a16="http://schemas.microsoft.com/office/drawing/2014/main" id="{15D46FD5-EA32-4D0F-B1C6-9A8193A57FF8}"/>
              </a:ext>
            </a:extLst>
          </p:cNvPr>
          <p:cNvGraphicFramePr>
            <a:graphicFrameLocks noChangeAspect="1"/>
          </p:cNvGraphicFramePr>
          <p:nvPr>
            <p:extLst>
              <p:ext uri="{D42A27DB-BD31-4B8C-83A1-F6EECF244321}">
                <p14:modId xmlns:p14="http://schemas.microsoft.com/office/powerpoint/2010/main" val="616469264"/>
              </p:ext>
            </p:extLst>
          </p:nvPr>
        </p:nvGraphicFramePr>
        <p:xfrm>
          <a:off x="1436091" y="1615896"/>
          <a:ext cx="3549650" cy="2462213"/>
        </p:xfrm>
        <a:graphic>
          <a:graphicData uri="http://schemas.openxmlformats.org/presentationml/2006/ole">
            <mc:AlternateContent xmlns:mc="http://schemas.openxmlformats.org/markup-compatibility/2006">
              <mc:Choice xmlns:v="urn:schemas-microsoft-com:vml" Requires="v">
                <p:oleObj spid="_x0000_s2098" name="Prism 9" r:id="rId5" imgW="3549137" imgH="2462373" progId="Prism9.Document">
                  <p:embed/>
                </p:oleObj>
              </mc:Choice>
              <mc:Fallback>
                <p:oleObj name="Prism 9" r:id="rId5" imgW="3549137" imgH="2462373" progId="Prism9.Document">
                  <p:embed/>
                  <p:pic>
                    <p:nvPicPr>
                      <p:cNvPr id="0" name=""/>
                      <p:cNvPicPr/>
                      <p:nvPr/>
                    </p:nvPicPr>
                    <p:blipFill>
                      <a:blip r:embed="rId6"/>
                      <a:stretch>
                        <a:fillRect/>
                      </a:stretch>
                    </p:blipFill>
                    <p:spPr>
                      <a:xfrm>
                        <a:off x="1436091" y="1615896"/>
                        <a:ext cx="3549650" cy="2462213"/>
                      </a:xfrm>
                      <a:prstGeom prst="rect">
                        <a:avLst/>
                      </a:prstGeom>
                    </p:spPr>
                  </p:pic>
                </p:oleObj>
              </mc:Fallback>
            </mc:AlternateContent>
          </a:graphicData>
        </a:graphic>
      </p:graphicFrame>
    </p:spTree>
    <p:extLst>
      <p:ext uri="{BB962C8B-B14F-4D97-AF65-F5344CB8AC3E}">
        <p14:creationId xmlns:p14="http://schemas.microsoft.com/office/powerpoint/2010/main" val="3481901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Presentation Outline</a:t>
            </a:r>
          </a:p>
        </p:txBody>
      </p:sp>
      <p:pic>
        <p:nvPicPr>
          <p:cNvPr id="11" name="Content Placeholder 10"/>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6401100"/>
            <a:ext cx="2686050" cy="380700"/>
          </a:xfrm>
        </p:spPr>
      </p:pic>
      <p:sp>
        <p:nvSpPr>
          <p:cNvPr id="12" name="Footer Placeholder 11"/>
          <p:cNvSpPr>
            <a:spLocks noGrp="1"/>
          </p:cNvSpPr>
          <p:nvPr>
            <p:ph type="ftr" sz="quarter" idx="11"/>
          </p:nvPr>
        </p:nvSpPr>
        <p:spPr>
          <a:xfrm>
            <a:off x="9403882" y="6416675"/>
            <a:ext cx="2788118" cy="365125"/>
          </a:xfrm>
        </p:spPr>
        <p:txBody>
          <a:bodyPr/>
          <a:lstStyle/>
          <a:p>
            <a:r>
              <a:rPr lang="en-US" sz="4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353484"/>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31</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292282"/>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utoShape 46"/>
          <p:cNvSpPr>
            <a:spLocks noChangeArrowheads="1"/>
          </p:cNvSpPr>
          <p:nvPr/>
        </p:nvSpPr>
        <p:spPr bwMode="ltGray">
          <a:xfrm rot="5400000">
            <a:off x="-2422526"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2"/>
                  <a:pt x="10800" y="322"/>
                </a:cubicBezTo>
                <a:cubicBezTo>
                  <a:pt x="16524" y="322"/>
                  <a:pt x="21189" y="4916"/>
                  <a:pt x="21276" y="10641"/>
                </a:cubicBezTo>
                <a:lnTo>
                  <a:pt x="21598" y="10636"/>
                </a:lnTo>
                <a:cubicBezTo>
                  <a:pt x="21509" y="4736"/>
                  <a:pt x="16700" y="0"/>
                  <a:pt x="10799" y="0"/>
                </a:cubicBezTo>
                <a:cubicBezTo>
                  <a:pt x="4899" y="0"/>
                  <a:pt x="90" y="4736"/>
                  <a:pt x="1" y="10636"/>
                </a:cubicBezTo>
                <a:close/>
              </a:path>
            </a:pathLst>
          </a:custGeom>
          <a:solidFill>
            <a:schemeClr val="accent1"/>
          </a:solidFill>
          <a:ln>
            <a:noFill/>
          </a:ln>
          <a:effectLst/>
        </p:spPr>
        <p:txBody>
          <a:bodyPr wrap="none" anchor="ctr"/>
          <a:lstStyle/>
          <a:p>
            <a:pPr eaLnBrk="1" hangingPunct="1">
              <a:defRPr/>
            </a:pPr>
            <a:endParaRPr lang="en-US"/>
          </a:p>
        </p:txBody>
      </p:sp>
      <p:sp>
        <p:nvSpPr>
          <p:cNvPr id="53" name="AutoShape 47"/>
          <p:cNvSpPr>
            <a:spLocks noChangeArrowheads="1"/>
          </p:cNvSpPr>
          <p:nvPr/>
        </p:nvSpPr>
        <p:spPr bwMode="ltGray">
          <a:xfrm rot="5400000" flipH="1">
            <a:off x="-2016918"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4"/>
                  <a:pt x="10856" y="10769"/>
                  <a:pt x="10856" y="10800"/>
                </a:cubicBezTo>
                <a:lnTo>
                  <a:pt x="21600" y="10800"/>
                </a:lnTo>
                <a:cubicBezTo>
                  <a:pt x="21600" y="4835"/>
                  <a:pt x="16764" y="0"/>
                  <a:pt x="10800" y="0"/>
                </a:cubicBezTo>
                <a:cubicBezTo>
                  <a:pt x="4835" y="0"/>
                  <a:pt x="0" y="4835"/>
                  <a:pt x="0" y="10799"/>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a:effectLst/>
        </p:spPr>
        <p:txBody>
          <a:bodyPr wrap="none" anchor="ctr"/>
          <a:lstStyle/>
          <a:p>
            <a:pPr eaLnBrk="1" hangingPunct="1">
              <a:defRPr/>
            </a:pPr>
            <a:endParaRPr lang="en-US"/>
          </a:p>
        </p:txBody>
      </p:sp>
      <p:sp>
        <p:nvSpPr>
          <p:cNvPr id="55" name="AutoShape 49"/>
          <p:cNvSpPr>
            <a:spLocks noChangeArrowheads="1"/>
          </p:cNvSpPr>
          <p:nvPr/>
        </p:nvSpPr>
        <p:spPr bwMode="gray">
          <a:xfrm>
            <a:off x="1898777" y="5575064"/>
            <a:ext cx="6400800" cy="685800"/>
          </a:xfrm>
          <a:prstGeom prst="roundRect">
            <a:avLst>
              <a:gd name="adj" fmla="val 50000"/>
            </a:avLst>
          </a:prstGeom>
          <a:solidFill>
            <a:schemeClr val="accent1"/>
          </a:solidFill>
          <a:ln w="28575" algn="ctr">
            <a:solidFill>
              <a:schemeClr val="accent2"/>
            </a:solidFill>
            <a:round/>
            <a:headEnd/>
            <a:tailE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solidFill>
                  <a:schemeClr val="bg1"/>
                </a:solidFill>
                <a:latin typeface="Times New Roman" panose="02020603050405020304" pitchFamily="18" charset="0"/>
                <a:cs typeface="Times New Roman" panose="02020603050405020304" pitchFamily="18" charset="0"/>
              </a:rPr>
              <a:t>5. Conclusion</a:t>
            </a:r>
          </a:p>
        </p:txBody>
      </p:sp>
      <p:sp>
        <p:nvSpPr>
          <p:cNvPr id="56" name="AutoShape 50"/>
          <p:cNvSpPr>
            <a:spLocks noChangeArrowheads="1"/>
          </p:cNvSpPr>
          <p:nvPr/>
        </p:nvSpPr>
        <p:spPr bwMode="gray">
          <a:xfrm>
            <a:off x="2739719" y="3695587"/>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None/>
            </a:pPr>
            <a:r>
              <a:rPr lang="en-US" sz="2400" b="1">
                <a:latin typeface="Times New Roman" panose="02020603050405020304" pitchFamily="18" charset="0"/>
                <a:cs typeface="Times New Roman" panose="02020603050405020304" pitchFamily="18" charset="0"/>
              </a:rPr>
              <a:t>3. Our proposal</a:t>
            </a:r>
          </a:p>
        </p:txBody>
      </p:sp>
      <p:sp>
        <p:nvSpPr>
          <p:cNvPr id="58" name="AutoShape 52"/>
          <p:cNvSpPr>
            <a:spLocks noChangeArrowheads="1"/>
          </p:cNvSpPr>
          <p:nvPr/>
        </p:nvSpPr>
        <p:spPr bwMode="gray">
          <a:xfrm>
            <a:off x="2093944" y="1689364"/>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1. Introduction </a:t>
            </a:r>
          </a:p>
        </p:txBody>
      </p:sp>
      <p:grpSp>
        <p:nvGrpSpPr>
          <p:cNvPr id="59" name="Group 53"/>
          <p:cNvGrpSpPr>
            <a:grpSpLocks/>
          </p:cNvGrpSpPr>
          <p:nvPr/>
        </p:nvGrpSpPr>
        <p:grpSpPr bwMode="auto">
          <a:xfrm>
            <a:off x="1533069" y="1754176"/>
            <a:ext cx="640080" cy="640080"/>
            <a:chOff x="2078" y="1680"/>
            <a:chExt cx="1615" cy="1615"/>
          </a:xfrm>
        </p:grpSpPr>
        <p:sp>
          <p:nvSpPr>
            <p:cNvPr id="60" name="Oval 54"/>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1" name="Oval 55"/>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2" name="Oval 56"/>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63" name="Oval 57"/>
            <p:cNvSpPr>
              <a:spLocks noChangeArrowheads="1"/>
            </p:cNvSpPr>
            <p:nvPr/>
          </p:nvSpPr>
          <p:spPr bwMode="gray">
            <a:xfrm>
              <a:off x="2254" y="1856"/>
              <a:ext cx="1262" cy="1264"/>
            </a:xfrm>
            <a:prstGeom prst="ellipse">
              <a:avLst/>
            </a:prstGeom>
            <a:gradFill rotWithShape="1">
              <a:gsLst>
                <a:gs pos="0">
                  <a:srgbClr val="000000"/>
                </a:gs>
                <a:gs pos="100000">
                  <a:srgbClr val="FFCC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4" name="Oval 58"/>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65" name="Oval 59"/>
            <p:cNvSpPr>
              <a:spLocks noChangeArrowheads="1"/>
            </p:cNvSpPr>
            <p:nvPr/>
          </p:nvSpPr>
          <p:spPr bwMode="gray">
            <a:xfrm>
              <a:off x="2337" y="1939"/>
              <a:ext cx="1096" cy="1098"/>
            </a:xfrm>
            <a:prstGeom prst="ellipse">
              <a:avLst/>
            </a:prstGeom>
            <a:gradFill rotWithShape="1">
              <a:gsLst>
                <a:gs pos="0">
                  <a:srgbClr val="FFCC00"/>
                </a:gs>
                <a:gs pos="100000">
                  <a:srgbClr val="7C6300"/>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80" name="Group 74"/>
          <p:cNvGrpSpPr>
            <a:grpSpLocks/>
          </p:cNvGrpSpPr>
          <p:nvPr/>
        </p:nvGrpSpPr>
        <p:grpSpPr bwMode="auto">
          <a:xfrm>
            <a:off x="1358148" y="5586074"/>
            <a:ext cx="640080" cy="640080"/>
            <a:chOff x="2078" y="1680"/>
            <a:chExt cx="1615" cy="1615"/>
          </a:xfrm>
        </p:grpSpPr>
        <p:sp>
          <p:nvSpPr>
            <p:cNvPr id="81" name="Oval 75"/>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2" name="Oval 76"/>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3" name="Oval 77"/>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4" name="Oval 78"/>
            <p:cNvSpPr>
              <a:spLocks noChangeArrowheads="1"/>
            </p:cNvSpPr>
            <p:nvPr/>
          </p:nvSpPr>
          <p:spPr bwMode="gray">
            <a:xfrm>
              <a:off x="2254" y="1856"/>
              <a:ext cx="1262" cy="1264"/>
            </a:xfrm>
            <a:prstGeom prst="ellipse">
              <a:avLst/>
            </a:prstGeom>
            <a:gradFill rotWithShape="1">
              <a:gsLst>
                <a:gs pos="0">
                  <a:srgbClr val="000000"/>
                </a:gs>
                <a:gs pos="100000">
                  <a:srgbClr val="8D67E1"/>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5" name="Oval 79"/>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86" name="Oval 80"/>
            <p:cNvSpPr>
              <a:spLocks noChangeArrowheads="1"/>
            </p:cNvSpPr>
            <p:nvPr/>
          </p:nvSpPr>
          <p:spPr bwMode="gray">
            <a:xfrm>
              <a:off x="2337" y="1939"/>
              <a:ext cx="1096" cy="1098"/>
            </a:xfrm>
            <a:prstGeom prst="ellipse">
              <a:avLst/>
            </a:prstGeom>
            <a:gradFill rotWithShape="1">
              <a:gsLst>
                <a:gs pos="0">
                  <a:srgbClr val="8D67E1"/>
                </a:gs>
                <a:gs pos="100000">
                  <a:srgbClr val="4532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
        <p:nvSpPr>
          <p:cNvPr id="42" name="AutoShape 51"/>
          <p:cNvSpPr>
            <a:spLocks noChangeArrowheads="1"/>
          </p:cNvSpPr>
          <p:nvPr/>
        </p:nvSpPr>
        <p:spPr bwMode="gray">
          <a:xfrm>
            <a:off x="2560430" y="4651034"/>
            <a:ext cx="6400800" cy="685800"/>
          </a:xfrm>
          <a:prstGeom prst="roundRect">
            <a:avLst>
              <a:gd name="adj" fmla="val 50000"/>
            </a:avLst>
          </a:prstGeom>
          <a:solidFill>
            <a:schemeClr val="bg1"/>
          </a:solidFill>
          <a:ln w="28575" algn="ctr">
            <a:solidFill>
              <a:schemeClr val="bg2"/>
            </a:solidFill>
            <a:round/>
            <a:headEnd/>
            <a:tailE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4. Performance Evaluation </a:t>
            </a:r>
          </a:p>
        </p:txBody>
      </p:sp>
      <p:sp>
        <p:nvSpPr>
          <p:cNvPr id="50" name="AutoShape 50"/>
          <p:cNvSpPr>
            <a:spLocks noChangeArrowheads="1"/>
          </p:cNvSpPr>
          <p:nvPr/>
        </p:nvSpPr>
        <p:spPr bwMode="gray">
          <a:xfrm>
            <a:off x="2669914" y="2660940"/>
            <a:ext cx="6400800" cy="685800"/>
          </a:xfrm>
          <a:prstGeom prst="roundRect">
            <a:avLst>
              <a:gd name="adj" fmla="val 50000"/>
            </a:avLst>
          </a:prstGeom>
          <a:noFill/>
          <a:ln w="28575" algn="ctr">
            <a:solidFill>
              <a:schemeClr val="bg2"/>
            </a:solidFill>
            <a:round/>
            <a:headEnd/>
            <a:tailEnd/>
          </a:ln>
          <a:effectLst/>
          <a:extLst>
            <a:ext uri="{909E8E84-426E-40DD-AFC4-6F175D3DCCD1}">
              <a14:hiddenFill xmlns:a14="http://schemas.microsoft.com/office/drawing/2010/main">
                <a:gradFill rotWithShape="1">
                  <a:gsLst>
                    <a:gs pos="0">
                      <a:srgbClr val="FFFFFF"/>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sz="2400" b="1">
                <a:latin typeface="Times New Roman" panose="02020603050405020304" pitchFamily="18" charset="0"/>
                <a:cs typeface="Times New Roman" panose="02020603050405020304" pitchFamily="18" charset="0"/>
              </a:rPr>
              <a:t>2. Related work </a:t>
            </a:r>
          </a:p>
        </p:txBody>
      </p:sp>
      <p:grpSp>
        <p:nvGrpSpPr>
          <p:cNvPr id="51" name="Group 60"/>
          <p:cNvGrpSpPr>
            <a:grpSpLocks/>
          </p:cNvGrpSpPr>
          <p:nvPr/>
        </p:nvGrpSpPr>
        <p:grpSpPr bwMode="auto">
          <a:xfrm>
            <a:off x="2203478" y="3711578"/>
            <a:ext cx="640080" cy="640080"/>
            <a:chOff x="2078" y="1680"/>
            <a:chExt cx="1615" cy="1615"/>
          </a:xfrm>
        </p:grpSpPr>
        <p:sp>
          <p:nvSpPr>
            <p:cNvPr id="54"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57"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7"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88"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89"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90" name="Oval 66"/>
            <p:cNvSpPr>
              <a:spLocks noChangeArrowheads="1"/>
            </p:cNvSpPr>
            <p:nvPr/>
          </p:nvSpPr>
          <p:spPr bwMode="gray">
            <a:xfrm>
              <a:off x="2337" y="1939"/>
              <a:ext cx="1096" cy="1098"/>
            </a:xfrm>
            <a:prstGeom prst="ellipse">
              <a:avLst/>
            </a:prstGeom>
            <a:gradFill rotWithShape="1">
              <a:gsLst>
                <a:gs pos="0">
                  <a:srgbClr val="48BE67"/>
                </a:gs>
                <a:gs pos="100000">
                  <a:srgbClr val="235C32"/>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98" name="Group 60"/>
          <p:cNvGrpSpPr>
            <a:grpSpLocks/>
          </p:cNvGrpSpPr>
          <p:nvPr/>
        </p:nvGrpSpPr>
        <p:grpSpPr bwMode="auto">
          <a:xfrm>
            <a:off x="2155220" y="2689942"/>
            <a:ext cx="640080" cy="640080"/>
            <a:chOff x="2078" y="1680"/>
            <a:chExt cx="1615" cy="1615"/>
          </a:xfrm>
        </p:grpSpPr>
        <p:sp>
          <p:nvSpPr>
            <p:cNvPr id="99" name="Oval 61"/>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0" name="Oval 62"/>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1" name="Oval 63"/>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102" name="Oval 64"/>
            <p:cNvSpPr>
              <a:spLocks noChangeArrowheads="1"/>
            </p:cNvSpPr>
            <p:nvPr/>
          </p:nvSpPr>
          <p:spPr bwMode="gray">
            <a:xfrm>
              <a:off x="2254" y="1856"/>
              <a:ext cx="1262" cy="1264"/>
            </a:xfrm>
            <a:prstGeom prst="ellipse">
              <a:avLst/>
            </a:prstGeom>
            <a:gradFill rotWithShape="1">
              <a:gsLst>
                <a:gs pos="0">
                  <a:srgbClr val="000000"/>
                </a:gs>
                <a:gs pos="100000">
                  <a:srgbClr val="48BE67"/>
                </a:gs>
              </a:gsLst>
              <a:lin ang="2700000" scaled="1"/>
            </a:gradFill>
            <a:ln w="38100" algn="ctr">
              <a:solidFill>
                <a:schemeClr val="bg1"/>
              </a:solidFill>
              <a:round/>
              <a:headEnd/>
              <a:tailEnd/>
            </a:ln>
            <a:effectLst/>
            <a:extLs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103" name="Oval 65"/>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104" name="Oval 66"/>
            <p:cNvSpPr>
              <a:spLocks noChangeArrowheads="1"/>
            </p:cNvSpPr>
            <p:nvPr/>
          </p:nvSpPr>
          <p:spPr bwMode="gray">
            <a:xfrm>
              <a:off x="2337" y="1939"/>
              <a:ext cx="1096" cy="1098"/>
            </a:xfrm>
            <a:prstGeom prst="ellipse">
              <a:avLst/>
            </a:prstGeom>
            <a:solidFill>
              <a:schemeClr val="accent2"/>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grpSp>
        <p:nvGrpSpPr>
          <p:cNvPr id="66" name="Group 67"/>
          <p:cNvGrpSpPr>
            <a:grpSpLocks/>
          </p:cNvGrpSpPr>
          <p:nvPr/>
        </p:nvGrpSpPr>
        <p:grpSpPr bwMode="auto">
          <a:xfrm>
            <a:off x="1992482" y="4655682"/>
            <a:ext cx="640080" cy="640080"/>
            <a:chOff x="2078" y="1680"/>
            <a:chExt cx="1615" cy="1615"/>
          </a:xfrm>
        </p:grpSpPr>
        <p:sp>
          <p:nvSpPr>
            <p:cNvPr id="67" name="Oval 6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ffectLst/>
            <a:extLst>
              <a:ext uri="{91240B29-F687-4F45-9708-019B960494DF}">
                <a14:hiddenLine xmlns:a14="http://schemas.microsoft.com/office/drawing/2010/main" w="57150" algn="ctr">
                  <a:solidFill>
                    <a:schemeClr val="bg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8" name="Oval 6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69" name="Oval 70"/>
            <p:cNvSpPr>
              <a:spLocks noChangeArrowheads="1"/>
            </p:cNvSpPr>
            <p:nvPr/>
          </p:nvSpPr>
          <p:spPr bwMode="gray">
            <a:xfrm>
              <a:off x="2253" y="1855"/>
              <a:ext cx="1265" cy="126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pPr eaLnBrk="1" hangingPunct="1">
                <a:defRPr/>
              </a:pPr>
              <a:endParaRPr lang="en-US"/>
            </a:p>
          </p:txBody>
        </p:sp>
        <p:sp>
          <p:nvSpPr>
            <p:cNvPr id="70" name="Oval 71"/>
            <p:cNvSpPr>
              <a:spLocks noChangeArrowheads="1"/>
            </p:cNvSpPr>
            <p:nvPr/>
          </p:nvSpPr>
          <p:spPr bwMode="gray">
            <a:xfrm>
              <a:off x="2254" y="1856"/>
              <a:ext cx="1262" cy="1264"/>
            </a:xfrm>
            <a:prstGeom prst="ellipse">
              <a:avLst/>
            </a:prstGeom>
            <a:gradFill rotWithShape="1">
              <a:gsLst>
                <a:gs pos="0">
                  <a:srgbClr val="21B3E1"/>
                </a:gs>
                <a:gs pos="100000">
                  <a:srgbClr val="0F5368"/>
                </a:gs>
              </a:gsLst>
              <a:lin ang="54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sp>
          <p:nvSpPr>
            <p:cNvPr id="71" name="Oval 72"/>
            <p:cNvSpPr>
              <a:spLocks noChangeArrowheads="1"/>
            </p:cNvSpPr>
            <p:nvPr/>
          </p:nvSpPr>
          <p:spPr bwMode="gray">
            <a:xfrm>
              <a:off x="2334" y="1936"/>
              <a:ext cx="1097" cy="110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pPr eaLnBrk="1" hangingPunct="1">
                <a:defRPr/>
              </a:pPr>
              <a:endParaRPr lang="en-US"/>
            </a:p>
          </p:txBody>
        </p:sp>
        <p:sp>
          <p:nvSpPr>
            <p:cNvPr id="72" name="Oval 73"/>
            <p:cNvSpPr>
              <a:spLocks noChangeArrowheads="1"/>
            </p:cNvSpPr>
            <p:nvPr/>
          </p:nvSpPr>
          <p:spPr bwMode="gray">
            <a:xfrm>
              <a:off x="2337" y="1939"/>
              <a:ext cx="1096" cy="1098"/>
            </a:xfrm>
            <a:prstGeom prst="ellipse">
              <a:avLst/>
            </a:prstGeom>
            <a:gradFill rotWithShape="1">
              <a:gsLst>
                <a:gs pos="0">
                  <a:srgbClr val="21B3E1"/>
                </a:gs>
                <a:gs pos="100000">
                  <a:srgbClr val="10576D"/>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1800"/>
            </a:p>
          </p:txBody>
        </p:sp>
      </p:grpSp>
    </p:spTree>
    <p:extLst>
      <p:ext uri="{BB962C8B-B14F-4D97-AF65-F5344CB8AC3E}">
        <p14:creationId xmlns:p14="http://schemas.microsoft.com/office/powerpoint/2010/main" val="671488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Conclusion</a:t>
            </a:r>
            <a:r>
              <a:rPr lang="en-US" b="1">
                <a:latin typeface="Times New Roman" panose="02020603050405020304" pitchFamily="18" charset="0"/>
                <a:cs typeface="Times New Roman" panose="02020603050405020304" pitchFamily="18" charset="0"/>
              </a:rPr>
              <a:t> </a:t>
            </a:r>
          </a:p>
        </p:txBody>
      </p:sp>
      <p:sp>
        <p:nvSpPr>
          <p:cNvPr id="12" name="Footer Placeholder 11"/>
          <p:cNvSpPr>
            <a:spLocks noGrp="1"/>
          </p:cNvSpPr>
          <p:nvPr>
            <p:ph type="ftr" sz="quarter" idx="11"/>
          </p:nvPr>
        </p:nvSpPr>
        <p:spPr>
          <a:xfrm>
            <a:off x="9403882" y="6466281"/>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32</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24550"/>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5">
            <a:extLst>
              <a:ext uri="{FF2B5EF4-FFF2-40B4-BE49-F238E27FC236}">
                <a16:creationId xmlns:a16="http://schemas.microsoft.com/office/drawing/2014/main" id="{140D26CF-C9AE-45EF-9A32-A1E229B08456}"/>
              </a:ext>
            </a:extLst>
          </p:cNvPr>
          <p:cNvSpPr txBox="1">
            <a:spLocks/>
          </p:cNvSpPr>
          <p:nvPr/>
        </p:nvSpPr>
        <p:spPr>
          <a:xfrm>
            <a:off x="156159" y="1330718"/>
            <a:ext cx="5059781" cy="43295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
            </a:pPr>
            <a:endParaRPr lang="en-US" sz="2100">
              <a:latin typeface="Times New Roman" panose="02020603050405020304" pitchFamily="18" charset="0"/>
              <a:cs typeface="Times New Roman" panose="02020603050405020304" pitchFamily="18" charset="0"/>
            </a:endParaRPr>
          </a:p>
        </p:txBody>
      </p:sp>
      <p:sp>
        <p:nvSpPr>
          <p:cNvPr id="3" name="Rectangle 2"/>
          <p:cNvSpPr/>
          <p:nvPr/>
        </p:nvSpPr>
        <p:spPr>
          <a:xfrm>
            <a:off x="156159" y="1525267"/>
            <a:ext cx="10588487" cy="4524315"/>
          </a:xfrm>
          <a:prstGeom prst="rect">
            <a:avLst/>
          </a:prstGeom>
        </p:spPr>
        <p:txBody>
          <a:bodyPr wrap="square">
            <a:spAutoFit/>
          </a:bodyPr>
          <a:lstStyle/>
          <a:p>
            <a:pPr marL="573088" indent="-573088">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In this study, we propose an LQE to apply to Industrial Wireless Sensor networks:</a:t>
            </a:r>
          </a:p>
          <a:p>
            <a:pPr marL="1030288" lvl="1" indent="-573088">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With high reliability.</a:t>
            </a:r>
          </a:p>
          <a:p>
            <a:pPr marL="1030288" lvl="1" indent="-573088">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Based on the burstiness link property of wireless, we estimate the number of transmissions required to reach the PRR target.</a:t>
            </a:r>
          </a:p>
          <a:p>
            <a:pPr marL="573088" indent="-573088">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573088" indent="-573088">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The simulation result shows that our proposed scheme has a good estimation compare with PRR and ETX in terms of reliability and energy consumption.</a:t>
            </a:r>
          </a:p>
          <a:p>
            <a:pPr marL="573088" indent="-573088">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marL="573088" indent="-573088">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Future work</a:t>
            </a:r>
          </a:p>
          <a:p>
            <a:pPr marL="800100" lvl="1"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We will apply and evaluate our approach to the real device for monitoring and control systems in industrial environments.</a:t>
            </a:r>
          </a:p>
        </p:txBody>
      </p:sp>
      <p:pic>
        <p:nvPicPr>
          <p:cNvPr id="14"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2143979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References</a:t>
            </a:r>
          </a:p>
        </p:txBody>
      </p:sp>
      <p:sp>
        <p:nvSpPr>
          <p:cNvPr id="12" name="Footer Placeholder 11"/>
          <p:cNvSpPr>
            <a:spLocks noGrp="1"/>
          </p:cNvSpPr>
          <p:nvPr>
            <p:ph type="ftr" sz="quarter" idx="11"/>
          </p:nvPr>
        </p:nvSpPr>
        <p:spPr>
          <a:xfrm>
            <a:off x="9403882" y="6489915"/>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33</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23890"/>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9" name="Rectangle 8"/>
          <p:cNvSpPr/>
          <p:nvPr/>
        </p:nvSpPr>
        <p:spPr>
          <a:xfrm>
            <a:off x="0" y="1325563"/>
            <a:ext cx="9403882" cy="4939814"/>
          </a:xfrm>
          <a:prstGeom prst="rect">
            <a:avLst/>
          </a:prstGeom>
        </p:spPr>
        <p:txBody>
          <a:bodyPr wrap="square">
            <a:spAutoFit/>
          </a:bodyPr>
          <a:lstStyle/>
          <a:p>
            <a:pPr hangingPunct="0"/>
            <a:r>
              <a:rPr lang="en-US" sz="1500" dirty="0">
                <a:latin typeface="Times New Roman" panose="02020603050405020304" pitchFamily="18" charset="0"/>
                <a:cs typeface="Times New Roman" panose="02020603050405020304" pitchFamily="18" charset="0"/>
              </a:rPr>
              <a:t>[1]	T. T. Nguyen and H. Oh, “A Receiver for Resource-Constrained Wireless Sensor Devices to Remove the Effect of Multipath Fading,” </a:t>
            </a:r>
            <a:r>
              <a:rPr lang="en-US" sz="1500" i="1" dirty="0">
                <a:latin typeface="Times New Roman" panose="02020603050405020304" pitchFamily="18" charset="0"/>
                <a:cs typeface="Times New Roman" panose="02020603050405020304" pitchFamily="18" charset="0"/>
              </a:rPr>
              <a:t>IEEE Trans. Ind. Electron.</a:t>
            </a:r>
            <a:r>
              <a:rPr lang="en-US" sz="1500" dirty="0">
                <a:latin typeface="Times New Roman" panose="02020603050405020304" pitchFamily="18" charset="0"/>
                <a:cs typeface="Times New Roman" panose="02020603050405020304" pitchFamily="18" charset="0"/>
              </a:rPr>
              <a:t>, vol. 65, no. 7, pp. 6009–6016, Jul. 2018, </a:t>
            </a:r>
            <a:r>
              <a:rPr lang="en-US" sz="1500" dirty="0" err="1">
                <a:latin typeface="Times New Roman" panose="02020603050405020304" pitchFamily="18" charset="0"/>
                <a:cs typeface="Times New Roman" panose="02020603050405020304" pitchFamily="18" charset="0"/>
              </a:rPr>
              <a:t>doi</a:t>
            </a:r>
            <a:r>
              <a:rPr lang="en-US" sz="1500" dirty="0">
                <a:latin typeface="Times New Roman" panose="02020603050405020304" pitchFamily="18" charset="0"/>
                <a:cs typeface="Times New Roman" panose="02020603050405020304" pitchFamily="18" charset="0"/>
              </a:rPr>
              <a:t>: 10.1109/TIE.2017.2779423.</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[2]	T. T. Nguyen and H. Oh, “SCSMA: A Smart CSMA/CA Using Blind Learning for Wireless Sensor Networks,” </a:t>
            </a:r>
            <a:r>
              <a:rPr lang="en-US" sz="1500" i="1" dirty="0">
                <a:latin typeface="Times New Roman" panose="02020603050405020304" pitchFamily="18" charset="0"/>
                <a:cs typeface="Times New Roman" panose="02020603050405020304" pitchFamily="18" charset="0"/>
              </a:rPr>
              <a:t>IEEE Trans. Ind. Electron.</a:t>
            </a:r>
            <a:r>
              <a:rPr lang="en-US" sz="1500" dirty="0">
                <a:latin typeface="Times New Roman" panose="02020603050405020304" pitchFamily="18" charset="0"/>
                <a:cs typeface="Times New Roman" panose="02020603050405020304" pitchFamily="18" charset="0"/>
              </a:rPr>
              <a:t>, p. 1, 2019, </a:t>
            </a:r>
            <a:r>
              <a:rPr lang="en-US" sz="1500" dirty="0" err="1">
                <a:latin typeface="Times New Roman" panose="02020603050405020304" pitchFamily="18" charset="0"/>
                <a:cs typeface="Times New Roman" panose="02020603050405020304" pitchFamily="18" charset="0"/>
              </a:rPr>
              <a:t>doi</a:t>
            </a:r>
            <a:r>
              <a:rPr lang="en-US" sz="1500" dirty="0">
                <a:latin typeface="Times New Roman" panose="02020603050405020304" pitchFamily="18" charset="0"/>
                <a:cs typeface="Times New Roman" panose="02020603050405020304" pitchFamily="18" charset="0"/>
              </a:rPr>
              <a:t>: 10.1109/TIE.2019.2960753.</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[3]	T. Winter </a:t>
            </a:r>
            <a:r>
              <a:rPr lang="en-US" sz="1500" i="1" dirty="0">
                <a:latin typeface="Times New Roman" panose="02020603050405020304" pitchFamily="18" charset="0"/>
                <a:cs typeface="Times New Roman" panose="02020603050405020304" pitchFamily="18" charset="0"/>
              </a:rPr>
              <a:t>et al.</a:t>
            </a:r>
            <a:r>
              <a:rPr lang="en-US" sz="1500" dirty="0">
                <a:latin typeface="Times New Roman" panose="02020603050405020304" pitchFamily="18" charset="0"/>
                <a:cs typeface="Times New Roman" panose="02020603050405020304" pitchFamily="18" charset="0"/>
              </a:rPr>
              <a:t>, “RPL: IPv6 Routing Protocol for Low-Power and </a:t>
            </a:r>
            <a:r>
              <a:rPr lang="en-US" sz="1500" dirty="0" err="1">
                <a:latin typeface="Times New Roman" panose="02020603050405020304" pitchFamily="18" charset="0"/>
                <a:cs typeface="Times New Roman" panose="02020603050405020304" pitchFamily="18" charset="0"/>
              </a:rPr>
              <a:t>Lossy</a:t>
            </a:r>
            <a:r>
              <a:rPr lang="en-US" sz="1500" dirty="0">
                <a:latin typeface="Times New Roman" panose="02020603050405020304" pitchFamily="18" charset="0"/>
                <a:cs typeface="Times New Roman" panose="02020603050405020304" pitchFamily="18" charset="0"/>
              </a:rPr>
              <a:t> Networks.,” </a:t>
            </a:r>
            <a:r>
              <a:rPr lang="en-US" sz="1500" i="1" dirty="0" err="1">
                <a:latin typeface="Times New Roman" panose="02020603050405020304" pitchFamily="18" charset="0"/>
                <a:cs typeface="Times New Roman" panose="02020603050405020304" pitchFamily="18" charset="0"/>
              </a:rPr>
              <a:t>rfc</a:t>
            </a:r>
            <a:r>
              <a:rPr lang="en-US" sz="1500" dirty="0">
                <a:latin typeface="Times New Roman" panose="02020603050405020304" pitchFamily="18" charset="0"/>
                <a:cs typeface="Times New Roman" panose="02020603050405020304" pitchFamily="18" charset="0"/>
              </a:rPr>
              <a:t>, vol. 6550, pp. 1–157, 2012.</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[4]	M. Mittal and C. </a:t>
            </a:r>
            <a:r>
              <a:rPr lang="en-US" sz="1500" dirty="0" err="1">
                <a:latin typeface="Times New Roman" panose="02020603050405020304" pitchFamily="18" charset="0"/>
                <a:cs typeface="Times New Roman" panose="02020603050405020304" pitchFamily="18" charset="0"/>
              </a:rPr>
              <a:t>Iwendi</a:t>
            </a:r>
            <a:r>
              <a:rPr lang="en-US" sz="1500" dirty="0">
                <a:latin typeface="Times New Roman" panose="02020603050405020304" pitchFamily="18" charset="0"/>
                <a:cs typeface="Times New Roman" panose="02020603050405020304" pitchFamily="18" charset="0"/>
              </a:rPr>
              <a:t>, “A survey on energy-aware wireless sensor routing protocols,” </a:t>
            </a:r>
            <a:r>
              <a:rPr lang="en-US" sz="1500" i="1" dirty="0">
                <a:latin typeface="Times New Roman" panose="02020603050405020304" pitchFamily="18" charset="0"/>
                <a:cs typeface="Times New Roman" panose="02020603050405020304" pitchFamily="18" charset="0"/>
              </a:rPr>
              <a:t>EAI Endorsed Trans. Energy Web</a:t>
            </a:r>
            <a:r>
              <a:rPr lang="en-US" sz="1500" dirty="0">
                <a:latin typeface="Times New Roman" panose="02020603050405020304" pitchFamily="18" charset="0"/>
                <a:cs typeface="Times New Roman" panose="02020603050405020304" pitchFamily="18" charset="0"/>
              </a:rPr>
              <a:t>, vol. 6, no. 24, 2019.</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[5]	T. Clausen, J. Yi, and U. </a:t>
            </a:r>
            <a:r>
              <a:rPr lang="en-US" sz="1500" dirty="0" err="1">
                <a:latin typeface="Times New Roman" panose="02020603050405020304" pitchFamily="18" charset="0"/>
                <a:cs typeface="Times New Roman" panose="02020603050405020304" pitchFamily="18" charset="0"/>
              </a:rPr>
              <a:t>Herberg</a:t>
            </a:r>
            <a:r>
              <a:rPr lang="en-US" sz="1500" dirty="0">
                <a:latin typeface="Times New Roman" panose="02020603050405020304" pitchFamily="18" charset="0"/>
                <a:cs typeface="Times New Roman" panose="02020603050405020304" pitchFamily="18" charset="0"/>
              </a:rPr>
              <a:t>, “Lightweight on-demand ad hoc distance-vector routing-next generation (</a:t>
            </a:r>
            <a:r>
              <a:rPr lang="en-US" sz="1500" dirty="0" err="1">
                <a:latin typeface="Times New Roman" panose="02020603050405020304" pitchFamily="18" charset="0"/>
                <a:cs typeface="Times New Roman" panose="02020603050405020304" pitchFamily="18" charset="0"/>
              </a:rPr>
              <a:t>LOADng</a:t>
            </a:r>
            <a:r>
              <a:rPr lang="en-US" sz="1500" dirty="0">
                <a:latin typeface="Times New Roman" panose="02020603050405020304" pitchFamily="18" charset="0"/>
                <a:cs typeface="Times New Roman" panose="02020603050405020304" pitchFamily="18" charset="0"/>
              </a:rPr>
              <a:t>): protocol, extension, and applicability,” </a:t>
            </a:r>
            <a:r>
              <a:rPr lang="en-US" sz="1500" i="1" dirty="0" err="1">
                <a:latin typeface="Times New Roman" panose="02020603050405020304" pitchFamily="18" charset="0"/>
                <a:cs typeface="Times New Roman" panose="02020603050405020304" pitchFamily="18" charset="0"/>
              </a:rPr>
              <a:t>Comput</a:t>
            </a:r>
            <a:r>
              <a:rPr lang="en-US" sz="1500" i="1" dirty="0">
                <a:latin typeface="Times New Roman" panose="02020603050405020304" pitchFamily="18" charset="0"/>
                <a:cs typeface="Times New Roman" panose="02020603050405020304" pitchFamily="18" charset="0"/>
              </a:rPr>
              <a:t>. Networks</a:t>
            </a:r>
            <a:r>
              <a:rPr lang="en-US" sz="1500" dirty="0">
                <a:latin typeface="Times New Roman" panose="02020603050405020304" pitchFamily="18" charset="0"/>
                <a:cs typeface="Times New Roman" panose="02020603050405020304" pitchFamily="18" charset="0"/>
              </a:rPr>
              <a:t>, vol. 126, pp. 125–140, 2017.</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[6]	T. T. Nguyen and H. Oh, “Constructing an optimally balanced tree to maximize data throughput with multiple channels,” </a:t>
            </a:r>
            <a:r>
              <a:rPr lang="en-US" sz="1500" i="1" dirty="0" err="1">
                <a:latin typeface="Times New Roman" panose="02020603050405020304" pitchFamily="18" charset="0"/>
                <a:cs typeface="Times New Roman" panose="02020603050405020304" pitchFamily="18" charset="0"/>
              </a:rPr>
              <a:t>Wirel</a:t>
            </a:r>
            <a:r>
              <a:rPr lang="en-US" sz="1500" i="1" dirty="0">
                <a:latin typeface="Times New Roman" panose="02020603050405020304" pitchFamily="18" charset="0"/>
                <a:cs typeface="Times New Roman" panose="02020603050405020304" pitchFamily="18" charset="0"/>
              </a:rPr>
              <a:t>. Networks</a:t>
            </a:r>
            <a:r>
              <a:rPr lang="en-US" sz="1500" dirty="0">
                <a:latin typeface="Times New Roman" panose="02020603050405020304" pitchFamily="18" charset="0"/>
                <a:cs typeface="Times New Roman" panose="02020603050405020304" pitchFamily="18" charset="0"/>
              </a:rPr>
              <a:t>, vol. 24, no. 3, pp. 993–1005, Apr. 2018, </a:t>
            </a:r>
            <a:r>
              <a:rPr lang="en-US" sz="1500" dirty="0" err="1">
                <a:latin typeface="Times New Roman" panose="02020603050405020304" pitchFamily="18" charset="0"/>
                <a:cs typeface="Times New Roman" panose="02020603050405020304" pitchFamily="18" charset="0"/>
              </a:rPr>
              <a:t>doi</a:t>
            </a:r>
            <a:r>
              <a:rPr lang="en-US" sz="1500" dirty="0">
                <a:latin typeface="Times New Roman" panose="02020603050405020304" pitchFamily="18" charset="0"/>
                <a:cs typeface="Times New Roman" panose="02020603050405020304" pitchFamily="18" charset="0"/>
              </a:rPr>
              <a:t>: 10.1007/s11276-017-1550-x.</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[7]	H.-J. </a:t>
            </a:r>
            <a:r>
              <a:rPr lang="en-US" sz="1500" dirty="0" err="1">
                <a:latin typeface="Times New Roman" panose="02020603050405020304" pitchFamily="18" charset="0"/>
                <a:cs typeface="Times New Roman" panose="02020603050405020304" pitchFamily="18" charset="0"/>
              </a:rPr>
              <a:t>Audéoud</a:t>
            </a:r>
            <a:r>
              <a:rPr lang="en-US" sz="1500" dirty="0">
                <a:latin typeface="Times New Roman" panose="02020603050405020304" pitchFamily="18" charset="0"/>
                <a:cs typeface="Times New Roman" panose="02020603050405020304" pitchFamily="18" charset="0"/>
              </a:rPr>
              <a:t> and M. </a:t>
            </a:r>
            <a:r>
              <a:rPr lang="en-US" sz="1500" dirty="0" err="1">
                <a:latin typeface="Times New Roman" panose="02020603050405020304" pitchFamily="18" charset="0"/>
                <a:cs typeface="Times New Roman" panose="02020603050405020304" pitchFamily="18" charset="0"/>
              </a:rPr>
              <a:t>Heusse</a:t>
            </a:r>
            <a:r>
              <a:rPr lang="en-US" sz="1500" dirty="0">
                <a:latin typeface="Times New Roman" panose="02020603050405020304" pitchFamily="18" charset="0"/>
                <a:cs typeface="Times New Roman" panose="02020603050405020304" pitchFamily="18" charset="0"/>
              </a:rPr>
              <a:t>, “Quick and efficient link quality estimation in wireless sensors networks,” in 2018 14th Annual Conference on Wireless On-demand Network Systems and Services (WONS), 2018, pp. 87–90.</a:t>
            </a:r>
          </a:p>
        </p:txBody>
      </p:sp>
    </p:spTree>
    <p:extLst>
      <p:ext uri="{BB962C8B-B14F-4D97-AF65-F5344CB8AC3E}">
        <p14:creationId xmlns:p14="http://schemas.microsoft.com/office/powerpoint/2010/main" val="950789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latin typeface="Times New Roman" panose="02020603050405020304" pitchFamily="18" charset="0"/>
                <a:cs typeface="Times New Roman" panose="02020603050405020304" pitchFamily="18" charset="0"/>
              </a:rPr>
              <a:t>References</a:t>
            </a:r>
          </a:p>
        </p:txBody>
      </p:sp>
      <p:sp>
        <p:nvSpPr>
          <p:cNvPr id="12" name="Footer Placeholder 11"/>
          <p:cNvSpPr>
            <a:spLocks noGrp="1"/>
          </p:cNvSpPr>
          <p:nvPr>
            <p:ph type="ftr" sz="quarter" idx="11"/>
          </p:nvPr>
        </p:nvSpPr>
        <p:spPr>
          <a:xfrm>
            <a:off x="9403882" y="6489915"/>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24400" y="6492875"/>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34</a:t>
            </a:fld>
            <a:endParaRPr lang="en-US" sz="2000" b="1">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23890"/>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
        <p:nvSpPr>
          <p:cNvPr id="9" name="Rectangle 8"/>
          <p:cNvSpPr/>
          <p:nvPr/>
        </p:nvSpPr>
        <p:spPr>
          <a:xfrm>
            <a:off x="0" y="1325563"/>
            <a:ext cx="9403882" cy="4478149"/>
          </a:xfrm>
          <a:prstGeom prst="rect">
            <a:avLst/>
          </a:prstGeom>
        </p:spPr>
        <p:txBody>
          <a:bodyPr wrap="square">
            <a:spAutoFit/>
          </a:bodyPr>
          <a:lstStyle/>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[8]	R. D. Gomes, D. V </a:t>
            </a:r>
            <a:r>
              <a:rPr lang="en-US" sz="1500" dirty="0" err="1">
                <a:latin typeface="Times New Roman" panose="02020603050405020304" pitchFamily="18" charset="0"/>
                <a:cs typeface="Times New Roman" panose="02020603050405020304" pitchFamily="18" charset="0"/>
              </a:rPr>
              <a:t>Queiroz</a:t>
            </a:r>
            <a:r>
              <a:rPr lang="en-US" sz="1500" dirty="0">
                <a:latin typeface="Times New Roman" panose="02020603050405020304" pitchFamily="18" charset="0"/>
                <a:cs typeface="Times New Roman" panose="02020603050405020304" pitchFamily="18" charset="0"/>
              </a:rPr>
              <a:t>, A. C. Lima </a:t>
            </a:r>
            <a:r>
              <a:rPr lang="en-US" sz="1500" dirty="0" err="1">
                <a:latin typeface="Times New Roman" panose="02020603050405020304" pitchFamily="18" charset="0"/>
                <a:cs typeface="Times New Roman" panose="02020603050405020304" pitchFamily="18" charset="0"/>
              </a:rPr>
              <a:t>Filho</a:t>
            </a:r>
            <a:r>
              <a:rPr lang="en-US" sz="1500" dirty="0">
                <a:latin typeface="Times New Roman" panose="02020603050405020304" pitchFamily="18" charset="0"/>
                <a:cs typeface="Times New Roman" panose="02020603050405020304" pitchFamily="18" charset="0"/>
              </a:rPr>
              <a:t>, I. E. Fonseca, and M. S. </a:t>
            </a:r>
            <a:r>
              <a:rPr lang="en-US" sz="1500" dirty="0" err="1">
                <a:latin typeface="Times New Roman" panose="02020603050405020304" pitchFamily="18" charset="0"/>
                <a:cs typeface="Times New Roman" panose="02020603050405020304" pitchFamily="18" charset="0"/>
              </a:rPr>
              <a:t>Alencar</a:t>
            </a:r>
            <a:r>
              <a:rPr lang="en-US" sz="1500" dirty="0">
                <a:latin typeface="Times New Roman" panose="02020603050405020304" pitchFamily="18" charset="0"/>
                <a:cs typeface="Times New Roman" panose="02020603050405020304" pitchFamily="18" charset="0"/>
              </a:rPr>
              <a:t>, “Real-time link quality estimation for industrial wireless sensor networks using dedicated nodes,” Ad Hoc Networks, vol. 59, pp. 116–133, 2017.</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[9]	D. S. J. De </a:t>
            </a:r>
            <a:r>
              <a:rPr lang="en-US" sz="1500" dirty="0" err="1">
                <a:latin typeface="Times New Roman" panose="02020603050405020304" pitchFamily="18" charset="0"/>
                <a:cs typeface="Times New Roman" panose="02020603050405020304" pitchFamily="18" charset="0"/>
              </a:rPr>
              <a:t>Couto</a:t>
            </a:r>
            <a:r>
              <a:rPr lang="en-US" sz="1500" dirty="0">
                <a:latin typeface="Times New Roman" panose="02020603050405020304" pitchFamily="18" charset="0"/>
                <a:cs typeface="Times New Roman" panose="02020603050405020304" pitchFamily="18" charset="0"/>
              </a:rPr>
              <a:t>, D. </a:t>
            </a:r>
            <a:r>
              <a:rPr lang="en-US" sz="1500" dirty="0" err="1">
                <a:latin typeface="Times New Roman" panose="02020603050405020304" pitchFamily="18" charset="0"/>
                <a:cs typeface="Times New Roman" panose="02020603050405020304" pitchFamily="18" charset="0"/>
              </a:rPr>
              <a:t>Aguayo</a:t>
            </a:r>
            <a:r>
              <a:rPr lang="en-US" sz="1500" dirty="0">
                <a:latin typeface="Times New Roman" panose="02020603050405020304" pitchFamily="18" charset="0"/>
                <a:cs typeface="Times New Roman" panose="02020603050405020304" pitchFamily="18" charset="0"/>
              </a:rPr>
              <a:t>, J. </a:t>
            </a:r>
            <a:r>
              <a:rPr lang="en-US" sz="1500" dirty="0" err="1">
                <a:latin typeface="Times New Roman" panose="02020603050405020304" pitchFamily="18" charset="0"/>
                <a:cs typeface="Times New Roman" panose="02020603050405020304" pitchFamily="18" charset="0"/>
              </a:rPr>
              <a:t>Bicket</a:t>
            </a:r>
            <a:r>
              <a:rPr lang="en-US" sz="1500" dirty="0">
                <a:latin typeface="Times New Roman" panose="02020603050405020304" pitchFamily="18" charset="0"/>
                <a:cs typeface="Times New Roman" panose="02020603050405020304" pitchFamily="18" charset="0"/>
              </a:rPr>
              <a:t>, and R. Morris, “A high-throughput path metric for multi-hop wireless routing,” in Proceedings of the 9th annual international conference on Mobile computing and networking, 2003, pp. 134–146.</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[10]	R. Fonseca, O. </a:t>
            </a:r>
            <a:r>
              <a:rPr lang="en-US" sz="1500" dirty="0" err="1">
                <a:latin typeface="Times New Roman" panose="02020603050405020304" pitchFamily="18" charset="0"/>
                <a:cs typeface="Times New Roman" panose="02020603050405020304" pitchFamily="18" charset="0"/>
              </a:rPr>
              <a:t>Gnawali</a:t>
            </a:r>
            <a:r>
              <a:rPr lang="en-US" sz="1500" dirty="0">
                <a:latin typeface="Times New Roman" panose="02020603050405020304" pitchFamily="18" charset="0"/>
                <a:cs typeface="Times New Roman" panose="02020603050405020304" pitchFamily="18" charset="0"/>
              </a:rPr>
              <a:t>, K. Jamieson, and P. Levis, “Four-bit wireless link estimation.,” in </a:t>
            </a:r>
            <a:r>
              <a:rPr lang="en-US" sz="1500" dirty="0" err="1">
                <a:latin typeface="Times New Roman" panose="02020603050405020304" pitchFamily="18" charset="0"/>
                <a:cs typeface="Times New Roman" panose="02020603050405020304" pitchFamily="18" charset="0"/>
              </a:rPr>
              <a:t>HotNets</a:t>
            </a:r>
            <a:r>
              <a:rPr lang="en-US" sz="1500" dirty="0">
                <a:latin typeface="Times New Roman" panose="02020603050405020304" pitchFamily="18" charset="0"/>
                <a:cs typeface="Times New Roman" panose="02020603050405020304" pitchFamily="18" charset="0"/>
              </a:rPr>
              <a:t>, 2007.</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[11]	K. </a:t>
            </a:r>
            <a:r>
              <a:rPr lang="en-US" sz="1500" dirty="0" err="1">
                <a:latin typeface="Times New Roman" panose="02020603050405020304" pitchFamily="18" charset="0"/>
                <a:cs typeface="Times New Roman" panose="02020603050405020304" pitchFamily="18" charset="0"/>
              </a:rPr>
              <a:t>Srinivasan</a:t>
            </a:r>
            <a:r>
              <a:rPr lang="en-US" sz="1500" dirty="0">
                <a:latin typeface="Times New Roman" panose="02020603050405020304" pitchFamily="18" charset="0"/>
                <a:cs typeface="Times New Roman" panose="02020603050405020304" pitchFamily="18" charset="0"/>
              </a:rPr>
              <a:t>, M. A. </a:t>
            </a:r>
            <a:r>
              <a:rPr lang="en-US" sz="1500" dirty="0" err="1">
                <a:latin typeface="Times New Roman" panose="02020603050405020304" pitchFamily="18" charset="0"/>
                <a:cs typeface="Times New Roman" panose="02020603050405020304" pitchFamily="18" charset="0"/>
              </a:rPr>
              <a:t>Kazandjieva</a:t>
            </a:r>
            <a:r>
              <a:rPr lang="en-US" sz="1500" dirty="0">
                <a:latin typeface="Times New Roman" panose="02020603050405020304" pitchFamily="18" charset="0"/>
                <a:cs typeface="Times New Roman" panose="02020603050405020304" pitchFamily="18" charset="0"/>
              </a:rPr>
              <a:t>, S. </a:t>
            </a:r>
            <a:r>
              <a:rPr lang="en-US" sz="1500" dirty="0" err="1">
                <a:latin typeface="Times New Roman" panose="02020603050405020304" pitchFamily="18" charset="0"/>
                <a:cs typeface="Times New Roman" panose="02020603050405020304" pitchFamily="18" charset="0"/>
              </a:rPr>
              <a:t>Agarwal</a:t>
            </a:r>
            <a:r>
              <a:rPr lang="en-US" sz="1500" dirty="0">
                <a:latin typeface="Times New Roman" panose="02020603050405020304" pitchFamily="18" charset="0"/>
                <a:cs typeface="Times New Roman" panose="02020603050405020304" pitchFamily="18" charset="0"/>
              </a:rPr>
              <a:t>, and P. Levis, “The β-factor: measuring wireless link </a:t>
            </a:r>
            <a:r>
              <a:rPr lang="en-US" sz="1500" dirty="0" err="1">
                <a:latin typeface="Times New Roman" panose="02020603050405020304" pitchFamily="18" charset="0"/>
                <a:cs typeface="Times New Roman" panose="02020603050405020304" pitchFamily="18" charset="0"/>
              </a:rPr>
              <a:t>burstiness</a:t>
            </a:r>
            <a:r>
              <a:rPr lang="en-US" sz="1500" dirty="0">
                <a:latin typeface="Times New Roman" panose="02020603050405020304" pitchFamily="18" charset="0"/>
                <a:cs typeface="Times New Roman" panose="02020603050405020304" pitchFamily="18" charset="0"/>
              </a:rPr>
              <a:t>,” in Proceedings of the 6th ACM conference on Embedded network sensor systems, 2008, pp. 29–42.</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[12]	S. </a:t>
            </a:r>
            <a:r>
              <a:rPr lang="en-US" sz="1500" dirty="0" err="1">
                <a:latin typeface="Times New Roman" panose="02020603050405020304" pitchFamily="18" charset="0"/>
                <a:cs typeface="Times New Roman" panose="02020603050405020304" pitchFamily="18" charset="0"/>
              </a:rPr>
              <a:t>Munir</a:t>
            </a:r>
            <a:r>
              <a:rPr lang="en-US" sz="1500" dirty="0">
                <a:latin typeface="Times New Roman" panose="02020603050405020304" pitchFamily="18" charset="0"/>
                <a:cs typeface="Times New Roman" panose="02020603050405020304" pitchFamily="18" charset="0"/>
              </a:rPr>
              <a:t>, S. Lin, E. </a:t>
            </a:r>
            <a:r>
              <a:rPr lang="en-US" sz="1500" dirty="0" err="1">
                <a:latin typeface="Times New Roman" panose="02020603050405020304" pitchFamily="18" charset="0"/>
                <a:cs typeface="Times New Roman" panose="02020603050405020304" pitchFamily="18" charset="0"/>
              </a:rPr>
              <a:t>Hoque</a:t>
            </a:r>
            <a:r>
              <a:rPr lang="en-US" sz="1500" dirty="0">
                <a:latin typeface="Times New Roman" panose="02020603050405020304" pitchFamily="18" charset="0"/>
                <a:cs typeface="Times New Roman" panose="02020603050405020304" pitchFamily="18" charset="0"/>
              </a:rPr>
              <a:t>, S. M. S. </a:t>
            </a:r>
            <a:r>
              <a:rPr lang="en-US" sz="1500" dirty="0" err="1">
                <a:latin typeface="Times New Roman" panose="02020603050405020304" pitchFamily="18" charset="0"/>
                <a:cs typeface="Times New Roman" panose="02020603050405020304" pitchFamily="18" charset="0"/>
              </a:rPr>
              <a:t>Nirjon</a:t>
            </a:r>
            <a:r>
              <a:rPr lang="en-US" sz="1500" dirty="0">
                <a:latin typeface="Times New Roman" panose="02020603050405020304" pitchFamily="18" charset="0"/>
                <a:cs typeface="Times New Roman" panose="02020603050405020304" pitchFamily="18" charset="0"/>
              </a:rPr>
              <a:t>, J. A. </a:t>
            </a:r>
            <a:r>
              <a:rPr lang="en-US" sz="1500" dirty="0" err="1">
                <a:latin typeface="Times New Roman" panose="02020603050405020304" pitchFamily="18" charset="0"/>
                <a:cs typeface="Times New Roman" panose="02020603050405020304" pitchFamily="18" charset="0"/>
              </a:rPr>
              <a:t>Stankovic</a:t>
            </a:r>
            <a:r>
              <a:rPr lang="en-US" sz="1500" dirty="0">
                <a:latin typeface="Times New Roman" panose="02020603050405020304" pitchFamily="18" charset="0"/>
                <a:cs typeface="Times New Roman" panose="02020603050405020304" pitchFamily="18" charset="0"/>
              </a:rPr>
              <a:t>, and K. Whitehouse, “Addressing </a:t>
            </a:r>
            <a:r>
              <a:rPr lang="en-US" sz="1500" dirty="0" err="1">
                <a:latin typeface="Times New Roman" panose="02020603050405020304" pitchFamily="18" charset="0"/>
                <a:cs typeface="Times New Roman" panose="02020603050405020304" pitchFamily="18" charset="0"/>
              </a:rPr>
              <a:t>burstiness</a:t>
            </a:r>
            <a:r>
              <a:rPr lang="en-US" sz="1500" dirty="0">
                <a:latin typeface="Times New Roman" panose="02020603050405020304" pitchFamily="18" charset="0"/>
                <a:cs typeface="Times New Roman" panose="02020603050405020304" pitchFamily="18" charset="0"/>
              </a:rPr>
              <a:t> for reliable communication and latency bound generation in wireless sensor networks,” in Proceedings of the 9th ACM/IEEE International Conference on Information Processing in Sensor Networks, 2010, pp. 303–314.</a:t>
            </a:r>
          </a:p>
          <a:p>
            <a:pPr hangingPunct="0"/>
            <a:endParaRPr lang="en-US" sz="1500" dirty="0">
              <a:latin typeface="Times New Roman" panose="02020603050405020304" pitchFamily="18" charset="0"/>
              <a:cs typeface="Times New Roman" panose="02020603050405020304" pitchFamily="18" charset="0"/>
            </a:endParaRPr>
          </a:p>
          <a:p>
            <a:pPr hangingPunct="0"/>
            <a:r>
              <a:rPr lang="en-US" sz="1500" dirty="0">
                <a:latin typeface="Times New Roman" panose="02020603050405020304" pitchFamily="18" charset="0"/>
                <a:cs typeface="Times New Roman" panose="02020603050405020304" pitchFamily="18" charset="0"/>
              </a:rPr>
              <a:t>[13]	A. </a:t>
            </a:r>
            <a:r>
              <a:rPr lang="en-US" sz="1500" dirty="0" err="1">
                <a:latin typeface="Times New Roman" panose="02020603050405020304" pitchFamily="18" charset="0"/>
                <a:cs typeface="Times New Roman" panose="02020603050405020304" pitchFamily="18" charset="0"/>
              </a:rPr>
              <a:t>Darbandi</a:t>
            </a:r>
            <a:r>
              <a:rPr lang="en-US" sz="1500" dirty="0">
                <a:latin typeface="Times New Roman" panose="02020603050405020304" pitchFamily="18" charset="0"/>
                <a:cs typeface="Times New Roman" panose="02020603050405020304" pitchFamily="18" charset="0"/>
              </a:rPr>
              <a:t> and M. K. Kim, “Path collision-aware real-time link scheduling for TSCH wireless networks,” KSII Trans. Internet Inf. Syst., vol. 13, no. 9, pp. 4429–4445, 2019, </a:t>
            </a:r>
            <a:r>
              <a:rPr lang="en-US" sz="1500" dirty="0" err="1">
                <a:latin typeface="Times New Roman" panose="02020603050405020304" pitchFamily="18" charset="0"/>
                <a:cs typeface="Times New Roman" panose="02020603050405020304" pitchFamily="18" charset="0"/>
              </a:rPr>
              <a:t>doi</a:t>
            </a:r>
            <a:r>
              <a:rPr lang="en-US" sz="1500" dirty="0">
                <a:latin typeface="Times New Roman" panose="02020603050405020304" pitchFamily="18" charset="0"/>
                <a:cs typeface="Times New Roman" panose="02020603050405020304" pitchFamily="18" charset="0"/>
              </a:rPr>
              <a:t>: 10.3837/tiis.2019.09.006.</a:t>
            </a:r>
          </a:p>
        </p:txBody>
      </p:sp>
    </p:spTree>
    <p:extLst>
      <p:ext uri="{BB962C8B-B14F-4D97-AF65-F5344CB8AC3E}">
        <p14:creationId xmlns:p14="http://schemas.microsoft.com/office/powerpoint/2010/main" val="33159084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264361"/>
            <a:ext cx="6571129"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6431791"/>
            <a:ext cx="12070080" cy="4571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p:cNvSpPr txBox="1">
            <a:spLocks noGrp="1"/>
          </p:cNvSpPr>
          <p:nvPr>
            <p:ph type="title"/>
          </p:nvPr>
        </p:nvSpPr>
        <p:spPr>
          <a:xfrm>
            <a:off x="3054350" y="2781406"/>
            <a:ext cx="5453740" cy="1200329"/>
          </a:xfrm>
          <a:prstGeom prst="rect">
            <a:avLst/>
          </a:prstGeom>
          <a:noFill/>
        </p:spPr>
        <p:txBody>
          <a:bodyPr wrap="square" rtlCol="0">
            <a:spAutoFit/>
          </a:bodyPr>
          <a:lstStyle/>
          <a:p>
            <a:pPr algn="ctr"/>
            <a:r>
              <a:rPr lang="en-US" altLang="ko-KR" sz="7200">
                <a:solidFill>
                  <a:schemeClr val="tx1"/>
                </a:solidFill>
                <a:latin typeface="Times New Roman" panose="02020603050405020304" pitchFamily="18" charset="0"/>
                <a:cs typeface="Times New Roman" panose="02020603050405020304" pitchFamily="18" charset="0"/>
              </a:rPr>
              <a:t>Thank You</a:t>
            </a:r>
            <a:endParaRPr lang="ko-KR" altLang="en-US" sz="7200">
              <a:solidFill>
                <a:schemeClr val="tx1"/>
              </a:solidFill>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403882" y="6483748"/>
            <a:ext cx="2788118" cy="365125"/>
          </a:xfrm>
        </p:spPr>
        <p:txBody>
          <a:bodyPr/>
          <a:lstStyle/>
          <a:p>
            <a:r>
              <a:rPr lang="en-US" sz="2000" b="1">
                <a:solidFill>
                  <a:schemeClr val="accent1">
                    <a:lumMod val="75000"/>
                  </a:schemeClr>
                </a:solidFill>
                <a:latin typeface="Times New Roman" panose="02020603050405020304" pitchFamily="18" charset="0"/>
                <a:cs typeface="Times New Roman" panose="02020603050405020304" pitchFamily="18" charset="0"/>
              </a:rPr>
              <a:t>CNLab</a:t>
            </a:r>
          </a:p>
        </p:txBody>
      </p:sp>
      <p:sp>
        <p:nvSpPr>
          <p:cNvPr id="7" name="Slide Number Placeholder 6"/>
          <p:cNvSpPr>
            <a:spLocks noGrp="1"/>
          </p:cNvSpPr>
          <p:nvPr>
            <p:ph type="sldNum" sz="quarter" idx="12"/>
          </p:nvPr>
        </p:nvSpPr>
        <p:spPr>
          <a:xfrm>
            <a:off x="4743253" y="6477510"/>
            <a:ext cx="2743200" cy="365125"/>
          </a:xfrm>
        </p:spPr>
        <p:txBody>
          <a:bodyPr/>
          <a:lstStyle/>
          <a:p>
            <a:pPr algn="ctr"/>
            <a:fld id="{B0D10098-D5BE-4AD4-82BA-A58407293577}" type="slidenum">
              <a:rPr lang="en-US" sz="2000" b="1" smtClean="0">
                <a:solidFill>
                  <a:schemeClr val="tx1"/>
                </a:solidFill>
                <a:latin typeface="Times New Roman" panose="02020603050405020304" pitchFamily="18" charset="0"/>
                <a:cs typeface="Times New Roman" panose="02020603050405020304" pitchFamily="18" charset="0"/>
              </a:rPr>
              <a:pPr algn="ctr"/>
              <a:t>35</a:t>
            </a:fld>
            <a:endParaRPr lang="en-US" sz="2000" b="1">
              <a:solidFill>
                <a:schemeClr val="tx1"/>
              </a:solidFill>
              <a:latin typeface="Times New Roman" panose="02020603050405020304" pitchFamily="18" charset="0"/>
              <a:cs typeface="Times New Roman" panose="02020603050405020304" pitchFamily="18" charset="0"/>
            </a:endParaRPr>
          </a:p>
        </p:txBody>
      </p:sp>
      <p:pic>
        <p:nvPicPr>
          <p:cNvPr id="10" name="Content Placeholder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55369"/>
            <a:ext cx="2038516" cy="288924"/>
          </a:xfrm>
          <a:prstGeom prst="rect">
            <a:avLst/>
          </a:prstGeom>
        </p:spPr>
      </p:pic>
    </p:spTree>
    <p:extLst>
      <p:ext uri="{BB962C8B-B14F-4D97-AF65-F5344CB8AC3E}">
        <p14:creationId xmlns:p14="http://schemas.microsoft.com/office/powerpoint/2010/main" val="32633460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4034</TotalTime>
  <Words>3525</Words>
  <Application>Microsoft Office PowerPoint</Application>
  <PresentationFormat>Widescreen</PresentationFormat>
  <Paragraphs>542</Paragraphs>
  <Slides>35</Slides>
  <Notes>35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6" baseType="lpstr">
      <vt:lpstr>Arial</vt:lpstr>
      <vt:lpstr>Calibri</vt:lpstr>
      <vt:lpstr>Cambria Math</vt:lpstr>
      <vt:lpstr>Palatino Linotype</vt:lpstr>
      <vt:lpstr>Times New Roman</vt:lpstr>
      <vt:lpstr>Trebuchet MS</vt:lpstr>
      <vt:lpstr>Wingdings</vt:lpstr>
      <vt:lpstr>Wingdings 2</vt:lpstr>
      <vt:lpstr>Wingdings 3</vt:lpstr>
      <vt:lpstr>Facet</vt:lpstr>
      <vt:lpstr>Prism 9</vt:lpstr>
      <vt:lpstr>Link Quality Estimation for Industrial Wireless Sensor Network using Burstiness Distribution Metric </vt:lpstr>
      <vt:lpstr>Presentation Outline</vt:lpstr>
      <vt:lpstr>Presentation Outline</vt:lpstr>
      <vt:lpstr>Introduction</vt:lpstr>
      <vt:lpstr>Introduction</vt:lpstr>
      <vt:lpstr>Introduction </vt:lpstr>
      <vt:lpstr>Presentation Outline</vt:lpstr>
      <vt:lpstr>Related work  </vt:lpstr>
      <vt:lpstr>Related work</vt:lpstr>
      <vt:lpstr>Related work</vt:lpstr>
      <vt:lpstr>Link burstiness research overview</vt:lpstr>
      <vt:lpstr>Link burstiness research overview</vt:lpstr>
      <vt:lpstr>Presentation Outline</vt:lpstr>
      <vt:lpstr>Measure Link Quality Principles</vt:lpstr>
      <vt:lpstr>Measure Link Quality Principles</vt:lpstr>
      <vt:lpstr>Calculate Burstiness Distribution List</vt:lpstr>
      <vt:lpstr>Calculate Burstiness Distribution List</vt:lpstr>
      <vt:lpstr>Calculate Burstiness Distribution List</vt:lpstr>
      <vt:lpstr>Burstiness Distribution compare with link PRR</vt:lpstr>
      <vt:lpstr>Calculate Burstiness Distribution Metric</vt:lpstr>
      <vt:lpstr>Calculate Burstiness Distribution Metric</vt:lpstr>
      <vt:lpstr>Calculate Burstiness Distribution Metric</vt:lpstr>
      <vt:lpstr>Calculate Burstiness Distribution Metric</vt:lpstr>
      <vt:lpstr>Calculate Burstiness Distribution Metric</vt:lpstr>
      <vt:lpstr>Presentation Outline</vt:lpstr>
      <vt:lpstr>Effect of the hop count on network performance</vt:lpstr>
      <vt:lpstr>Effect of the hop count on network performance</vt:lpstr>
      <vt:lpstr>Evaluate the network with some estimation scheme</vt:lpstr>
      <vt:lpstr>Evaluate the network with some estimation scheme</vt:lpstr>
      <vt:lpstr>Evaluate the network with some estimation scheme</vt:lpstr>
      <vt:lpstr>Presentation Outline</vt:lpstr>
      <vt:lpstr>Conclusion </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MaiLoc</dc:creator>
  <cp:lastModifiedBy>Mr Tan</cp:lastModifiedBy>
  <cp:revision>1822</cp:revision>
  <cp:lastPrinted>2020-05-21T02:21:12Z</cp:lastPrinted>
  <dcterms:created xsi:type="dcterms:W3CDTF">2020-05-18T06:03:41Z</dcterms:created>
  <dcterms:modified xsi:type="dcterms:W3CDTF">2020-11-26T13:21:29Z</dcterms:modified>
</cp:coreProperties>
</file>
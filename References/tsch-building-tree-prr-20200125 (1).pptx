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338" r:id="rId2"/>
    <p:sldId id="355" r:id="rId3"/>
    <p:sldId id="354" r:id="rId4"/>
    <p:sldId id="350" r:id="rId5"/>
    <p:sldId id="352" r:id="rId6"/>
    <p:sldId id="351" r:id="rId7"/>
    <p:sldId id="353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 autoAdjust="0"/>
    <p:restoredTop sz="95314" autoAdjust="0"/>
  </p:normalViewPr>
  <p:slideViewPr>
    <p:cSldViewPr>
      <p:cViewPr>
        <p:scale>
          <a:sx n="100" d="100"/>
          <a:sy n="100" d="100"/>
        </p:scale>
        <p:origin x="207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CD6A2-A186-4ADA-B61C-357BC75CB575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73606-0173-4315-8D7B-78A7A9AFC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fld id="{6863D3A1-FEA0-4868-A2A4-1BCFFB354D10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381302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7565" y="1302026"/>
            <a:ext cx="8517836" cy="4793973"/>
          </a:xfrm>
        </p:spPr>
        <p:txBody>
          <a:bodyPr/>
          <a:lstStyle>
            <a:lvl1pPr latinLnBrk="0">
              <a:buClr>
                <a:srgbClr val="FFC000"/>
              </a:buClr>
              <a:buSzPct val="90000"/>
              <a:buFont typeface="Wingdings" pitchFamily="2" charset="2"/>
              <a:buChar char="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defRPr>
            </a:lvl1pPr>
            <a:lvl2pPr latinLnBrk="0">
              <a:buClr>
                <a:schemeClr val="accent3">
                  <a:lumMod val="50000"/>
                </a:schemeClr>
              </a:buClr>
              <a:buSzPct val="110000"/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defRPr>
            </a:lvl2pPr>
            <a:lvl3pPr latinLnBrk="0">
              <a:buClr>
                <a:srgbClr val="EEC100"/>
              </a:buClr>
              <a:buFont typeface="MS Reference Sans Serif" pitchFamily="34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defRPr>
            </a:lvl3pPr>
            <a:lvl4pPr latinLnBrk="0">
              <a:buClr>
                <a:schemeClr val="accent3">
                  <a:lumMod val="50000"/>
                </a:schemeClr>
              </a:buClr>
              <a:buFont typeface="Arial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defRPr>
            </a:lvl4pPr>
            <a:lvl5pPr latinLnBrk="0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891668" y="6420114"/>
            <a:ext cx="922959" cy="301625"/>
          </a:xfrm>
        </p:spPr>
        <p:txBody>
          <a:bodyPr/>
          <a:lstStyle>
            <a:lvl1pPr algn="ctr">
              <a:defRPr sz="1400">
                <a:solidFill>
                  <a:schemeClr val="accent3">
                    <a:lumMod val="65000"/>
                  </a:schemeClr>
                </a:solidFill>
              </a:defRPr>
            </a:lvl1pPr>
          </a:lstStyle>
          <a:p>
            <a:fld id="{0493B4F4-97D6-4052-A1BB-E3FC7F72B110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74676" y="6413342"/>
            <a:ext cx="1611933" cy="383967"/>
          </a:xfrm>
        </p:spPr>
        <p:txBody>
          <a:bodyPr/>
          <a:lstStyle>
            <a:lvl1pPr>
              <a:defRPr sz="1400">
                <a:solidFill>
                  <a:schemeClr val="accent3">
                    <a:lumMod val="65000"/>
                  </a:schemeClr>
                </a:solidFill>
              </a:defRPr>
            </a:lvl1pPr>
          </a:lstStyle>
          <a:p>
            <a:r>
              <a:rPr lang="en-US" altLang="ko-KR" dirty="0" err="1"/>
              <a:t>CNLab</a:t>
            </a:r>
            <a:r>
              <a:rPr lang="en-US" altLang="ko-KR" dirty="0"/>
              <a:t>, UOU</a:t>
            </a:r>
          </a:p>
        </p:txBody>
      </p:sp>
    </p:spTree>
    <p:extLst>
      <p:ext uri="{BB962C8B-B14F-4D97-AF65-F5344CB8AC3E}">
        <p14:creationId xmlns:p14="http://schemas.microsoft.com/office/powerpoint/2010/main" val="221906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1931C2-2ED6-45B7-8CDD-4DB96C58EE1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20313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36563" y="1322388"/>
            <a:ext cx="4162425" cy="4773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1388" y="1322388"/>
            <a:ext cx="4164012" cy="4773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FC0BBDE-DECF-4E8C-B7FC-C4270F6DFCA9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202520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860E6B-4B03-4874-A9E7-3D9030C0B8F2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222205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4952C3-3DD5-41AA-8282-619AE845BB71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3922896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E67AFD-BB9F-4A7F-81EE-F28046911602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2254632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26EF61A-204F-4255-A273-7C30FF9A3DFE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1091303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9FE6F7-2A42-49AF-9E03-FE595315033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204592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8D9B575-9B15-4136-A4B7-7BFDDF2F65C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305264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096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96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9A42A5B-80A5-4025-95B4-18C270143AD0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2456152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36563" y="1322388"/>
            <a:ext cx="4162425" cy="47736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51388" y="1322388"/>
            <a:ext cx="4164012" cy="23098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51388" y="3784600"/>
            <a:ext cx="4164012" cy="2311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6889750" y="6361113"/>
            <a:ext cx="1905000" cy="301625"/>
          </a:xfrm>
        </p:spPr>
        <p:txBody>
          <a:bodyPr/>
          <a:lstStyle>
            <a:lvl1pPr>
              <a:defRPr/>
            </a:lvl1pPr>
          </a:lstStyle>
          <a:p>
            <a:fld id="{A561504A-ECCD-4B18-AAD6-79BD6C12DCE2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574675" y="6354763"/>
            <a:ext cx="2543175" cy="3460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1701584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97E-19C6-44B3-AF79-49E6CB37741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0690-041E-451D-BBEC-A00DD3311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11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6563" y="1322388"/>
            <a:ext cx="8478837" cy="4773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71790" y="6409753"/>
            <a:ext cx="922959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 b="1" i="1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0574A42-4423-4030-8D9A-C808A9C61CB9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4676" y="6403403"/>
            <a:ext cx="1721264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600" b="1" i="1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 err="1"/>
              <a:t>CNLab</a:t>
            </a:r>
            <a:r>
              <a:rPr lang="en-US" altLang="ko-KR" dirty="0"/>
              <a:t>, UOU</a:t>
            </a:r>
          </a:p>
        </p:txBody>
      </p:sp>
      <p:sp>
        <p:nvSpPr>
          <p:cNvPr id="8" name="직사각형 7"/>
          <p:cNvSpPr/>
          <p:nvPr userDrawn="1"/>
        </p:nvSpPr>
        <p:spPr bwMode="auto">
          <a:xfrm flipV="1">
            <a:off x="-2" y="-2"/>
            <a:ext cx="9144001" cy="1053550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 bwMode="auto">
          <a:xfrm flipV="1">
            <a:off x="0" y="6282375"/>
            <a:ext cx="9144000" cy="62948"/>
          </a:xfrm>
          <a:prstGeom prst="rect">
            <a:avLst/>
          </a:prstGeom>
          <a:solidFill>
            <a:srgbClr val="EEC1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15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3200" b="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4D4D4D"/>
          </a:solidFill>
          <a:latin typeface="MS Reference Sans Serif" pitchFamily="34" charset="0"/>
          <a:ea typeface="HY견고딕" pitchFamily="18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4D4D4D"/>
          </a:solidFill>
          <a:latin typeface="MS Reference Sans Serif" pitchFamily="34" charset="0"/>
          <a:ea typeface="HY견고딕" pitchFamily="18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4D4D4D"/>
          </a:solidFill>
          <a:latin typeface="MS Reference Sans Serif" pitchFamily="34" charset="0"/>
          <a:ea typeface="HY견고딕" pitchFamily="18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4D4D4D"/>
          </a:solidFill>
          <a:latin typeface="MS Reference Sans Serif" pitchFamily="34" charset="0"/>
          <a:ea typeface="HY견고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4D4D4D"/>
          </a:solidFill>
          <a:latin typeface="MS Reference Sans Serif" pitchFamily="34" charset="0"/>
          <a:ea typeface="HY견고딕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4D4D4D"/>
          </a:solidFill>
          <a:latin typeface="MS Reference Sans Serif" pitchFamily="34" charset="0"/>
          <a:ea typeface="HY견고딕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4D4D4D"/>
          </a:solidFill>
          <a:latin typeface="MS Reference Sans Serif" pitchFamily="34" charset="0"/>
          <a:ea typeface="HY견고딕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4D4D4D"/>
          </a:solidFill>
          <a:latin typeface="MS Reference Sans Serif" pitchFamily="34" charset="0"/>
          <a:ea typeface="HY견고딕" pitchFamily="18" charset="-127"/>
        </a:defRPr>
      </a:lvl9pPr>
    </p:titleStyle>
    <p:bodyStyle>
      <a:lvl1pPr marL="342900" indent="-3429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400">
          <a:solidFill>
            <a:srgbClr val="40458C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>
          <a:solidFill>
            <a:srgbClr val="40458C"/>
          </a:solidFill>
          <a:latin typeface="+mn-lt"/>
          <a:ea typeface="+mn-ea"/>
        </a:defRPr>
      </a:lvl2pPr>
      <a:lvl3pPr marL="1143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har char="-"/>
        <a:defRPr kumimoji="1" sz="2000">
          <a:solidFill>
            <a:srgbClr val="40458C"/>
          </a:solidFill>
          <a:latin typeface="+mn-lt"/>
          <a:ea typeface="+mn-ea"/>
        </a:defRPr>
      </a:lvl3pPr>
      <a:lvl4pPr marL="1600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000">
          <a:solidFill>
            <a:srgbClr val="40458C"/>
          </a:solidFill>
          <a:latin typeface="+mn-lt"/>
          <a:ea typeface="+mn-ea"/>
        </a:defRPr>
      </a:lvl4pPr>
      <a:lvl5pPr marL="20574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har char="»"/>
        <a:defRPr kumimoji="1" sz="1400">
          <a:solidFill>
            <a:srgbClr val="40458C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har char="»"/>
        <a:defRPr kumimoji="1" sz="1400">
          <a:solidFill>
            <a:srgbClr val="40458C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har char="»"/>
        <a:defRPr kumimoji="1" sz="1400">
          <a:solidFill>
            <a:srgbClr val="40458C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har char="»"/>
        <a:defRPr kumimoji="1" sz="1400">
          <a:solidFill>
            <a:srgbClr val="40458C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har char="»"/>
        <a:defRPr kumimoji="1" sz="1400">
          <a:solidFill>
            <a:srgbClr val="40458C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8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3472941" y="1827495"/>
            <a:ext cx="1165961" cy="30320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39" name="직선 연결선 138"/>
          <p:cNvCxnSpPr/>
          <p:nvPr/>
        </p:nvCxnSpPr>
        <p:spPr>
          <a:xfrm flipV="1">
            <a:off x="3501304" y="1956121"/>
            <a:ext cx="1165961" cy="30320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 flipH="1" flipV="1">
            <a:off x="3438145" y="2475959"/>
            <a:ext cx="748768" cy="48060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>
            <a:off x="3368318" y="2567059"/>
            <a:ext cx="715966" cy="46196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 flipH="1">
            <a:off x="4447491" y="2152653"/>
            <a:ext cx="334974" cy="76205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V="1">
            <a:off x="4537864" y="2245801"/>
            <a:ext cx="331316" cy="7107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/>
          <p:nvPr/>
        </p:nvCxnSpPr>
        <p:spPr>
          <a:xfrm flipH="1" flipV="1">
            <a:off x="5135577" y="2128298"/>
            <a:ext cx="632428" cy="62082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5220131" y="2057400"/>
            <a:ext cx="613221" cy="59099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 flipH="1">
            <a:off x="4680690" y="2940038"/>
            <a:ext cx="950491" cy="191448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 flipV="1">
            <a:off x="4667265" y="3051048"/>
            <a:ext cx="963916" cy="21259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4316980" y="243979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7" name="TextBox 356"/>
          <p:cNvSpPr txBox="1"/>
          <p:nvPr/>
        </p:nvSpPr>
        <p:spPr>
          <a:xfrm>
            <a:off x="5000364" y="282031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4" name="TextBox 393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8" name="TextBox 407"/>
          <p:cNvSpPr txBox="1"/>
          <p:nvPr/>
        </p:nvSpPr>
        <p:spPr>
          <a:xfrm>
            <a:off x="4731927" y="26016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7" name="TextBox 436"/>
          <p:cNvSpPr txBox="1"/>
          <p:nvPr/>
        </p:nvSpPr>
        <p:spPr>
          <a:xfrm>
            <a:off x="3807157" y="248486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8" name="TextBox 437"/>
          <p:cNvSpPr txBox="1"/>
          <p:nvPr/>
        </p:nvSpPr>
        <p:spPr>
          <a:xfrm>
            <a:off x="5042107" y="31783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sp>
        <p:nvSpPr>
          <p:cNvPr id="83" name="TextBox 82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8334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7F44655-EED7-4DB7-8C65-486359261A46}"/>
              </a:ext>
            </a:extLst>
          </p:cNvPr>
          <p:cNvGrpSpPr/>
          <p:nvPr/>
        </p:nvGrpSpPr>
        <p:grpSpPr>
          <a:xfrm>
            <a:off x="1827777" y="1600200"/>
            <a:ext cx="5109194" cy="3479292"/>
            <a:chOff x="1827777" y="1600200"/>
            <a:chExt cx="5109194" cy="3479292"/>
          </a:xfrm>
        </p:grpSpPr>
        <p:sp>
          <p:nvSpPr>
            <p:cNvPr id="5" name="타원 4"/>
            <p:cNvSpPr/>
            <p:nvPr/>
          </p:nvSpPr>
          <p:spPr>
            <a:xfrm>
              <a:off x="4724400" y="1600200"/>
              <a:ext cx="457200" cy="4572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1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4109222" y="30299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4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1827777" y="304619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3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1837944" y="462229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7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3019925" y="375022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5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5783580" y="273405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6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786174" y="4315097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9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479771" y="380390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8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2944368" y="204216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2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FCFEF84-8180-493D-A766-314834193D6A}"/>
                </a:ext>
              </a:extLst>
            </p:cNvPr>
            <p:cNvCxnSpPr>
              <a:stCxn id="28" idx="7"/>
              <a:endCxn id="5" idx="2"/>
            </p:cNvCxnSpPr>
            <p:nvPr/>
          </p:nvCxnSpPr>
          <p:spPr bwMode="auto">
            <a:xfrm flipV="1">
              <a:off x="3334613" y="1828800"/>
              <a:ext cx="1389787" cy="2803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75CA8FA-304A-49D6-8ACE-9A081C793B09}"/>
                </a:ext>
              </a:extLst>
            </p:cNvPr>
            <p:cNvCxnSpPr>
              <a:stCxn id="28" idx="3"/>
              <a:endCxn id="7" idx="7"/>
            </p:cNvCxnSpPr>
            <p:nvPr/>
          </p:nvCxnSpPr>
          <p:spPr bwMode="auto">
            <a:xfrm flipH="1">
              <a:off x="2218022" y="2432405"/>
              <a:ext cx="793301" cy="68074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30786B-1EDB-4886-9B62-CA2D996DE44F}"/>
                </a:ext>
              </a:extLst>
            </p:cNvPr>
            <p:cNvCxnSpPr>
              <a:stCxn id="7" idx="4"/>
              <a:endCxn id="8" idx="0"/>
            </p:cNvCxnSpPr>
            <p:nvPr/>
          </p:nvCxnSpPr>
          <p:spPr bwMode="auto">
            <a:xfrm>
              <a:off x="2056377" y="3503396"/>
              <a:ext cx="10167" cy="111889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0ECA4ED-28DB-4EE2-A18A-EB61D755C713}"/>
                </a:ext>
              </a:extLst>
            </p:cNvPr>
            <p:cNvCxnSpPr>
              <a:stCxn id="28" idx="4"/>
              <a:endCxn id="9" idx="0"/>
            </p:cNvCxnSpPr>
            <p:nvPr/>
          </p:nvCxnSpPr>
          <p:spPr bwMode="auto">
            <a:xfrm>
              <a:off x="3172968" y="2499360"/>
              <a:ext cx="75557" cy="12508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492728-6810-4E1A-82E5-0FE8E601E76C}"/>
                </a:ext>
              </a:extLst>
            </p:cNvPr>
            <p:cNvCxnSpPr>
              <a:stCxn id="7" idx="5"/>
              <a:endCxn id="9" idx="2"/>
            </p:cNvCxnSpPr>
            <p:nvPr/>
          </p:nvCxnSpPr>
          <p:spPr bwMode="auto">
            <a:xfrm>
              <a:off x="2218022" y="3436441"/>
              <a:ext cx="801903" cy="5423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AE653B0-3135-489F-8023-1ED697535B50}"/>
                </a:ext>
              </a:extLst>
            </p:cNvPr>
            <p:cNvCxnSpPr>
              <a:cxnSpLocks/>
              <a:stCxn id="28" idx="6"/>
              <a:endCxn id="6" idx="1"/>
            </p:cNvCxnSpPr>
            <p:nvPr/>
          </p:nvCxnSpPr>
          <p:spPr bwMode="auto">
            <a:xfrm>
              <a:off x="3401568" y="2270760"/>
              <a:ext cx="774609" cy="8261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BC3C52D-A29D-40C2-A910-9A731268BDF4}"/>
                </a:ext>
              </a:extLst>
            </p:cNvPr>
            <p:cNvCxnSpPr>
              <a:stCxn id="5" idx="4"/>
              <a:endCxn id="6" idx="7"/>
            </p:cNvCxnSpPr>
            <p:nvPr/>
          </p:nvCxnSpPr>
          <p:spPr bwMode="auto">
            <a:xfrm flipH="1">
              <a:off x="4499467" y="2057400"/>
              <a:ext cx="453533" cy="103950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29F5C46-F4CF-4CB0-AF96-B51B471018F7}"/>
                </a:ext>
              </a:extLst>
            </p:cNvPr>
            <p:cNvCxnSpPr>
              <a:stCxn id="5" idx="6"/>
              <a:endCxn id="17" idx="0"/>
            </p:cNvCxnSpPr>
            <p:nvPr/>
          </p:nvCxnSpPr>
          <p:spPr bwMode="auto">
            <a:xfrm>
              <a:off x="5181600" y="1828800"/>
              <a:ext cx="830580" cy="9052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E853E3D-884A-4D21-BBBF-A055B412A39B}"/>
                </a:ext>
              </a:extLst>
            </p:cNvPr>
            <p:cNvCxnSpPr>
              <a:stCxn id="6" idx="6"/>
              <a:endCxn id="17" idx="2"/>
            </p:cNvCxnSpPr>
            <p:nvPr/>
          </p:nvCxnSpPr>
          <p:spPr bwMode="auto">
            <a:xfrm flipV="1">
              <a:off x="4566422" y="2962656"/>
              <a:ext cx="1217158" cy="2958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B308274-F937-40E0-B204-0B4E9042E40C}"/>
                </a:ext>
              </a:extLst>
            </p:cNvPr>
            <p:cNvCxnSpPr>
              <a:stCxn id="9" idx="6"/>
              <a:endCxn id="6" idx="3"/>
            </p:cNvCxnSpPr>
            <p:nvPr/>
          </p:nvCxnSpPr>
          <p:spPr bwMode="auto">
            <a:xfrm flipV="1">
              <a:off x="3477125" y="3420199"/>
              <a:ext cx="699052" cy="5586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BECEAB-9744-4B64-BBFD-4520C23D1FB7}"/>
                </a:ext>
              </a:extLst>
            </p:cNvPr>
            <p:cNvCxnSpPr>
              <a:cxnSpLocks/>
              <a:stCxn id="6" idx="5"/>
              <a:endCxn id="18" idx="1"/>
            </p:cNvCxnSpPr>
            <p:nvPr/>
          </p:nvCxnSpPr>
          <p:spPr bwMode="auto">
            <a:xfrm>
              <a:off x="4499467" y="3420199"/>
              <a:ext cx="353662" cy="96185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A930C81-0B98-45C6-8DD1-DF4349A079EE}"/>
                </a:ext>
              </a:extLst>
            </p:cNvPr>
            <p:cNvCxnSpPr>
              <a:stCxn id="18" idx="7"/>
              <a:endCxn id="17" idx="4"/>
            </p:cNvCxnSpPr>
            <p:nvPr/>
          </p:nvCxnSpPr>
          <p:spPr bwMode="auto">
            <a:xfrm flipV="1">
              <a:off x="5176419" y="3191256"/>
              <a:ext cx="835761" cy="119079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7C5A75F-FA30-4A01-A249-D07EB9030A91}"/>
                </a:ext>
              </a:extLst>
            </p:cNvPr>
            <p:cNvCxnSpPr>
              <a:stCxn id="17" idx="6"/>
              <a:endCxn id="19" idx="0"/>
            </p:cNvCxnSpPr>
            <p:nvPr/>
          </p:nvCxnSpPr>
          <p:spPr bwMode="auto">
            <a:xfrm>
              <a:off x="6240780" y="2962656"/>
              <a:ext cx="467591" cy="8412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4923814-ED29-4A4A-A895-9DAA4291F7FF}"/>
                </a:ext>
              </a:extLst>
            </p:cNvPr>
            <p:cNvCxnSpPr>
              <a:stCxn id="18" idx="6"/>
              <a:endCxn id="19" idx="3"/>
            </p:cNvCxnSpPr>
            <p:nvPr/>
          </p:nvCxnSpPr>
          <p:spPr bwMode="auto">
            <a:xfrm flipV="1">
              <a:off x="5243374" y="4194149"/>
              <a:ext cx="1303352" cy="3495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A9D062B-5542-4717-8F24-CE3278FDC782}"/>
                </a:ext>
              </a:extLst>
            </p:cNvPr>
            <p:cNvCxnSpPr>
              <a:stCxn id="18" idx="2"/>
              <a:endCxn id="9" idx="5"/>
            </p:cNvCxnSpPr>
            <p:nvPr/>
          </p:nvCxnSpPr>
          <p:spPr bwMode="auto">
            <a:xfrm flipH="1" flipV="1">
              <a:off x="3410170" y="4140466"/>
              <a:ext cx="1376004" cy="40323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E48B38-3A4A-452A-917B-C9CF7DD86283}"/>
                </a:ext>
              </a:extLst>
            </p:cNvPr>
            <p:cNvCxnSpPr>
              <a:stCxn id="8" idx="6"/>
              <a:endCxn id="9" idx="3"/>
            </p:cNvCxnSpPr>
            <p:nvPr/>
          </p:nvCxnSpPr>
          <p:spPr bwMode="auto">
            <a:xfrm flipV="1">
              <a:off x="2295144" y="4140466"/>
              <a:ext cx="791736" cy="71042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9962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3472941" y="1827495"/>
            <a:ext cx="1165961" cy="30320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39" name="직선 연결선 138"/>
          <p:cNvCxnSpPr/>
          <p:nvPr/>
        </p:nvCxnSpPr>
        <p:spPr>
          <a:xfrm flipV="1">
            <a:off x="3501304" y="1956121"/>
            <a:ext cx="1165961" cy="30320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 flipH="1" flipV="1">
            <a:off x="3438145" y="2475959"/>
            <a:ext cx="748768" cy="48060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>
            <a:off x="3368318" y="2567059"/>
            <a:ext cx="715966" cy="46196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 flipH="1">
            <a:off x="4447491" y="2152653"/>
            <a:ext cx="334974" cy="76205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V="1">
            <a:off x="4537864" y="2245801"/>
            <a:ext cx="331316" cy="7107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/>
          <p:nvPr/>
        </p:nvCxnSpPr>
        <p:spPr>
          <a:xfrm flipH="1" flipV="1">
            <a:off x="5135577" y="2128298"/>
            <a:ext cx="632428" cy="62082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5220131" y="2057400"/>
            <a:ext cx="613221" cy="59099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 flipH="1">
            <a:off x="4680690" y="2940038"/>
            <a:ext cx="950491" cy="191448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 flipV="1">
            <a:off x="4667265" y="3051048"/>
            <a:ext cx="963916" cy="21259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4316980" y="243979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7" name="TextBox 356"/>
          <p:cNvSpPr txBox="1"/>
          <p:nvPr/>
        </p:nvSpPr>
        <p:spPr>
          <a:xfrm>
            <a:off x="5000364" y="282031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4" name="TextBox 393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8" name="TextBox 407"/>
          <p:cNvSpPr txBox="1"/>
          <p:nvPr/>
        </p:nvSpPr>
        <p:spPr>
          <a:xfrm>
            <a:off x="4731927" y="26016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7" name="TextBox 436"/>
          <p:cNvSpPr txBox="1"/>
          <p:nvPr/>
        </p:nvSpPr>
        <p:spPr>
          <a:xfrm>
            <a:off x="3807157" y="248486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8" name="TextBox 437"/>
          <p:cNvSpPr txBox="1"/>
          <p:nvPr/>
        </p:nvSpPr>
        <p:spPr>
          <a:xfrm>
            <a:off x="5042107" y="31783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sp>
        <p:nvSpPr>
          <p:cNvPr id="74" name="TextBox 73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76017" y="4911413"/>
            <a:ext cx="2908425" cy="138499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vi-VN" sz="1200" dirty="0"/>
              <a:t>Init Rank: R1 = 1.0</a:t>
            </a:r>
          </a:p>
          <a:p>
            <a:r>
              <a:rPr lang="vi-VN" sz="1200" dirty="0"/>
              <a:t>All the other nodes has Rank = 0.0</a:t>
            </a:r>
          </a:p>
          <a:p>
            <a:r>
              <a:rPr lang="vi-VN" sz="1200" dirty="0"/>
              <a:t>Init Level after Join Process:</a:t>
            </a:r>
          </a:p>
          <a:p>
            <a:r>
              <a:rPr lang="vi-VN" sz="1200" dirty="0"/>
              <a:t>L1 = 0</a:t>
            </a:r>
          </a:p>
          <a:p>
            <a:r>
              <a:rPr lang="vi-VN" sz="1200" dirty="0"/>
              <a:t>L2 = L4 = L6 = 1</a:t>
            </a:r>
          </a:p>
          <a:p>
            <a:r>
              <a:rPr lang="vi-VN" sz="1200" dirty="0"/>
              <a:t>L3 = L5 = L9 = L10 = 2</a:t>
            </a:r>
          </a:p>
          <a:p>
            <a:r>
              <a:rPr lang="vi-VN" sz="1200" dirty="0"/>
              <a:t>L7 = 3</a:t>
            </a:r>
            <a:endParaRPr lang="en-US" sz="1200" dirty="0"/>
          </a:p>
        </p:txBody>
      </p:sp>
      <p:sp>
        <p:nvSpPr>
          <p:cNvPr id="86" name="Rectangle 85"/>
          <p:cNvSpPr/>
          <p:nvPr/>
        </p:nvSpPr>
        <p:spPr>
          <a:xfrm>
            <a:off x="2057400" y="19328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R2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90600" y="28472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R3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2209800" y="49808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R7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09037" y="44474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R5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828437" y="45998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R9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895237" y="4142601"/>
            <a:ext cx="9749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R10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115800" y="3223312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R4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6324600" y="24662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0.0</a:t>
            </a:r>
          </a:p>
        </p:txBody>
      </p:sp>
    </p:spTree>
    <p:extLst>
      <p:ext uri="{BB962C8B-B14F-4D97-AF65-F5344CB8AC3E}">
        <p14:creationId xmlns:p14="http://schemas.microsoft.com/office/powerpoint/2010/main" val="412863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3472941" y="1827495"/>
            <a:ext cx="1165961" cy="30320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39" name="직선 연결선 138"/>
          <p:cNvCxnSpPr/>
          <p:nvPr/>
        </p:nvCxnSpPr>
        <p:spPr>
          <a:xfrm flipV="1">
            <a:off x="3501304" y="1956121"/>
            <a:ext cx="1165961" cy="303209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 flipH="1" flipV="1">
            <a:off x="3438145" y="2475959"/>
            <a:ext cx="748768" cy="48060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>
            <a:off x="3368318" y="2567059"/>
            <a:ext cx="715966" cy="46196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 flipH="1">
            <a:off x="4447491" y="2152653"/>
            <a:ext cx="334974" cy="76205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V="1">
            <a:off x="4537864" y="2245801"/>
            <a:ext cx="331316" cy="710760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/>
          <p:nvPr/>
        </p:nvCxnSpPr>
        <p:spPr>
          <a:xfrm flipH="1" flipV="1">
            <a:off x="5135577" y="2128298"/>
            <a:ext cx="632428" cy="620821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5220131" y="2057400"/>
            <a:ext cx="613221" cy="59099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 flipH="1">
            <a:off x="4680690" y="2940038"/>
            <a:ext cx="950491" cy="191448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 flipV="1">
            <a:off x="4667265" y="3051048"/>
            <a:ext cx="963916" cy="21259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4316980" y="243979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7" name="TextBox 356"/>
          <p:cNvSpPr txBox="1"/>
          <p:nvPr/>
        </p:nvSpPr>
        <p:spPr>
          <a:xfrm>
            <a:off x="5000364" y="282031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4" name="TextBox 393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8" name="TextBox 407"/>
          <p:cNvSpPr txBox="1"/>
          <p:nvPr/>
        </p:nvSpPr>
        <p:spPr>
          <a:xfrm>
            <a:off x="4731927" y="26016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7" name="TextBox 436"/>
          <p:cNvSpPr txBox="1"/>
          <p:nvPr/>
        </p:nvSpPr>
        <p:spPr>
          <a:xfrm>
            <a:off x="3807157" y="248486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8" name="TextBox 437"/>
          <p:cNvSpPr txBox="1"/>
          <p:nvPr/>
        </p:nvSpPr>
        <p:spPr>
          <a:xfrm>
            <a:off x="5042107" y="31783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sp>
        <p:nvSpPr>
          <p:cNvPr id="74" name="TextBox 73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85" name="TextBox 84"/>
          <p:cNvSpPr txBox="1"/>
          <p:nvPr/>
        </p:nvSpPr>
        <p:spPr>
          <a:xfrm>
            <a:off x="60833" y="5149466"/>
            <a:ext cx="2601816" cy="101566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vi-VN" sz="1200" dirty="0"/>
              <a:t>Node 1 broadcast</a:t>
            </a:r>
          </a:p>
          <a:p>
            <a:r>
              <a:rPr lang="vi-VN" sz="1200" dirty="0">
                <a:solidFill>
                  <a:srgbClr val="FF0000"/>
                </a:solidFill>
              </a:rPr>
              <a:t>TREE_BUILDING_INIT: TI(Node ID, Level, Rank)</a:t>
            </a:r>
          </a:p>
          <a:p>
            <a:endParaRPr lang="vi-VN" sz="1200" dirty="0">
              <a:solidFill>
                <a:srgbClr val="FF0000"/>
              </a:solidFill>
            </a:endParaRPr>
          </a:p>
          <a:p>
            <a:r>
              <a:rPr lang="vi-VN" sz="1200" dirty="0">
                <a:solidFill>
                  <a:srgbClr val="FF0000"/>
                </a:solidFill>
              </a:rPr>
              <a:t>TI1 = (1, 0, 1.0) 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561041"/>
              </p:ext>
            </p:extLst>
          </p:nvPr>
        </p:nvGraphicFramePr>
        <p:xfrm>
          <a:off x="2980945" y="48768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TI1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TI1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TI1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57400" y="19328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R2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90600" y="28472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R3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2209800" y="49808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R7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09037" y="44474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R5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5828437" y="45998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R9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6895237" y="4142601"/>
            <a:ext cx="9749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R10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7115800" y="3223312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R4 = 0.0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6324600" y="246620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0.0</a:t>
            </a:r>
          </a:p>
        </p:txBody>
      </p:sp>
    </p:spTree>
    <p:extLst>
      <p:ext uri="{BB962C8B-B14F-4D97-AF65-F5344CB8AC3E}">
        <p14:creationId xmlns:p14="http://schemas.microsoft.com/office/powerpoint/2010/main" val="397095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3472941" y="1827495"/>
            <a:ext cx="1165961" cy="30320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39" name="직선 연결선 138"/>
          <p:cNvCxnSpPr/>
          <p:nvPr/>
        </p:nvCxnSpPr>
        <p:spPr>
          <a:xfrm flipV="1">
            <a:off x="3501304" y="1956121"/>
            <a:ext cx="1165961" cy="303209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 flipH="1" flipV="1">
            <a:off x="3438145" y="2475959"/>
            <a:ext cx="748768" cy="48060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>
            <a:off x="3368318" y="2567059"/>
            <a:ext cx="715966" cy="46196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 flipH="1">
            <a:off x="4447491" y="2152653"/>
            <a:ext cx="334974" cy="76205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V="1">
            <a:off x="4537864" y="2245801"/>
            <a:ext cx="331316" cy="710760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/>
          <p:nvPr/>
        </p:nvCxnSpPr>
        <p:spPr>
          <a:xfrm flipH="1" flipV="1">
            <a:off x="5135577" y="2128298"/>
            <a:ext cx="632428" cy="620821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5220131" y="2057400"/>
            <a:ext cx="613221" cy="59099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 flipH="1">
            <a:off x="4680690" y="2940038"/>
            <a:ext cx="950491" cy="191448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 flipV="1">
            <a:off x="4667265" y="3051048"/>
            <a:ext cx="963916" cy="21259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4316980" y="243979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7" name="TextBox 356"/>
          <p:cNvSpPr txBox="1"/>
          <p:nvPr/>
        </p:nvSpPr>
        <p:spPr>
          <a:xfrm>
            <a:off x="5000364" y="282031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4" name="TextBox 393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8" name="TextBox 407"/>
          <p:cNvSpPr txBox="1"/>
          <p:nvPr/>
        </p:nvSpPr>
        <p:spPr>
          <a:xfrm>
            <a:off x="4731927" y="26016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7" name="TextBox 436"/>
          <p:cNvSpPr txBox="1"/>
          <p:nvPr/>
        </p:nvSpPr>
        <p:spPr>
          <a:xfrm>
            <a:off x="3807157" y="248486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8" name="TextBox 437"/>
          <p:cNvSpPr txBox="1"/>
          <p:nvPr/>
        </p:nvSpPr>
        <p:spPr>
          <a:xfrm>
            <a:off x="5042107" y="31783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sp>
        <p:nvSpPr>
          <p:cNvPr id="74" name="TextBox 73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85" name="TextBox 84"/>
          <p:cNvSpPr txBox="1"/>
          <p:nvPr/>
        </p:nvSpPr>
        <p:spPr>
          <a:xfrm>
            <a:off x="1369298" y="1752600"/>
            <a:ext cx="205697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1.0*0.9 = 0.9(T</a:t>
            </a:r>
            <a:r>
              <a:rPr lang="vi-VN" sz="1200" dirty="0">
                <a:solidFill>
                  <a:srgbClr val="FF0000"/>
                </a:solidFill>
              </a:rPr>
              <a:t>I1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99549" y="2457057"/>
            <a:ext cx="211147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1.0*0.8 = 0.8(</a:t>
            </a:r>
            <a:r>
              <a:rPr lang="vi-VN" sz="1200" dirty="0">
                <a:solidFill>
                  <a:srgbClr val="FF0000"/>
                </a:solidFill>
              </a:rPr>
              <a:t>TI1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47645" y="3132217"/>
            <a:ext cx="211147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1.0*0.7 = 0.7(</a:t>
            </a:r>
            <a:r>
              <a:rPr lang="vi-VN" sz="1200" dirty="0">
                <a:solidFill>
                  <a:srgbClr val="FF0000"/>
                </a:solidFill>
              </a:rPr>
              <a:t>TI1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156537"/>
            <a:ext cx="2907791" cy="101566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vi-VN" sz="1200" dirty="0"/>
              <a:t>Node 2, 4, 6 receive </a:t>
            </a:r>
            <a:r>
              <a:rPr lang="vi-VN" sz="1200" dirty="0">
                <a:solidFill>
                  <a:srgbClr val="FF0000"/>
                </a:solidFill>
              </a:rPr>
              <a:t>TI1</a:t>
            </a:r>
            <a:r>
              <a:rPr lang="vi-VN" sz="1200" dirty="0"/>
              <a:t> and calculate its Rank R2, R4, R6:</a:t>
            </a:r>
          </a:p>
          <a:p>
            <a:r>
              <a:rPr lang="vi-VN" sz="1200" dirty="0">
                <a:solidFill>
                  <a:srgbClr val="FF0000"/>
                </a:solidFill>
              </a:rPr>
              <a:t>Rn = R1*PRR(n-&gt;1)</a:t>
            </a:r>
          </a:p>
          <a:p>
            <a:r>
              <a:rPr lang="vi-VN" sz="1200" dirty="0"/>
              <a:t>Then compare Rn with init Rank </a:t>
            </a:r>
            <a:r>
              <a:rPr lang="vi-VN" sz="1200" dirty="0">
                <a:solidFill>
                  <a:srgbClr val="FF0000"/>
                </a:solidFill>
              </a:rPr>
              <a:t>to choose the max Rank value.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26272"/>
              </p:ext>
            </p:extLst>
          </p:nvPr>
        </p:nvGraphicFramePr>
        <p:xfrm>
          <a:off x="2980945" y="48768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TI1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TI1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TI1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10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3472941" y="1827495"/>
            <a:ext cx="1165961" cy="30320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39" name="직선 연결선 138"/>
          <p:cNvCxnSpPr/>
          <p:nvPr/>
        </p:nvCxnSpPr>
        <p:spPr>
          <a:xfrm flipV="1">
            <a:off x="3501304" y="1956121"/>
            <a:ext cx="1165961" cy="303209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 flipH="1" flipV="1">
            <a:off x="3438145" y="2475959"/>
            <a:ext cx="748768" cy="480602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>
            <a:off x="3368318" y="2567059"/>
            <a:ext cx="715966" cy="461967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 flipH="1">
            <a:off x="4447491" y="2152653"/>
            <a:ext cx="334974" cy="76205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V="1">
            <a:off x="4537864" y="2245801"/>
            <a:ext cx="331316" cy="710760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/>
          <p:nvPr/>
        </p:nvCxnSpPr>
        <p:spPr>
          <a:xfrm flipH="1" flipV="1">
            <a:off x="5135577" y="2128298"/>
            <a:ext cx="632428" cy="620821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5220131" y="2057400"/>
            <a:ext cx="613221" cy="59099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 flipH="1">
            <a:off x="4680690" y="2940038"/>
            <a:ext cx="950491" cy="191448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 flipV="1">
            <a:off x="4667265" y="3051048"/>
            <a:ext cx="963916" cy="212595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4316980" y="243979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7" name="TextBox 356"/>
          <p:cNvSpPr txBox="1"/>
          <p:nvPr/>
        </p:nvSpPr>
        <p:spPr>
          <a:xfrm>
            <a:off x="5000364" y="282031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4" name="TextBox 393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8" name="TextBox 407"/>
          <p:cNvSpPr txBox="1"/>
          <p:nvPr/>
        </p:nvSpPr>
        <p:spPr>
          <a:xfrm>
            <a:off x="4731927" y="26016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7" name="TextBox 436"/>
          <p:cNvSpPr txBox="1"/>
          <p:nvPr/>
        </p:nvSpPr>
        <p:spPr>
          <a:xfrm>
            <a:off x="3807157" y="248486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8" name="TextBox 437"/>
          <p:cNvSpPr txBox="1"/>
          <p:nvPr/>
        </p:nvSpPr>
        <p:spPr>
          <a:xfrm>
            <a:off x="5042107" y="31783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sp>
        <p:nvSpPr>
          <p:cNvPr id="74" name="TextBox 73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85" name="TextBox 84"/>
          <p:cNvSpPr txBox="1"/>
          <p:nvPr/>
        </p:nvSpPr>
        <p:spPr>
          <a:xfrm>
            <a:off x="952518" y="1554777"/>
            <a:ext cx="2249590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1.0*0.9 = 0.9(</a:t>
            </a:r>
            <a:r>
              <a:rPr lang="vi-VN" sz="1200" dirty="0">
                <a:solidFill>
                  <a:srgbClr val="FF0000"/>
                </a:solidFill>
              </a:rPr>
              <a:t>TI1)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R2=  0.7*0.8 = 0.56(</a:t>
            </a:r>
            <a:r>
              <a:rPr lang="vi-VN" sz="1200" dirty="0">
                <a:solidFill>
                  <a:schemeClr val="accent2"/>
                </a:solidFill>
              </a:rPr>
              <a:t>TC4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16821" y="2240577"/>
            <a:ext cx="2249590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1.0*0.8 = 0.8(</a:t>
            </a:r>
            <a:r>
              <a:rPr lang="vi-VN" sz="1200" dirty="0">
                <a:solidFill>
                  <a:srgbClr val="FF0000"/>
                </a:solidFill>
              </a:rPr>
              <a:t>TI1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R6 = 0.7*0.8 = 0.56(</a:t>
            </a:r>
            <a:r>
              <a:rPr lang="vi-VN" sz="1200" dirty="0">
                <a:solidFill>
                  <a:schemeClr val="accent2"/>
                </a:solidFill>
              </a:rPr>
              <a:t>TC4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34200" y="2988195"/>
            <a:ext cx="2249590" cy="6463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1.0*0.7 = 0.7(</a:t>
            </a:r>
            <a:r>
              <a:rPr lang="vi-VN" sz="1200" dirty="0">
                <a:solidFill>
                  <a:srgbClr val="FF0000"/>
                </a:solidFill>
              </a:rPr>
              <a:t>TI1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R4 = 0.9*0.9 = 0.81(</a:t>
            </a:r>
            <a:r>
              <a:rPr lang="vi-VN" sz="1200" dirty="0">
                <a:solidFill>
                  <a:schemeClr val="accent2"/>
                </a:solidFill>
              </a:rPr>
              <a:t>TC2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R4 = 0.9*0.8 = 0.72(</a:t>
            </a:r>
            <a:r>
              <a:rPr lang="vi-VN" sz="1200" dirty="0">
                <a:solidFill>
                  <a:schemeClr val="accent2"/>
                </a:solidFill>
              </a:rPr>
              <a:t>TC6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998" y="5168205"/>
            <a:ext cx="2907791" cy="13849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vi-VN" sz="1200" dirty="0"/>
              <a:t>Node 2, 4, 6 broadcast its Rank R2, R4, R6 calculated from </a:t>
            </a:r>
            <a:r>
              <a:rPr lang="vi-VN" sz="1200" dirty="0">
                <a:solidFill>
                  <a:srgbClr val="FF0000"/>
                </a:solidFill>
              </a:rPr>
              <a:t>TI1</a:t>
            </a:r>
            <a:r>
              <a:rPr lang="vi-VN" sz="1200" dirty="0"/>
              <a:t> by </a:t>
            </a:r>
            <a:r>
              <a:rPr lang="vi-VN" sz="1200" dirty="0">
                <a:solidFill>
                  <a:schemeClr val="accent2"/>
                </a:solidFill>
              </a:rPr>
              <a:t>TREE_BUILDING_COMPARE TC(Node ID, Level, Rank)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TC2 = (2, 1, 0.9)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TC4 = (4, 1, 0.7)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TC6 = (6, 1, 0.8)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898506"/>
              </p:ext>
            </p:extLst>
          </p:nvPr>
        </p:nvGraphicFramePr>
        <p:xfrm>
          <a:off x="2980945" y="48768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TC2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TC6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TC2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TC6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TC2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TC6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997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3472941" y="1827495"/>
            <a:ext cx="1165961" cy="30320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39" name="직선 연결선 138"/>
          <p:cNvCxnSpPr/>
          <p:nvPr/>
        </p:nvCxnSpPr>
        <p:spPr>
          <a:xfrm flipV="1">
            <a:off x="3501304" y="1956121"/>
            <a:ext cx="1165961" cy="303209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 flipH="1" flipV="1">
            <a:off x="3438145" y="2475959"/>
            <a:ext cx="748768" cy="480602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>
            <a:off x="3368318" y="2567059"/>
            <a:ext cx="715966" cy="461967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 flipH="1">
            <a:off x="4447491" y="2152653"/>
            <a:ext cx="334974" cy="76205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 flipV="1">
            <a:off x="4537864" y="2245801"/>
            <a:ext cx="331316" cy="710760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/>
          <p:nvPr/>
        </p:nvCxnSpPr>
        <p:spPr>
          <a:xfrm flipH="1" flipV="1">
            <a:off x="5135577" y="2128298"/>
            <a:ext cx="632428" cy="620821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5220131" y="2057400"/>
            <a:ext cx="613221" cy="59099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 flipH="1">
            <a:off x="4680690" y="2940038"/>
            <a:ext cx="950491" cy="191448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 flipV="1">
            <a:off x="4667265" y="3051048"/>
            <a:ext cx="963916" cy="212595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4316980" y="243979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7" name="TextBox 356"/>
          <p:cNvSpPr txBox="1"/>
          <p:nvPr/>
        </p:nvSpPr>
        <p:spPr>
          <a:xfrm>
            <a:off x="5000364" y="282031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4" name="TextBox 393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8" name="TextBox 407"/>
          <p:cNvSpPr txBox="1"/>
          <p:nvPr/>
        </p:nvSpPr>
        <p:spPr>
          <a:xfrm>
            <a:off x="4731927" y="26016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7" name="TextBox 436"/>
          <p:cNvSpPr txBox="1"/>
          <p:nvPr/>
        </p:nvSpPr>
        <p:spPr>
          <a:xfrm>
            <a:off x="3807157" y="248486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8" name="TextBox 437"/>
          <p:cNvSpPr txBox="1"/>
          <p:nvPr/>
        </p:nvSpPr>
        <p:spPr>
          <a:xfrm>
            <a:off x="5042107" y="31783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sp>
        <p:nvSpPr>
          <p:cNvPr id="74" name="TextBox 73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85" name="TextBox 84"/>
          <p:cNvSpPr txBox="1"/>
          <p:nvPr/>
        </p:nvSpPr>
        <p:spPr>
          <a:xfrm>
            <a:off x="952518" y="1554777"/>
            <a:ext cx="2249590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1.0*0.9 = 0.9(</a:t>
            </a:r>
            <a:r>
              <a:rPr lang="vi-VN" sz="1200" dirty="0">
                <a:solidFill>
                  <a:srgbClr val="FF0000"/>
                </a:solidFill>
              </a:rPr>
              <a:t>TI1)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R2=  0.7*0.8 = 0.56(</a:t>
            </a:r>
            <a:r>
              <a:rPr lang="vi-VN" sz="1200" dirty="0">
                <a:solidFill>
                  <a:schemeClr val="accent2"/>
                </a:solidFill>
              </a:rPr>
              <a:t>TC4)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316821" y="2240577"/>
            <a:ext cx="2249590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1.0*0.8 = 0.8(</a:t>
            </a:r>
            <a:r>
              <a:rPr lang="vi-VN" sz="1200" dirty="0">
                <a:solidFill>
                  <a:srgbClr val="FF0000"/>
                </a:solidFill>
              </a:rPr>
              <a:t>TI1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R6 = 0.7*0.8 = 0.56(</a:t>
            </a:r>
            <a:r>
              <a:rPr lang="vi-VN" sz="1200" dirty="0">
                <a:solidFill>
                  <a:schemeClr val="accent2"/>
                </a:solidFill>
              </a:rPr>
              <a:t>TC4)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860746" y="2895600"/>
            <a:ext cx="2283254" cy="6463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1.0*0.7 = 0.7(</a:t>
            </a:r>
            <a:r>
              <a:rPr lang="vi-VN" sz="1200" dirty="0">
                <a:solidFill>
                  <a:srgbClr val="FF0000"/>
                </a:solidFill>
              </a:rPr>
              <a:t>TI1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R4 = 0.9*0.9 = 0.81(</a:t>
            </a:r>
            <a:r>
              <a:rPr lang="vi-VN" sz="1200" dirty="0">
                <a:solidFill>
                  <a:schemeClr val="accent2"/>
                </a:solidFill>
              </a:rPr>
              <a:t>TC2)</a:t>
            </a:r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R4 = 0.9*0.8 = 0.72(</a:t>
            </a:r>
            <a:r>
              <a:rPr lang="vi-VN" sz="1200" dirty="0">
                <a:solidFill>
                  <a:schemeClr val="accent2"/>
                </a:solidFill>
              </a:rPr>
              <a:t>TC6)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7998" y="5105400"/>
            <a:ext cx="2907791" cy="120032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vi-VN" sz="1200" dirty="0"/>
              <a:t>Node 2, 4, 6 calculated Rank from</a:t>
            </a:r>
            <a:endParaRPr lang="vi-VN" sz="1200" dirty="0">
              <a:solidFill>
                <a:schemeClr val="accent2"/>
              </a:solidFill>
            </a:endParaRPr>
          </a:p>
          <a:p>
            <a:r>
              <a:rPr lang="vi-VN" sz="1200" dirty="0">
                <a:solidFill>
                  <a:schemeClr val="accent2"/>
                </a:solidFill>
              </a:rPr>
              <a:t>TC2 = (2, 1, 0.9)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TC4 = (4, 1, 0.7)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TC6 = (6, 1, 0.8)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T</a:t>
            </a:r>
            <a:r>
              <a:rPr lang="vi-VN" sz="1200" dirty="0">
                <a:solidFill>
                  <a:schemeClr val="accent2"/>
                </a:solidFill>
              </a:rPr>
              <a:t>hen compare to choose the maximum Rank value.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898506"/>
              </p:ext>
            </p:extLst>
          </p:nvPr>
        </p:nvGraphicFramePr>
        <p:xfrm>
          <a:off x="2980945" y="48768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TC2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TC6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TC2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TC6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TC2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TC6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cxnSp>
        <p:nvCxnSpPr>
          <p:cNvPr id="3" name="Straight Connector 2"/>
          <p:cNvCxnSpPr>
            <a:stCxn id="28" idx="6"/>
            <a:endCxn id="5" idx="2"/>
          </p:cNvCxnSpPr>
          <p:nvPr/>
        </p:nvCxnSpPr>
        <p:spPr bwMode="auto">
          <a:xfrm flipV="1">
            <a:off x="3401568" y="1828800"/>
            <a:ext cx="1322832" cy="441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17" idx="1"/>
            <a:endCxn id="5" idx="5"/>
          </p:cNvCxnSpPr>
          <p:nvPr/>
        </p:nvCxnSpPr>
        <p:spPr bwMode="auto">
          <a:xfrm flipH="1" flipV="1">
            <a:off x="5114645" y="1990445"/>
            <a:ext cx="735890" cy="8105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6" idx="1"/>
            <a:endCxn id="28" idx="5"/>
          </p:cNvCxnSpPr>
          <p:nvPr/>
        </p:nvCxnSpPr>
        <p:spPr bwMode="auto">
          <a:xfrm flipH="1" flipV="1">
            <a:off x="3334613" y="2432405"/>
            <a:ext cx="841564" cy="6645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76719" y="1839037"/>
            <a:ext cx="822661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0.9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3474" y="2512109"/>
            <a:ext cx="87716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03834" y="3077416"/>
            <a:ext cx="97494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0.81</a:t>
            </a:r>
          </a:p>
        </p:txBody>
      </p:sp>
      <p:cxnSp>
        <p:nvCxnSpPr>
          <p:cNvPr id="86" name="직선 연결선 31"/>
          <p:cNvCxnSpPr/>
          <p:nvPr/>
        </p:nvCxnSpPr>
        <p:spPr>
          <a:xfrm flipV="1">
            <a:off x="3505200" y="1752600"/>
            <a:ext cx="1093481" cy="370960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138"/>
          <p:cNvCxnSpPr/>
          <p:nvPr/>
        </p:nvCxnSpPr>
        <p:spPr>
          <a:xfrm flipV="1">
            <a:off x="3556581" y="1944411"/>
            <a:ext cx="1042100" cy="35128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cxnSp>
        <p:nvCxnSpPr>
          <p:cNvPr id="90" name="직선 연결선 173"/>
          <p:cNvCxnSpPr/>
          <p:nvPr/>
        </p:nvCxnSpPr>
        <p:spPr>
          <a:xfrm flipH="1" flipV="1">
            <a:off x="5105401" y="2057400"/>
            <a:ext cx="678179" cy="7362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176"/>
          <p:cNvCxnSpPr/>
          <p:nvPr/>
        </p:nvCxnSpPr>
        <p:spPr>
          <a:xfrm>
            <a:off x="5201222" y="1981200"/>
            <a:ext cx="589978" cy="65794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160"/>
          <p:cNvCxnSpPr/>
          <p:nvPr/>
        </p:nvCxnSpPr>
        <p:spPr>
          <a:xfrm flipH="1" flipV="1">
            <a:off x="3429000" y="2456616"/>
            <a:ext cx="687467" cy="5151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164"/>
          <p:cNvCxnSpPr/>
          <p:nvPr/>
        </p:nvCxnSpPr>
        <p:spPr>
          <a:xfrm>
            <a:off x="3368318" y="2560070"/>
            <a:ext cx="638010" cy="48793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733800" y="25146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95" name="TextBox 94"/>
          <p:cNvSpPr txBox="1"/>
          <p:nvPr/>
        </p:nvSpPr>
        <p:spPr>
          <a:xfrm>
            <a:off x="37998" y="5290066"/>
            <a:ext cx="2907791" cy="83099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vi-VN" sz="1200" dirty="0"/>
              <a:t>Node 2, 4, 6 after choose the max Rank will send </a:t>
            </a:r>
            <a:r>
              <a:rPr lang="vi-VN" sz="1200" dirty="0">
                <a:solidFill>
                  <a:schemeClr val="accent2"/>
                </a:solidFill>
              </a:rPr>
              <a:t>TREE_BUILDING_RESPONSE to its Parent TR2, TR4, TR6 by unicast </a:t>
            </a:r>
          </a:p>
        </p:txBody>
      </p:sp>
      <p:graphicFrame>
        <p:nvGraphicFramePr>
          <p:cNvPr id="96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662880"/>
              </p:ext>
            </p:extLst>
          </p:nvPr>
        </p:nvGraphicFramePr>
        <p:xfrm>
          <a:off x="2980945" y="48768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TR2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TR4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TR6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5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cxnSp>
        <p:nvCxnSpPr>
          <p:cNvPr id="3" name="Straight Connector 2"/>
          <p:cNvCxnSpPr>
            <a:stCxn id="28" idx="6"/>
            <a:endCxn id="5" idx="2"/>
          </p:cNvCxnSpPr>
          <p:nvPr/>
        </p:nvCxnSpPr>
        <p:spPr bwMode="auto">
          <a:xfrm flipV="1">
            <a:off x="3401568" y="1828800"/>
            <a:ext cx="1322832" cy="441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17" idx="1"/>
            <a:endCxn id="5" idx="5"/>
          </p:cNvCxnSpPr>
          <p:nvPr/>
        </p:nvCxnSpPr>
        <p:spPr bwMode="auto">
          <a:xfrm flipH="1" flipV="1">
            <a:off x="5114645" y="1990445"/>
            <a:ext cx="735890" cy="8105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6" idx="1"/>
            <a:endCxn id="28" idx="5"/>
          </p:cNvCxnSpPr>
          <p:nvPr/>
        </p:nvCxnSpPr>
        <p:spPr bwMode="auto">
          <a:xfrm flipH="1" flipV="1">
            <a:off x="3334613" y="2432405"/>
            <a:ext cx="841564" cy="6645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76719" y="1839037"/>
            <a:ext cx="822661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0.9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3474" y="2512109"/>
            <a:ext cx="87716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03834" y="3077416"/>
            <a:ext cx="97494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0.81</a:t>
            </a:r>
          </a:p>
        </p:txBody>
      </p:sp>
      <p:cxnSp>
        <p:nvCxnSpPr>
          <p:cNvPr id="84" name="직선 연결선 31"/>
          <p:cNvCxnSpPr/>
          <p:nvPr/>
        </p:nvCxnSpPr>
        <p:spPr>
          <a:xfrm flipV="1">
            <a:off x="3505200" y="1752600"/>
            <a:ext cx="1093481" cy="370960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138"/>
          <p:cNvCxnSpPr/>
          <p:nvPr/>
        </p:nvCxnSpPr>
        <p:spPr>
          <a:xfrm flipV="1">
            <a:off x="3556581" y="1944411"/>
            <a:ext cx="1042100" cy="35128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173"/>
          <p:cNvCxnSpPr/>
          <p:nvPr/>
        </p:nvCxnSpPr>
        <p:spPr>
          <a:xfrm flipH="1" flipV="1">
            <a:off x="5105401" y="2057400"/>
            <a:ext cx="678179" cy="7362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176"/>
          <p:cNvCxnSpPr/>
          <p:nvPr/>
        </p:nvCxnSpPr>
        <p:spPr>
          <a:xfrm>
            <a:off x="5201222" y="1981200"/>
            <a:ext cx="589978" cy="65794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cxnSp>
        <p:nvCxnSpPr>
          <p:cNvPr id="89" name="직선 연결선 160"/>
          <p:cNvCxnSpPr/>
          <p:nvPr/>
        </p:nvCxnSpPr>
        <p:spPr>
          <a:xfrm flipH="1" flipV="1">
            <a:off x="3429000" y="2456616"/>
            <a:ext cx="687467" cy="5151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164"/>
          <p:cNvCxnSpPr/>
          <p:nvPr/>
        </p:nvCxnSpPr>
        <p:spPr>
          <a:xfrm>
            <a:off x="3368318" y="2560070"/>
            <a:ext cx="638010" cy="48793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733800" y="25146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121924"/>
              </p:ext>
            </p:extLst>
          </p:nvPr>
        </p:nvGraphicFramePr>
        <p:xfrm>
          <a:off x="2980945" y="48768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TI2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TI4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TI6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TI2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TI4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TI6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TI2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TI4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TI6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57976" y="5080337"/>
            <a:ext cx="2841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200" dirty="0"/>
              <a:t>Node 2, 4, 6 broadcast</a:t>
            </a:r>
          </a:p>
          <a:p>
            <a:r>
              <a:rPr lang="vi-VN" sz="1200" dirty="0">
                <a:solidFill>
                  <a:srgbClr val="FF0000"/>
                </a:solidFill>
              </a:rPr>
              <a:t>TREE_BUILDING_INIT:</a:t>
            </a:r>
          </a:p>
          <a:p>
            <a:r>
              <a:rPr lang="vi-VN" sz="1200" dirty="0">
                <a:solidFill>
                  <a:srgbClr val="FF0000"/>
                </a:solidFill>
              </a:rPr>
              <a:t>TI2 = (2, 1, 0.9)</a:t>
            </a:r>
          </a:p>
          <a:p>
            <a:r>
              <a:rPr lang="vi-VN" sz="1200" dirty="0">
                <a:solidFill>
                  <a:srgbClr val="FF0000"/>
                </a:solidFill>
              </a:rPr>
              <a:t>TI4 = (4, 2, 0.81)</a:t>
            </a:r>
          </a:p>
          <a:p>
            <a:r>
              <a:rPr lang="vi-VN" sz="1200" dirty="0">
                <a:solidFill>
                  <a:srgbClr val="FF0000"/>
                </a:solidFill>
              </a:rPr>
              <a:t>TI6 = (6, 1, 0.8) 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3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cxnSp>
        <p:nvCxnSpPr>
          <p:cNvPr id="3" name="Straight Connector 2"/>
          <p:cNvCxnSpPr>
            <a:stCxn id="28" idx="6"/>
            <a:endCxn id="5" idx="2"/>
          </p:cNvCxnSpPr>
          <p:nvPr/>
        </p:nvCxnSpPr>
        <p:spPr bwMode="auto">
          <a:xfrm flipV="1">
            <a:off x="3401568" y="1828800"/>
            <a:ext cx="1322832" cy="441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17" idx="1"/>
            <a:endCxn id="5" idx="5"/>
          </p:cNvCxnSpPr>
          <p:nvPr/>
        </p:nvCxnSpPr>
        <p:spPr bwMode="auto">
          <a:xfrm flipH="1" flipV="1">
            <a:off x="5114645" y="1990445"/>
            <a:ext cx="735890" cy="8105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6" idx="1"/>
            <a:endCxn id="28" idx="5"/>
          </p:cNvCxnSpPr>
          <p:nvPr/>
        </p:nvCxnSpPr>
        <p:spPr bwMode="auto">
          <a:xfrm flipH="1" flipV="1">
            <a:off x="3334613" y="2432405"/>
            <a:ext cx="841564" cy="6645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228600" y="2743200"/>
            <a:ext cx="215475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R3= 0.9*0.8 = 0.72(</a:t>
            </a:r>
            <a:r>
              <a:rPr lang="vi-VN" sz="1200" dirty="0">
                <a:solidFill>
                  <a:srgbClr val="FF0000"/>
                </a:solidFill>
              </a:rPr>
              <a:t>TI2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3042" y="4233821"/>
            <a:ext cx="230704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R10 = 0.8*0.9 = 0.72(</a:t>
            </a:r>
            <a:r>
              <a:rPr lang="vi-VN" sz="1200" dirty="0">
                <a:solidFill>
                  <a:srgbClr val="FF0000"/>
                </a:solidFill>
              </a:rPr>
              <a:t>TI6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0239" y="4858646"/>
            <a:ext cx="2209259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R9 = 0.8*0.7 = 0.56(</a:t>
            </a:r>
            <a:r>
              <a:rPr lang="vi-VN" sz="1200" dirty="0">
                <a:solidFill>
                  <a:srgbClr val="FF0000"/>
                </a:solidFill>
              </a:rPr>
              <a:t>TI6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73" name="TextBox 72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74" name="TextBox 73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76719" y="1839037"/>
            <a:ext cx="822661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0.9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3474" y="2512109"/>
            <a:ext cx="87716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03834" y="3077416"/>
            <a:ext cx="97494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0.81</a:t>
            </a:r>
          </a:p>
        </p:txBody>
      </p:sp>
      <p:cxnSp>
        <p:nvCxnSpPr>
          <p:cNvPr id="88" name="직선 연결선 31"/>
          <p:cNvCxnSpPr/>
          <p:nvPr/>
        </p:nvCxnSpPr>
        <p:spPr>
          <a:xfrm flipV="1">
            <a:off x="3505200" y="1752600"/>
            <a:ext cx="1093481" cy="370960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138"/>
          <p:cNvCxnSpPr/>
          <p:nvPr/>
        </p:nvCxnSpPr>
        <p:spPr>
          <a:xfrm flipV="1">
            <a:off x="3556581" y="1944411"/>
            <a:ext cx="1042100" cy="35128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173"/>
          <p:cNvCxnSpPr/>
          <p:nvPr/>
        </p:nvCxnSpPr>
        <p:spPr>
          <a:xfrm flipH="1" flipV="1">
            <a:off x="5105401" y="2057400"/>
            <a:ext cx="678179" cy="7362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176"/>
          <p:cNvCxnSpPr/>
          <p:nvPr/>
        </p:nvCxnSpPr>
        <p:spPr>
          <a:xfrm>
            <a:off x="5201222" y="1981200"/>
            <a:ext cx="589978" cy="65794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160"/>
          <p:cNvCxnSpPr/>
          <p:nvPr/>
        </p:nvCxnSpPr>
        <p:spPr>
          <a:xfrm flipH="1" flipV="1">
            <a:off x="3429000" y="2456616"/>
            <a:ext cx="687467" cy="5151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164"/>
          <p:cNvCxnSpPr/>
          <p:nvPr/>
        </p:nvCxnSpPr>
        <p:spPr>
          <a:xfrm>
            <a:off x="3368318" y="2560070"/>
            <a:ext cx="638010" cy="48793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95" name="TextBox 94"/>
          <p:cNvSpPr txBox="1"/>
          <p:nvPr/>
        </p:nvSpPr>
        <p:spPr>
          <a:xfrm>
            <a:off x="3733800" y="25146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2" name="Rectangle 1"/>
          <p:cNvSpPr/>
          <p:nvPr/>
        </p:nvSpPr>
        <p:spPr>
          <a:xfrm>
            <a:off x="3048541" y="4800600"/>
            <a:ext cx="22092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R5 = 0.9*0.8 = 0.72(</a:t>
            </a:r>
            <a:r>
              <a:rPr lang="vi-VN" sz="1200" dirty="0">
                <a:solidFill>
                  <a:srgbClr val="FF0000"/>
                </a:solidFill>
              </a:rPr>
              <a:t>TI2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  <p:graphicFrame>
        <p:nvGraphicFramePr>
          <p:cNvPr id="96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896499"/>
              </p:ext>
            </p:extLst>
          </p:nvPr>
        </p:nvGraphicFramePr>
        <p:xfrm>
          <a:off x="2980945" y="51816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TI2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TI4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TI6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TI2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TI4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TI6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TI2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TI4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TI6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7" name="Rectangle 96"/>
          <p:cNvSpPr/>
          <p:nvPr/>
        </p:nvSpPr>
        <p:spPr>
          <a:xfrm>
            <a:off x="57976" y="5080337"/>
            <a:ext cx="284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200" dirty="0"/>
              <a:t>Node 3, 5, 9, 10 has init Level is 2 so it only calculate Rank from </a:t>
            </a:r>
            <a:r>
              <a:rPr lang="vi-VN" sz="1200" dirty="0">
                <a:solidFill>
                  <a:srgbClr val="FF0000"/>
                </a:solidFill>
              </a:rPr>
              <a:t>TI2, TI6 (Lower Level)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092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4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 flipV="1">
            <a:off x="2309915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 flipV="1">
            <a:off x="2290191" y="3440941"/>
            <a:ext cx="589881" cy="493121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 flipV="1">
            <a:off x="2411012" y="3405889"/>
            <a:ext cx="535029" cy="435171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3489848" y="3405889"/>
            <a:ext cx="531291" cy="418572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H="1">
            <a:off x="3591885" y="3461606"/>
            <a:ext cx="541757" cy="452770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 flipV="1">
            <a:off x="6240780" y="3191256"/>
            <a:ext cx="467592" cy="525539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138151" y="3258554"/>
            <a:ext cx="482138" cy="49831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5372419" y="4191658"/>
            <a:ext cx="998239" cy="251131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 flipH="1">
            <a:off x="5358830" y="4083509"/>
            <a:ext cx="1025416" cy="262474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>
            <a:off x="45627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3588398" y="4092930"/>
            <a:ext cx="1069768" cy="374335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H="1" flipV="1">
            <a:off x="3583007" y="4201324"/>
            <a:ext cx="1055897" cy="369984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H="1">
            <a:off x="5185796" y="3191256"/>
            <a:ext cx="647556" cy="98058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5264887" y="3294615"/>
            <a:ext cx="631711" cy="935314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376" name="직선 연결선 375"/>
          <p:cNvCxnSpPr/>
          <p:nvPr/>
        </p:nvCxnSpPr>
        <p:spPr>
          <a:xfrm>
            <a:off x="3094397" y="2613307"/>
            <a:ext cx="29374" cy="10746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H="1" flipV="1">
            <a:off x="3211008" y="2670846"/>
            <a:ext cx="22041" cy="1006909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5" name="TextBox 394"/>
          <p:cNvSpPr txBox="1"/>
          <p:nvPr/>
        </p:nvSpPr>
        <p:spPr>
          <a:xfrm>
            <a:off x="5675935" y="40012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7" name="TextBox 396"/>
          <p:cNvSpPr txBox="1"/>
          <p:nvPr/>
        </p:nvSpPr>
        <p:spPr>
          <a:xfrm>
            <a:off x="4024292" y="4055547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9" name="TextBox 408"/>
          <p:cNvSpPr txBox="1"/>
          <p:nvPr/>
        </p:nvSpPr>
        <p:spPr>
          <a:xfrm>
            <a:off x="5265964" y="352284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10" name="TextBox 409"/>
          <p:cNvSpPr txBox="1"/>
          <p:nvPr/>
        </p:nvSpPr>
        <p:spPr>
          <a:xfrm>
            <a:off x="5719539" y="3619092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0.7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0" name="TextBox 429"/>
          <p:cNvSpPr txBox="1"/>
          <p:nvPr/>
        </p:nvSpPr>
        <p:spPr>
          <a:xfrm>
            <a:off x="3895656" y="4403969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3" name="TextBox 432"/>
          <p:cNvSpPr txBox="1"/>
          <p:nvPr/>
        </p:nvSpPr>
        <p:spPr>
          <a:xfrm>
            <a:off x="2651054" y="340300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4" name="TextBox 433"/>
          <p:cNvSpPr txBox="1"/>
          <p:nvPr/>
        </p:nvSpPr>
        <p:spPr>
          <a:xfrm>
            <a:off x="2411012" y="37307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5" name="TextBox 434"/>
          <p:cNvSpPr txBox="1"/>
          <p:nvPr/>
        </p:nvSpPr>
        <p:spPr>
          <a:xfrm>
            <a:off x="3282731" y="309751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6" name="TextBox 435"/>
          <p:cNvSpPr txBox="1"/>
          <p:nvPr/>
        </p:nvSpPr>
        <p:spPr>
          <a:xfrm>
            <a:off x="2820516" y="311759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cxnSp>
        <p:nvCxnSpPr>
          <p:cNvPr id="3" name="Straight Connector 2"/>
          <p:cNvCxnSpPr>
            <a:stCxn id="28" idx="6"/>
            <a:endCxn id="5" idx="2"/>
          </p:cNvCxnSpPr>
          <p:nvPr/>
        </p:nvCxnSpPr>
        <p:spPr bwMode="auto">
          <a:xfrm flipV="1">
            <a:off x="3401568" y="1828800"/>
            <a:ext cx="1322832" cy="441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17" idx="1"/>
            <a:endCxn id="5" idx="5"/>
          </p:cNvCxnSpPr>
          <p:nvPr/>
        </p:nvCxnSpPr>
        <p:spPr bwMode="auto">
          <a:xfrm flipH="1" flipV="1">
            <a:off x="5114645" y="1990445"/>
            <a:ext cx="735890" cy="8105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6" idx="1"/>
            <a:endCxn id="28" idx="5"/>
          </p:cNvCxnSpPr>
          <p:nvPr/>
        </p:nvCxnSpPr>
        <p:spPr bwMode="auto">
          <a:xfrm flipH="1" flipV="1">
            <a:off x="3334613" y="2432405"/>
            <a:ext cx="841564" cy="6645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-76200" y="3132892"/>
            <a:ext cx="1865065" cy="83099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R3= 0.9*0.8 = 0.72(</a:t>
            </a:r>
            <a:r>
              <a:rPr lang="vi-VN" sz="1200" dirty="0">
                <a:solidFill>
                  <a:srgbClr val="FF0000"/>
                </a:solidFill>
              </a:rPr>
              <a:t>TI2)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R3= 0.72*0.9 = 0.648(</a:t>
            </a:r>
            <a:r>
              <a:rPr lang="vi-VN" sz="1200" dirty="0">
                <a:solidFill>
                  <a:schemeClr val="accent2"/>
                </a:solidFill>
              </a:rPr>
              <a:t>TC5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05600" y="4231957"/>
            <a:ext cx="2542940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R10 = 0.8*0.9 = 0.72(</a:t>
            </a:r>
            <a:r>
              <a:rPr lang="vi-VN" sz="1200" dirty="0">
                <a:solidFill>
                  <a:srgbClr val="FF0000"/>
                </a:solidFill>
              </a:rPr>
              <a:t>TI6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R10 = 0.56*0.8 = 0.448(</a:t>
            </a:r>
            <a:r>
              <a:rPr lang="vi-VN" sz="1200" dirty="0">
                <a:solidFill>
                  <a:schemeClr val="accent2"/>
                </a:solidFill>
              </a:rPr>
              <a:t>TC9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34000" y="4746248"/>
            <a:ext cx="2542940" cy="83099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R9 = 0.8*0.7 = 0.56(</a:t>
            </a:r>
            <a:r>
              <a:rPr lang="vi-VN" sz="1200" dirty="0">
                <a:solidFill>
                  <a:srgbClr val="FF0000"/>
                </a:solidFill>
              </a:rPr>
              <a:t>TI6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R9 = 0.72*0.8 = 0.576(</a:t>
            </a:r>
            <a:r>
              <a:rPr lang="vi-VN" sz="1200" dirty="0">
                <a:solidFill>
                  <a:schemeClr val="accent2"/>
                </a:solidFill>
              </a:rPr>
              <a:t>TC10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R9 = 0.72*0.8 = 0.576(</a:t>
            </a:r>
            <a:r>
              <a:rPr lang="vi-VN" sz="1200" dirty="0">
                <a:solidFill>
                  <a:schemeClr val="accent2"/>
                </a:solidFill>
              </a:rPr>
              <a:t>TC5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R9 = 0.81*0.8 = 0.648(</a:t>
            </a:r>
            <a:r>
              <a:rPr lang="vi-VN" sz="1200" dirty="0">
                <a:solidFill>
                  <a:schemeClr val="accent2"/>
                </a:solidFill>
              </a:rPr>
              <a:t>TC4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43460" y="4884003"/>
            <a:ext cx="2445157" cy="83099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R5 = 0.9*0.8 = 0.72(</a:t>
            </a:r>
            <a:r>
              <a:rPr lang="vi-VN" sz="1200" dirty="0">
                <a:solidFill>
                  <a:srgbClr val="FF0000"/>
                </a:solidFill>
              </a:rPr>
              <a:t>TI2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R5 = 0.72*0.9 = 0.648(</a:t>
            </a:r>
            <a:r>
              <a:rPr lang="vi-VN" sz="1200" dirty="0">
                <a:solidFill>
                  <a:schemeClr val="accent2"/>
                </a:solidFill>
              </a:rPr>
              <a:t>TC3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R5 = 0.81*0.9 = 0.729(</a:t>
            </a:r>
            <a:r>
              <a:rPr lang="vi-VN" sz="1200" dirty="0">
                <a:solidFill>
                  <a:schemeClr val="accent2"/>
                </a:solidFill>
              </a:rPr>
              <a:t>TC4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R5 = 0.56*0.8 = 0.448(</a:t>
            </a:r>
            <a:r>
              <a:rPr lang="vi-VN" sz="1200" dirty="0">
                <a:solidFill>
                  <a:schemeClr val="accent2"/>
                </a:solidFill>
              </a:rPr>
              <a:t>TC9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91200" y="43434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74" name="TextBox 7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75" name="TextBox 74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76719" y="1839037"/>
            <a:ext cx="822661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0.9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3474" y="2512109"/>
            <a:ext cx="87716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03834" y="3077416"/>
            <a:ext cx="97494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0.81</a:t>
            </a:r>
          </a:p>
        </p:txBody>
      </p:sp>
      <p:cxnSp>
        <p:nvCxnSpPr>
          <p:cNvPr id="89" name="직선 연결선 31"/>
          <p:cNvCxnSpPr/>
          <p:nvPr/>
        </p:nvCxnSpPr>
        <p:spPr>
          <a:xfrm flipV="1">
            <a:off x="3505200" y="1752600"/>
            <a:ext cx="1093481" cy="370960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138"/>
          <p:cNvCxnSpPr/>
          <p:nvPr/>
        </p:nvCxnSpPr>
        <p:spPr>
          <a:xfrm flipV="1">
            <a:off x="3556581" y="1944411"/>
            <a:ext cx="1042100" cy="35128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173"/>
          <p:cNvCxnSpPr/>
          <p:nvPr/>
        </p:nvCxnSpPr>
        <p:spPr>
          <a:xfrm flipH="1" flipV="1">
            <a:off x="5105401" y="2057400"/>
            <a:ext cx="678179" cy="7362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176"/>
          <p:cNvCxnSpPr/>
          <p:nvPr/>
        </p:nvCxnSpPr>
        <p:spPr>
          <a:xfrm>
            <a:off x="5201222" y="1981200"/>
            <a:ext cx="589978" cy="65794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160"/>
          <p:cNvCxnSpPr/>
          <p:nvPr/>
        </p:nvCxnSpPr>
        <p:spPr>
          <a:xfrm flipH="1" flipV="1">
            <a:off x="3429000" y="2456616"/>
            <a:ext cx="687467" cy="5151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164"/>
          <p:cNvCxnSpPr/>
          <p:nvPr/>
        </p:nvCxnSpPr>
        <p:spPr>
          <a:xfrm>
            <a:off x="3368318" y="2560070"/>
            <a:ext cx="638010" cy="48793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96" name="TextBox 95"/>
          <p:cNvSpPr txBox="1"/>
          <p:nvPr/>
        </p:nvSpPr>
        <p:spPr>
          <a:xfrm>
            <a:off x="3733800" y="25146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97" name="TextBox 96"/>
          <p:cNvSpPr txBox="1"/>
          <p:nvPr/>
        </p:nvSpPr>
        <p:spPr>
          <a:xfrm>
            <a:off x="37998" y="5075873"/>
            <a:ext cx="2907791" cy="156966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vi-VN" sz="1200" dirty="0"/>
              <a:t>Node 3, 4, 5, 9, 10 broadcast its Rank R3, R4, R5, R9, R10 by </a:t>
            </a:r>
            <a:r>
              <a:rPr lang="vi-VN" sz="1200" dirty="0">
                <a:solidFill>
                  <a:schemeClr val="accent2"/>
                </a:solidFill>
              </a:rPr>
              <a:t>TREE_BUILDING_COMPARE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TC3 = (3, 2, 0.72)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TC4 = (4, 2, 0.81)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TC5 = (5, 2, 0.72)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TC9 = (9, 2, 0.56)</a:t>
            </a:r>
          </a:p>
          <a:p>
            <a:r>
              <a:rPr lang="vi-VN" sz="1200" dirty="0">
                <a:solidFill>
                  <a:schemeClr val="accent2"/>
                </a:solidFill>
              </a:rPr>
              <a:t>TC10 = (10, 2, 0.72)</a:t>
            </a:r>
          </a:p>
        </p:txBody>
      </p:sp>
      <p:graphicFrame>
        <p:nvGraphicFramePr>
          <p:cNvPr id="98" name="Table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20782"/>
              </p:ext>
            </p:extLst>
          </p:nvPr>
        </p:nvGraphicFramePr>
        <p:xfrm>
          <a:off x="3048000" y="5760720"/>
          <a:ext cx="60960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29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59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TC10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9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TC10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59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TC4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TC10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9" name="TextBox 98"/>
          <p:cNvSpPr txBox="1"/>
          <p:nvPr/>
        </p:nvSpPr>
        <p:spPr>
          <a:xfrm>
            <a:off x="6781800" y="3064133"/>
            <a:ext cx="2445157" cy="6463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0.81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R4 = 0.72*0.9 = 0.648(</a:t>
            </a:r>
            <a:r>
              <a:rPr lang="vi-VN" sz="1200" dirty="0">
                <a:solidFill>
                  <a:schemeClr val="accent2"/>
                </a:solidFill>
              </a:rPr>
              <a:t>TC5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R4 = 0.56*0.8 = 0.448(</a:t>
            </a:r>
            <a:r>
              <a:rPr lang="vi-VN" sz="1200" dirty="0">
                <a:solidFill>
                  <a:schemeClr val="accent2"/>
                </a:solidFill>
              </a:rPr>
              <a:t>TC9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933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cxnSp>
        <p:nvCxnSpPr>
          <p:cNvPr id="3" name="Straight Connector 2"/>
          <p:cNvCxnSpPr>
            <a:stCxn id="28" idx="6"/>
            <a:endCxn id="5" idx="2"/>
          </p:cNvCxnSpPr>
          <p:nvPr/>
        </p:nvCxnSpPr>
        <p:spPr bwMode="auto">
          <a:xfrm flipV="1">
            <a:off x="3401568" y="1828800"/>
            <a:ext cx="1322832" cy="441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17" idx="1"/>
            <a:endCxn id="5" idx="5"/>
          </p:cNvCxnSpPr>
          <p:nvPr/>
        </p:nvCxnSpPr>
        <p:spPr bwMode="auto">
          <a:xfrm flipH="1" flipV="1">
            <a:off x="5114645" y="1990445"/>
            <a:ext cx="735890" cy="8105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6" idx="1"/>
            <a:endCxn id="28" idx="5"/>
          </p:cNvCxnSpPr>
          <p:nvPr/>
        </p:nvCxnSpPr>
        <p:spPr bwMode="auto">
          <a:xfrm flipH="1" flipV="1">
            <a:off x="3334613" y="2432405"/>
            <a:ext cx="841564" cy="6645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1" name="Straight Connector 10"/>
          <p:cNvCxnSpPr>
            <a:stCxn id="7" idx="7"/>
            <a:endCxn id="28" idx="3"/>
          </p:cNvCxnSpPr>
          <p:nvPr/>
        </p:nvCxnSpPr>
        <p:spPr bwMode="auto">
          <a:xfrm flipV="1">
            <a:off x="2218022" y="2432405"/>
            <a:ext cx="793301" cy="6807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9" idx="7"/>
            <a:endCxn id="6" idx="3"/>
          </p:cNvCxnSpPr>
          <p:nvPr/>
        </p:nvCxnSpPr>
        <p:spPr bwMode="auto">
          <a:xfrm flipV="1">
            <a:off x="3410170" y="3420199"/>
            <a:ext cx="766007" cy="3969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18" idx="0"/>
            <a:endCxn id="6" idx="5"/>
          </p:cNvCxnSpPr>
          <p:nvPr/>
        </p:nvCxnSpPr>
        <p:spPr bwMode="auto">
          <a:xfrm flipH="1" flipV="1">
            <a:off x="4499467" y="3420199"/>
            <a:ext cx="515307" cy="8948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19" idx="0"/>
            <a:endCxn id="17" idx="5"/>
          </p:cNvCxnSpPr>
          <p:nvPr/>
        </p:nvCxnSpPr>
        <p:spPr bwMode="auto">
          <a:xfrm flipH="1" flipV="1">
            <a:off x="6173825" y="3124301"/>
            <a:ext cx="534546" cy="67960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76719" y="1839037"/>
            <a:ext cx="822661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0.9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3474" y="2512109"/>
            <a:ext cx="87716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03834" y="3077416"/>
            <a:ext cx="97494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0.81</a:t>
            </a:r>
          </a:p>
        </p:txBody>
      </p:sp>
      <p:cxnSp>
        <p:nvCxnSpPr>
          <p:cNvPr id="66" name="직선 연결선 31"/>
          <p:cNvCxnSpPr/>
          <p:nvPr/>
        </p:nvCxnSpPr>
        <p:spPr>
          <a:xfrm flipV="1">
            <a:off x="3505200" y="1752600"/>
            <a:ext cx="1093481" cy="370960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138"/>
          <p:cNvCxnSpPr/>
          <p:nvPr/>
        </p:nvCxnSpPr>
        <p:spPr>
          <a:xfrm flipV="1">
            <a:off x="3556581" y="1944411"/>
            <a:ext cx="1042100" cy="35128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173"/>
          <p:cNvCxnSpPr/>
          <p:nvPr/>
        </p:nvCxnSpPr>
        <p:spPr>
          <a:xfrm flipH="1" flipV="1">
            <a:off x="5105401" y="2057400"/>
            <a:ext cx="678179" cy="7362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176"/>
          <p:cNvCxnSpPr/>
          <p:nvPr/>
        </p:nvCxnSpPr>
        <p:spPr>
          <a:xfrm>
            <a:off x="5201222" y="1981200"/>
            <a:ext cx="589978" cy="65794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160"/>
          <p:cNvCxnSpPr/>
          <p:nvPr/>
        </p:nvCxnSpPr>
        <p:spPr>
          <a:xfrm flipH="1" flipV="1">
            <a:off x="3429000" y="2456616"/>
            <a:ext cx="687467" cy="5151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164"/>
          <p:cNvCxnSpPr/>
          <p:nvPr/>
        </p:nvCxnSpPr>
        <p:spPr>
          <a:xfrm>
            <a:off x="3368318" y="2560070"/>
            <a:ext cx="638010" cy="48793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80" name="TextBox 79"/>
          <p:cNvSpPr txBox="1"/>
          <p:nvPr/>
        </p:nvSpPr>
        <p:spPr>
          <a:xfrm>
            <a:off x="3733800" y="25146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cxnSp>
        <p:nvCxnSpPr>
          <p:cNvPr id="89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142"/>
          <p:cNvCxnSpPr/>
          <p:nvPr/>
        </p:nvCxnSpPr>
        <p:spPr>
          <a:xfrm flipV="1">
            <a:off x="2376970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192"/>
          <p:cNvCxnSpPr/>
          <p:nvPr/>
        </p:nvCxnSpPr>
        <p:spPr>
          <a:xfrm flipH="1" flipV="1">
            <a:off x="6316821" y="3191256"/>
            <a:ext cx="391551" cy="52554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195"/>
          <p:cNvCxnSpPr/>
          <p:nvPr/>
        </p:nvCxnSpPr>
        <p:spPr>
          <a:xfrm>
            <a:off x="6172200" y="3276600"/>
            <a:ext cx="415049" cy="480293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214"/>
          <p:cNvCxnSpPr/>
          <p:nvPr/>
        </p:nvCxnSpPr>
        <p:spPr>
          <a:xfrm>
            <a:off x="46389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180"/>
          <p:cNvCxnSpPr/>
          <p:nvPr/>
        </p:nvCxnSpPr>
        <p:spPr>
          <a:xfrm flipV="1">
            <a:off x="3429000" y="3405889"/>
            <a:ext cx="592139" cy="31055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183"/>
          <p:cNvCxnSpPr/>
          <p:nvPr/>
        </p:nvCxnSpPr>
        <p:spPr>
          <a:xfrm flipH="1">
            <a:off x="3410170" y="3530630"/>
            <a:ext cx="723473" cy="3555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-76200" y="3317558"/>
            <a:ext cx="1865065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R3= 0.9*0.8 = 0.72(</a:t>
            </a:r>
            <a:r>
              <a:rPr lang="vi-VN" sz="1200" dirty="0">
                <a:solidFill>
                  <a:srgbClr val="FF0000"/>
                </a:solidFill>
              </a:rPr>
              <a:t>TI2)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705600" y="4324290"/>
            <a:ext cx="2307042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R10 = 0.8*0.9 = 0.72(</a:t>
            </a:r>
            <a:r>
              <a:rPr lang="vi-VN" sz="1200" dirty="0">
                <a:solidFill>
                  <a:srgbClr val="FF0000"/>
                </a:solidFill>
              </a:rPr>
              <a:t>TI6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34000" y="4953000"/>
            <a:ext cx="244515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>
                <a:solidFill>
                  <a:schemeClr val="accent2"/>
                </a:solidFill>
              </a:rPr>
              <a:t>R9 </a:t>
            </a:r>
            <a:r>
              <a:rPr lang="en-US" sz="1200" dirty="0">
                <a:solidFill>
                  <a:schemeClr val="accent2"/>
                </a:solidFill>
              </a:rPr>
              <a:t>= 0.81*0.8 = 0.648(</a:t>
            </a:r>
            <a:r>
              <a:rPr lang="vi-VN" sz="1200" dirty="0">
                <a:solidFill>
                  <a:schemeClr val="accent2"/>
                </a:solidFill>
              </a:rPr>
              <a:t>TC4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95600" y="5008602"/>
            <a:ext cx="244515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R5 = 0.81*0.9 = 0.729(</a:t>
            </a:r>
            <a:r>
              <a:rPr lang="vi-VN" sz="1200" dirty="0">
                <a:solidFill>
                  <a:schemeClr val="accent2"/>
                </a:solidFill>
              </a:rPr>
              <a:t>TC4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998" y="5317867"/>
            <a:ext cx="2907791" cy="101566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vi-VN" sz="1200" dirty="0"/>
              <a:t>Node 3, 5, 9, 10 after choose the max Rank will send </a:t>
            </a:r>
            <a:r>
              <a:rPr lang="vi-VN" sz="1200" dirty="0">
                <a:solidFill>
                  <a:schemeClr val="accent2"/>
                </a:solidFill>
              </a:rPr>
              <a:t>TREE_BUILDING_RESPONSE to its Parent TR3, TR5, TR9, TR10 by unicast </a:t>
            </a:r>
          </a:p>
        </p:txBody>
      </p:sp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748473"/>
              </p:ext>
            </p:extLst>
          </p:nvPr>
        </p:nvGraphicFramePr>
        <p:xfrm>
          <a:off x="2895600" y="53340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TR3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TR5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TR9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TR10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040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cxnSp>
        <p:nvCxnSpPr>
          <p:cNvPr id="3" name="Straight Connector 2"/>
          <p:cNvCxnSpPr>
            <a:stCxn id="28" idx="6"/>
            <a:endCxn id="5" idx="2"/>
          </p:cNvCxnSpPr>
          <p:nvPr/>
        </p:nvCxnSpPr>
        <p:spPr bwMode="auto">
          <a:xfrm flipV="1">
            <a:off x="3401568" y="1828800"/>
            <a:ext cx="1322832" cy="441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17" idx="1"/>
            <a:endCxn id="5" idx="5"/>
          </p:cNvCxnSpPr>
          <p:nvPr/>
        </p:nvCxnSpPr>
        <p:spPr bwMode="auto">
          <a:xfrm flipH="1" flipV="1">
            <a:off x="5114645" y="1990445"/>
            <a:ext cx="735890" cy="8105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6" idx="1"/>
            <a:endCxn id="28" idx="5"/>
          </p:cNvCxnSpPr>
          <p:nvPr/>
        </p:nvCxnSpPr>
        <p:spPr bwMode="auto">
          <a:xfrm flipH="1" flipV="1">
            <a:off x="3334613" y="2432405"/>
            <a:ext cx="841564" cy="6645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1" name="Straight Connector 10"/>
          <p:cNvCxnSpPr>
            <a:stCxn id="7" idx="7"/>
            <a:endCxn id="28" idx="3"/>
          </p:cNvCxnSpPr>
          <p:nvPr/>
        </p:nvCxnSpPr>
        <p:spPr bwMode="auto">
          <a:xfrm flipV="1">
            <a:off x="2218022" y="2432405"/>
            <a:ext cx="793301" cy="6807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9" idx="7"/>
            <a:endCxn id="6" idx="3"/>
          </p:cNvCxnSpPr>
          <p:nvPr/>
        </p:nvCxnSpPr>
        <p:spPr bwMode="auto">
          <a:xfrm flipV="1">
            <a:off x="3410170" y="3420199"/>
            <a:ext cx="766007" cy="3969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18" idx="0"/>
            <a:endCxn id="6" idx="5"/>
          </p:cNvCxnSpPr>
          <p:nvPr/>
        </p:nvCxnSpPr>
        <p:spPr bwMode="auto">
          <a:xfrm flipH="1" flipV="1">
            <a:off x="4499467" y="3420199"/>
            <a:ext cx="515307" cy="8948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19" idx="0"/>
            <a:endCxn id="17" idx="5"/>
          </p:cNvCxnSpPr>
          <p:nvPr/>
        </p:nvCxnSpPr>
        <p:spPr bwMode="auto">
          <a:xfrm flipH="1" flipV="1">
            <a:off x="6173825" y="3124301"/>
            <a:ext cx="534546" cy="67960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-12900" y="4327267"/>
            <a:ext cx="2222700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R7= 0.72*0.9 = 0.648(</a:t>
            </a:r>
            <a:r>
              <a:rPr lang="vi-VN" sz="1200" dirty="0">
                <a:solidFill>
                  <a:srgbClr val="FF0000"/>
                </a:solidFill>
              </a:rPr>
              <a:t>TI3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76719" y="1839037"/>
            <a:ext cx="822661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0.9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3474" y="2512109"/>
            <a:ext cx="87716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03834" y="3077416"/>
            <a:ext cx="97494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0.81</a:t>
            </a:r>
          </a:p>
        </p:txBody>
      </p:sp>
      <p:cxnSp>
        <p:nvCxnSpPr>
          <p:cNvPr id="67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142"/>
          <p:cNvCxnSpPr/>
          <p:nvPr/>
        </p:nvCxnSpPr>
        <p:spPr>
          <a:xfrm flipV="1">
            <a:off x="2376970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192"/>
          <p:cNvCxnSpPr/>
          <p:nvPr/>
        </p:nvCxnSpPr>
        <p:spPr>
          <a:xfrm flipH="1" flipV="1">
            <a:off x="6316821" y="3191256"/>
            <a:ext cx="391551" cy="52554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195"/>
          <p:cNvCxnSpPr/>
          <p:nvPr/>
        </p:nvCxnSpPr>
        <p:spPr>
          <a:xfrm>
            <a:off x="6172200" y="3276600"/>
            <a:ext cx="415049" cy="480293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214"/>
          <p:cNvCxnSpPr/>
          <p:nvPr/>
        </p:nvCxnSpPr>
        <p:spPr>
          <a:xfrm>
            <a:off x="46389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180"/>
          <p:cNvCxnSpPr/>
          <p:nvPr/>
        </p:nvCxnSpPr>
        <p:spPr>
          <a:xfrm flipV="1">
            <a:off x="3429000" y="3405889"/>
            <a:ext cx="592139" cy="31055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183"/>
          <p:cNvCxnSpPr/>
          <p:nvPr/>
        </p:nvCxnSpPr>
        <p:spPr>
          <a:xfrm flipH="1">
            <a:off x="3410170" y="3530630"/>
            <a:ext cx="723473" cy="3555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cxnSp>
        <p:nvCxnSpPr>
          <p:cNvPr id="83" name="직선 연결선 173"/>
          <p:cNvCxnSpPr/>
          <p:nvPr/>
        </p:nvCxnSpPr>
        <p:spPr>
          <a:xfrm flipH="1" flipV="1">
            <a:off x="5105401" y="2057400"/>
            <a:ext cx="678179" cy="7362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176"/>
          <p:cNvCxnSpPr/>
          <p:nvPr/>
        </p:nvCxnSpPr>
        <p:spPr>
          <a:xfrm>
            <a:off x="5201222" y="1981200"/>
            <a:ext cx="589978" cy="65794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31"/>
          <p:cNvCxnSpPr/>
          <p:nvPr/>
        </p:nvCxnSpPr>
        <p:spPr>
          <a:xfrm flipV="1">
            <a:off x="3505200" y="1752600"/>
            <a:ext cx="1093481" cy="370960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138"/>
          <p:cNvCxnSpPr/>
          <p:nvPr/>
        </p:nvCxnSpPr>
        <p:spPr>
          <a:xfrm flipV="1">
            <a:off x="3556581" y="1944411"/>
            <a:ext cx="1042100" cy="35128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160"/>
          <p:cNvCxnSpPr/>
          <p:nvPr/>
        </p:nvCxnSpPr>
        <p:spPr>
          <a:xfrm flipH="1" flipV="1">
            <a:off x="3429000" y="2456616"/>
            <a:ext cx="687467" cy="5151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164"/>
          <p:cNvCxnSpPr/>
          <p:nvPr/>
        </p:nvCxnSpPr>
        <p:spPr>
          <a:xfrm>
            <a:off x="3368318" y="2560070"/>
            <a:ext cx="638010" cy="48793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733800" y="25146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90" name="TextBox 89"/>
          <p:cNvSpPr txBox="1"/>
          <p:nvPr/>
        </p:nvSpPr>
        <p:spPr>
          <a:xfrm>
            <a:off x="1137233" y="2767485"/>
            <a:ext cx="1042479" cy="27699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R3= 0.72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922495" y="3830949"/>
            <a:ext cx="1072730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R10 </a:t>
            </a:r>
            <a:r>
              <a:rPr lang="en-US" sz="1200">
                <a:solidFill>
                  <a:srgbClr val="FF0000"/>
                </a:solidFill>
              </a:rPr>
              <a:t>= 0.72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168050" y="4435115"/>
            <a:ext cx="1072730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R9 = 0.648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33726" y="4501928"/>
            <a:ext cx="1072730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R5 </a:t>
            </a:r>
            <a:r>
              <a:rPr lang="en-US" sz="1200">
                <a:solidFill>
                  <a:srgbClr val="FF0000"/>
                </a:solidFill>
              </a:rPr>
              <a:t>= 0.729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19019"/>
              </p:ext>
            </p:extLst>
          </p:nvPr>
        </p:nvGraphicFramePr>
        <p:xfrm>
          <a:off x="2980945" y="49530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TI3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rgbClr val="FF0000"/>
                          </a:solidFill>
                        </a:rPr>
                        <a:t>TI5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5" name="Rectangle 94"/>
          <p:cNvSpPr/>
          <p:nvPr/>
        </p:nvSpPr>
        <p:spPr>
          <a:xfrm>
            <a:off x="57976" y="5156537"/>
            <a:ext cx="284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200" dirty="0"/>
              <a:t>Node 3, 5 broadcast</a:t>
            </a:r>
          </a:p>
          <a:p>
            <a:r>
              <a:rPr lang="vi-VN" sz="1200" dirty="0">
                <a:solidFill>
                  <a:srgbClr val="FF0000"/>
                </a:solidFill>
              </a:rPr>
              <a:t>TREE_BUILDING_INIT:</a:t>
            </a:r>
          </a:p>
          <a:p>
            <a:r>
              <a:rPr lang="vi-VN" sz="1200" dirty="0">
                <a:solidFill>
                  <a:srgbClr val="FF0000"/>
                </a:solidFill>
              </a:rPr>
              <a:t>TI3 = (3, 2, 0.72)</a:t>
            </a:r>
          </a:p>
          <a:p>
            <a:r>
              <a:rPr lang="vi-VN" sz="1200" dirty="0">
                <a:solidFill>
                  <a:srgbClr val="FF0000"/>
                </a:solidFill>
              </a:rPr>
              <a:t>TI5 = (5, 3, 0.729) 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17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48" name="직선 연결선 147"/>
          <p:cNvCxnSpPr/>
          <p:nvPr/>
        </p:nvCxnSpPr>
        <p:spPr>
          <a:xfrm flipV="1">
            <a:off x="1958600" y="3632385"/>
            <a:ext cx="16351" cy="906139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 flipV="1">
            <a:off x="2094236" y="3700433"/>
            <a:ext cx="22135" cy="850769"/>
          </a:xfrm>
          <a:prstGeom prst="line">
            <a:avLst/>
          </a:prstGeom>
          <a:solidFill>
            <a:schemeClr val="bg1"/>
          </a:solidFill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H="1">
            <a:off x="2316235" y="4180226"/>
            <a:ext cx="692828" cy="479964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2357174" y="4284773"/>
            <a:ext cx="671553" cy="468066"/>
          </a:xfrm>
          <a:prstGeom prst="line">
            <a:avLst/>
          </a:prstGeom>
          <a:solidFill>
            <a:schemeClr val="bg1"/>
          </a:solidFill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8" name="TextBox 357"/>
          <p:cNvSpPr txBox="1"/>
          <p:nvPr/>
        </p:nvSpPr>
        <p:spPr>
          <a:xfrm>
            <a:off x="1669027" y="4067286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426180" y="423512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3" name="TextBox 402"/>
          <p:cNvSpPr txBox="1"/>
          <p:nvPr/>
        </p:nvSpPr>
        <p:spPr>
          <a:xfrm>
            <a:off x="2168016" y="392886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cxnSp>
        <p:nvCxnSpPr>
          <p:cNvPr id="3" name="Straight Connector 2"/>
          <p:cNvCxnSpPr>
            <a:stCxn id="28" idx="6"/>
            <a:endCxn id="5" idx="2"/>
          </p:cNvCxnSpPr>
          <p:nvPr/>
        </p:nvCxnSpPr>
        <p:spPr bwMode="auto">
          <a:xfrm flipV="1">
            <a:off x="3401568" y="1828800"/>
            <a:ext cx="1322832" cy="441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17" idx="1"/>
            <a:endCxn id="5" idx="5"/>
          </p:cNvCxnSpPr>
          <p:nvPr/>
        </p:nvCxnSpPr>
        <p:spPr bwMode="auto">
          <a:xfrm flipH="1" flipV="1">
            <a:off x="5114645" y="1990445"/>
            <a:ext cx="735890" cy="8105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6" idx="1"/>
            <a:endCxn id="28" idx="5"/>
          </p:cNvCxnSpPr>
          <p:nvPr/>
        </p:nvCxnSpPr>
        <p:spPr bwMode="auto">
          <a:xfrm flipH="1" flipV="1">
            <a:off x="3334613" y="2432405"/>
            <a:ext cx="841564" cy="6645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1" name="Straight Connector 10"/>
          <p:cNvCxnSpPr>
            <a:stCxn id="7" idx="7"/>
            <a:endCxn id="28" idx="3"/>
          </p:cNvCxnSpPr>
          <p:nvPr/>
        </p:nvCxnSpPr>
        <p:spPr bwMode="auto">
          <a:xfrm flipV="1">
            <a:off x="2218022" y="2432405"/>
            <a:ext cx="793301" cy="6807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9" idx="7"/>
            <a:endCxn id="6" idx="3"/>
          </p:cNvCxnSpPr>
          <p:nvPr/>
        </p:nvCxnSpPr>
        <p:spPr bwMode="auto">
          <a:xfrm flipV="1">
            <a:off x="3410170" y="3420199"/>
            <a:ext cx="766007" cy="3969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18" idx="0"/>
            <a:endCxn id="6" idx="5"/>
          </p:cNvCxnSpPr>
          <p:nvPr/>
        </p:nvCxnSpPr>
        <p:spPr bwMode="auto">
          <a:xfrm flipH="1" flipV="1">
            <a:off x="4499467" y="3420199"/>
            <a:ext cx="515307" cy="8948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19" idx="0"/>
            <a:endCxn id="17" idx="5"/>
          </p:cNvCxnSpPr>
          <p:nvPr/>
        </p:nvCxnSpPr>
        <p:spPr bwMode="auto">
          <a:xfrm flipH="1" flipV="1">
            <a:off x="6173825" y="3124301"/>
            <a:ext cx="534546" cy="67960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-44121" y="4063816"/>
            <a:ext cx="1774121" cy="83099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R7= 0.72*0.9 = 0.648(</a:t>
            </a:r>
            <a:r>
              <a:rPr lang="vi-VN" sz="1200" dirty="0">
                <a:solidFill>
                  <a:srgbClr val="FF0000"/>
                </a:solidFill>
              </a:rPr>
              <a:t>TI3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R7 = 0.729*0.9 = 0.656(</a:t>
            </a:r>
            <a:r>
              <a:rPr lang="vi-VN" sz="1200" dirty="0">
                <a:solidFill>
                  <a:schemeClr val="accent2"/>
                </a:solidFill>
              </a:rPr>
              <a:t>TC5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76719" y="1839037"/>
            <a:ext cx="822661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0.9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3474" y="2512109"/>
            <a:ext cx="87716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03834" y="3077416"/>
            <a:ext cx="97494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0.81</a:t>
            </a:r>
          </a:p>
        </p:txBody>
      </p:sp>
      <p:cxnSp>
        <p:nvCxnSpPr>
          <p:cNvPr id="67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142"/>
          <p:cNvCxnSpPr/>
          <p:nvPr/>
        </p:nvCxnSpPr>
        <p:spPr>
          <a:xfrm flipV="1">
            <a:off x="2376970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192"/>
          <p:cNvCxnSpPr/>
          <p:nvPr/>
        </p:nvCxnSpPr>
        <p:spPr>
          <a:xfrm flipH="1" flipV="1">
            <a:off x="6316821" y="3191256"/>
            <a:ext cx="391551" cy="52554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195"/>
          <p:cNvCxnSpPr/>
          <p:nvPr/>
        </p:nvCxnSpPr>
        <p:spPr>
          <a:xfrm>
            <a:off x="6172200" y="3276600"/>
            <a:ext cx="415049" cy="480293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214"/>
          <p:cNvCxnSpPr/>
          <p:nvPr/>
        </p:nvCxnSpPr>
        <p:spPr>
          <a:xfrm>
            <a:off x="46389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180"/>
          <p:cNvCxnSpPr/>
          <p:nvPr/>
        </p:nvCxnSpPr>
        <p:spPr>
          <a:xfrm flipV="1">
            <a:off x="3429000" y="3405889"/>
            <a:ext cx="592139" cy="31055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183"/>
          <p:cNvCxnSpPr/>
          <p:nvPr/>
        </p:nvCxnSpPr>
        <p:spPr>
          <a:xfrm flipH="1">
            <a:off x="3410170" y="3530630"/>
            <a:ext cx="723473" cy="3555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cxnSp>
        <p:nvCxnSpPr>
          <p:cNvPr id="83" name="직선 연결선 173"/>
          <p:cNvCxnSpPr/>
          <p:nvPr/>
        </p:nvCxnSpPr>
        <p:spPr>
          <a:xfrm flipH="1" flipV="1">
            <a:off x="5105401" y="2057400"/>
            <a:ext cx="678179" cy="7362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176"/>
          <p:cNvCxnSpPr/>
          <p:nvPr/>
        </p:nvCxnSpPr>
        <p:spPr>
          <a:xfrm>
            <a:off x="5201222" y="1981200"/>
            <a:ext cx="589978" cy="65794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31"/>
          <p:cNvCxnSpPr/>
          <p:nvPr/>
        </p:nvCxnSpPr>
        <p:spPr>
          <a:xfrm flipV="1">
            <a:off x="3505200" y="1752600"/>
            <a:ext cx="1093481" cy="370960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138"/>
          <p:cNvCxnSpPr/>
          <p:nvPr/>
        </p:nvCxnSpPr>
        <p:spPr>
          <a:xfrm flipV="1">
            <a:off x="3556581" y="1944411"/>
            <a:ext cx="1042100" cy="35128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160"/>
          <p:cNvCxnSpPr/>
          <p:nvPr/>
        </p:nvCxnSpPr>
        <p:spPr>
          <a:xfrm flipH="1" flipV="1">
            <a:off x="3429000" y="2456616"/>
            <a:ext cx="687467" cy="5151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164"/>
          <p:cNvCxnSpPr/>
          <p:nvPr/>
        </p:nvCxnSpPr>
        <p:spPr>
          <a:xfrm>
            <a:off x="3368318" y="2560070"/>
            <a:ext cx="638010" cy="48793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733800" y="25146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90" name="TextBox 89"/>
          <p:cNvSpPr txBox="1"/>
          <p:nvPr/>
        </p:nvSpPr>
        <p:spPr>
          <a:xfrm>
            <a:off x="1137233" y="2767485"/>
            <a:ext cx="1042479" cy="27699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R3= 0.72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922495" y="3830949"/>
            <a:ext cx="1072730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R10 </a:t>
            </a:r>
            <a:r>
              <a:rPr lang="en-US" sz="1200">
                <a:solidFill>
                  <a:srgbClr val="FF0000"/>
                </a:solidFill>
              </a:rPr>
              <a:t>= 0.72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168050" y="4435115"/>
            <a:ext cx="1072730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R9 = 0.648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33726" y="4459069"/>
            <a:ext cx="1605191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R5 = 0.729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R5 = 0.648*0.9 = 0.583(</a:t>
            </a:r>
            <a:r>
              <a:rPr lang="vi-VN" sz="1200" dirty="0">
                <a:solidFill>
                  <a:schemeClr val="accent2"/>
                </a:solidFill>
              </a:rPr>
              <a:t>TC7</a:t>
            </a:r>
            <a:r>
              <a:rPr lang="en-US" sz="1200" dirty="0">
                <a:solidFill>
                  <a:schemeClr val="accent2"/>
                </a:solidFill>
              </a:rPr>
              <a:t>)</a:t>
            </a:r>
          </a:p>
        </p:txBody>
      </p:sp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97529"/>
              </p:ext>
            </p:extLst>
          </p:nvPr>
        </p:nvGraphicFramePr>
        <p:xfrm>
          <a:off x="2971800" y="5410200"/>
          <a:ext cx="60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29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59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9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59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solidFill>
                            <a:schemeClr val="accent2"/>
                          </a:solidFill>
                        </a:rPr>
                        <a:t>TC7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062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4724400" y="1600200"/>
            <a:ext cx="457200" cy="4572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109222" y="302995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4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827777" y="304619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837944" y="462229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7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3019925" y="375022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83580" y="27340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786174" y="431509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9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479771" y="380390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10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944368" y="204216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3754656" y="175974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5" name="TextBox 354"/>
          <p:cNvSpPr txBox="1"/>
          <p:nvPr/>
        </p:nvSpPr>
        <p:spPr>
          <a:xfrm>
            <a:off x="3466615" y="280901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56" name="TextBox 355"/>
          <p:cNvSpPr txBox="1"/>
          <p:nvPr/>
        </p:nvSpPr>
        <p:spPr>
          <a:xfrm>
            <a:off x="3499446" y="3429596"/>
            <a:ext cx="272374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1" name="TextBox 390"/>
          <p:cNvSpPr txBox="1"/>
          <p:nvPr/>
        </p:nvSpPr>
        <p:spPr>
          <a:xfrm>
            <a:off x="2304551" y="252788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2" name="TextBox 391"/>
          <p:cNvSpPr txBox="1"/>
          <p:nvPr/>
        </p:nvSpPr>
        <p:spPr>
          <a:xfrm>
            <a:off x="2647303" y="287032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393" name="TextBox 392"/>
          <p:cNvSpPr txBox="1"/>
          <p:nvPr/>
        </p:nvSpPr>
        <p:spPr>
          <a:xfrm>
            <a:off x="5543024" y="2162151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396" name="TextBox 395"/>
          <p:cNvSpPr txBox="1"/>
          <p:nvPr/>
        </p:nvSpPr>
        <p:spPr>
          <a:xfrm>
            <a:off x="4795708" y="366133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362200" y="4114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02" name="TextBox 401"/>
          <p:cNvSpPr txBox="1"/>
          <p:nvPr/>
        </p:nvSpPr>
        <p:spPr>
          <a:xfrm>
            <a:off x="2662649" y="453010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0" name="TextBox 419"/>
          <p:cNvSpPr txBox="1"/>
          <p:nvPr/>
        </p:nvSpPr>
        <p:spPr>
          <a:xfrm>
            <a:off x="6479207" y="3248863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157772" y="3531778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1" name="TextBox 430"/>
          <p:cNvSpPr txBox="1"/>
          <p:nvPr/>
        </p:nvSpPr>
        <p:spPr>
          <a:xfrm>
            <a:off x="3808889" y="3750073"/>
            <a:ext cx="325830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sp>
        <p:nvSpPr>
          <p:cNvPr id="439" name="TextBox 438"/>
          <p:cNvSpPr txBox="1"/>
          <p:nvPr/>
        </p:nvSpPr>
        <p:spPr>
          <a:xfrm>
            <a:off x="4397479" y="3842185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6777" y="248342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/>
              <a:t>Example Network</a:t>
            </a:r>
            <a:endParaRPr lang="ko-KR" altLang="en-US" sz="2800" dirty="0"/>
          </a:p>
        </p:txBody>
      </p:sp>
      <p:cxnSp>
        <p:nvCxnSpPr>
          <p:cNvPr id="3" name="Straight Connector 2"/>
          <p:cNvCxnSpPr>
            <a:stCxn id="28" idx="6"/>
            <a:endCxn id="5" idx="2"/>
          </p:cNvCxnSpPr>
          <p:nvPr/>
        </p:nvCxnSpPr>
        <p:spPr bwMode="auto">
          <a:xfrm flipV="1">
            <a:off x="3401568" y="1828800"/>
            <a:ext cx="1322832" cy="441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17" idx="1"/>
            <a:endCxn id="5" idx="5"/>
          </p:cNvCxnSpPr>
          <p:nvPr/>
        </p:nvCxnSpPr>
        <p:spPr bwMode="auto">
          <a:xfrm flipH="1" flipV="1">
            <a:off x="5114645" y="1990445"/>
            <a:ext cx="735890" cy="8105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6" idx="1"/>
            <a:endCxn id="28" idx="5"/>
          </p:cNvCxnSpPr>
          <p:nvPr/>
        </p:nvCxnSpPr>
        <p:spPr bwMode="auto">
          <a:xfrm flipH="1" flipV="1">
            <a:off x="3334613" y="2432405"/>
            <a:ext cx="841564" cy="6645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3939328" y="22098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0.9</a:t>
            </a:r>
            <a:endParaRPr lang="ko-KR" altLang="en-US" sz="1200" dirty="0"/>
          </a:p>
        </p:txBody>
      </p:sp>
      <p:cxnSp>
        <p:nvCxnSpPr>
          <p:cNvPr id="11" name="Straight Connector 10"/>
          <p:cNvCxnSpPr>
            <a:stCxn id="7" idx="7"/>
            <a:endCxn id="28" idx="3"/>
          </p:cNvCxnSpPr>
          <p:nvPr/>
        </p:nvCxnSpPr>
        <p:spPr bwMode="auto">
          <a:xfrm flipV="1">
            <a:off x="2218022" y="2432405"/>
            <a:ext cx="793301" cy="6807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9" idx="7"/>
            <a:endCxn id="6" idx="3"/>
          </p:cNvCxnSpPr>
          <p:nvPr/>
        </p:nvCxnSpPr>
        <p:spPr bwMode="auto">
          <a:xfrm flipV="1">
            <a:off x="3410170" y="3420199"/>
            <a:ext cx="766007" cy="3969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18" idx="0"/>
            <a:endCxn id="6" idx="5"/>
          </p:cNvCxnSpPr>
          <p:nvPr/>
        </p:nvCxnSpPr>
        <p:spPr bwMode="auto">
          <a:xfrm flipH="1" flipV="1">
            <a:off x="4499467" y="3420199"/>
            <a:ext cx="515307" cy="8948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19" idx="0"/>
            <a:endCxn id="17" idx="5"/>
          </p:cNvCxnSpPr>
          <p:nvPr/>
        </p:nvCxnSpPr>
        <p:spPr bwMode="auto">
          <a:xfrm flipH="1" flipV="1">
            <a:off x="6173825" y="3124301"/>
            <a:ext cx="534546" cy="67960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>
            <a:stCxn id="8" idx="7"/>
            <a:endCxn id="9" idx="3"/>
          </p:cNvCxnSpPr>
          <p:nvPr/>
        </p:nvCxnSpPr>
        <p:spPr bwMode="auto">
          <a:xfrm flipV="1">
            <a:off x="2228189" y="4140466"/>
            <a:ext cx="858691" cy="5487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5196723" y="2413294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cxnSp>
        <p:nvCxnSpPr>
          <p:cNvPr id="59" name="직선 연결선 173"/>
          <p:cNvCxnSpPr/>
          <p:nvPr/>
        </p:nvCxnSpPr>
        <p:spPr>
          <a:xfrm flipH="1" flipV="1">
            <a:off x="5105401" y="2057400"/>
            <a:ext cx="678179" cy="7362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176"/>
          <p:cNvCxnSpPr/>
          <p:nvPr/>
        </p:nvCxnSpPr>
        <p:spPr>
          <a:xfrm>
            <a:off x="5201222" y="1981200"/>
            <a:ext cx="589978" cy="657947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31"/>
          <p:cNvCxnSpPr/>
          <p:nvPr/>
        </p:nvCxnSpPr>
        <p:spPr>
          <a:xfrm flipV="1">
            <a:off x="3505200" y="1752600"/>
            <a:ext cx="1093481" cy="370960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38"/>
          <p:cNvCxnSpPr/>
          <p:nvPr/>
        </p:nvCxnSpPr>
        <p:spPr>
          <a:xfrm flipV="1">
            <a:off x="3556581" y="1944411"/>
            <a:ext cx="1042100" cy="35128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141"/>
          <p:cNvCxnSpPr/>
          <p:nvPr/>
        </p:nvCxnSpPr>
        <p:spPr>
          <a:xfrm flipV="1">
            <a:off x="2248662" y="2429344"/>
            <a:ext cx="659129" cy="577552"/>
          </a:xfrm>
          <a:prstGeom prst="line">
            <a:avLst/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142"/>
          <p:cNvCxnSpPr/>
          <p:nvPr/>
        </p:nvCxnSpPr>
        <p:spPr>
          <a:xfrm flipV="1">
            <a:off x="2376970" y="2513106"/>
            <a:ext cx="671030" cy="57712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160"/>
          <p:cNvCxnSpPr/>
          <p:nvPr/>
        </p:nvCxnSpPr>
        <p:spPr>
          <a:xfrm flipH="1" flipV="1">
            <a:off x="3429000" y="2456616"/>
            <a:ext cx="687467" cy="515184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164"/>
          <p:cNvCxnSpPr/>
          <p:nvPr/>
        </p:nvCxnSpPr>
        <p:spPr>
          <a:xfrm>
            <a:off x="3368318" y="2560070"/>
            <a:ext cx="638010" cy="48793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733800" y="2514600"/>
            <a:ext cx="251672" cy="184666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1200" dirty="0"/>
              <a:t>0.8</a:t>
            </a:r>
            <a:endParaRPr lang="ko-KR" altLang="en-US" sz="1200" dirty="0"/>
          </a:p>
        </p:txBody>
      </p:sp>
      <p:cxnSp>
        <p:nvCxnSpPr>
          <p:cNvPr id="81" name="직선 연결선 192"/>
          <p:cNvCxnSpPr/>
          <p:nvPr/>
        </p:nvCxnSpPr>
        <p:spPr>
          <a:xfrm flipH="1" flipV="1">
            <a:off x="6316821" y="3191256"/>
            <a:ext cx="391551" cy="52554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195"/>
          <p:cNvCxnSpPr/>
          <p:nvPr/>
        </p:nvCxnSpPr>
        <p:spPr>
          <a:xfrm>
            <a:off x="6172200" y="3276600"/>
            <a:ext cx="415049" cy="480293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214"/>
          <p:cNvCxnSpPr/>
          <p:nvPr/>
        </p:nvCxnSpPr>
        <p:spPr>
          <a:xfrm>
            <a:off x="4638917" y="3494806"/>
            <a:ext cx="390283" cy="667479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215"/>
          <p:cNvCxnSpPr/>
          <p:nvPr/>
        </p:nvCxnSpPr>
        <p:spPr>
          <a:xfrm flipH="1" flipV="1">
            <a:off x="4498065" y="3576469"/>
            <a:ext cx="385945" cy="65346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180"/>
          <p:cNvCxnSpPr/>
          <p:nvPr/>
        </p:nvCxnSpPr>
        <p:spPr>
          <a:xfrm flipV="1">
            <a:off x="3429000" y="3405889"/>
            <a:ext cx="592139" cy="310555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183"/>
          <p:cNvCxnSpPr/>
          <p:nvPr/>
        </p:nvCxnSpPr>
        <p:spPr>
          <a:xfrm flipH="1">
            <a:off x="3410170" y="3530630"/>
            <a:ext cx="723473" cy="355570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326"/>
          <p:cNvCxnSpPr/>
          <p:nvPr/>
        </p:nvCxnSpPr>
        <p:spPr>
          <a:xfrm flipH="1">
            <a:off x="2336636" y="4162285"/>
            <a:ext cx="635164" cy="367818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327"/>
          <p:cNvCxnSpPr/>
          <p:nvPr/>
        </p:nvCxnSpPr>
        <p:spPr>
          <a:xfrm flipV="1">
            <a:off x="2376447" y="4256334"/>
            <a:ext cx="671553" cy="468066"/>
          </a:xfrm>
          <a:prstGeom prst="line">
            <a:avLst/>
          </a:prstGeom>
          <a:solidFill>
            <a:schemeClr val="bg1"/>
          </a:solidFill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142637" y="1524000"/>
            <a:ext cx="87716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 = 1.0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L1 = 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95800" y="32766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L4 = 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70967" y="20852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 = 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24600" y="2679412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L6 = 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66567" y="45998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L9 = 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12011" y="3990201"/>
            <a:ext cx="79861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L10 = 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43000" y="3048000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L3 = 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44680" y="4285425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L5 = 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09800" y="4828401"/>
            <a:ext cx="7008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L7 = 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76719" y="1839037"/>
            <a:ext cx="822661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R2= 0.9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3474" y="2512109"/>
            <a:ext cx="87716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R6 = 0.8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03834" y="3077416"/>
            <a:ext cx="974947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R4 = 0.81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37233" y="2767485"/>
            <a:ext cx="1042479" cy="27699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R3= 0.72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922495" y="3830949"/>
            <a:ext cx="1072730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R10 </a:t>
            </a:r>
            <a:r>
              <a:rPr lang="en-US" sz="1200">
                <a:solidFill>
                  <a:srgbClr val="FF0000"/>
                </a:solidFill>
              </a:rPr>
              <a:t>= 0.72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168050" y="4435115"/>
            <a:ext cx="1072730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R9 = 0.648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33726" y="4501928"/>
            <a:ext cx="1072730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R5 </a:t>
            </a:r>
            <a:r>
              <a:rPr lang="en-US" sz="1200">
                <a:solidFill>
                  <a:srgbClr val="FF0000"/>
                </a:solidFill>
              </a:rPr>
              <a:t>= 0.729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2182834" y="5096236"/>
            <a:ext cx="1774121" cy="27699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R7 = 0.656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6010" y="5841525"/>
            <a:ext cx="2808333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vi-VN" sz="1200" dirty="0"/>
              <a:t>Finally, we have the tree topology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2755992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MS Reference Sans Serif"/>
        <a:ea typeface="HY견고딕"/>
        <a:cs typeface=""/>
      </a:majorFont>
      <a:minorFont>
        <a:latin typeface="MS Reference Sans Serif"/>
        <a:ea typeface="돋움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+mn-lt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  <a:txDef>
      <a:spPr/>
      <a:bodyPr vert="horz" wrap="none" lIns="91440" tIns="45720" rIns="91440" bIns="45720" rtlCol="0" anchor="ctr">
        <a:spAutoFit/>
      </a:bodyPr>
      <a:lstStyle>
        <a:defPPr>
          <a:defRPr sz="1600" dirty="0" smtClean="0"/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98982</TotalTime>
  <Words>2074</Words>
  <Application>Microsoft Office PowerPoint</Application>
  <PresentationFormat>On-screen Show (4:3)</PresentationFormat>
  <Paragraphs>981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굴림</vt:lpstr>
      <vt:lpstr>맑은 고딕</vt:lpstr>
      <vt:lpstr>Arial</vt:lpstr>
      <vt:lpstr>Calibri</vt:lpstr>
      <vt:lpstr>MS Reference Sans Serif</vt:lpstr>
      <vt:lpstr>Wingdings</vt:lpstr>
      <vt:lpstr>기본 디자인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 Tan</dc:creator>
  <cp:lastModifiedBy>Mr Tan</cp:lastModifiedBy>
  <cp:revision>1001</cp:revision>
  <cp:lastPrinted>2018-01-05T07:02:08Z</cp:lastPrinted>
  <dcterms:created xsi:type="dcterms:W3CDTF">2017-07-31T05:47:21Z</dcterms:created>
  <dcterms:modified xsi:type="dcterms:W3CDTF">2020-08-16T16:43:10Z</dcterms:modified>
</cp:coreProperties>
</file>
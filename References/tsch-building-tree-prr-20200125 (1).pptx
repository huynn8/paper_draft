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9"/>
  </p:notesMasterIdLst>
  <p:sldIdLst>
    <p:sldId id="338" r:id="rId2"/>
    <p:sldId id="356" r:id="rId3"/>
    <p:sldId id="357" r:id="rId4"/>
    <p:sldId id="355" r:id="rId5"/>
    <p:sldId id="354" r:id="rId6"/>
    <p:sldId id="350" r:id="rId7"/>
    <p:sldId id="352" r:id="rId8"/>
    <p:sldId id="351" r:id="rId9"/>
    <p:sldId id="353" r:id="rId10"/>
    <p:sldId id="342" r:id="rId11"/>
    <p:sldId id="343" r:id="rId12"/>
    <p:sldId id="344" r:id="rId13"/>
    <p:sldId id="345" r:id="rId14"/>
    <p:sldId id="346" r:id="rId15"/>
    <p:sldId id="347" r:id="rId16"/>
    <p:sldId id="348" r:id="rId17"/>
    <p:sldId id="349" r:id="rId18"/>
  </p:sldIdLst>
  <p:sldSz cx="9144000" cy="6858000" type="screen4x3"/>
  <p:notesSz cx="6797675" cy="992663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B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978" autoAdjust="0"/>
    <p:restoredTop sz="95314" autoAdjust="0"/>
  </p:normalViewPr>
  <p:slideViewPr>
    <p:cSldViewPr>
      <p:cViewPr varScale="1">
        <p:scale>
          <a:sx n="109" d="100"/>
          <a:sy n="109" d="100"/>
        </p:scale>
        <p:origin x="1830" y="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FACD6A2-A186-4ADA-B61C-357BC75CB575}" type="datetimeFigureOut">
              <a:rPr lang="en-US" smtClean="0"/>
              <a:pPr/>
              <a:t>9/23/2020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65225" y="1241425"/>
            <a:ext cx="44672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79768" y="4777194"/>
            <a:ext cx="5438140" cy="3908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50443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E773606-0173-4315-8D7B-78A7A9AFC9B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5002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sz="1400"/>
            </a:lvl1pPr>
          </a:lstStyle>
          <a:p>
            <a:fld id="{6863D3A1-FEA0-4868-A2A4-1BCFFB354D10}" type="slidenum">
              <a:rPr lang="en-US" altLang="ko-KR" smtClean="0"/>
              <a:pPr/>
              <a:t>‹#›</a:t>
            </a:fld>
            <a:endParaRPr lang="en-US" altLang="ko-KR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400"/>
            </a:lvl1pPr>
          </a:lstStyle>
          <a:p>
            <a:r>
              <a:rPr lang="en-US" altLang="ko-KR"/>
              <a:t>CNLab, UOU</a:t>
            </a:r>
          </a:p>
        </p:txBody>
      </p:sp>
    </p:spTree>
    <p:extLst>
      <p:ext uri="{BB962C8B-B14F-4D97-AF65-F5344CB8AC3E}">
        <p14:creationId xmlns:p14="http://schemas.microsoft.com/office/powerpoint/2010/main" val="38130263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solidFill>
            <a:schemeClr val="accent1"/>
          </a:solidFill>
        </p:spPr>
        <p:txBody>
          <a:bodyPr/>
          <a:lstStyle>
            <a:lvl1pPr>
              <a:defRPr sz="36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alibri" panose="020F0502020204030204" pitchFamily="34" charset="0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97565" y="1302026"/>
            <a:ext cx="8517836" cy="4793973"/>
          </a:xfrm>
        </p:spPr>
        <p:txBody>
          <a:bodyPr/>
          <a:lstStyle>
            <a:lvl1pPr latinLnBrk="0">
              <a:buClr>
                <a:srgbClr val="FFC000"/>
              </a:buClr>
              <a:buSzPct val="90000"/>
              <a:buFont typeface="Wingdings" pitchFamily="2" charset="2"/>
              <a:buChar char=""/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defRPr>
            </a:lvl1pPr>
            <a:lvl2pPr latinLnBrk="0">
              <a:buClr>
                <a:schemeClr val="accent3">
                  <a:lumMod val="50000"/>
                </a:schemeClr>
              </a:buClr>
              <a:buSzPct val="110000"/>
              <a:buFont typeface="Wingdings" pitchFamily="2" charset="2"/>
              <a:buChar char="§"/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defRPr>
            </a:lvl2pPr>
            <a:lvl3pPr latinLnBrk="0">
              <a:buClr>
                <a:srgbClr val="EEC100"/>
              </a:buClr>
              <a:buFont typeface="MS Reference Sans Serif" pitchFamily="34" charset="0"/>
              <a:buChar char="–"/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defRPr>
            </a:lvl3pPr>
            <a:lvl4pPr latinLnBrk="0">
              <a:buClr>
                <a:schemeClr val="accent3">
                  <a:lumMod val="50000"/>
                </a:schemeClr>
              </a:buClr>
              <a:buFont typeface="Arial" pitchFamily="34" charset="0"/>
              <a:buChar char="•"/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defRPr>
            </a:lvl4pPr>
            <a:lvl5pPr latinLnBrk="0"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7891668" y="6420114"/>
            <a:ext cx="922959" cy="301625"/>
          </a:xfrm>
        </p:spPr>
        <p:txBody>
          <a:bodyPr/>
          <a:lstStyle>
            <a:lvl1pPr algn="ctr">
              <a:defRPr sz="1400">
                <a:solidFill>
                  <a:schemeClr val="accent3">
                    <a:lumMod val="65000"/>
                  </a:schemeClr>
                </a:solidFill>
              </a:defRPr>
            </a:lvl1pPr>
          </a:lstStyle>
          <a:p>
            <a:fld id="{0493B4F4-97D6-4052-A1BB-E3FC7F72B110}" type="slidenum">
              <a:rPr lang="en-US" altLang="ko-KR" smtClean="0"/>
              <a:pPr/>
              <a:t>‹#›</a:t>
            </a:fld>
            <a:endParaRPr lang="en-US" altLang="ko-KR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574676" y="6413342"/>
            <a:ext cx="1611933" cy="383967"/>
          </a:xfrm>
        </p:spPr>
        <p:txBody>
          <a:bodyPr/>
          <a:lstStyle>
            <a:lvl1pPr>
              <a:defRPr sz="1400">
                <a:solidFill>
                  <a:schemeClr val="accent3">
                    <a:lumMod val="65000"/>
                  </a:schemeClr>
                </a:solidFill>
              </a:defRPr>
            </a:lvl1pPr>
          </a:lstStyle>
          <a:p>
            <a:r>
              <a:rPr lang="en-US" altLang="ko-KR" dirty="0" err="1"/>
              <a:t>CNLab</a:t>
            </a:r>
            <a:r>
              <a:rPr lang="en-US" altLang="ko-KR" dirty="0"/>
              <a:t>, UOU</a:t>
            </a:r>
          </a:p>
        </p:txBody>
      </p:sp>
    </p:spTree>
    <p:extLst>
      <p:ext uri="{BB962C8B-B14F-4D97-AF65-F5344CB8AC3E}">
        <p14:creationId xmlns:p14="http://schemas.microsoft.com/office/powerpoint/2010/main" val="22190615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7B1931C2-2ED6-45B7-8CDD-4DB96C58EE1C}" type="slidenum">
              <a:rPr lang="en-US" altLang="ko-KR"/>
              <a:pPr/>
              <a:t>‹#›</a:t>
            </a:fld>
            <a:endParaRPr lang="en-US" altLang="ko-KR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ko-KR"/>
              <a:t>CNLab, UOU</a:t>
            </a:r>
          </a:p>
        </p:txBody>
      </p:sp>
    </p:spTree>
    <p:extLst>
      <p:ext uri="{BB962C8B-B14F-4D97-AF65-F5344CB8AC3E}">
        <p14:creationId xmlns:p14="http://schemas.microsoft.com/office/powerpoint/2010/main" val="2031353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36563" y="1322388"/>
            <a:ext cx="4162425" cy="477361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751388" y="1322388"/>
            <a:ext cx="4164012" cy="477361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8FC0BBDE-DECF-4E8C-B7FC-C4270F6DFCA9}" type="slidenum">
              <a:rPr lang="en-US" altLang="ko-KR"/>
              <a:pPr/>
              <a:t>‹#›</a:t>
            </a:fld>
            <a:endParaRPr lang="en-US" altLang="ko-KR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ko-KR"/>
              <a:t>CNLab, UOU</a:t>
            </a:r>
          </a:p>
        </p:txBody>
      </p:sp>
    </p:spTree>
    <p:extLst>
      <p:ext uri="{BB962C8B-B14F-4D97-AF65-F5344CB8AC3E}">
        <p14:creationId xmlns:p14="http://schemas.microsoft.com/office/powerpoint/2010/main" val="20252046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CC860E6B-4B03-4874-A9E7-3D9030C0B8F2}" type="slidenum">
              <a:rPr lang="en-US" altLang="ko-KR"/>
              <a:pPr/>
              <a:t>‹#›</a:t>
            </a:fld>
            <a:endParaRPr lang="en-US" altLang="ko-KR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ko-KR"/>
              <a:t>CNLab, UOU</a:t>
            </a:r>
          </a:p>
        </p:txBody>
      </p:sp>
    </p:spTree>
    <p:extLst>
      <p:ext uri="{BB962C8B-B14F-4D97-AF65-F5344CB8AC3E}">
        <p14:creationId xmlns:p14="http://schemas.microsoft.com/office/powerpoint/2010/main" val="22220592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614952C3-3DD5-41AA-8282-619AE845BB71}" type="slidenum">
              <a:rPr lang="en-US" altLang="ko-KR"/>
              <a:pPr/>
              <a:t>‹#›</a:t>
            </a:fld>
            <a:endParaRPr lang="en-US" altLang="ko-KR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ko-KR"/>
              <a:t>CNLab, UOU</a:t>
            </a:r>
          </a:p>
        </p:txBody>
      </p:sp>
    </p:spTree>
    <p:extLst>
      <p:ext uri="{BB962C8B-B14F-4D97-AF65-F5344CB8AC3E}">
        <p14:creationId xmlns:p14="http://schemas.microsoft.com/office/powerpoint/2010/main" val="39228967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CDE67AFD-BB9F-4A7F-81EE-F28046911602}" type="slidenum">
              <a:rPr lang="en-US" altLang="ko-KR"/>
              <a:pPr/>
              <a:t>‹#›</a:t>
            </a:fld>
            <a:endParaRPr lang="en-US" altLang="ko-KR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ko-KR"/>
              <a:t>CNLab, UOU</a:t>
            </a:r>
          </a:p>
        </p:txBody>
      </p:sp>
    </p:spTree>
    <p:extLst>
      <p:ext uri="{BB962C8B-B14F-4D97-AF65-F5344CB8AC3E}">
        <p14:creationId xmlns:p14="http://schemas.microsoft.com/office/powerpoint/2010/main" val="22546325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726EF61A-204F-4255-A273-7C30FF9A3DFE}" type="slidenum">
              <a:rPr lang="en-US" altLang="ko-KR"/>
              <a:pPr/>
              <a:t>‹#›</a:t>
            </a:fld>
            <a:endParaRPr lang="en-US" altLang="ko-KR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ko-KR"/>
              <a:t>CNLab, UOU</a:t>
            </a:r>
          </a:p>
        </p:txBody>
      </p:sp>
    </p:spTree>
    <p:extLst>
      <p:ext uri="{BB962C8B-B14F-4D97-AF65-F5344CB8AC3E}">
        <p14:creationId xmlns:p14="http://schemas.microsoft.com/office/powerpoint/2010/main" val="10913039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3C9FE6F7-2A42-49AF-9E03-FE595315033C}" type="slidenum">
              <a:rPr lang="en-US" altLang="ko-KR"/>
              <a:pPr/>
              <a:t>‹#›</a:t>
            </a:fld>
            <a:endParaRPr lang="en-US" altLang="ko-KR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ko-KR"/>
              <a:t>CNLab, UOU</a:t>
            </a:r>
          </a:p>
        </p:txBody>
      </p:sp>
    </p:spTree>
    <p:extLst>
      <p:ext uri="{BB962C8B-B14F-4D97-AF65-F5344CB8AC3E}">
        <p14:creationId xmlns:p14="http://schemas.microsoft.com/office/powerpoint/2010/main" val="2045921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68D9B575-9B15-4136-A4B7-7BFDDF2F65CB}" type="slidenum">
              <a:rPr lang="en-US" altLang="ko-KR"/>
              <a:pPr/>
              <a:t>‹#›</a:t>
            </a:fld>
            <a:endParaRPr lang="en-US" altLang="ko-KR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ko-KR"/>
              <a:t>CNLab, UOU</a:t>
            </a:r>
          </a:p>
        </p:txBody>
      </p:sp>
    </p:spTree>
    <p:extLst>
      <p:ext uri="{BB962C8B-B14F-4D97-AF65-F5344CB8AC3E}">
        <p14:creationId xmlns:p14="http://schemas.microsoft.com/office/powerpoint/2010/main" val="30526414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858000" y="0"/>
            <a:ext cx="2286000" cy="6096000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0" y="0"/>
            <a:ext cx="6705600" cy="6096000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59A42A5B-80A5-4025-95B4-18C270143AD0}" type="slidenum">
              <a:rPr lang="en-US" altLang="ko-KR"/>
              <a:pPr/>
              <a:t>‹#›</a:t>
            </a:fld>
            <a:endParaRPr lang="en-US" altLang="ko-KR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ko-KR"/>
              <a:t>CNLab, UOU</a:t>
            </a:r>
          </a:p>
        </p:txBody>
      </p:sp>
    </p:spTree>
    <p:extLst>
      <p:ext uri="{BB962C8B-B14F-4D97-AF65-F5344CB8AC3E}">
        <p14:creationId xmlns:p14="http://schemas.microsoft.com/office/powerpoint/2010/main" val="245615232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제목, 텍스트 및 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6680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sz="half" idx="1"/>
          </p:nvPr>
        </p:nvSpPr>
        <p:spPr>
          <a:xfrm>
            <a:off x="436563" y="1322388"/>
            <a:ext cx="4162425" cy="4773612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quarter" idx="2"/>
          </p:nvPr>
        </p:nvSpPr>
        <p:spPr>
          <a:xfrm>
            <a:off x="4751388" y="1322388"/>
            <a:ext cx="4164012" cy="2309812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내용 개체 틀 4"/>
          <p:cNvSpPr>
            <a:spLocks noGrp="1"/>
          </p:cNvSpPr>
          <p:nvPr>
            <p:ph sz="quarter" idx="3"/>
          </p:nvPr>
        </p:nvSpPr>
        <p:spPr>
          <a:xfrm>
            <a:off x="4751388" y="3784600"/>
            <a:ext cx="4164012" cy="23114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0"/>
          </p:nvPr>
        </p:nvSpPr>
        <p:spPr>
          <a:xfrm>
            <a:off x="6889750" y="6361113"/>
            <a:ext cx="1905000" cy="301625"/>
          </a:xfrm>
        </p:spPr>
        <p:txBody>
          <a:bodyPr/>
          <a:lstStyle>
            <a:lvl1pPr>
              <a:defRPr/>
            </a:lvl1pPr>
          </a:lstStyle>
          <a:p>
            <a:fld id="{A561504A-ECCD-4B18-AAD6-79BD6C12DCE2}" type="slidenum">
              <a:rPr lang="en-US" altLang="ko-KR"/>
              <a:pPr/>
              <a:t>‹#›</a:t>
            </a:fld>
            <a:endParaRPr lang="en-US" altLang="ko-KR"/>
          </a:p>
        </p:txBody>
      </p:sp>
      <p:sp>
        <p:nvSpPr>
          <p:cNvPr id="7" name="바닥글 개체 틀 6"/>
          <p:cNvSpPr>
            <a:spLocks noGrp="1"/>
          </p:cNvSpPr>
          <p:nvPr>
            <p:ph type="ftr" sz="quarter" idx="11"/>
          </p:nvPr>
        </p:nvSpPr>
        <p:spPr>
          <a:xfrm>
            <a:off x="574675" y="6354763"/>
            <a:ext cx="2543175" cy="346075"/>
          </a:xfrm>
        </p:spPr>
        <p:txBody>
          <a:bodyPr/>
          <a:lstStyle>
            <a:lvl1pPr>
              <a:defRPr/>
            </a:lvl1pPr>
          </a:lstStyle>
          <a:p>
            <a:r>
              <a:rPr lang="en-US" altLang="ko-KR"/>
              <a:t>CNLab, UOU</a:t>
            </a:r>
          </a:p>
        </p:txBody>
      </p:sp>
    </p:spTree>
    <p:extLst>
      <p:ext uri="{BB962C8B-B14F-4D97-AF65-F5344CB8AC3E}">
        <p14:creationId xmlns:p14="http://schemas.microsoft.com/office/powerpoint/2010/main" val="17015844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C3D97E-19C6-44B3-AF79-49E6CB377417}" type="datetimeFigureOut">
              <a:rPr lang="en-US" smtClean="0"/>
              <a:t>9/23/2020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C0690-041E-451D-BBEC-A00DD3311B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23114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0" y="0"/>
            <a:ext cx="9144000" cy="1066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dirty="0"/>
              <a:t>마스터 제목 스타일 편집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436563" y="1322388"/>
            <a:ext cx="8478837" cy="4773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871790" y="6409753"/>
            <a:ext cx="922959" cy="301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600" b="1" i="1">
                <a:solidFill>
                  <a:schemeClr val="bg1">
                    <a:lumMod val="65000"/>
                  </a:schemeClr>
                </a:solidFill>
                <a:latin typeface="+mn-lt"/>
              </a:defRPr>
            </a:lvl1pPr>
          </a:lstStyle>
          <a:p>
            <a:fld id="{40574A42-4423-4030-8D9A-C808A9C61CB9}" type="slidenum">
              <a:rPr lang="en-US" altLang="ko-KR" smtClean="0"/>
              <a:pPr/>
              <a:t>‹#›</a:t>
            </a:fld>
            <a:endParaRPr lang="en-US" altLang="ko-KR" dirty="0"/>
          </a:p>
        </p:txBody>
      </p:sp>
      <p:sp>
        <p:nvSpPr>
          <p:cNvPr id="1039" name="Rectangle 1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574676" y="6403403"/>
            <a:ext cx="1721264" cy="346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defRPr sz="1600" b="1" i="1">
                <a:solidFill>
                  <a:schemeClr val="bg1">
                    <a:lumMod val="65000"/>
                  </a:schemeClr>
                </a:solidFill>
                <a:latin typeface="+mn-lt"/>
              </a:defRPr>
            </a:lvl1pPr>
          </a:lstStyle>
          <a:p>
            <a:r>
              <a:rPr lang="en-US" altLang="ko-KR" dirty="0" err="1"/>
              <a:t>CNLab</a:t>
            </a:r>
            <a:r>
              <a:rPr lang="en-US" altLang="ko-KR" dirty="0"/>
              <a:t>, UOU</a:t>
            </a:r>
          </a:p>
        </p:txBody>
      </p:sp>
      <p:sp>
        <p:nvSpPr>
          <p:cNvPr id="8" name="직사각형 7"/>
          <p:cNvSpPr/>
          <p:nvPr userDrawn="1"/>
        </p:nvSpPr>
        <p:spPr bwMode="auto">
          <a:xfrm flipV="1">
            <a:off x="-2" y="-2"/>
            <a:ext cx="9144001" cy="1053550"/>
          </a:xfrm>
          <a:prstGeom prst="rect">
            <a:avLst/>
          </a:prstGeom>
          <a:solidFill>
            <a:srgbClr val="CCECFF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24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9" name="직사각형 8"/>
          <p:cNvSpPr/>
          <p:nvPr userDrawn="1"/>
        </p:nvSpPr>
        <p:spPr bwMode="auto">
          <a:xfrm flipV="1">
            <a:off x="0" y="6282375"/>
            <a:ext cx="9144000" cy="62948"/>
          </a:xfrm>
          <a:prstGeom prst="rect">
            <a:avLst/>
          </a:prstGeom>
          <a:solidFill>
            <a:srgbClr val="EEC100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굴림" pitchFamily="50" charset="-127"/>
              <a:ea typeface="굴림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01566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  <p:hf hdr="0" dt="0"/>
  <p:txStyles>
    <p:titleStyle>
      <a:lvl1pPr algn="ctr" rtl="0" fontAlgn="base" latinLnBrk="1">
        <a:spcBef>
          <a:spcPct val="0"/>
        </a:spcBef>
        <a:spcAft>
          <a:spcPct val="0"/>
        </a:spcAft>
        <a:defRPr kumimoji="1" sz="3200" b="0">
          <a:solidFill>
            <a:schemeClr val="bg1"/>
          </a:solidFill>
          <a:latin typeface="+mj-lt"/>
          <a:ea typeface="+mj-ea"/>
          <a:cs typeface="+mj-cs"/>
        </a:defRPr>
      </a:lvl1pPr>
      <a:lvl2pPr algn="ctr" rtl="0" fontAlgn="base" latinLnBrk="1">
        <a:spcBef>
          <a:spcPct val="0"/>
        </a:spcBef>
        <a:spcAft>
          <a:spcPct val="0"/>
        </a:spcAft>
        <a:defRPr kumimoji="1" sz="3200" b="1">
          <a:solidFill>
            <a:srgbClr val="4D4D4D"/>
          </a:solidFill>
          <a:latin typeface="MS Reference Sans Serif" pitchFamily="34" charset="0"/>
          <a:ea typeface="HY견고딕" pitchFamily="18" charset="-127"/>
        </a:defRPr>
      </a:lvl2pPr>
      <a:lvl3pPr algn="ctr" rtl="0" fontAlgn="base" latinLnBrk="1">
        <a:spcBef>
          <a:spcPct val="0"/>
        </a:spcBef>
        <a:spcAft>
          <a:spcPct val="0"/>
        </a:spcAft>
        <a:defRPr kumimoji="1" sz="3200" b="1">
          <a:solidFill>
            <a:srgbClr val="4D4D4D"/>
          </a:solidFill>
          <a:latin typeface="MS Reference Sans Serif" pitchFamily="34" charset="0"/>
          <a:ea typeface="HY견고딕" pitchFamily="18" charset="-127"/>
        </a:defRPr>
      </a:lvl3pPr>
      <a:lvl4pPr algn="ctr" rtl="0" fontAlgn="base" latinLnBrk="1">
        <a:spcBef>
          <a:spcPct val="0"/>
        </a:spcBef>
        <a:spcAft>
          <a:spcPct val="0"/>
        </a:spcAft>
        <a:defRPr kumimoji="1" sz="3200" b="1">
          <a:solidFill>
            <a:srgbClr val="4D4D4D"/>
          </a:solidFill>
          <a:latin typeface="MS Reference Sans Serif" pitchFamily="34" charset="0"/>
          <a:ea typeface="HY견고딕" pitchFamily="18" charset="-127"/>
        </a:defRPr>
      </a:lvl4pPr>
      <a:lvl5pPr algn="ctr" rtl="0" fontAlgn="base" latinLnBrk="1">
        <a:spcBef>
          <a:spcPct val="0"/>
        </a:spcBef>
        <a:spcAft>
          <a:spcPct val="0"/>
        </a:spcAft>
        <a:defRPr kumimoji="1" sz="3200" b="1">
          <a:solidFill>
            <a:srgbClr val="4D4D4D"/>
          </a:solidFill>
          <a:latin typeface="MS Reference Sans Serif" pitchFamily="34" charset="0"/>
          <a:ea typeface="HY견고딕" pitchFamily="18" charset="-127"/>
        </a:defRPr>
      </a:lvl5pPr>
      <a:lvl6pPr marL="457200" algn="ctr" rtl="0" fontAlgn="base" latinLnBrk="1">
        <a:spcBef>
          <a:spcPct val="0"/>
        </a:spcBef>
        <a:spcAft>
          <a:spcPct val="0"/>
        </a:spcAft>
        <a:defRPr kumimoji="1" sz="3200" b="1">
          <a:solidFill>
            <a:srgbClr val="4D4D4D"/>
          </a:solidFill>
          <a:latin typeface="MS Reference Sans Serif" pitchFamily="34" charset="0"/>
          <a:ea typeface="HY견고딕" pitchFamily="18" charset="-127"/>
        </a:defRPr>
      </a:lvl6pPr>
      <a:lvl7pPr marL="914400" algn="ctr" rtl="0" fontAlgn="base" latinLnBrk="1">
        <a:spcBef>
          <a:spcPct val="0"/>
        </a:spcBef>
        <a:spcAft>
          <a:spcPct val="0"/>
        </a:spcAft>
        <a:defRPr kumimoji="1" sz="3200" b="1">
          <a:solidFill>
            <a:srgbClr val="4D4D4D"/>
          </a:solidFill>
          <a:latin typeface="MS Reference Sans Serif" pitchFamily="34" charset="0"/>
          <a:ea typeface="HY견고딕" pitchFamily="18" charset="-127"/>
        </a:defRPr>
      </a:lvl7pPr>
      <a:lvl8pPr marL="1371600" algn="ctr" rtl="0" fontAlgn="base" latinLnBrk="1">
        <a:spcBef>
          <a:spcPct val="0"/>
        </a:spcBef>
        <a:spcAft>
          <a:spcPct val="0"/>
        </a:spcAft>
        <a:defRPr kumimoji="1" sz="3200" b="1">
          <a:solidFill>
            <a:srgbClr val="4D4D4D"/>
          </a:solidFill>
          <a:latin typeface="MS Reference Sans Serif" pitchFamily="34" charset="0"/>
          <a:ea typeface="HY견고딕" pitchFamily="18" charset="-127"/>
        </a:defRPr>
      </a:lvl8pPr>
      <a:lvl9pPr marL="1828800" algn="ctr" rtl="0" fontAlgn="base" latinLnBrk="1">
        <a:spcBef>
          <a:spcPct val="0"/>
        </a:spcBef>
        <a:spcAft>
          <a:spcPct val="0"/>
        </a:spcAft>
        <a:defRPr kumimoji="1" sz="3200" b="1">
          <a:solidFill>
            <a:srgbClr val="4D4D4D"/>
          </a:solidFill>
          <a:latin typeface="MS Reference Sans Serif" pitchFamily="34" charset="0"/>
          <a:ea typeface="HY견고딕" pitchFamily="18" charset="-127"/>
        </a:defRPr>
      </a:lvl9pPr>
    </p:titleStyle>
    <p:bodyStyle>
      <a:lvl1pPr marL="342900" indent="-342900" algn="l" rtl="0" fontAlgn="base" latinLnBrk="1">
        <a:lnSpc>
          <a:spcPct val="120000"/>
        </a:lnSpc>
        <a:spcBef>
          <a:spcPct val="20000"/>
        </a:spcBef>
        <a:spcAft>
          <a:spcPct val="0"/>
        </a:spcAft>
        <a:buFont typeface="Wingdings" pitchFamily="2" charset="2"/>
        <a:buChar char="q"/>
        <a:defRPr kumimoji="1" sz="2400">
          <a:solidFill>
            <a:srgbClr val="40458C"/>
          </a:solidFill>
          <a:latin typeface="+mn-lt"/>
          <a:ea typeface="+mn-ea"/>
          <a:cs typeface="+mn-cs"/>
        </a:defRPr>
      </a:lvl1pPr>
      <a:lvl2pPr marL="742950" indent="-285750" algn="l" rtl="0" fontAlgn="base" latinLnBrk="1">
        <a:lnSpc>
          <a:spcPct val="120000"/>
        </a:lnSpc>
        <a:spcBef>
          <a:spcPct val="20000"/>
        </a:spcBef>
        <a:spcAft>
          <a:spcPct val="0"/>
        </a:spcAft>
        <a:buChar char="•"/>
        <a:defRPr kumimoji="1" sz="2000">
          <a:solidFill>
            <a:srgbClr val="40458C"/>
          </a:solidFill>
          <a:latin typeface="+mn-lt"/>
          <a:ea typeface="+mn-ea"/>
        </a:defRPr>
      </a:lvl2pPr>
      <a:lvl3pPr marL="1143000" indent="-228600" algn="l" rtl="0" fontAlgn="base" latinLnBrk="1">
        <a:lnSpc>
          <a:spcPct val="120000"/>
        </a:lnSpc>
        <a:spcBef>
          <a:spcPct val="20000"/>
        </a:spcBef>
        <a:spcAft>
          <a:spcPct val="0"/>
        </a:spcAft>
        <a:buChar char="-"/>
        <a:defRPr kumimoji="1" sz="2000">
          <a:solidFill>
            <a:srgbClr val="40458C"/>
          </a:solidFill>
          <a:latin typeface="+mn-lt"/>
          <a:ea typeface="+mn-ea"/>
        </a:defRPr>
      </a:lvl3pPr>
      <a:lvl4pPr marL="1600200" indent="-228600" algn="l" rtl="0" fontAlgn="base" latinLnBrk="1">
        <a:lnSpc>
          <a:spcPct val="120000"/>
        </a:lnSpc>
        <a:spcBef>
          <a:spcPct val="20000"/>
        </a:spcBef>
        <a:spcAft>
          <a:spcPct val="0"/>
        </a:spcAft>
        <a:buChar char="–"/>
        <a:defRPr kumimoji="1" sz="2000">
          <a:solidFill>
            <a:srgbClr val="40458C"/>
          </a:solidFill>
          <a:latin typeface="+mn-lt"/>
          <a:ea typeface="+mn-ea"/>
        </a:defRPr>
      </a:lvl4pPr>
      <a:lvl5pPr marL="2057400" indent="-228600" algn="l" rtl="0" fontAlgn="base" latinLnBrk="1">
        <a:lnSpc>
          <a:spcPct val="120000"/>
        </a:lnSpc>
        <a:spcBef>
          <a:spcPct val="20000"/>
        </a:spcBef>
        <a:spcAft>
          <a:spcPct val="0"/>
        </a:spcAft>
        <a:buChar char="»"/>
        <a:defRPr kumimoji="1" sz="1400">
          <a:solidFill>
            <a:srgbClr val="40458C"/>
          </a:solidFill>
          <a:latin typeface="+mn-lt"/>
          <a:ea typeface="+mn-ea"/>
        </a:defRPr>
      </a:lvl5pPr>
      <a:lvl6pPr marL="2514600" indent="-228600" algn="l" rtl="0" fontAlgn="base" latinLnBrk="1">
        <a:lnSpc>
          <a:spcPct val="120000"/>
        </a:lnSpc>
        <a:spcBef>
          <a:spcPct val="20000"/>
        </a:spcBef>
        <a:spcAft>
          <a:spcPct val="0"/>
        </a:spcAft>
        <a:buChar char="»"/>
        <a:defRPr kumimoji="1" sz="1400">
          <a:solidFill>
            <a:srgbClr val="40458C"/>
          </a:solidFill>
          <a:latin typeface="+mn-lt"/>
          <a:ea typeface="+mn-ea"/>
        </a:defRPr>
      </a:lvl6pPr>
      <a:lvl7pPr marL="2971800" indent="-228600" algn="l" rtl="0" fontAlgn="base" latinLnBrk="1">
        <a:lnSpc>
          <a:spcPct val="120000"/>
        </a:lnSpc>
        <a:spcBef>
          <a:spcPct val="20000"/>
        </a:spcBef>
        <a:spcAft>
          <a:spcPct val="0"/>
        </a:spcAft>
        <a:buChar char="»"/>
        <a:defRPr kumimoji="1" sz="1400">
          <a:solidFill>
            <a:srgbClr val="40458C"/>
          </a:solidFill>
          <a:latin typeface="+mn-lt"/>
          <a:ea typeface="+mn-ea"/>
        </a:defRPr>
      </a:lvl7pPr>
      <a:lvl8pPr marL="3429000" indent="-228600" algn="l" rtl="0" fontAlgn="base" latinLnBrk="1">
        <a:lnSpc>
          <a:spcPct val="120000"/>
        </a:lnSpc>
        <a:spcBef>
          <a:spcPct val="20000"/>
        </a:spcBef>
        <a:spcAft>
          <a:spcPct val="0"/>
        </a:spcAft>
        <a:buChar char="»"/>
        <a:defRPr kumimoji="1" sz="1400">
          <a:solidFill>
            <a:srgbClr val="40458C"/>
          </a:solidFill>
          <a:latin typeface="+mn-lt"/>
          <a:ea typeface="+mn-ea"/>
        </a:defRPr>
      </a:lvl8pPr>
      <a:lvl9pPr marL="3886200" indent="-228600" algn="l" rtl="0" fontAlgn="base" latinLnBrk="1">
        <a:lnSpc>
          <a:spcPct val="120000"/>
        </a:lnSpc>
        <a:spcBef>
          <a:spcPct val="20000"/>
        </a:spcBef>
        <a:spcAft>
          <a:spcPct val="0"/>
        </a:spcAft>
        <a:buChar char="»"/>
        <a:defRPr kumimoji="1" sz="1400">
          <a:solidFill>
            <a:srgbClr val="40458C"/>
          </a:solidFill>
          <a:latin typeface="+mn-lt"/>
          <a:ea typeface="+mn-ea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TextBox 140"/>
          <p:cNvSpPr txBox="1"/>
          <p:nvPr/>
        </p:nvSpPr>
        <p:spPr>
          <a:xfrm>
            <a:off x="546777" y="248342"/>
            <a:ext cx="3355406" cy="523220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altLang="ko-KR" sz="2800" dirty="0"/>
              <a:t>Example Network</a:t>
            </a:r>
            <a:endParaRPr lang="ko-KR" altLang="en-US" sz="2800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07F7B328-AEA3-4F4C-A8BC-B36CDFF58CD9}"/>
              </a:ext>
            </a:extLst>
          </p:cNvPr>
          <p:cNvGrpSpPr/>
          <p:nvPr/>
        </p:nvGrpSpPr>
        <p:grpSpPr>
          <a:xfrm>
            <a:off x="1704648" y="1600200"/>
            <a:ext cx="5232323" cy="3479292"/>
            <a:chOff x="1704648" y="1600200"/>
            <a:chExt cx="5232323" cy="3479292"/>
          </a:xfrm>
        </p:grpSpPr>
        <p:sp>
          <p:nvSpPr>
            <p:cNvPr id="5" name="타원 4"/>
            <p:cNvSpPr/>
            <p:nvPr/>
          </p:nvSpPr>
          <p:spPr>
            <a:xfrm>
              <a:off x="4724400" y="1600200"/>
              <a:ext cx="457200" cy="457200"/>
            </a:xfrm>
            <a:prstGeom prst="ellipse">
              <a:avLst/>
            </a:prstGeom>
            <a:solidFill>
              <a:schemeClr val="bg1"/>
            </a:solidFill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1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" name="타원 5"/>
            <p:cNvSpPr/>
            <p:nvPr/>
          </p:nvSpPr>
          <p:spPr>
            <a:xfrm>
              <a:off x="4109222" y="3029954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4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7" name="타원 6"/>
            <p:cNvSpPr/>
            <p:nvPr/>
          </p:nvSpPr>
          <p:spPr>
            <a:xfrm>
              <a:off x="1827777" y="3046196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3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8" name="타원 7"/>
            <p:cNvSpPr/>
            <p:nvPr/>
          </p:nvSpPr>
          <p:spPr>
            <a:xfrm>
              <a:off x="1837944" y="4622292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7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9" name="타원 8"/>
            <p:cNvSpPr/>
            <p:nvPr/>
          </p:nvSpPr>
          <p:spPr>
            <a:xfrm>
              <a:off x="3019925" y="3750221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5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17" name="타원 16"/>
            <p:cNvSpPr/>
            <p:nvPr/>
          </p:nvSpPr>
          <p:spPr>
            <a:xfrm>
              <a:off x="5783580" y="2734056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6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18" name="타원 17"/>
            <p:cNvSpPr/>
            <p:nvPr/>
          </p:nvSpPr>
          <p:spPr>
            <a:xfrm>
              <a:off x="4786174" y="4315097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9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19" name="타원 18"/>
            <p:cNvSpPr/>
            <p:nvPr/>
          </p:nvSpPr>
          <p:spPr>
            <a:xfrm>
              <a:off x="6479771" y="3803904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8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28" name="타원 27"/>
            <p:cNvSpPr/>
            <p:nvPr/>
          </p:nvSpPr>
          <p:spPr>
            <a:xfrm>
              <a:off x="2944368" y="2042160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2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cxnSp>
          <p:nvCxnSpPr>
            <p:cNvPr id="32" name="직선 연결선 31"/>
            <p:cNvCxnSpPr/>
            <p:nvPr/>
          </p:nvCxnSpPr>
          <p:spPr>
            <a:xfrm flipV="1">
              <a:off x="3472941" y="1827495"/>
              <a:ext cx="1165961" cy="303209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3" name="TextBox 212"/>
            <p:cNvSpPr txBox="1"/>
            <p:nvPr/>
          </p:nvSpPr>
          <p:spPr>
            <a:xfrm>
              <a:off x="3893361" y="1759680"/>
              <a:ext cx="251672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0.9</a:t>
              </a:r>
              <a:endParaRPr lang="ko-KR" altLang="en-US" sz="1200" dirty="0"/>
            </a:p>
          </p:txBody>
        </p:sp>
        <p:cxnSp>
          <p:nvCxnSpPr>
            <p:cNvPr id="139" name="직선 연결선 138"/>
            <p:cNvCxnSpPr/>
            <p:nvPr/>
          </p:nvCxnSpPr>
          <p:spPr>
            <a:xfrm flipV="1">
              <a:off x="3429000" y="1905000"/>
              <a:ext cx="1165961" cy="303209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직선 연결선 141"/>
            <p:cNvCxnSpPr/>
            <p:nvPr/>
          </p:nvCxnSpPr>
          <p:spPr>
            <a:xfrm flipV="1">
              <a:off x="2248662" y="2429344"/>
              <a:ext cx="659129" cy="577552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2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직선 연결선 142"/>
            <p:cNvCxnSpPr/>
            <p:nvPr/>
          </p:nvCxnSpPr>
          <p:spPr>
            <a:xfrm flipV="1">
              <a:off x="2286000" y="2470876"/>
              <a:ext cx="671030" cy="577124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직선 연결선 147"/>
            <p:cNvCxnSpPr/>
            <p:nvPr/>
          </p:nvCxnSpPr>
          <p:spPr>
            <a:xfrm flipV="1">
              <a:off x="1958600" y="3632385"/>
              <a:ext cx="16351" cy="906139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직선 연결선 148"/>
            <p:cNvCxnSpPr/>
            <p:nvPr/>
          </p:nvCxnSpPr>
          <p:spPr>
            <a:xfrm flipV="1">
              <a:off x="2040709" y="3667545"/>
              <a:ext cx="22135" cy="850769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직선 연결선 153"/>
            <p:cNvCxnSpPr/>
            <p:nvPr/>
          </p:nvCxnSpPr>
          <p:spPr>
            <a:xfrm flipH="1" flipV="1">
              <a:off x="2342807" y="3441430"/>
              <a:ext cx="589881" cy="493121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2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직선 연결선 154"/>
            <p:cNvCxnSpPr/>
            <p:nvPr/>
          </p:nvCxnSpPr>
          <p:spPr>
            <a:xfrm flipH="1" flipV="1">
              <a:off x="2411012" y="3405889"/>
              <a:ext cx="535029" cy="435171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직선 연결선 160"/>
            <p:cNvCxnSpPr/>
            <p:nvPr/>
          </p:nvCxnSpPr>
          <p:spPr>
            <a:xfrm flipH="1" flipV="1">
              <a:off x="3438145" y="2475959"/>
              <a:ext cx="748768" cy="480602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직선 연결선 164"/>
            <p:cNvCxnSpPr/>
            <p:nvPr/>
          </p:nvCxnSpPr>
          <p:spPr>
            <a:xfrm>
              <a:off x="3394472" y="2514644"/>
              <a:ext cx="715966" cy="461967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" name="직선 연결선 167"/>
            <p:cNvCxnSpPr/>
            <p:nvPr/>
          </p:nvCxnSpPr>
          <p:spPr>
            <a:xfrm flipH="1">
              <a:off x="4447491" y="2152653"/>
              <a:ext cx="334974" cy="762056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직선 연결선 170"/>
            <p:cNvCxnSpPr/>
            <p:nvPr/>
          </p:nvCxnSpPr>
          <p:spPr>
            <a:xfrm flipV="1">
              <a:off x="4495800" y="2245801"/>
              <a:ext cx="331316" cy="710760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직선 연결선 173"/>
            <p:cNvCxnSpPr/>
            <p:nvPr/>
          </p:nvCxnSpPr>
          <p:spPr>
            <a:xfrm flipH="1" flipV="1">
              <a:off x="5158772" y="2122379"/>
              <a:ext cx="632428" cy="620821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7" name="직선 연결선 176"/>
            <p:cNvCxnSpPr/>
            <p:nvPr/>
          </p:nvCxnSpPr>
          <p:spPr>
            <a:xfrm>
              <a:off x="5198658" y="2050689"/>
              <a:ext cx="613221" cy="590992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1" name="직선 연결선 180"/>
            <p:cNvCxnSpPr>
              <a:cxnSpLocks/>
            </p:cNvCxnSpPr>
            <p:nvPr/>
          </p:nvCxnSpPr>
          <p:spPr>
            <a:xfrm flipV="1">
              <a:off x="3498997" y="3415514"/>
              <a:ext cx="535029" cy="435171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" name="직선 연결선 183"/>
            <p:cNvCxnSpPr/>
            <p:nvPr/>
          </p:nvCxnSpPr>
          <p:spPr>
            <a:xfrm flipH="1">
              <a:off x="3573610" y="3426154"/>
              <a:ext cx="541757" cy="452770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직선 연결선 186"/>
            <p:cNvCxnSpPr>
              <a:cxnSpLocks/>
            </p:cNvCxnSpPr>
            <p:nvPr/>
          </p:nvCxnSpPr>
          <p:spPr>
            <a:xfrm flipH="1">
              <a:off x="4680691" y="2963008"/>
              <a:ext cx="928801" cy="200240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직선 연결선 189"/>
            <p:cNvCxnSpPr/>
            <p:nvPr/>
          </p:nvCxnSpPr>
          <p:spPr>
            <a:xfrm flipV="1">
              <a:off x="4667265" y="3024552"/>
              <a:ext cx="963916" cy="212595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직선 연결선 192"/>
            <p:cNvCxnSpPr/>
            <p:nvPr/>
          </p:nvCxnSpPr>
          <p:spPr>
            <a:xfrm flipH="1" flipV="1">
              <a:off x="6247336" y="3192267"/>
              <a:ext cx="467592" cy="525539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직선 연결선 195"/>
            <p:cNvCxnSpPr>
              <a:cxnSpLocks/>
            </p:cNvCxnSpPr>
            <p:nvPr/>
          </p:nvCxnSpPr>
          <p:spPr>
            <a:xfrm>
              <a:off x="6173114" y="3222866"/>
              <a:ext cx="467592" cy="502114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직선 연결선 205"/>
            <p:cNvCxnSpPr/>
            <p:nvPr/>
          </p:nvCxnSpPr>
          <p:spPr>
            <a:xfrm flipV="1">
              <a:off x="5382879" y="4166484"/>
              <a:ext cx="998239" cy="251131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0" name="직선 연결선 209"/>
            <p:cNvCxnSpPr/>
            <p:nvPr/>
          </p:nvCxnSpPr>
          <p:spPr>
            <a:xfrm flipH="1">
              <a:off x="5369291" y="4109083"/>
              <a:ext cx="1025416" cy="262474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직선 연결선 214"/>
            <p:cNvCxnSpPr/>
            <p:nvPr/>
          </p:nvCxnSpPr>
          <p:spPr>
            <a:xfrm>
              <a:off x="4562717" y="3523521"/>
              <a:ext cx="390283" cy="667479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6" name="직선 연결선 215"/>
            <p:cNvCxnSpPr/>
            <p:nvPr/>
          </p:nvCxnSpPr>
          <p:spPr>
            <a:xfrm flipH="1" flipV="1">
              <a:off x="4498065" y="3576469"/>
              <a:ext cx="385945" cy="653460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8" name="직선 연결선 287"/>
            <p:cNvCxnSpPr/>
            <p:nvPr/>
          </p:nvCxnSpPr>
          <p:spPr>
            <a:xfrm>
              <a:off x="3588290" y="4118739"/>
              <a:ext cx="1069768" cy="374335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9" name="직선 연결선 288"/>
            <p:cNvCxnSpPr/>
            <p:nvPr/>
          </p:nvCxnSpPr>
          <p:spPr>
            <a:xfrm flipH="1" flipV="1">
              <a:off x="3583005" y="4184065"/>
              <a:ext cx="1055897" cy="369984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7" name="직선 연결선 326"/>
            <p:cNvCxnSpPr/>
            <p:nvPr/>
          </p:nvCxnSpPr>
          <p:spPr>
            <a:xfrm flipH="1">
              <a:off x="2317124" y="4202807"/>
              <a:ext cx="692828" cy="479964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8" name="직선 연결선 327"/>
            <p:cNvCxnSpPr/>
            <p:nvPr/>
          </p:nvCxnSpPr>
          <p:spPr>
            <a:xfrm flipV="1">
              <a:off x="2356608" y="4258959"/>
              <a:ext cx="671553" cy="468066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3" name="직선 연결선 342"/>
            <p:cNvCxnSpPr/>
            <p:nvPr/>
          </p:nvCxnSpPr>
          <p:spPr>
            <a:xfrm flipH="1">
              <a:off x="5219844" y="3191256"/>
              <a:ext cx="647556" cy="980580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6" name="직선 연결선 345"/>
            <p:cNvCxnSpPr/>
            <p:nvPr/>
          </p:nvCxnSpPr>
          <p:spPr>
            <a:xfrm flipV="1">
              <a:off x="5264887" y="3294615"/>
              <a:ext cx="631711" cy="935314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4" name="TextBox 353"/>
            <p:cNvSpPr txBox="1"/>
            <p:nvPr/>
          </p:nvSpPr>
          <p:spPr>
            <a:xfrm>
              <a:off x="4325227" y="2376793"/>
              <a:ext cx="251672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0.7</a:t>
              </a:r>
              <a:endParaRPr lang="ko-KR" altLang="en-US" sz="1200" dirty="0"/>
            </a:p>
          </p:txBody>
        </p:sp>
        <p:sp>
          <p:nvSpPr>
            <p:cNvPr id="355" name="TextBox 354"/>
            <p:cNvSpPr txBox="1"/>
            <p:nvPr/>
          </p:nvSpPr>
          <p:spPr>
            <a:xfrm>
              <a:off x="3527099" y="2794896"/>
              <a:ext cx="251672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0.9</a:t>
              </a:r>
              <a:endParaRPr lang="ko-KR" altLang="en-US" sz="1200" dirty="0"/>
            </a:p>
          </p:txBody>
        </p:sp>
        <p:sp>
          <p:nvSpPr>
            <p:cNvPr id="356" name="TextBox 355"/>
            <p:cNvSpPr txBox="1"/>
            <p:nvPr/>
          </p:nvSpPr>
          <p:spPr>
            <a:xfrm rot="19392266">
              <a:off x="3594106" y="3396734"/>
              <a:ext cx="306188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square" lIns="0" tIns="0" rIns="0" bIns="0" rtlCol="0" anchor="ctr">
              <a:spAutoFit/>
            </a:bodyPr>
            <a:lstStyle/>
            <a:p>
              <a:r>
                <a:rPr lang="en-US" altLang="ko-KR" sz="1200"/>
                <a:t>0.9</a:t>
              </a:r>
              <a:endParaRPr lang="ko-KR" altLang="en-US" sz="1200" dirty="0"/>
            </a:p>
          </p:txBody>
        </p:sp>
        <p:sp>
          <p:nvSpPr>
            <p:cNvPr id="357" name="TextBox 356"/>
            <p:cNvSpPr txBox="1"/>
            <p:nvPr/>
          </p:nvSpPr>
          <p:spPr>
            <a:xfrm>
              <a:off x="5043202" y="2848976"/>
              <a:ext cx="251672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0.9</a:t>
              </a:r>
              <a:endParaRPr lang="ko-KR" altLang="en-US" sz="1200" dirty="0"/>
            </a:p>
          </p:txBody>
        </p:sp>
        <p:sp>
          <p:nvSpPr>
            <p:cNvPr id="358" name="TextBox 357"/>
            <p:cNvSpPr txBox="1"/>
            <p:nvPr/>
          </p:nvSpPr>
          <p:spPr>
            <a:xfrm>
              <a:off x="1704648" y="3941126"/>
              <a:ext cx="251672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0.9</a:t>
              </a:r>
              <a:endParaRPr lang="ko-KR" altLang="en-US" sz="1200" dirty="0"/>
            </a:p>
          </p:txBody>
        </p:sp>
        <p:cxnSp>
          <p:nvCxnSpPr>
            <p:cNvPr id="376" name="직선 연결선 375"/>
            <p:cNvCxnSpPr/>
            <p:nvPr/>
          </p:nvCxnSpPr>
          <p:spPr>
            <a:xfrm>
              <a:off x="3129641" y="2613306"/>
              <a:ext cx="29374" cy="1074684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9" name="직선 연결선 378"/>
            <p:cNvCxnSpPr/>
            <p:nvPr/>
          </p:nvCxnSpPr>
          <p:spPr>
            <a:xfrm flipH="1" flipV="1">
              <a:off x="3211008" y="2670846"/>
              <a:ext cx="22041" cy="1006909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1" name="TextBox 390"/>
            <p:cNvSpPr txBox="1"/>
            <p:nvPr/>
          </p:nvSpPr>
          <p:spPr>
            <a:xfrm>
              <a:off x="2334768" y="2498467"/>
              <a:ext cx="251672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0.8</a:t>
              </a:r>
              <a:endParaRPr lang="ko-KR" altLang="en-US" sz="1200" dirty="0"/>
            </a:p>
          </p:txBody>
        </p:sp>
        <p:sp>
          <p:nvSpPr>
            <p:cNvPr id="392" name="TextBox 391"/>
            <p:cNvSpPr txBox="1"/>
            <p:nvPr/>
          </p:nvSpPr>
          <p:spPr>
            <a:xfrm>
              <a:off x="2626603" y="2817747"/>
              <a:ext cx="251672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0.9</a:t>
              </a:r>
              <a:endParaRPr lang="ko-KR" altLang="en-US" sz="1200" dirty="0"/>
            </a:p>
          </p:txBody>
        </p:sp>
        <p:sp>
          <p:nvSpPr>
            <p:cNvPr id="393" name="TextBox 392"/>
            <p:cNvSpPr txBox="1"/>
            <p:nvPr/>
          </p:nvSpPr>
          <p:spPr>
            <a:xfrm>
              <a:off x="5543024" y="2162151"/>
              <a:ext cx="251672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0.8</a:t>
              </a:r>
              <a:endParaRPr lang="ko-KR" altLang="en-US" sz="1200" dirty="0"/>
            </a:p>
          </p:txBody>
        </p:sp>
        <p:sp>
          <p:nvSpPr>
            <p:cNvPr id="394" name="TextBox 393"/>
            <p:cNvSpPr txBox="1"/>
            <p:nvPr/>
          </p:nvSpPr>
          <p:spPr>
            <a:xfrm>
              <a:off x="5181600" y="2406134"/>
              <a:ext cx="251672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0.8</a:t>
              </a:r>
              <a:endParaRPr lang="ko-KR" altLang="en-US" sz="1200" dirty="0"/>
            </a:p>
          </p:txBody>
        </p:sp>
        <p:sp>
          <p:nvSpPr>
            <p:cNvPr id="395" name="TextBox 394"/>
            <p:cNvSpPr txBox="1"/>
            <p:nvPr/>
          </p:nvSpPr>
          <p:spPr>
            <a:xfrm>
              <a:off x="5711120" y="4022755"/>
              <a:ext cx="251672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0.8</a:t>
              </a:r>
              <a:endParaRPr lang="ko-KR" altLang="en-US" sz="1200" dirty="0"/>
            </a:p>
          </p:txBody>
        </p:sp>
        <p:sp>
          <p:nvSpPr>
            <p:cNvPr id="396" name="TextBox 395"/>
            <p:cNvSpPr txBox="1"/>
            <p:nvPr/>
          </p:nvSpPr>
          <p:spPr>
            <a:xfrm>
              <a:off x="4786329" y="3657888"/>
              <a:ext cx="251672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0.8</a:t>
              </a:r>
              <a:endParaRPr lang="ko-KR" altLang="en-US" sz="1200" dirty="0"/>
            </a:p>
          </p:txBody>
        </p:sp>
        <p:sp>
          <p:nvSpPr>
            <p:cNvPr id="397" name="TextBox 396"/>
            <p:cNvSpPr txBox="1"/>
            <p:nvPr/>
          </p:nvSpPr>
          <p:spPr>
            <a:xfrm>
              <a:off x="4035959" y="4089993"/>
              <a:ext cx="251672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0.8</a:t>
              </a:r>
              <a:endParaRPr lang="ko-KR" altLang="en-US" sz="1200" dirty="0"/>
            </a:p>
          </p:txBody>
        </p:sp>
        <p:sp>
          <p:nvSpPr>
            <p:cNvPr id="401" name="TextBox 400"/>
            <p:cNvSpPr txBox="1"/>
            <p:nvPr/>
          </p:nvSpPr>
          <p:spPr>
            <a:xfrm>
              <a:off x="2438400" y="4234934"/>
              <a:ext cx="251672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0.9</a:t>
              </a:r>
              <a:endParaRPr lang="ko-KR" altLang="en-US" sz="1200" dirty="0"/>
            </a:p>
          </p:txBody>
        </p:sp>
        <p:sp>
          <p:nvSpPr>
            <p:cNvPr id="402" name="TextBox 401"/>
            <p:cNvSpPr txBox="1"/>
            <p:nvPr/>
          </p:nvSpPr>
          <p:spPr>
            <a:xfrm>
              <a:off x="2698137" y="4495135"/>
              <a:ext cx="251672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0.9</a:t>
              </a:r>
              <a:endParaRPr lang="ko-KR" altLang="en-US" sz="1200" dirty="0"/>
            </a:p>
          </p:txBody>
        </p:sp>
        <p:sp>
          <p:nvSpPr>
            <p:cNvPr id="403" name="TextBox 402"/>
            <p:cNvSpPr txBox="1"/>
            <p:nvPr/>
          </p:nvSpPr>
          <p:spPr>
            <a:xfrm>
              <a:off x="2087843" y="3941126"/>
              <a:ext cx="251672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0.8</a:t>
              </a:r>
              <a:endParaRPr lang="ko-KR" altLang="en-US" sz="1200" dirty="0"/>
            </a:p>
          </p:txBody>
        </p:sp>
        <p:sp>
          <p:nvSpPr>
            <p:cNvPr id="408" name="TextBox 407"/>
            <p:cNvSpPr txBox="1"/>
            <p:nvPr/>
          </p:nvSpPr>
          <p:spPr>
            <a:xfrm>
              <a:off x="4750724" y="2504042"/>
              <a:ext cx="251672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0.8</a:t>
              </a:r>
              <a:endParaRPr lang="ko-KR" altLang="en-US" sz="1200" dirty="0"/>
            </a:p>
          </p:txBody>
        </p:sp>
        <p:sp>
          <p:nvSpPr>
            <p:cNvPr id="409" name="TextBox 408"/>
            <p:cNvSpPr txBox="1"/>
            <p:nvPr/>
          </p:nvSpPr>
          <p:spPr>
            <a:xfrm>
              <a:off x="5285534" y="3478622"/>
              <a:ext cx="251672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0.7</a:t>
              </a:r>
              <a:endParaRPr lang="ko-KR" altLang="en-US" sz="1200" dirty="0"/>
            </a:p>
          </p:txBody>
        </p:sp>
        <p:sp>
          <p:nvSpPr>
            <p:cNvPr id="410" name="TextBox 409"/>
            <p:cNvSpPr txBox="1"/>
            <p:nvPr/>
          </p:nvSpPr>
          <p:spPr>
            <a:xfrm>
              <a:off x="5711120" y="3662558"/>
              <a:ext cx="251672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0.7</a:t>
              </a:r>
              <a:endParaRPr lang="ko-KR" altLang="en-US" sz="1200" dirty="0"/>
            </a:p>
          </p:txBody>
        </p:sp>
        <p:sp>
          <p:nvSpPr>
            <p:cNvPr id="420" name="TextBox 419"/>
            <p:cNvSpPr txBox="1"/>
            <p:nvPr/>
          </p:nvSpPr>
          <p:spPr>
            <a:xfrm>
              <a:off x="6521426" y="3289257"/>
              <a:ext cx="251672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0.9</a:t>
              </a:r>
              <a:endParaRPr lang="ko-KR" altLang="en-US" sz="1200" dirty="0"/>
            </a:p>
          </p:txBody>
        </p:sp>
        <p:sp>
          <p:nvSpPr>
            <p:cNvPr id="421" name="TextBox 420"/>
            <p:cNvSpPr txBox="1"/>
            <p:nvPr/>
          </p:nvSpPr>
          <p:spPr>
            <a:xfrm>
              <a:off x="6173114" y="3496581"/>
              <a:ext cx="251672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0.9</a:t>
              </a:r>
              <a:endParaRPr lang="ko-KR" altLang="en-US" sz="1200" dirty="0"/>
            </a:p>
          </p:txBody>
        </p:sp>
        <p:sp>
          <p:nvSpPr>
            <p:cNvPr id="430" name="TextBox 429"/>
            <p:cNvSpPr txBox="1"/>
            <p:nvPr/>
          </p:nvSpPr>
          <p:spPr>
            <a:xfrm>
              <a:off x="3923664" y="4419600"/>
              <a:ext cx="26451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square" lIns="0" tIns="0" rIns="0" bIns="0" rtlCol="0" anchor="ctr">
              <a:spAutoFit/>
            </a:bodyPr>
            <a:lstStyle/>
            <a:p>
              <a:r>
                <a:rPr lang="en-US" altLang="ko-KR" sz="1200"/>
                <a:t>0.8</a:t>
              </a:r>
              <a:endParaRPr lang="ko-KR" altLang="en-US" sz="1200" dirty="0"/>
            </a:p>
          </p:txBody>
        </p:sp>
        <p:sp>
          <p:nvSpPr>
            <p:cNvPr id="431" name="TextBox 430"/>
            <p:cNvSpPr txBox="1"/>
            <p:nvPr/>
          </p:nvSpPr>
          <p:spPr>
            <a:xfrm>
              <a:off x="3825149" y="3701534"/>
              <a:ext cx="335261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square" lIns="0" tIns="0" rIns="0" bIns="0" rtlCol="0" anchor="ctr">
              <a:spAutoFit/>
            </a:bodyPr>
            <a:lstStyle/>
            <a:p>
              <a:r>
                <a:rPr lang="en-US" altLang="ko-KR" sz="1200"/>
                <a:t>0.9</a:t>
              </a:r>
              <a:endParaRPr lang="ko-KR" altLang="en-US" sz="1200" dirty="0"/>
            </a:p>
          </p:txBody>
        </p:sp>
        <p:sp>
          <p:nvSpPr>
            <p:cNvPr id="433" name="TextBox 432"/>
            <p:cNvSpPr txBox="1"/>
            <p:nvPr/>
          </p:nvSpPr>
          <p:spPr>
            <a:xfrm>
              <a:off x="2678967" y="3423397"/>
              <a:ext cx="251672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0.9</a:t>
              </a:r>
              <a:endParaRPr lang="ko-KR" altLang="en-US" sz="1200" dirty="0"/>
            </a:p>
          </p:txBody>
        </p:sp>
        <p:sp>
          <p:nvSpPr>
            <p:cNvPr id="434" name="TextBox 433"/>
            <p:cNvSpPr txBox="1"/>
            <p:nvPr/>
          </p:nvSpPr>
          <p:spPr>
            <a:xfrm>
              <a:off x="2431369" y="3791117"/>
              <a:ext cx="251672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0.9</a:t>
              </a:r>
              <a:endParaRPr lang="ko-KR" altLang="en-US" sz="1200" dirty="0"/>
            </a:p>
          </p:txBody>
        </p:sp>
        <p:sp>
          <p:nvSpPr>
            <p:cNvPr id="435" name="TextBox 434"/>
            <p:cNvSpPr txBox="1"/>
            <p:nvPr/>
          </p:nvSpPr>
          <p:spPr>
            <a:xfrm>
              <a:off x="3281129" y="3078541"/>
              <a:ext cx="251672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0.9</a:t>
              </a:r>
              <a:endParaRPr lang="ko-KR" altLang="en-US" sz="1200" dirty="0"/>
            </a:p>
          </p:txBody>
        </p:sp>
        <p:sp>
          <p:nvSpPr>
            <p:cNvPr id="436" name="TextBox 435"/>
            <p:cNvSpPr txBox="1"/>
            <p:nvPr/>
          </p:nvSpPr>
          <p:spPr>
            <a:xfrm>
              <a:off x="2856001" y="3073888"/>
              <a:ext cx="251672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0.8</a:t>
              </a:r>
              <a:endParaRPr lang="ko-KR" altLang="en-US" sz="1200" dirty="0"/>
            </a:p>
          </p:txBody>
        </p:sp>
        <p:sp>
          <p:nvSpPr>
            <p:cNvPr id="437" name="TextBox 436"/>
            <p:cNvSpPr txBox="1"/>
            <p:nvPr/>
          </p:nvSpPr>
          <p:spPr>
            <a:xfrm>
              <a:off x="3785052" y="2504042"/>
              <a:ext cx="251672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0.8</a:t>
              </a:r>
              <a:endParaRPr lang="ko-KR" altLang="en-US" sz="1200" dirty="0"/>
            </a:p>
          </p:txBody>
        </p:sp>
        <p:sp>
          <p:nvSpPr>
            <p:cNvPr id="438" name="TextBox 437"/>
            <p:cNvSpPr txBox="1"/>
            <p:nvPr/>
          </p:nvSpPr>
          <p:spPr>
            <a:xfrm>
              <a:off x="5050647" y="3170874"/>
              <a:ext cx="251672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0.8</a:t>
              </a:r>
              <a:endParaRPr lang="ko-KR" altLang="en-US" sz="1200" dirty="0"/>
            </a:p>
          </p:txBody>
        </p:sp>
        <p:sp>
          <p:nvSpPr>
            <p:cNvPr id="439" name="TextBox 438"/>
            <p:cNvSpPr txBox="1"/>
            <p:nvPr/>
          </p:nvSpPr>
          <p:spPr>
            <a:xfrm>
              <a:off x="4352283" y="3791117"/>
              <a:ext cx="251672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0.8</a:t>
              </a:r>
              <a:endParaRPr lang="ko-KR" altLang="en-US" sz="1200" dirty="0"/>
            </a:p>
          </p:txBody>
        </p:sp>
        <p:sp>
          <p:nvSpPr>
            <p:cNvPr id="83" name="TextBox 82"/>
            <p:cNvSpPr txBox="1"/>
            <p:nvPr/>
          </p:nvSpPr>
          <p:spPr>
            <a:xfrm>
              <a:off x="5791200" y="4343400"/>
              <a:ext cx="251672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0.8</a:t>
              </a:r>
              <a:endParaRPr lang="ko-KR" altLang="en-US" sz="1200" dirty="0"/>
            </a:p>
          </p:txBody>
        </p:sp>
        <p:sp>
          <p:nvSpPr>
            <p:cNvPr id="84" name="TextBox 83"/>
            <p:cNvSpPr txBox="1"/>
            <p:nvPr/>
          </p:nvSpPr>
          <p:spPr>
            <a:xfrm>
              <a:off x="3991786" y="2075431"/>
              <a:ext cx="251672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0.9</a:t>
              </a:r>
              <a:endParaRPr lang="ko-KR" altLang="en-US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4833427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TextBox 140"/>
          <p:cNvSpPr txBox="1"/>
          <p:nvPr/>
        </p:nvSpPr>
        <p:spPr>
          <a:xfrm>
            <a:off x="546777" y="248342"/>
            <a:ext cx="3355406" cy="523220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altLang="ko-KR" sz="2800" dirty="0"/>
              <a:t>Example Network</a:t>
            </a:r>
            <a:endParaRPr lang="ko-KR" altLang="en-US" sz="2800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DF40DB0-0F30-4F79-AF1E-426F3B754CCF}"/>
              </a:ext>
            </a:extLst>
          </p:cNvPr>
          <p:cNvGrpSpPr/>
          <p:nvPr/>
        </p:nvGrpSpPr>
        <p:grpSpPr>
          <a:xfrm>
            <a:off x="1791687" y="1600200"/>
            <a:ext cx="5145284" cy="3479292"/>
            <a:chOff x="1791687" y="1600200"/>
            <a:chExt cx="5145284" cy="3479292"/>
          </a:xfrm>
        </p:grpSpPr>
        <p:sp>
          <p:nvSpPr>
            <p:cNvPr id="5" name="타원 4"/>
            <p:cNvSpPr/>
            <p:nvPr/>
          </p:nvSpPr>
          <p:spPr>
            <a:xfrm>
              <a:off x="4724400" y="1600200"/>
              <a:ext cx="457200" cy="457200"/>
            </a:xfrm>
            <a:prstGeom prst="ellipse">
              <a:avLst/>
            </a:prstGeom>
            <a:solidFill>
              <a:schemeClr val="bg1"/>
            </a:solidFill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1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" name="타원 5"/>
            <p:cNvSpPr/>
            <p:nvPr/>
          </p:nvSpPr>
          <p:spPr>
            <a:xfrm>
              <a:off x="4109222" y="3029954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4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7" name="타원 6"/>
            <p:cNvSpPr/>
            <p:nvPr/>
          </p:nvSpPr>
          <p:spPr>
            <a:xfrm>
              <a:off x="1827777" y="3046196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3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8" name="타원 7"/>
            <p:cNvSpPr/>
            <p:nvPr/>
          </p:nvSpPr>
          <p:spPr>
            <a:xfrm>
              <a:off x="1837944" y="4622292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7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9" name="타원 8"/>
            <p:cNvSpPr/>
            <p:nvPr/>
          </p:nvSpPr>
          <p:spPr>
            <a:xfrm>
              <a:off x="3019925" y="3750221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5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17" name="타원 16"/>
            <p:cNvSpPr/>
            <p:nvPr/>
          </p:nvSpPr>
          <p:spPr>
            <a:xfrm>
              <a:off x="5783580" y="2734056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6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18" name="타원 17"/>
            <p:cNvSpPr/>
            <p:nvPr/>
          </p:nvSpPr>
          <p:spPr>
            <a:xfrm>
              <a:off x="4786174" y="4315097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9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19" name="타원 18"/>
            <p:cNvSpPr/>
            <p:nvPr/>
          </p:nvSpPr>
          <p:spPr>
            <a:xfrm>
              <a:off x="6479771" y="3803904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8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28" name="타원 27"/>
            <p:cNvSpPr/>
            <p:nvPr/>
          </p:nvSpPr>
          <p:spPr>
            <a:xfrm>
              <a:off x="2944368" y="2042160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2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cxnSp>
          <p:nvCxnSpPr>
            <p:cNvPr id="32" name="직선 연결선 31"/>
            <p:cNvCxnSpPr/>
            <p:nvPr/>
          </p:nvCxnSpPr>
          <p:spPr>
            <a:xfrm flipV="1">
              <a:off x="3472941" y="1827495"/>
              <a:ext cx="1165961" cy="303209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3" name="TextBox 212"/>
            <p:cNvSpPr txBox="1"/>
            <p:nvPr/>
          </p:nvSpPr>
          <p:spPr>
            <a:xfrm>
              <a:off x="3949315" y="1786152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2</a:t>
              </a:r>
              <a:endParaRPr lang="ko-KR" altLang="en-US" sz="1200" dirty="0"/>
            </a:p>
          </p:txBody>
        </p:sp>
        <p:cxnSp>
          <p:nvCxnSpPr>
            <p:cNvPr id="139" name="직선 연결선 138"/>
            <p:cNvCxnSpPr/>
            <p:nvPr/>
          </p:nvCxnSpPr>
          <p:spPr>
            <a:xfrm flipV="1">
              <a:off x="3429000" y="1905000"/>
              <a:ext cx="1165961" cy="303209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직선 연결선 141"/>
            <p:cNvCxnSpPr/>
            <p:nvPr/>
          </p:nvCxnSpPr>
          <p:spPr>
            <a:xfrm flipV="1">
              <a:off x="2248662" y="2429344"/>
              <a:ext cx="659129" cy="577552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2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직선 연결선 142"/>
            <p:cNvCxnSpPr/>
            <p:nvPr/>
          </p:nvCxnSpPr>
          <p:spPr>
            <a:xfrm flipV="1">
              <a:off x="2286000" y="2470876"/>
              <a:ext cx="671030" cy="577124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직선 연결선 147"/>
            <p:cNvCxnSpPr/>
            <p:nvPr/>
          </p:nvCxnSpPr>
          <p:spPr>
            <a:xfrm flipV="1">
              <a:off x="1958600" y="3632385"/>
              <a:ext cx="16351" cy="906139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직선 연결선 148"/>
            <p:cNvCxnSpPr/>
            <p:nvPr/>
          </p:nvCxnSpPr>
          <p:spPr>
            <a:xfrm flipV="1">
              <a:off x="2040709" y="3667545"/>
              <a:ext cx="22135" cy="850769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직선 연결선 153"/>
            <p:cNvCxnSpPr/>
            <p:nvPr/>
          </p:nvCxnSpPr>
          <p:spPr>
            <a:xfrm flipH="1" flipV="1">
              <a:off x="2342807" y="3441430"/>
              <a:ext cx="589881" cy="493121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2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직선 연결선 154"/>
            <p:cNvCxnSpPr/>
            <p:nvPr/>
          </p:nvCxnSpPr>
          <p:spPr>
            <a:xfrm flipH="1" flipV="1">
              <a:off x="2411012" y="3405889"/>
              <a:ext cx="535029" cy="435171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직선 연결선 160"/>
            <p:cNvCxnSpPr/>
            <p:nvPr/>
          </p:nvCxnSpPr>
          <p:spPr>
            <a:xfrm flipH="1" flipV="1">
              <a:off x="3438145" y="2475959"/>
              <a:ext cx="748768" cy="480602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직선 연결선 164"/>
            <p:cNvCxnSpPr/>
            <p:nvPr/>
          </p:nvCxnSpPr>
          <p:spPr>
            <a:xfrm>
              <a:off x="3394472" y="2514644"/>
              <a:ext cx="715966" cy="461967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" name="직선 연결선 167"/>
            <p:cNvCxnSpPr/>
            <p:nvPr/>
          </p:nvCxnSpPr>
          <p:spPr>
            <a:xfrm flipH="1">
              <a:off x="4447491" y="2152653"/>
              <a:ext cx="334974" cy="762056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직선 연결선 170"/>
            <p:cNvCxnSpPr/>
            <p:nvPr/>
          </p:nvCxnSpPr>
          <p:spPr>
            <a:xfrm flipV="1">
              <a:off x="4495800" y="2245801"/>
              <a:ext cx="331316" cy="710760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직선 연결선 173"/>
            <p:cNvCxnSpPr/>
            <p:nvPr/>
          </p:nvCxnSpPr>
          <p:spPr>
            <a:xfrm flipH="1" flipV="1">
              <a:off x="5158772" y="2122379"/>
              <a:ext cx="632428" cy="620821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7" name="직선 연결선 176"/>
            <p:cNvCxnSpPr/>
            <p:nvPr/>
          </p:nvCxnSpPr>
          <p:spPr>
            <a:xfrm>
              <a:off x="5198658" y="2050689"/>
              <a:ext cx="613221" cy="590992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1" name="직선 연결선 180"/>
            <p:cNvCxnSpPr>
              <a:cxnSpLocks/>
            </p:cNvCxnSpPr>
            <p:nvPr/>
          </p:nvCxnSpPr>
          <p:spPr>
            <a:xfrm flipV="1">
              <a:off x="3498997" y="3415514"/>
              <a:ext cx="535029" cy="435171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" name="직선 연결선 183"/>
            <p:cNvCxnSpPr/>
            <p:nvPr/>
          </p:nvCxnSpPr>
          <p:spPr>
            <a:xfrm flipH="1">
              <a:off x="3573610" y="3426154"/>
              <a:ext cx="541757" cy="452770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직선 연결선 186"/>
            <p:cNvCxnSpPr>
              <a:cxnSpLocks/>
            </p:cNvCxnSpPr>
            <p:nvPr/>
          </p:nvCxnSpPr>
          <p:spPr>
            <a:xfrm flipH="1">
              <a:off x="4680691" y="2963008"/>
              <a:ext cx="928801" cy="200240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직선 연결선 189"/>
            <p:cNvCxnSpPr/>
            <p:nvPr/>
          </p:nvCxnSpPr>
          <p:spPr>
            <a:xfrm flipV="1">
              <a:off x="4667265" y="3024552"/>
              <a:ext cx="963916" cy="212595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직선 연결선 192"/>
            <p:cNvCxnSpPr/>
            <p:nvPr/>
          </p:nvCxnSpPr>
          <p:spPr>
            <a:xfrm flipH="1" flipV="1">
              <a:off x="6247336" y="3192267"/>
              <a:ext cx="467592" cy="525539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직선 연결선 195"/>
            <p:cNvCxnSpPr>
              <a:cxnSpLocks/>
            </p:cNvCxnSpPr>
            <p:nvPr/>
          </p:nvCxnSpPr>
          <p:spPr>
            <a:xfrm>
              <a:off x="6173114" y="3222866"/>
              <a:ext cx="467592" cy="502114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직선 연결선 205"/>
            <p:cNvCxnSpPr/>
            <p:nvPr/>
          </p:nvCxnSpPr>
          <p:spPr>
            <a:xfrm flipV="1">
              <a:off x="5382879" y="4166484"/>
              <a:ext cx="998239" cy="251131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0" name="직선 연결선 209"/>
            <p:cNvCxnSpPr/>
            <p:nvPr/>
          </p:nvCxnSpPr>
          <p:spPr>
            <a:xfrm flipH="1">
              <a:off x="5369291" y="4109083"/>
              <a:ext cx="1025416" cy="262474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직선 연결선 214"/>
            <p:cNvCxnSpPr/>
            <p:nvPr/>
          </p:nvCxnSpPr>
          <p:spPr>
            <a:xfrm>
              <a:off x="4562717" y="3523521"/>
              <a:ext cx="390283" cy="667479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6" name="직선 연결선 215"/>
            <p:cNvCxnSpPr/>
            <p:nvPr/>
          </p:nvCxnSpPr>
          <p:spPr>
            <a:xfrm flipH="1" flipV="1">
              <a:off x="4498065" y="3576469"/>
              <a:ext cx="385945" cy="653460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8" name="직선 연결선 287"/>
            <p:cNvCxnSpPr/>
            <p:nvPr/>
          </p:nvCxnSpPr>
          <p:spPr>
            <a:xfrm>
              <a:off x="3588290" y="4118739"/>
              <a:ext cx="1069768" cy="374335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9" name="직선 연결선 288"/>
            <p:cNvCxnSpPr/>
            <p:nvPr/>
          </p:nvCxnSpPr>
          <p:spPr>
            <a:xfrm flipH="1" flipV="1">
              <a:off x="3583005" y="4184065"/>
              <a:ext cx="1055897" cy="369984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7" name="직선 연결선 326"/>
            <p:cNvCxnSpPr/>
            <p:nvPr/>
          </p:nvCxnSpPr>
          <p:spPr>
            <a:xfrm flipH="1">
              <a:off x="2317124" y="4202807"/>
              <a:ext cx="692828" cy="479964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8" name="직선 연결선 327"/>
            <p:cNvCxnSpPr/>
            <p:nvPr/>
          </p:nvCxnSpPr>
          <p:spPr>
            <a:xfrm flipV="1">
              <a:off x="2356608" y="4258959"/>
              <a:ext cx="671553" cy="468066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3" name="직선 연결선 342"/>
            <p:cNvCxnSpPr/>
            <p:nvPr/>
          </p:nvCxnSpPr>
          <p:spPr>
            <a:xfrm flipH="1">
              <a:off x="5219844" y="3191256"/>
              <a:ext cx="647556" cy="980580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6" name="직선 연결선 345"/>
            <p:cNvCxnSpPr/>
            <p:nvPr/>
          </p:nvCxnSpPr>
          <p:spPr>
            <a:xfrm flipV="1">
              <a:off x="5264887" y="3294615"/>
              <a:ext cx="631711" cy="935314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4" name="TextBox 353"/>
            <p:cNvSpPr txBox="1"/>
            <p:nvPr/>
          </p:nvSpPr>
          <p:spPr>
            <a:xfrm>
              <a:off x="4450096" y="2378574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4</a:t>
              </a:r>
              <a:endParaRPr lang="ko-KR" altLang="en-US" sz="1200" dirty="0"/>
            </a:p>
          </p:txBody>
        </p:sp>
        <p:sp>
          <p:nvSpPr>
            <p:cNvPr id="355" name="TextBox 354"/>
            <p:cNvSpPr txBox="1"/>
            <p:nvPr/>
          </p:nvSpPr>
          <p:spPr>
            <a:xfrm>
              <a:off x="3631959" y="2750507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2</a:t>
              </a:r>
              <a:endParaRPr lang="ko-KR" altLang="en-US" sz="1200" dirty="0"/>
            </a:p>
          </p:txBody>
        </p:sp>
        <p:sp>
          <p:nvSpPr>
            <p:cNvPr id="356" name="TextBox 355"/>
            <p:cNvSpPr txBox="1"/>
            <p:nvPr/>
          </p:nvSpPr>
          <p:spPr>
            <a:xfrm>
              <a:off x="3672846" y="3398644"/>
              <a:ext cx="141143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square" lIns="0" tIns="0" rIns="0" bIns="0" rtlCol="0" anchor="ctr">
              <a:spAutoFit/>
            </a:bodyPr>
            <a:lstStyle/>
            <a:p>
              <a:r>
                <a:rPr lang="en-US" altLang="ko-KR" sz="1200"/>
                <a:t>3</a:t>
              </a:r>
              <a:endParaRPr lang="ko-KR" altLang="en-US" sz="1200" dirty="0"/>
            </a:p>
          </p:txBody>
        </p:sp>
        <p:sp>
          <p:nvSpPr>
            <p:cNvPr id="357" name="TextBox 356"/>
            <p:cNvSpPr txBox="1"/>
            <p:nvPr/>
          </p:nvSpPr>
          <p:spPr>
            <a:xfrm>
              <a:off x="5043202" y="2848976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2</a:t>
              </a:r>
              <a:endParaRPr lang="ko-KR" altLang="en-US" sz="1200" dirty="0"/>
            </a:p>
          </p:txBody>
        </p:sp>
        <p:sp>
          <p:nvSpPr>
            <p:cNvPr id="358" name="TextBox 357"/>
            <p:cNvSpPr txBox="1"/>
            <p:nvPr/>
          </p:nvSpPr>
          <p:spPr>
            <a:xfrm>
              <a:off x="1791687" y="3942240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3</a:t>
              </a:r>
              <a:endParaRPr lang="ko-KR" altLang="en-US" sz="1200" dirty="0"/>
            </a:p>
          </p:txBody>
        </p:sp>
        <p:cxnSp>
          <p:nvCxnSpPr>
            <p:cNvPr id="376" name="직선 연결선 375"/>
            <p:cNvCxnSpPr/>
            <p:nvPr/>
          </p:nvCxnSpPr>
          <p:spPr>
            <a:xfrm>
              <a:off x="3129641" y="2613306"/>
              <a:ext cx="29374" cy="1074684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9" name="직선 연결선 378"/>
            <p:cNvCxnSpPr/>
            <p:nvPr/>
          </p:nvCxnSpPr>
          <p:spPr>
            <a:xfrm flipH="1" flipV="1">
              <a:off x="3211008" y="2670846"/>
              <a:ext cx="22041" cy="1006909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1" name="TextBox 390"/>
            <p:cNvSpPr txBox="1"/>
            <p:nvPr/>
          </p:nvSpPr>
          <p:spPr>
            <a:xfrm>
              <a:off x="2427880" y="2551381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4</a:t>
              </a:r>
              <a:endParaRPr lang="ko-KR" altLang="en-US" sz="1200" dirty="0"/>
            </a:p>
          </p:txBody>
        </p:sp>
        <p:sp>
          <p:nvSpPr>
            <p:cNvPr id="392" name="TextBox 391"/>
            <p:cNvSpPr txBox="1"/>
            <p:nvPr/>
          </p:nvSpPr>
          <p:spPr>
            <a:xfrm>
              <a:off x="2626603" y="2817747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3</a:t>
              </a:r>
              <a:endParaRPr lang="ko-KR" altLang="en-US" sz="1200" dirty="0"/>
            </a:p>
          </p:txBody>
        </p:sp>
        <p:sp>
          <p:nvSpPr>
            <p:cNvPr id="393" name="TextBox 392"/>
            <p:cNvSpPr txBox="1"/>
            <p:nvPr/>
          </p:nvSpPr>
          <p:spPr>
            <a:xfrm>
              <a:off x="5543024" y="2162151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3</a:t>
              </a:r>
              <a:endParaRPr lang="ko-KR" altLang="en-US" sz="1200" dirty="0"/>
            </a:p>
          </p:txBody>
        </p:sp>
        <p:sp>
          <p:nvSpPr>
            <p:cNvPr id="394" name="TextBox 393"/>
            <p:cNvSpPr txBox="1"/>
            <p:nvPr/>
          </p:nvSpPr>
          <p:spPr>
            <a:xfrm>
              <a:off x="5302335" y="2386492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square" lIns="0" tIns="0" rIns="0" bIns="0" rtlCol="0" anchor="ctr">
              <a:spAutoFit/>
            </a:bodyPr>
            <a:lstStyle/>
            <a:p>
              <a:r>
                <a:rPr lang="en-US" altLang="ko-KR" sz="1200"/>
                <a:t>3</a:t>
              </a:r>
              <a:endParaRPr lang="ko-KR" altLang="en-US" sz="1200" dirty="0"/>
            </a:p>
          </p:txBody>
        </p:sp>
        <p:sp>
          <p:nvSpPr>
            <p:cNvPr id="395" name="TextBox 394"/>
            <p:cNvSpPr txBox="1"/>
            <p:nvPr/>
          </p:nvSpPr>
          <p:spPr>
            <a:xfrm>
              <a:off x="5783204" y="4030790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4</a:t>
              </a:r>
              <a:endParaRPr lang="ko-KR" altLang="en-US" sz="1200" dirty="0"/>
            </a:p>
          </p:txBody>
        </p:sp>
        <p:sp>
          <p:nvSpPr>
            <p:cNvPr id="396" name="TextBox 395"/>
            <p:cNvSpPr txBox="1"/>
            <p:nvPr/>
          </p:nvSpPr>
          <p:spPr>
            <a:xfrm>
              <a:off x="4786329" y="3657888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3</a:t>
              </a:r>
              <a:endParaRPr lang="ko-KR" altLang="en-US" sz="1200" dirty="0"/>
            </a:p>
          </p:txBody>
        </p:sp>
        <p:sp>
          <p:nvSpPr>
            <p:cNvPr id="397" name="TextBox 396"/>
            <p:cNvSpPr txBox="1"/>
            <p:nvPr/>
          </p:nvSpPr>
          <p:spPr>
            <a:xfrm>
              <a:off x="4089142" y="4080944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3</a:t>
              </a:r>
              <a:endParaRPr lang="ko-KR" altLang="en-US" sz="1200" dirty="0"/>
            </a:p>
          </p:txBody>
        </p:sp>
        <p:sp>
          <p:nvSpPr>
            <p:cNvPr id="401" name="TextBox 400"/>
            <p:cNvSpPr txBox="1"/>
            <p:nvPr/>
          </p:nvSpPr>
          <p:spPr>
            <a:xfrm>
              <a:off x="2529892" y="4293452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3</a:t>
              </a:r>
              <a:endParaRPr lang="ko-KR" altLang="en-US" sz="1200" dirty="0"/>
            </a:p>
          </p:txBody>
        </p:sp>
        <p:sp>
          <p:nvSpPr>
            <p:cNvPr id="402" name="TextBox 401"/>
            <p:cNvSpPr txBox="1"/>
            <p:nvPr/>
          </p:nvSpPr>
          <p:spPr>
            <a:xfrm>
              <a:off x="2698137" y="4495135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2</a:t>
              </a:r>
              <a:endParaRPr lang="ko-KR" altLang="en-US" sz="1200" dirty="0"/>
            </a:p>
          </p:txBody>
        </p:sp>
        <p:sp>
          <p:nvSpPr>
            <p:cNvPr id="403" name="TextBox 402"/>
            <p:cNvSpPr txBox="1"/>
            <p:nvPr/>
          </p:nvSpPr>
          <p:spPr>
            <a:xfrm>
              <a:off x="2087385" y="3924417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4</a:t>
              </a:r>
              <a:endParaRPr lang="ko-KR" altLang="en-US" sz="1200" dirty="0"/>
            </a:p>
          </p:txBody>
        </p:sp>
        <p:sp>
          <p:nvSpPr>
            <p:cNvPr id="408" name="TextBox 407"/>
            <p:cNvSpPr txBox="1"/>
            <p:nvPr/>
          </p:nvSpPr>
          <p:spPr>
            <a:xfrm>
              <a:off x="4750724" y="2504042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3</a:t>
              </a:r>
              <a:endParaRPr lang="ko-KR" altLang="en-US" sz="1200" dirty="0"/>
            </a:p>
          </p:txBody>
        </p:sp>
        <p:sp>
          <p:nvSpPr>
            <p:cNvPr id="409" name="TextBox 408"/>
            <p:cNvSpPr txBox="1"/>
            <p:nvPr/>
          </p:nvSpPr>
          <p:spPr>
            <a:xfrm>
              <a:off x="5425895" y="3505559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4</a:t>
              </a:r>
              <a:endParaRPr lang="ko-KR" altLang="en-US" sz="1200" dirty="0"/>
            </a:p>
          </p:txBody>
        </p:sp>
        <p:sp>
          <p:nvSpPr>
            <p:cNvPr id="410" name="TextBox 409"/>
            <p:cNvSpPr txBox="1"/>
            <p:nvPr/>
          </p:nvSpPr>
          <p:spPr>
            <a:xfrm>
              <a:off x="5719539" y="3619092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4</a:t>
              </a:r>
              <a:endParaRPr lang="ko-KR" altLang="en-US" sz="1200" dirty="0"/>
            </a:p>
          </p:txBody>
        </p:sp>
        <p:sp>
          <p:nvSpPr>
            <p:cNvPr id="420" name="TextBox 419"/>
            <p:cNvSpPr txBox="1"/>
            <p:nvPr/>
          </p:nvSpPr>
          <p:spPr>
            <a:xfrm>
              <a:off x="6479207" y="3248863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3</a:t>
              </a:r>
              <a:endParaRPr lang="ko-KR" altLang="en-US" sz="1200" dirty="0"/>
            </a:p>
          </p:txBody>
        </p:sp>
        <p:sp>
          <p:nvSpPr>
            <p:cNvPr id="421" name="TextBox 420"/>
            <p:cNvSpPr txBox="1"/>
            <p:nvPr/>
          </p:nvSpPr>
          <p:spPr>
            <a:xfrm>
              <a:off x="6276534" y="3471010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3</a:t>
              </a:r>
              <a:endParaRPr lang="ko-KR" altLang="en-US" sz="1200" dirty="0"/>
            </a:p>
          </p:txBody>
        </p:sp>
        <p:sp>
          <p:nvSpPr>
            <p:cNvPr id="430" name="TextBox 429"/>
            <p:cNvSpPr txBox="1"/>
            <p:nvPr/>
          </p:nvSpPr>
          <p:spPr>
            <a:xfrm>
              <a:off x="3991678" y="4387695"/>
              <a:ext cx="84696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square" lIns="0" tIns="0" rIns="0" bIns="0" rtlCol="0" anchor="ctr">
              <a:spAutoFit/>
            </a:bodyPr>
            <a:lstStyle/>
            <a:p>
              <a:r>
                <a:rPr lang="en-US" altLang="ko-KR" sz="1200"/>
                <a:t>4</a:t>
              </a:r>
              <a:endParaRPr lang="ko-KR" altLang="en-US" sz="1200" dirty="0"/>
            </a:p>
          </p:txBody>
        </p:sp>
        <p:sp>
          <p:nvSpPr>
            <p:cNvPr id="431" name="TextBox 430"/>
            <p:cNvSpPr txBox="1"/>
            <p:nvPr/>
          </p:nvSpPr>
          <p:spPr>
            <a:xfrm>
              <a:off x="3865170" y="3678964"/>
              <a:ext cx="164911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square" lIns="0" tIns="0" rIns="0" bIns="0" rtlCol="0" anchor="ctr">
              <a:spAutoFit/>
            </a:bodyPr>
            <a:lstStyle/>
            <a:p>
              <a:r>
                <a:rPr lang="en-US" altLang="ko-KR" sz="1200"/>
                <a:t>3</a:t>
              </a:r>
              <a:endParaRPr lang="ko-KR" altLang="en-US" sz="1200" dirty="0"/>
            </a:p>
          </p:txBody>
        </p:sp>
        <p:sp>
          <p:nvSpPr>
            <p:cNvPr id="433" name="TextBox 432"/>
            <p:cNvSpPr txBox="1"/>
            <p:nvPr/>
          </p:nvSpPr>
          <p:spPr>
            <a:xfrm>
              <a:off x="2651646" y="3438780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3</a:t>
              </a:r>
              <a:endParaRPr lang="ko-KR" altLang="en-US" sz="1200" dirty="0"/>
            </a:p>
          </p:txBody>
        </p:sp>
        <p:sp>
          <p:nvSpPr>
            <p:cNvPr id="434" name="TextBox 433"/>
            <p:cNvSpPr txBox="1"/>
            <p:nvPr/>
          </p:nvSpPr>
          <p:spPr>
            <a:xfrm>
              <a:off x="2510194" y="3677755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3</a:t>
              </a:r>
              <a:endParaRPr lang="ko-KR" altLang="en-US" sz="1200" dirty="0"/>
            </a:p>
          </p:txBody>
        </p:sp>
        <p:sp>
          <p:nvSpPr>
            <p:cNvPr id="435" name="TextBox 434"/>
            <p:cNvSpPr txBox="1"/>
            <p:nvPr/>
          </p:nvSpPr>
          <p:spPr>
            <a:xfrm>
              <a:off x="3281129" y="3078541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3</a:t>
              </a:r>
              <a:endParaRPr lang="ko-KR" altLang="en-US" sz="1200" dirty="0"/>
            </a:p>
          </p:txBody>
        </p:sp>
        <p:sp>
          <p:nvSpPr>
            <p:cNvPr id="436" name="TextBox 435"/>
            <p:cNvSpPr txBox="1"/>
            <p:nvPr/>
          </p:nvSpPr>
          <p:spPr>
            <a:xfrm>
              <a:off x="2944319" y="3091298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4</a:t>
              </a:r>
              <a:endParaRPr lang="ko-KR" altLang="en-US" sz="1200" dirty="0"/>
            </a:p>
          </p:txBody>
        </p:sp>
        <p:sp>
          <p:nvSpPr>
            <p:cNvPr id="437" name="TextBox 436"/>
            <p:cNvSpPr txBox="1"/>
            <p:nvPr/>
          </p:nvSpPr>
          <p:spPr>
            <a:xfrm>
              <a:off x="3785052" y="2504042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3</a:t>
              </a:r>
              <a:endParaRPr lang="ko-KR" altLang="en-US" sz="1200" dirty="0"/>
            </a:p>
          </p:txBody>
        </p:sp>
        <p:sp>
          <p:nvSpPr>
            <p:cNvPr id="438" name="TextBox 437"/>
            <p:cNvSpPr txBox="1"/>
            <p:nvPr/>
          </p:nvSpPr>
          <p:spPr>
            <a:xfrm>
              <a:off x="5050647" y="3170874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3</a:t>
              </a:r>
              <a:endParaRPr lang="ko-KR" altLang="en-US" sz="1200" dirty="0"/>
            </a:p>
          </p:txBody>
        </p:sp>
        <p:sp>
          <p:nvSpPr>
            <p:cNvPr id="439" name="TextBox 438"/>
            <p:cNvSpPr txBox="1"/>
            <p:nvPr/>
          </p:nvSpPr>
          <p:spPr>
            <a:xfrm>
              <a:off x="4476372" y="3782695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3</a:t>
              </a:r>
              <a:endParaRPr lang="ko-KR" altLang="en-US" sz="1200" dirty="0"/>
            </a:p>
          </p:txBody>
        </p:sp>
        <p:sp>
          <p:nvSpPr>
            <p:cNvPr id="83" name="TextBox 82"/>
            <p:cNvSpPr txBox="1"/>
            <p:nvPr/>
          </p:nvSpPr>
          <p:spPr>
            <a:xfrm>
              <a:off x="5791200" y="4343400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4</a:t>
              </a:r>
              <a:endParaRPr lang="ko-KR" altLang="en-US" sz="1200" dirty="0"/>
            </a:p>
          </p:txBody>
        </p:sp>
        <p:sp>
          <p:nvSpPr>
            <p:cNvPr id="84" name="TextBox 83"/>
            <p:cNvSpPr txBox="1"/>
            <p:nvPr/>
          </p:nvSpPr>
          <p:spPr>
            <a:xfrm>
              <a:off x="3991786" y="2075431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2</a:t>
              </a:r>
              <a:endParaRPr lang="ko-KR" altLang="en-US" sz="1200" dirty="0"/>
            </a:p>
          </p:txBody>
        </p:sp>
      </p:grpSp>
      <p:sp>
        <p:nvSpPr>
          <p:cNvPr id="3" name="Oval 2">
            <a:extLst>
              <a:ext uri="{FF2B5EF4-FFF2-40B4-BE49-F238E27FC236}">
                <a16:creationId xmlns:a16="http://schemas.microsoft.com/office/drawing/2014/main" id="{40474B5C-4089-4C20-AD25-288D0C7F14F2}"/>
              </a:ext>
            </a:extLst>
          </p:cNvPr>
          <p:cNvSpPr/>
          <p:nvPr/>
        </p:nvSpPr>
        <p:spPr bwMode="auto">
          <a:xfrm>
            <a:off x="2660281" y="1251135"/>
            <a:ext cx="4040820" cy="2332175"/>
          </a:xfrm>
          <a:prstGeom prst="ellipse">
            <a:avLst/>
          </a:prstGeom>
          <a:noFill/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1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  <a:ea typeface="굴림" pitchFamily="50" charset="-127"/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B150799-E835-497D-8C36-AD862E4D95F8}"/>
              </a:ext>
            </a:extLst>
          </p:cNvPr>
          <p:cNvSpPr txBox="1"/>
          <p:nvPr/>
        </p:nvSpPr>
        <p:spPr>
          <a:xfrm>
            <a:off x="5190235" y="1640302"/>
            <a:ext cx="723275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>
                <a:solidFill>
                  <a:srgbClr val="FF0000"/>
                </a:solidFill>
              </a:rPr>
              <a:t>R1 = 0</a:t>
            </a:r>
            <a:endParaRPr lang="en-US" sz="1200" dirty="0">
              <a:solidFill>
                <a:srgbClr val="FF0000"/>
              </a:solidFill>
            </a:endParaRP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E3AAC541-6EB2-4BE7-A436-2833121DC6A9}"/>
              </a:ext>
            </a:extLst>
          </p:cNvPr>
          <p:cNvSpPr txBox="1"/>
          <p:nvPr/>
        </p:nvSpPr>
        <p:spPr>
          <a:xfrm>
            <a:off x="5817323" y="2471587"/>
            <a:ext cx="723275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>
                <a:solidFill>
                  <a:srgbClr val="FF0000"/>
                </a:solidFill>
              </a:rPr>
              <a:t>R6 = 3</a:t>
            </a:r>
            <a:endParaRPr lang="en-US" sz="1200" dirty="0">
              <a:solidFill>
                <a:srgbClr val="FF0000"/>
              </a:solidFill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CB7B0D21-EEEC-4288-B83E-E614E6900964}"/>
              </a:ext>
            </a:extLst>
          </p:cNvPr>
          <p:cNvSpPr txBox="1"/>
          <p:nvPr/>
        </p:nvSpPr>
        <p:spPr>
          <a:xfrm>
            <a:off x="2862954" y="1783736"/>
            <a:ext cx="723275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>
                <a:solidFill>
                  <a:srgbClr val="FF0000"/>
                </a:solidFill>
              </a:rPr>
              <a:t>R2 = 2</a:t>
            </a:r>
            <a:endParaRPr lang="en-US" sz="1200" dirty="0">
              <a:solidFill>
                <a:srgbClr val="FF0000"/>
              </a:solidFill>
            </a:endParaRP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4B17C4F6-F053-4D86-92A5-E23F75E7B98B}"/>
              </a:ext>
            </a:extLst>
          </p:cNvPr>
          <p:cNvSpPr txBox="1"/>
          <p:nvPr/>
        </p:nvSpPr>
        <p:spPr>
          <a:xfrm>
            <a:off x="4413400" y="2870528"/>
            <a:ext cx="723275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>
                <a:solidFill>
                  <a:srgbClr val="FF0000"/>
                </a:solidFill>
              </a:rPr>
              <a:t>R4 = 4</a:t>
            </a:r>
            <a:endParaRPr lang="en-US" sz="1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19957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TextBox 140"/>
          <p:cNvSpPr txBox="1"/>
          <p:nvPr/>
        </p:nvSpPr>
        <p:spPr>
          <a:xfrm>
            <a:off x="546777" y="248342"/>
            <a:ext cx="3355406" cy="523220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altLang="ko-KR" sz="2800" dirty="0"/>
              <a:t>Example Network</a:t>
            </a:r>
            <a:endParaRPr lang="ko-KR" altLang="en-US" sz="2800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DF40DB0-0F30-4F79-AF1E-426F3B754CCF}"/>
              </a:ext>
            </a:extLst>
          </p:cNvPr>
          <p:cNvGrpSpPr/>
          <p:nvPr/>
        </p:nvGrpSpPr>
        <p:grpSpPr>
          <a:xfrm>
            <a:off x="1791687" y="1600200"/>
            <a:ext cx="5145284" cy="3479292"/>
            <a:chOff x="1791687" y="1600200"/>
            <a:chExt cx="5145284" cy="3479292"/>
          </a:xfrm>
        </p:grpSpPr>
        <p:sp>
          <p:nvSpPr>
            <p:cNvPr id="5" name="타원 4"/>
            <p:cNvSpPr/>
            <p:nvPr/>
          </p:nvSpPr>
          <p:spPr>
            <a:xfrm>
              <a:off x="4724400" y="1600200"/>
              <a:ext cx="457200" cy="457200"/>
            </a:xfrm>
            <a:prstGeom prst="ellipse">
              <a:avLst/>
            </a:prstGeom>
            <a:solidFill>
              <a:schemeClr val="bg1"/>
            </a:solidFill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1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" name="타원 5"/>
            <p:cNvSpPr/>
            <p:nvPr/>
          </p:nvSpPr>
          <p:spPr>
            <a:xfrm>
              <a:off x="4109222" y="3029954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4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7" name="타원 6"/>
            <p:cNvSpPr/>
            <p:nvPr/>
          </p:nvSpPr>
          <p:spPr>
            <a:xfrm>
              <a:off x="1827777" y="3046196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3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8" name="타원 7"/>
            <p:cNvSpPr/>
            <p:nvPr/>
          </p:nvSpPr>
          <p:spPr>
            <a:xfrm>
              <a:off x="1837944" y="4622292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7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9" name="타원 8"/>
            <p:cNvSpPr/>
            <p:nvPr/>
          </p:nvSpPr>
          <p:spPr>
            <a:xfrm>
              <a:off x="3019925" y="3750221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5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17" name="타원 16"/>
            <p:cNvSpPr/>
            <p:nvPr/>
          </p:nvSpPr>
          <p:spPr>
            <a:xfrm>
              <a:off x="5783580" y="2734056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6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18" name="타원 17"/>
            <p:cNvSpPr/>
            <p:nvPr/>
          </p:nvSpPr>
          <p:spPr>
            <a:xfrm>
              <a:off x="4786174" y="4315097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9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19" name="타원 18"/>
            <p:cNvSpPr/>
            <p:nvPr/>
          </p:nvSpPr>
          <p:spPr>
            <a:xfrm>
              <a:off x="6479771" y="3803904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8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28" name="타원 27"/>
            <p:cNvSpPr/>
            <p:nvPr/>
          </p:nvSpPr>
          <p:spPr>
            <a:xfrm>
              <a:off x="2944368" y="2042160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2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cxnSp>
          <p:nvCxnSpPr>
            <p:cNvPr id="32" name="직선 연결선 31"/>
            <p:cNvCxnSpPr/>
            <p:nvPr/>
          </p:nvCxnSpPr>
          <p:spPr>
            <a:xfrm flipV="1">
              <a:off x="3472941" y="1827495"/>
              <a:ext cx="1165961" cy="303209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3" name="TextBox 212"/>
            <p:cNvSpPr txBox="1"/>
            <p:nvPr/>
          </p:nvSpPr>
          <p:spPr>
            <a:xfrm>
              <a:off x="3949315" y="1786152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2</a:t>
              </a:r>
              <a:endParaRPr lang="ko-KR" altLang="en-US" sz="1200" dirty="0"/>
            </a:p>
          </p:txBody>
        </p:sp>
        <p:cxnSp>
          <p:nvCxnSpPr>
            <p:cNvPr id="139" name="직선 연결선 138"/>
            <p:cNvCxnSpPr/>
            <p:nvPr/>
          </p:nvCxnSpPr>
          <p:spPr>
            <a:xfrm flipV="1">
              <a:off x="3429000" y="1905000"/>
              <a:ext cx="1165961" cy="303209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직선 연결선 141"/>
            <p:cNvCxnSpPr/>
            <p:nvPr/>
          </p:nvCxnSpPr>
          <p:spPr>
            <a:xfrm flipV="1">
              <a:off x="2248662" y="2429344"/>
              <a:ext cx="659129" cy="577552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2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직선 연결선 142"/>
            <p:cNvCxnSpPr/>
            <p:nvPr/>
          </p:nvCxnSpPr>
          <p:spPr>
            <a:xfrm flipV="1">
              <a:off x="2286000" y="2470876"/>
              <a:ext cx="671030" cy="577124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직선 연결선 147"/>
            <p:cNvCxnSpPr/>
            <p:nvPr/>
          </p:nvCxnSpPr>
          <p:spPr>
            <a:xfrm flipV="1">
              <a:off x="1958600" y="3632385"/>
              <a:ext cx="16351" cy="906139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직선 연결선 148"/>
            <p:cNvCxnSpPr/>
            <p:nvPr/>
          </p:nvCxnSpPr>
          <p:spPr>
            <a:xfrm flipV="1">
              <a:off x="2040709" y="3667545"/>
              <a:ext cx="22135" cy="850769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직선 연결선 153"/>
            <p:cNvCxnSpPr/>
            <p:nvPr/>
          </p:nvCxnSpPr>
          <p:spPr>
            <a:xfrm flipH="1" flipV="1">
              <a:off x="2342807" y="3441430"/>
              <a:ext cx="589881" cy="493121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2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직선 연결선 154"/>
            <p:cNvCxnSpPr/>
            <p:nvPr/>
          </p:nvCxnSpPr>
          <p:spPr>
            <a:xfrm flipH="1" flipV="1">
              <a:off x="2411012" y="3405889"/>
              <a:ext cx="535029" cy="435171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직선 연결선 160"/>
            <p:cNvCxnSpPr/>
            <p:nvPr/>
          </p:nvCxnSpPr>
          <p:spPr>
            <a:xfrm flipH="1" flipV="1">
              <a:off x="3438145" y="2475959"/>
              <a:ext cx="748768" cy="480602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직선 연결선 164"/>
            <p:cNvCxnSpPr/>
            <p:nvPr/>
          </p:nvCxnSpPr>
          <p:spPr>
            <a:xfrm>
              <a:off x="3394472" y="2514644"/>
              <a:ext cx="715966" cy="461967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" name="직선 연결선 167"/>
            <p:cNvCxnSpPr/>
            <p:nvPr/>
          </p:nvCxnSpPr>
          <p:spPr>
            <a:xfrm flipH="1">
              <a:off x="4447491" y="2152653"/>
              <a:ext cx="334974" cy="762056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직선 연결선 170"/>
            <p:cNvCxnSpPr/>
            <p:nvPr/>
          </p:nvCxnSpPr>
          <p:spPr>
            <a:xfrm flipV="1">
              <a:off x="4495800" y="2245801"/>
              <a:ext cx="331316" cy="710760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직선 연결선 173"/>
            <p:cNvCxnSpPr/>
            <p:nvPr/>
          </p:nvCxnSpPr>
          <p:spPr>
            <a:xfrm flipH="1" flipV="1">
              <a:off x="5158772" y="2122379"/>
              <a:ext cx="632428" cy="620821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7" name="직선 연결선 176"/>
            <p:cNvCxnSpPr/>
            <p:nvPr/>
          </p:nvCxnSpPr>
          <p:spPr>
            <a:xfrm>
              <a:off x="5198658" y="2050689"/>
              <a:ext cx="613221" cy="590992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1" name="직선 연결선 180"/>
            <p:cNvCxnSpPr>
              <a:cxnSpLocks/>
            </p:cNvCxnSpPr>
            <p:nvPr/>
          </p:nvCxnSpPr>
          <p:spPr>
            <a:xfrm flipV="1">
              <a:off x="3498997" y="3415514"/>
              <a:ext cx="535029" cy="435171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" name="직선 연결선 183"/>
            <p:cNvCxnSpPr/>
            <p:nvPr/>
          </p:nvCxnSpPr>
          <p:spPr>
            <a:xfrm flipH="1">
              <a:off x="3573610" y="3426154"/>
              <a:ext cx="541757" cy="452770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직선 연결선 186"/>
            <p:cNvCxnSpPr>
              <a:cxnSpLocks/>
            </p:cNvCxnSpPr>
            <p:nvPr/>
          </p:nvCxnSpPr>
          <p:spPr>
            <a:xfrm flipH="1">
              <a:off x="4680691" y="2963008"/>
              <a:ext cx="928801" cy="200240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직선 연결선 189"/>
            <p:cNvCxnSpPr/>
            <p:nvPr/>
          </p:nvCxnSpPr>
          <p:spPr>
            <a:xfrm flipV="1">
              <a:off x="4667265" y="3024552"/>
              <a:ext cx="963916" cy="212595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직선 연결선 192"/>
            <p:cNvCxnSpPr/>
            <p:nvPr/>
          </p:nvCxnSpPr>
          <p:spPr>
            <a:xfrm flipH="1" flipV="1">
              <a:off x="6247336" y="3192267"/>
              <a:ext cx="467592" cy="525539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직선 연결선 195"/>
            <p:cNvCxnSpPr>
              <a:cxnSpLocks/>
            </p:cNvCxnSpPr>
            <p:nvPr/>
          </p:nvCxnSpPr>
          <p:spPr>
            <a:xfrm>
              <a:off x="6173114" y="3222866"/>
              <a:ext cx="467592" cy="502114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직선 연결선 205"/>
            <p:cNvCxnSpPr/>
            <p:nvPr/>
          </p:nvCxnSpPr>
          <p:spPr>
            <a:xfrm flipV="1">
              <a:off x="5382879" y="4166484"/>
              <a:ext cx="998239" cy="251131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0" name="직선 연결선 209"/>
            <p:cNvCxnSpPr/>
            <p:nvPr/>
          </p:nvCxnSpPr>
          <p:spPr>
            <a:xfrm flipH="1">
              <a:off x="5369291" y="4109083"/>
              <a:ext cx="1025416" cy="262474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직선 연결선 214"/>
            <p:cNvCxnSpPr/>
            <p:nvPr/>
          </p:nvCxnSpPr>
          <p:spPr>
            <a:xfrm>
              <a:off x="4562717" y="3523521"/>
              <a:ext cx="390283" cy="667479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6" name="직선 연결선 215"/>
            <p:cNvCxnSpPr/>
            <p:nvPr/>
          </p:nvCxnSpPr>
          <p:spPr>
            <a:xfrm flipH="1" flipV="1">
              <a:off x="4498065" y="3576469"/>
              <a:ext cx="385945" cy="653460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8" name="직선 연결선 287"/>
            <p:cNvCxnSpPr/>
            <p:nvPr/>
          </p:nvCxnSpPr>
          <p:spPr>
            <a:xfrm>
              <a:off x="3588290" y="4118739"/>
              <a:ext cx="1069768" cy="374335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9" name="직선 연결선 288"/>
            <p:cNvCxnSpPr/>
            <p:nvPr/>
          </p:nvCxnSpPr>
          <p:spPr>
            <a:xfrm flipH="1" flipV="1">
              <a:off x="3583005" y="4184065"/>
              <a:ext cx="1055897" cy="369984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7" name="직선 연결선 326"/>
            <p:cNvCxnSpPr/>
            <p:nvPr/>
          </p:nvCxnSpPr>
          <p:spPr>
            <a:xfrm flipH="1">
              <a:off x="2317124" y="4202807"/>
              <a:ext cx="692828" cy="479964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8" name="직선 연결선 327"/>
            <p:cNvCxnSpPr/>
            <p:nvPr/>
          </p:nvCxnSpPr>
          <p:spPr>
            <a:xfrm flipV="1">
              <a:off x="2356608" y="4258959"/>
              <a:ext cx="671553" cy="468066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3" name="직선 연결선 342"/>
            <p:cNvCxnSpPr/>
            <p:nvPr/>
          </p:nvCxnSpPr>
          <p:spPr>
            <a:xfrm flipH="1">
              <a:off x="5219844" y="3191256"/>
              <a:ext cx="647556" cy="980580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6" name="직선 연결선 345"/>
            <p:cNvCxnSpPr/>
            <p:nvPr/>
          </p:nvCxnSpPr>
          <p:spPr>
            <a:xfrm flipV="1">
              <a:off x="5264887" y="3294615"/>
              <a:ext cx="631711" cy="935314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4" name="TextBox 353"/>
            <p:cNvSpPr txBox="1"/>
            <p:nvPr/>
          </p:nvSpPr>
          <p:spPr>
            <a:xfrm>
              <a:off x="4450096" y="2378574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4</a:t>
              </a:r>
              <a:endParaRPr lang="ko-KR" altLang="en-US" sz="1200" dirty="0"/>
            </a:p>
          </p:txBody>
        </p:sp>
        <p:sp>
          <p:nvSpPr>
            <p:cNvPr id="355" name="TextBox 354"/>
            <p:cNvSpPr txBox="1"/>
            <p:nvPr/>
          </p:nvSpPr>
          <p:spPr>
            <a:xfrm>
              <a:off x="3631959" y="2750507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2</a:t>
              </a:r>
              <a:endParaRPr lang="ko-KR" altLang="en-US" sz="1200" dirty="0"/>
            </a:p>
          </p:txBody>
        </p:sp>
        <p:sp>
          <p:nvSpPr>
            <p:cNvPr id="356" name="TextBox 355"/>
            <p:cNvSpPr txBox="1"/>
            <p:nvPr/>
          </p:nvSpPr>
          <p:spPr>
            <a:xfrm>
              <a:off x="3672846" y="3398644"/>
              <a:ext cx="141143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square" lIns="0" tIns="0" rIns="0" bIns="0" rtlCol="0" anchor="ctr">
              <a:spAutoFit/>
            </a:bodyPr>
            <a:lstStyle/>
            <a:p>
              <a:r>
                <a:rPr lang="en-US" altLang="ko-KR" sz="1200"/>
                <a:t>3</a:t>
              </a:r>
              <a:endParaRPr lang="ko-KR" altLang="en-US" sz="1200" dirty="0"/>
            </a:p>
          </p:txBody>
        </p:sp>
        <p:sp>
          <p:nvSpPr>
            <p:cNvPr id="357" name="TextBox 356"/>
            <p:cNvSpPr txBox="1"/>
            <p:nvPr/>
          </p:nvSpPr>
          <p:spPr>
            <a:xfrm>
              <a:off x="5043202" y="2848976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2</a:t>
              </a:r>
              <a:endParaRPr lang="ko-KR" altLang="en-US" sz="1200" dirty="0"/>
            </a:p>
          </p:txBody>
        </p:sp>
        <p:sp>
          <p:nvSpPr>
            <p:cNvPr id="358" name="TextBox 357"/>
            <p:cNvSpPr txBox="1"/>
            <p:nvPr/>
          </p:nvSpPr>
          <p:spPr>
            <a:xfrm>
              <a:off x="1791687" y="3942240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3</a:t>
              </a:r>
              <a:endParaRPr lang="ko-KR" altLang="en-US" sz="1200" dirty="0"/>
            </a:p>
          </p:txBody>
        </p:sp>
        <p:cxnSp>
          <p:nvCxnSpPr>
            <p:cNvPr id="376" name="직선 연결선 375"/>
            <p:cNvCxnSpPr/>
            <p:nvPr/>
          </p:nvCxnSpPr>
          <p:spPr>
            <a:xfrm>
              <a:off x="3129641" y="2613306"/>
              <a:ext cx="29374" cy="1074684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9" name="직선 연결선 378"/>
            <p:cNvCxnSpPr/>
            <p:nvPr/>
          </p:nvCxnSpPr>
          <p:spPr>
            <a:xfrm flipH="1" flipV="1">
              <a:off x="3211008" y="2670846"/>
              <a:ext cx="22041" cy="1006909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1" name="TextBox 390"/>
            <p:cNvSpPr txBox="1"/>
            <p:nvPr/>
          </p:nvSpPr>
          <p:spPr>
            <a:xfrm>
              <a:off x="2427880" y="2551381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4</a:t>
              </a:r>
              <a:endParaRPr lang="ko-KR" altLang="en-US" sz="1200" dirty="0"/>
            </a:p>
          </p:txBody>
        </p:sp>
        <p:sp>
          <p:nvSpPr>
            <p:cNvPr id="392" name="TextBox 391"/>
            <p:cNvSpPr txBox="1"/>
            <p:nvPr/>
          </p:nvSpPr>
          <p:spPr>
            <a:xfrm>
              <a:off x="2626603" y="2817747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3</a:t>
              </a:r>
              <a:endParaRPr lang="ko-KR" altLang="en-US" sz="1200" dirty="0"/>
            </a:p>
          </p:txBody>
        </p:sp>
        <p:sp>
          <p:nvSpPr>
            <p:cNvPr id="393" name="TextBox 392"/>
            <p:cNvSpPr txBox="1"/>
            <p:nvPr/>
          </p:nvSpPr>
          <p:spPr>
            <a:xfrm>
              <a:off x="5543024" y="2162151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3</a:t>
              </a:r>
              <a:endParaRPr lang="ko-KR" altLang="en-US" sz="1200" dirty="0"/>
            </a:p>
          </p:txBody>
        </p:sp>
        <p:sp>
          <p:nvSpPr>
            <p:cNvPr id="394" name="TextBox 393"/>
            <p:cNvSpPr txBox="1"/>
            <p:nvPr/>
          </p:nvSpPr>
          <p:spPr>
            <a:xfrm>
              <a:off x="5302335" y="2386492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square" lIns="0" tIns="0" rIns="0" bIns="0" rtlCol="0" anchor="ctr">
              <a:spAutoFit/>
            </a:bodyPr>
            <a:lstStyle/>
            <a:p>
              <a:r>
                <a:rPr lang="en-US" altLang="ko-KR" sz="1200"/>
                <a:t>3</a:t>
              </a:r>
              <a:endParaRPr lang="ko-KR" altLang="en-US" sz="1200" dirty="0"/>
            </a:p>
          </p:txBody>
        </p:sp>
        <p:sp>
          <p:nvSpPr>
            <p:cNvPr id="395" name="TextBox 394"/>
            <p:cNvSpPr txBox="1"/>
            <p:nvPr/>
          </p:nvSpPr>
          <p:spPr>
            <a:xfrm>
              <a:off x="5783204" y="4030790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4</a:t>
              </a:r>
              <a:endParaRPr lang="ko-KR" altLang="en-US" sz="1200" dirty="0"/>
            </a:p>
          </p:txBody>
        </p:sp>
        <p:sp>
          <p:nvSpPr>
            <p:cNvPr id="396" name="TextBox 395"/>
            <p:cNvSpPr txBox="1"/>
            <p:nvPr/>
          </p:nvSpPr>
          <p:spPr>
            <a:xfrm>
              <a:off x="4786329" y="3657888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3</a:t>
              </a:r>
              <a:endParaRPr lang="ko-KR" altLang="en-US" sz="1200" dirty="0"/>
            </a:p>
          </p:txBody>
        </p:sp>
        <p:sp>
          <p:nvSpPr>
            <p:cNvPr id="397" name="TextBox 396"/>
            <p:cNvSpPr txBox="1"/>
            <p:nvPr/>
          </p:nvSpPr>
          <p:spPr>
            <a:xfrm>
              <a:off x="4089142" y="4080944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3</a:t>
              </a:r>
              <a:endParaRPr lang="ko-KR" altLang="en-US" sz="1200" dirty="0"/>
            </a:p>
          </p:txBody>
        </p:sp>
        <p:sp>
          <p:nvSpPr>
            <p:cNvPr id="401" name="TextBox 400"/>
            <p:cNvSpPr txBox="1"/>
            <p:nvPr/>
          </p:nvSpPr>
          <p:spPr>
            <a:xfrm>
              <a:off x="2529892" y="4293452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3</a:t>
              </a:r>
              <a:endParaRPr lang="ko-KR" altLang="en-US" sz="1200" dirty="0"/>
            </a:p>
          </p:txBody>
        </p:sp>
        <p:sp>
          <p:nvSpPr>
            <p:cNvPr id="402" name="TextBox 401"/>
            <p:cNvSpPr txBox="1"/>
            <p:nvPr/>
          </p:nvSpPr>
          <p:spPr>
            <a:xfrm>
              <a:off x="2698137" y="4495135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2</a:t>
              </a:r>
              <a:endParaRPr lang="ko-KR" altLang="en-US" sz="1200" dirty="0"/>
            </a:p>
          </p:txBody>
        </p:sp>
        <p:sp>
          <p:nvSpPr>
            <p:cNvPr id="403" name="TextBox 402"/>
            <p:cNvSpPr txBox="1"/>
            <p:nvPr/>
          </p:nvSpPr>
          <p:spPr>
            <a:xfrm>
              <a:off x="2087385" y="3924417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4</a:t>
              </a:r>
              <a:endParaRPr lang="ko-KR" altLang="en-US" sz="1200" dirty="0"/>
            </a:p>
          </p:txBody>
        </p:sp>
        <p:sp>
          <p:nvSpPr>
            <p:cNvPr id="408" name="TextBox 407"/>
            <p:cNvSpPr txBox="1"/>
            <p:nvPr/>
          </p:nvSpPr>
          <p:spPr>
            <a:xfrm>
              <a:off x="4750724" y="2504042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3</a:t>
              </a:r>
              <a:endParaRPr lang="ko-KR" altLang="en-US" sz="1200" dirty="0"/>
            </a:p>
          </p:txBody>
        </p:sp>
        <p:sp>
          <p:nvSpPr>
            <p:cNvPr id="409" name="TextBox 408"/>
            <p:cNvSpPr txBox="1"/>
            <p:nvPr/>
          </p:nvSpPr>
          <p:spPr>
            <a:xfrm>
              <a:off x="5425895" y="3505559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4</a:t>
              </a:r>
              <a:endParaRPr lang="ko-KR" altLang="en-US" sz="1200" dirty="0"/>
            </a:p>
          </p:txBody>
        </p:sp>
        <p:sp>
          <p:nvSpPr>
            <p:cNvPr id="410" name="TextBox 409"/>
            <p:cNvSpPr txBox="1"/>
            <p:nvPr/>
          </p:nvSpPr>
          <p:spPr>
            <a:xfrm>
              <a:off x="5719539" y="3619092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4</a:t>
              </a:r>
              <a:endParaRPr lang="ko-KR" altLang="en-US" sz="1200" dirty="0"/>
            </a:p>
          </p:txBody>
        </p:sp>
        <p:sp>
          <p:nvSpPr>
            <p:cNvPr id="420" name="TextBox 419"/>
            <p:cNvSpPr txBox="1"/>
            <p:nvPr/>
          </p:nvSpPr>
          <p:spPr>
            <a:xfrm>
              <a:off x="6479207" y="3248863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3</a:t>
              </a:r>
              <a:endParaRPr lang="ko-KR" altLang="en-US" sz="1200" dirty="0"/>
            </a:p>
          </p:txBody>
        </p:sp>
        <p:sp>
          <p:nvSpPr>
            <p:cNvPr id="421" name="TextBox 420"/>
            <p:cNvSpPr txBox="1"/>
            <p:nvPr/>
          </p:nvSpPr>
          <p:spPr>
            <a:xfrm>
              <a:off x="6276534" y="3471010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3</a:t>
              </a:r>
              <a:endParaRPr lang="ko-KR" altLang="en-US" sz="1200" dirty="0"/>
            </a:p>
          </p:txBody>
        </p:sp>
        <p:sp>
          <p:nvSpPr>
            <p:cNvPr id="430" name="TextBox 429"/>
            <p:cNvSpPr txBox="1"/>
            <p:nvPr/>
          </p:nvSpPr>
          <p:spPr>
            <a:xfrm>
              <a:off x="3991678" y="4387695"/>
              <a:ext cx="84696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square" lIns="0" tIns="0" rIns="0" bIns="0" rtlCol="0" anchor="ctr">
              <a:spAutoFit/>
            </a:bodyPr>
            <a:lstStyle/>
            <a:p>
              <a:r>
                <a:rPr lang="en-US" altLang="ko-KR" sz="1200"/>
                <a:t>4</a:t>
              </a:r>
              <a:endParaRPr lang="ko-KR" altLang="en-US" sz="1200" dirty="0"/>
            </a:p>
          </p:txBody>
        </p:sp>
        <p:sp>
          <p:nvSpPr>
            <p:cNvPr id="431" name="TextBox 430"/>
            <p:cNvSpPr txBox="1"/>
            <p:nvPr/>
          </p:nvSpPr>
          <p:spPr>
            <a:xfrm>
              <a:off x="3865170" y="3678964"/>
              <a:ext cx="164911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square" lIns="0" tIns="0" rIns="0" bIns="0" rtlCol="0" anchor="ctr">
              <a:spAutoFit/>
            </a:bodyPr>
            <a:lstStyle/>
            <a:p>
              <a:r>
                <a:rPr lang="en-US" altLang="ko-KR" sz="1200"/>
                <a:t>3</a:t>
              </a:r>
              <a:endParaRPr lang="ko-KR" altLang="en-US" sz="1200" dirty="0"/>
            </a:p>
          </p:txBody>
        </p:sp>
        <p:sp>
          <p:nvSpPr>
            <p:cNvPr id="433" name="TextBox 432"/>
            <p:cNvSpPr txBox="1"/>
            <p:nvPr/>
          </p:nvSpPr>
          <p:spPr>
            <a:xfrm>
              <a:off x="2651646" y="3438780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3</a:t>
              </a:r>
              <a:endParaRPr lang="ko-KR" altLang="en-US" sz="1200" dirty="0"/>
            </a:p>
          </p:txBody>
        </p:sp>
        <p:sp>
          <p:nvSpPr>
            <p:cNvPr id="434" name="TextBox 433"/>
            <p:cNvSpPr txBox="1"/>
            <p:nvPr/>
          </p:nvSpPr>
          <p:spPr>
            <a:xfrm>
              <a:off x="2510194" y="3677755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3</a:t>
              </a:r>
              <a:endParaRPr lang="ko-KR" altLang="en-US" sz="1200" dirty="0"/>
            </a:p>
          </p:txBody>
        </p:sp>
        <p:sp>
          <p:nvSpPr>
            <p:cNvPr id="435" name="TextBox 434"/>
            <p:cNvSpPr txBox="1"/>
            <p:nvPr/>
          </p:nvSpPr>
          <p:spPr>
            <a:xfrm>
              <a:off x="3281129" y="3078541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3</a:t>
              </a:r>
              <a:endParaRPr lang="ko-KR" altLang="en-US" sz="1200" dirty="0"/>
            </a:p>
          </p:txBody>
        </p:sp>
        <p:sp>
          <p:nvSpPr>
            <p:cNvPr id="436" name="TextBox 435"/>
            <p:cNvSpPr txBox="1"/>
            <p:nvPr/>
          </p:nvSpPr>
          <p:spPr>
            <a:xfrm>
              <a:off x="2944319" y="3091298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4</a:t>
              </a:r>
              <a:endParaRPr lang="ko-KR" altLang="en-US" sz="1200" dirty="0"/>
            </a:p>
          </p:txBody>
        </p:sp>
        <p:sp>
          <p:nvSpPr>
            <p:cNvPr id="437" name="TextBox 436"/>
            <p:cNvSpPr txBox="1"/>
            <p:nvPr/>
          </p:nvSpPr>
          <p:spPr>
            <a:xfrm>
              <a:off x="3785052" y="2504042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3</a:t>
              </a:r>
              <a:endParaRPr lang="ko-KR" altLang="en-US" sz="1200" dirty="0"/>
            </a:p>
          </p:txBody>
        </p:sp>
        <p:sp>
          <p:nvSpPr>
            <p:cNvPr id="438" name="TextBox 437"/>
            <p:cNvSpPr txBox="1"/>
            <p:nvPr/>
          </p:nvSpPr>
          <p:spPr>
            <a:xfrm>
              <a:off x="5050647" y="3170874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3</a:t>
              </a:r>
              <a:endParaRPr lang="ko-KR" altLang="en-US" sz="1200" dirty="0"/>
            </a:p>
          </p:txBody>
        </p:sp>
        <p:sp>
          <p:nvSpPr>
            <p:cNvPr id="439" name="TextBox 438"/>
            <p:cNvSpPr txBox="1"/>
            <p:nvPr/>
          </p:nvSpPr>
          <p:spPr>
            <a:xfrm>
              <a:off x="4476372" y="3782695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3</a:t>
              </a:r>
              <a:endParaRPr lang="ko-KR" altLang="en-US" sz="1200" dirty="0"/>
            </a:p>
          </p:txBody>
        </p:sp>
        <p:sp>
          <p:nvSpPr>
            <p:cNvPr id="83" name="TextBox 82"/>
            <p:cNvSpPr txBox="1"/>
            <p:nvPr/>
          </p:nvSpPr>
          <p:spPr>
            <a:xfrm>
              <a:off x="5791200" y="4343400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4</a:t>
              </a:r>
              <a:endParaRPr lang="ko-KR" altLang="en-US" sz="1200" dirty="0"/>
            </a:p>
          </p:txBody>
        </p:sp>
        <p:sp>
          <p:nvSpPr>
            <p:cNvPr id="84" name="TextBox 83"/>
            <p:cNvSpPr txBox="1"/>
            <p:nvPr/>
          </p:nvSpPr>
          <p:spPr>
            <a:xfrm>
              <a:off x="3991786" y="2075431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2</a:t>
              </a:r>
              <a:endParaRPr lang="ko-KR" altLang="en-US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3854758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TextBox 140"/>
          <p:cNvSpPr txBox="1"/>
          <p:nvPr/>
        </p:nvSpPr>
        <p:spPr>
          <a:xfrm>
            <a:off x="546777" y="248342"/>
            <a:ext cx="3355406" cy="523220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altLang="ko-KR" sz="2800" dirty="0"/>
              <a:t>Example Network</a:t>
            </a:r>
            <a:endParaRPr lang="ko-KR" altLang="en-US" sz="2800" dirty="0"/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27F44655-EED7-4DB7-8C65-486359261A46}"/>
              </a:ext>
            </a:extLst>
          </p:cNvPr>
          <p:cNvGrpSpPr/>
          <p:nvPr/>
        </p:nvGrpSpPr>
        <p:grpSpPr>
          <a:xfrm>
            <a:off x="1827777" y="1600200"/>
            <a:ext cx="5109194" cy="3479292"/>
            <a:chOff x="1827777" y="1600200"/>
            <a:chExt cx="5109194" cy="3479292"/>
          </a:xfrm>
        </p:grpSpPr>
        <p:sp>
          <p:nvSpPr>
            <p:cNvPr id="5" name="타원 4"/>
            <p:cNvSpPr/>
            <p:nvPr/>
          </p:nvSpPr>
          <p:spPr>
            <a:xfrm>
              <a:off x="4724400" y="1600200"/>
              <a:ext cx="457200" cy="457200"/>
            </a:xfrm>
            <a:prstGeom prst="ellipse">
              <a:avLst/>
            </a:prstGeom>
            <a:solidFill>
              <a:schemeClr val="bg1"/>
            </a:solidFill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1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" name="타원 5"/>
            <p:cNvSpPr/>
            <p:nvPr/>
          </p:nvSpPr>
          <p:spPr>
            <a:xfrm>
              <a:off x="4109222" y="3029954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4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7" name="타원 6"/>
            <p:cNvSpPr/>
            <p:nvPr/>
          </p:nvSpPr>
          <p:spPr>
            <a:xfrm>
              <a:off x="1827777" y="3046196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3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8" name="타원 7"/>
            <p:cNvSpPr/>
            <p:nvPr/>
          </p:nvSpPr>
          <p:spPr>
            <a:xfrm>
              <a:off x="1837944" y="4622292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7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9" name="타원 8"/>
            <p:cNvSpPr/>
            <p:nvPr/>
          </p:nvSpPr>
          <p:spPr>
            <a:xfrm>
              <a:off x="3019925" y="3750221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5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17" name="타원 16"/>
            <p:cNvSpPr/>
            <p:nvPr/>
          </p:nvSpPr>
          <p:spPr>
            <a:xfrm>
              <a:off x="5783580" y="2734056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6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18" name="타원 17"/>
            <p:cNvSpPr/>
            <p:nvPr/>
          </p:nvSpPr>
          <p:spPr>
            <a:xfrm>
              <a:off x="4786174" y="4315097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9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19" name="타원 18"/>
            <p:cNvSpPr/>
            <p:nvPr/>
          </p:nvSpPr>
          <p:spPr>
            <a:xfrm>
              <a:off x="6479771" y="3803904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8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28" name="타원 27"/>
            <p:cNvSpPr/>
            <p:nvPr/>
          </p:nvSpPr>
          <p:spPr>
            <a:xfrm>
              <a:off x="2944368" y="2042160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2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DFCFEF84-8180-493D-A766-314834193D6A}"/>
                </a:ext>
              </a:extLst>
            </p:cNvPr>
            <p:cNvCxnSpPr>
              <a:cxnSpLocks/>
              <a:stCxn id="28" idx="7"/>
              <a:endCxn id="5" idx="2"/>
            </p:cNvCxnSpPr>
            <p:nvPr/>
          </p:nvCxnSpPr>
          <p:spPr bwMode="auto">
            <a:xfrm flipV="1">
              <a:off x="3334613" y="1828800"/>
              <a:ext cx="1389787" cy="280315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875CA8FA-304A-49D6-8ACE-9A081C793B09}"/>
                </a:ext>
              </a:extLst>
            </p:cNvPr>
            <p:cNvCxnSpPr>
              <a:stCxn id="28" idx="3"/>
              <a:endCxn id="7" idx="7"/>
            </p:cNvCxnSpPr>
            <p:nvPr/>
          </p:nvCxnSpPr>
          <p:spPr bwMode="auto">
            <a:xfrm flipH="1">
              <a:off x="2218022" y="2432405"/>
              <a:ext cx="793301" cy="680746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C530786B-1EDB-4886-9B62-CA2D996DE44F}"/>
                </a:ext>
              </a:extLst>
            </p:cNvPr>
            <p:cNvCxnSpPr>
              <a:stCxn id="7" idx="4"/>
              <a:endCxn id="8" idx="0"/>
            </p:cNvCxnSpPr>
            <p:nvPr/>
          </p:nvCxnSpPr>
          <p:spPr bwMode="auto">
            <a:xfrm>
              <a:off x="2056377" y="3503396"/>
              <a:ext cx="10167" cy="1118896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50ECA4ED-28DB-4EE2-A18A-EB61D755C713}"/>
                </a:ext>
              </a:extLst>
            </p:cNvPr>
            <p:cNvCxnSpPr>
              <a:stCxn id="28" idx="4"/>
              <a:endCxn id="9" idx="0"/>
            </p:cNvCxnSpPr>
            <p:nvPr/>
          </p:nvCxnSpPr>
          <p:spPr bwMode="auto">
            <a:xfrm>
              <a:off x="3172968" y="2499360"/>
              <a:ext cx="75557" cy="1250861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BD492728-6810-4E1A-82E5-0FE8E601E76C}"/>
                </a:ext>
              </a:extLst>
            </p:cNvPr>
            <p:cNvCxnSpPr>
              <a:stCxn id="7" idx="5"/>
              <a:endCxn id="9" idx="2"/>
            </p:cNvCxnSpPr>
            <p:nvPr/>
          </p:nvCxnSpPr>
          <p:spPr bwMode="auto">
            <a:xfrm>
              <a:off x="2218022" y="3436441"/>
              <a:ext cx="801903" cy="542380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AE653B0-3135-489F-8023-1ED697535B50}"/>
                </a:ext>
              </a:extLst>
            </p:cNvPr>
            <p:cNvCxnSpPr>
              <a:cxnSpLocks/>
              <a:stCxn id="28" idx="6"/>
              <a:endCxn id="6" idx="1"/>
            </p:cNvCxnSpPr>
            <p:nvPr/>
          </p:nvCxnSpPr>
          <p:spPr bwMode="auto">
            <a:xfrm>
              <a:off x="3401568" y="2270760"/>
              <a:ext cx="774609" cy="826149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4BC3C52D-A29D-40C2-A910-9A731268BDF4}"/>
                </a:ext>
              </a:extLst>
            </p:cNvPr>
            <p:cNvCxnSpPr>
              <a:stCxn id="5" idx="4"/>
              <a:endCxn id="6" idx="7"/>
            </p:cNvCxnSpPr>
            <p:nvPr/>
          </p:nvCxnSpPr>
          <p:spPr bwMode="auto">
            <a:xfrm flipH="1">
              <a:off x="4499467" y="2057400"/>
              <a:ext cx="453533" cy="1039509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929F5C46-F4CF-4CB0-AF96-B51B471018F7}"/>
                </a:ext>
              </a:extLst>
            </p:cNvPr>
            <p:cNvCxnSpPr>
              <a:cxnSpLocks/>
              <a:stCxn id="5" idx="6"/>
              <a:endCxn id="17" idx="0"/>
            </p:cNvCxnSpPr>
            <p:nvPr/>
          </p:nvCxnSpPr>
          <p:spPr bwMode="auto">
            <a:xfrm>
              <a:off x="5181600" y="1828800"/>
              <a:ext cx="830580" cy="905256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2E853E3D-884A-4D21-BBBF-A055B412A39B}"/>
                </a:ext>
              </a:extLst>
            </p:cNvPr>
            <p:cNvCxnSpPr>
              <a:stCxn id="6" idx="6"/>
              <a:endCxn id="17" idx="2"/>
            </p:cNvCxnSpPr>
            <p:nvPr/>
          </p:nvCxnSpPr>
          <p:spPr bwMode="auto">
            <a:xfrm flipV="1">
              <a:off x="4566422" y="2962656"/>
              <a:ext cx="1217158" cy="295898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DB308274-F937-40E0-B204-0B4E9042E40C}"/>
                </a:ext>
              </a:extLst>
            </p:cNvPr>
            <p:cNvCxnSpPr>
              <a:stCxn id="9" idx="6"/>
              <a:endCxn id="6" idx="3"/>
            </p:cNvCxnSpPr>
            <p:nvPr/>
          </p:nvCxnSpPr>
          <p:spPr bwMode="auto">
            <a:xfrm flipV="1">
              <a:off x="3477125" y="3420199"/>
              <a:ext cx="699052" cy="558622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CABECEAB-9744-4B64-BBFD-4520C23D1FB7}"/>
                </a:ext>
              </a:extLst>
            </p:cNvPr>
            <p:cNvCxnSpPr>
              <a:cxnSpLocks/>
              <a:stCxn id="6" idx="5"/>
              <a:endCxn id="18" idx="1"/>
            </p:cNvCxnSpPr>
            <p:nvPr/>
          </p:nvCxnSpPr>
          <p:spPr bwMode="auto">
            <a:xfrm>
              <a:off x="4499467" y="3420199"/>
              <a:ext cx="353662" cy="961853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3A930C81-0B98-45C6-8DD1-DF4349A079EE}"/>
                </a:ext>
              </a:extLst>
            </p:cNvPr>
            <p:cNvCxnSpPr>
              <a:stCxn id="18" idx="7"/>
              <a:endCxn id="17" idx="4"/>
            </p:cNvCxnSpPr>
            <p:nvPr/>
          </p:nvCxnSpPr>
          <p:spPr bwMode="auto">
            <a:xfrm flipV="1">
              <a:off x="5176419" y="3191256"/>
              <a:ext cx="835761" cy="1190796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07C5A75F-FA30-4A01-A249-D07EB9030A91}"/>
                </a:ext>
              </a:extLst>
            </p:cNvPr>
            <p:cNvCxnSpPr>
              <a:stCxn id="17" idx="6"/>
              <a:endCxn id="19" idx="0"/>
            </p:cNvCxnSpPr>
            <p:nvPr/>
          </p:nvCxnSpPr>
          <p:spPr bwMode="auto">
            <a:xfrm>
              <a:off x="6240780" y="2962656"/>
              <a:ext cx="467591" cy="841248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34923814-ED29-4A4A-A895-9DAA4291F7FF}"/>
                </a:ext>
              </a:extLst>
            </p:cNvPr>
            <p:cNvCxnSpPr>
              <a:stCxn id="18" idx="6"/>
              <a:endCxn id="19" idx="3"/>
            </p:cNvCxnSpPr>
            <p:nvPr/>
          </p:nvCxnSpPr>
          <p:spPr bwMode="auto">
            <a:xfrm flipV="1">
              <a:off x="5243374" y="4194149"/>
              <a:ext cx="1303352" cy="349548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0A9D062B-5542-4717-8F24-CE3278FDC782}"/>
                </a:ext>
              </a:extLst>
            </p:cNvPr>
            <p:cNvCxnSpPr>
              <a:stCxn id="18" idx="2"/>
              <a:endCxn id="9" idx="5"/>
            </p:cNvCxnSpPr>
            <p:nvPr/>
          </p:nvCxnSpPr>
          <p:spPr bwMode="auto">
            <a:xfrm flipH="1" flipV="1">
              <a:off x="3410170" y="4140466"/>
              <a:ext cx="1376004" cy="403231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88E48B38-3A4A-452A-917B-C9CF7DD86283}"/>
                </a:ext>
              </a:extLst>
            </p:cNvPr>
            <p:cNvCxnSpPr>
              <a:stCxn id="8" idx="6"/>
              <a:endCxn id="9" idx="3"/>
            </p:cNvCxnSpPr>
            <p:nvPr/>
          </p:nvCxnSpPr>
          <p:spPr bwMode="auto">
            <a:xfrm flipV="1">
              <a:off x="2295144" y="4140466"/>
              <a:ext cx="791736" cy="710426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</p:spTree>
    <p:extLst>
      <p:ext uri="{BB962C8B-B14F-4D97-AF65-F5344CB8AC3E}">
        <p14:creationId xmlns:p14="http://schemas.microsoft.com/office/powerpoint/2010/main" val="37996299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타원 4"/>
          <p:cNvSpPr/>
          <p:nvPr/>
        </p:nvSpPr>
        <p:spPr>
          <a:xfrm>
            <a:off x="4724400" y="1600200"/>
            <a:ext cx="457200" cy="457200"/>
          </a:xfrm>
          <a:prstGeom prst="ellipse">
            <a:avLst/>
          </a:prstGeom>
          <a:solidFill>
            <a:schemeClr val="bg1"/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1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" name="타원 5"/>
          <p:cNvSpPr/>
          <p:nvPr/>
        </p:nvSpPr>
        <p:spPr>
          <a:xfrm>
            <a:off x="4109222" y="3029954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4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7" name="타원 6"/>
          <p:cNvSpPr/>
          <p:nvPr/>
        </p:nvSpPr>
        <p:spPr>
          <a:xfrm>
            <a:off x="1827777" y="3046196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3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" name="타원 7"/>
          <p:cNvSpPr/>
          <p:nvPr/>
        </p:nvSpPr>
        <p:spPr>
          <a:xfrm>
            <a:off x="1837944" y="4622292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7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" name="타원 8"/>
          <p:cNvSpPr/>
          <p:nvPr/>
        </p:nvSpPr>
        <p:spPr>
          <a:xfrm>
            <a:off x="3019925" y="3750221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5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7" name="타원 16"/>
          <p:cNvSpPr/>
          <p:nvPr/>
        </p:nvSpPr>
        <p:spPr>
          <a:xfrm>
            <a:off x="5783580" y="2734056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6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8" name="타원 17"/>
          <p:cNvSpPr/>
          <p:nvPr/>
        </p:nvSpPr>
        <p:spPr>
          <a:xfrm>
            <a:off x="4786174" y="4315097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9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9" name="타원 18"/>
          <p:cNvSpPr/>
          <p:nvPr/>
        </p:nvSpPr>
        <p:spPr>
          <a:xfrm>
            <a:off x="6479771" y="3803904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10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8" name="타원 27"/>
          <p:cNvSpPr/>
          <p:nvPr/>
        </p:nvSpPr>
        <p:spPr>
          <a:xfrm>
            <a:off x="2944368" y="2042160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2</a:t>
            </a:r>
            <a:endParaRPr lang="ko-KR" altLang="en-US">
              <a:solidFill>
                <a:schemeClr val="tx1"/>
              </a:solidFill>
            </a:endParaRPr>
          </a:p>
        </p:txBody>
      </p:sp>
      <p:cxnSp>
        <p:nvCxnSpPr>
          <p:cNvPr id="32" name="직선 연결선 31"/>
          <p:cNvCxnSpPr/>
          <p:nvPr/>
        </p:nvCxnSpPr>
        <p:spPr>
          <a:xfrm flipV="1">
            <a:off x="3472941" y="1827495"/>
            <a:ext cx="1165961" cy="303209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3" name="TextBox 212"/>
          <p:cNvSpPr txBox="1"/>
          <p:nvPr/>
        </p:nvSpPr>
        <p:spPr>
          <a:xfrm>
            <a:off x="3754656" y="175974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cxnSp>
        <p:nvCxnSpPr>
          <p:cNvPr id="139" name="직선 연결선 138"/>
          <p:cNvCxnSpPr/>
          <p:nvPr/>
        </p:nvCxnSpPr>
        <p:spPr>
          <a:xfrm flipV="1">
            <a:off x="3501304" y="1956121"/>
            <a:ext cx="1165961" cy="303209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직선 연결선 141"/>
          <p:cNvCxnSpPr/>
          <p:nvPr/>
        </p:nvCxnSpPr>
        <p:spPr>
          <a:xfrm flipV="1">
            <a:off x="2248662" y="2429344"/>
            <a:ext cx="659129" cy="577552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직선 연결선 142"/>
          <p:cNvCxnSpPr/>
          <p:nvPr/>
        </p:nvCxnSpPr>
        <p:spPr>
          <a:xfrm flipV="1">
            <a:off x="2309915" y="2513106"/>
            <a:ext cx="671030" cy="57712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직선 연결선 147"/>
          <p:cNvCxnSpPr/>
          <p:nvPr/>
        </p:nvCxnSpPr>
        <p:spPr>
          <a:xfrm flipV="1">
            <a:off x="1958600" y="3632385"/>
            <a:ext cx="16351" cy="906139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연결선 148"/>
          <p:cNvCxnSpPr/>
          <p:nvPr/>
        </p:nvCxnSpPr>
        <p:spPr>
          <a:xfrm flipV="1">
            <a:off x="2094236" y="3700433"/>
            <a:ext cx="22135" cy="850769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직선 연결선 153"/>
          <p:cNvCxnSpPr/>
          <p:nvPr/>
        </p:nvCxnSpPr>
        <p:spPr>
          <a:xfrm flipH="1" flipV="1">
            <a:off x="2290191" y="3440941"/>
            <a:ext cx="589881" cy="493121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직선 연결선 154"/>
          <p:cNvCxnSpPr/>
          <p:nvPr/>
        </p:nvCxnSpPr>
        <p:spPr>
          <a:xfrm flipH="1" flipV="1">
            <a:off x="2411012" y="3405889"/>
            <a:ext cx="535029" cy="435171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직선 연결선 160"/>
          <p:cNvCxnSpPr/>
          <p:nvPr/>
        </p:nvCxnSpPr>
        <p:spPr>
          <a:xfrm flipH="1" flipV="1">
            <a:off x="3438145" y="2475959"/>
            <a:ext cx="748768" cy="480602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직선 연결선 164"/>
          <p:cNvCxnSpPr/>
          <p:nvPr/>
        </p:nvCxnSpPr>
        <p:spPr>
          <a:xfrm>
            <a:off x="3368318" y="2567059"/>
            <a:ext cx="715966" cy="461967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직선 연결선 167"/>
          <p:cNvCxnSpPr/>
          <p:nvPr/>
        </p:nvCxnSpPr>
        <p:spPr>
          <a:xfrm flipH="1">
            <a:off x="4447491" y="2152653"/>
            <a:ext cx="334974" cy="762056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직선 연결선 170"/>
          <p:cNvCxnSpPr/>
          <p:nvPr/>
        </p:nvCxnSpPr>
        <p:spPr>
          <a:xfrm flipV="1">
            <a:off x="4537864" y="2245801"/>
            <a:ext cx="331316" cy="71076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직선 연결선 173"/>
          <p:cNvCxnSpPr/>
          <p:nvPr/>
        </p:nvCxnSpPr>
        <p:spPr>
          <a:xfrm flipH="1" flipV="1">
            <a:off x="5135577" y="2128298"/>
            <a:ext cx="632428" cy="620821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직선 연결선 176"/>
          <p:cNvCxnSpPr/>
          <p:nvPr/>
        </p:nvCxnSpPr>
        <p:spPr>
          <a:xfrm>
            <a:off x="5220131" y="2057400"/>
            <a:ext cx="613221" cy="590992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직선 연결선 180"/>
          <p:cNvCxnSpPr/>
          <p:nvPr/>
        </p:nvCxnSpPr>
        <p:spPr>
          <a:xfrm flipV="1">
            <a:off x="3489848" y="3405889"/>
            <a:ext cx="531291" cy="418572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직선 연결선 183"/>
          <p:cNvCxnSpPr/>
          <p:nvPr/>
        </p:nvCxnSpPr>
        <p:spPr>
          <a:xfrm flipH="1">
            <a:off x="3591885" y="3461606"/>
            <a:ext cx="541757" cy="45277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직선 연결선 186"/>
          <p:cNvCxnSpPr/>
          <p:nvPr/>
        </p:nvCxnSpPr>
        <p:spPr>
          <a:xfrm flipH="1">
            <a:off x="4680690" y="2940038"/>
            <a:ext cx="950491" cy="191448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직선 연결선 189"/>
          <p:cNvCxnSpPr/>
          <p:nvPr/>
        </p:nvCxnSpPr>
        <p:spPr>
          <a:xfrm flipV="1">
            <a:off x="4667265" y="3051048"/>
            <a:ext cx="963916" cy="212595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직선 연결선 192"/>
          <p:cNvCxnSpPr/>
          <p:nvPr/>
        </p:nvCxnSpPr>
        <p:spPr>
          <a:xfrm flipH="1" flipV="1">
            <a:off x="6240780" y="3191256"/>
            <a:ext cx="467592" cy="525539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직선 연결선 195"/>
          <p:cNvCxnSpPr/>
          <p:nvPr/>
        </p:nvCxnSpPr>
        <p:spPr>
          <a:xfrm>
            <a:off x="6138151" y="3258554"/>
            <a:ext cx="482138" cy="498317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직선 연결선 205"/>
          <p:cNvCxnSpPr/>
          <p:nvPr/>
        </p:nvCxnSpPr>
        <p:spPr>
          <a:xfrm flipV="1">
            <a:off x="5372419" y="4191658"/>
            <a:ext cx="998239" cy="251131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직선 연결선 209"/>
          <p:cNvCxnSpPr/>
          <p:nvPr/>
        </p:nvCxnSpPr>
        <p:spPr>
          <a:xfrm flipH="1">
            <a:off x="5358830" y="4083509"/>
            <a:ext cx="1025416" cy="26247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직선 연결선 214"/>
          <p:cNvCxnSpPr/>
          <p:nvPr/>
        </p:nvCxnSpPr>
        <p:spPr>
          <a:xfrm>
            <a:off x="4562717" y="3494806"/>
            <a:ext cx="390283" cy="667479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직선 연결선 215"/>
          <p:cNvCxnSpPr/>
          <p:nvPr/>
        </p:nvCxnSpPr>
        <p:spPr>
          <a:xfrm flipH="1" flipV="1">
            <a:off x="4498065" y="3576469"/>
            <a:ext cx="385945" cy="65346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8" name="직선 연결선 287"/>
          <p:cNvCxnSpPr/>
          <p:nvPr/>
        </p:nvCxnSpPr>
        <p:spPr>
          <a:xfrm>
            <a:off x="3588398" y="4092930"/>
            <a:ext cx="1069768" cy="374335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직선 연결선 288"/>
          <p:cNvCxnSpPr/>
          <p:nvPr/>
        </p:nvCxnSpPr>
        <p:spPr>
          <a:xfrm flipH="1" flipV="1">
            <a:off x="3583007" y="4201324"/>
            <a:ext cx="1055897" cy="36998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7" name="직선 연결선 326"/>
          <p:cNvCxnSpPr/>
          <p:nvPr/>
        </p:nvCxnSpPr>
        <p:spPr>
          <a:xfrm flipH="1">
            <a:off x="2316235" y="4180226"/>
            <a:ext cx="692828" cy="47996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직선 연결선 327"/>
          <p:cNvCxnSpPr/>
          <p:nvPr/>
        </p:nvCxnSpPr>
        <p:spPr>
          <a:xfrm flipV="1">
            <a:off x="2357174" y="4284773"/>
            <a:ext cx="671553" cy="468066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3" name="직선 연결선 342"/>
          <p:cNvCxnSpPr/>
          <p:nvPr/>
        </p:nvCxnSpPr>
        <p:spPr>
          <a:xfrm flipH="1">
            <a:off x="5185796" y="3191256"/>
            <a:ext cx="647556" cy="98058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6" name="직선 연결선 345"/>
          <p:cNvCxnSpPr/>
          <p:nvPr/>
        </p:nvCxnSpPr>
        <p:spPr>
          <a:xfrm flipV="1">
            <a:off x="5264887" y="3294615"/>
            <a:ext cx="631711" cy="93531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4" name="TextBox 353"/>
          <p:cNvSpPr txBox="1"/>
          <p:nvPr/>
        </p:nvSpPr>
        <p:spPr>
          <a:xfrm>
            <a:off x="4316980" y="2439796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0.7</a:t>
            </a:r>
            <a:endParaRPr lang="ko-KR" altLang="en-US" sz="1200" dirty="0"/>
          </a:p>
        </p:txBody>
      </p:sp>
      <p:sp>
        <p:nvSpPr>
          <p:cNvPr id="355" name="TextBox 354"/>
          <p:cNvSpPr txBox="1"/>
          <p:nvPr/>
        </p:nvSpPr>
        <p:spPr>
          <a:xfrm>
            <a:off x="3466615" y="280901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56" name="TextBox 355"/>
          <p:cNvSpPr txBox="1"/>
          <p:nvPr/>
        </p:nvSpPr>
        <p:spPr>
          <a:xfrm>
            <a:off x="3499446" y="3429596"/>
            <a:ext cx="272374" cy="184666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57" name="TextBox 356"/>
          <p:cNvSpPr txBox="1"/>
          <p:nvPr/>
        </p:nvSpPr>
        <p:spPr>
          <a:xfrm>
            <a:off x="5000364" y="2820318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58" name="TextBox 357"/>
          <p:cNvSpPr txBox="1"/>
          <p:nvPr/>
        </p:nvSpPr>
        <p:spPr>
          <a:xfrm>
            <a:off x="1669027" y="4067286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cxnSp>
        <p:nvCxnSpPr>
          <p:cNvPr id="376" name="직선 연결선 375"/>
          <p:cNvCxnSpPr/>
          <p:nvPr/>
        </p:nvCxnSpPr>
        <p:spPr>
          <a:xfrm>
            <a:off x="3094397" y="2613307"/>
            <a:ext cx="29374" cy="107468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9" name="직선 연결선 378"/>
          <p:cNvCxnSpPr/>
          <p:nvPr/>
        </p:nvCxnSpPr>
        <p:spPr>
          <a:xfrm flipH="1" flipV="1">
            <a:off x="3211008" y="2670846"/>
            <a:ext cx="22041" cy="1006909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1" name="TextBox 390"/>
          <p:cNvSpPr txBox="1"/>
          <p:nvPr/>
        </p:nvSpPr>
        <p:spPr>
          <a:xfrm>
            <a:off x="2304551" y="252788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2" name="TextBox 391"/>
          <p:cNvSpPr txBox="1"/>
          <p:nvPr/>
        </p:nvSpPr>
        <p:spPr>
          <a:xfrm>
            <a:off x="2647303" y="287032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93" name="TextBox 392"/>
          <p:cNvSpPr txBox="1"/>
          <p:nvPr/>
        </p:nvSpPr>
        <p:spPr>
          <a:xfrm>
            <a:off x="5543024" y="2162151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4" name="TextBox 393"/>
          <p:cNvSpPr txBox="1"/>
          <p:nvPr/>
        </p:nvSpPr>
        <p:spPr>
          <a:xfrm>
            <a:off x="5196723" y="241329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5" name="TextBox 394"/>
          <p:cNvSpPr txBox="1"/>
          <p:nvPr/>
        </p:nvSpPr>
        <p:spPr>
          <a:xfrm>
            <a:off x="5675935" y="4001269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6" name="TextBox 395"/>
          <p:cNvSpPr txBox="1"/>
          <p:nvPr/>
        </p:nvSpPr>
        <p:spPr>
          <a:xfrm>
            <a:off x="4795708" y="366133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7" name="TextBox 396"/>
          <p:cNvSpPr txBox="1"/>
          <p:nvPr/>
        </p:nvSpPr>
        <p:spPr>
          <a:xfrm>
            <a:off x="4024292" y="4055547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01" name="TextBox 400"/>
          <p:cNvSpPr txBox="1"/>
          <p:nvPr/>
        </p:nvSpPr>
        <p:spPr>
          <a:xfrm>
            <a:off x="2426180" y="423512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02" name="TextBox 401"/>
          <p:cNvSpPr txBox="1"/>
          <p:nvPr/>
        </p:nvSpPr>
        <p:spPr>
          <a:xfrm>
            <a:off x="2662649" y="453010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03" name="TextBox 402"/>
          <p:cNvSpPr txBox="1"/>
          <p:nvPr/>
        </p:nvSpPr>
        <p:spPr>
          <a:xfrm>
            <a:off x="2168016" y="392886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08" name="TextBox 407"/>
          <p:cNvSpPr txBox="1"/>
          <p:nvPr/>
        </p:nvSpPr>
        <p:spPr>
          <a:xfrm>
            <a:off x="4731927" y="260161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09" name="TextBox 408"/>
          <p:cNvSpPr txBox="1"/>
          <p:nvPr/>
        </p:nvSpPr>
        <p:spPr>
          <a:xfrm>
            <a:off x="5265964" y="3522842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0.7</a:t>
            </a:r>
            <a:endParaRPr lang="ko-KR" altLang="en-US" sz="1200" dirty="0"/>
          </a:p>
        </p:txBody>
      </p:sp>
      <p:sp>
        <p:nvSpPr>
          <p:cNvPr id="410" name="TextBox 409"/>
          <p:cNvSpPr txBox="1"/>
          <p:nvPr/>
        </p:nvSpPr>
        <p:spPr>
          <a:xfrm>
            <a:off x="5719539" y="3619092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0.7</a:t>
            </a:r>
            <a:endParaRPr lang="ko-KR" altLang="en-US" sz="1200" dirty="0"/>
          </a:p>
        </p:txBody>
      </p:sp>
      <p:sp>
        <p:nvSpPr>
          <p:cNvPr id="420" name="TextBox 419"/>
          <p:cNvSpPr txBox="1"/>
          <p:nvPr/>
        </p:nvSpPr>
        <p:spPr>
          <a:xfrm>
            <a:off x="6479207" y="324886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21" name="TextBox 420"/>
          <p:cNvSpPr txBox="1"/>
          <p:nvPr/>
        </p:nvSpPr>
        <p:spPr>
          <a:xfrm>
            <a:off x="6157772" y="3531778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0" name="TextBox 429"/>
          <p:cNvSpPr txBox="1"/>
          <p:nvPr/>
        </p:nvSpPr>
        <p:spPr>
          <a:xfrm>
            <a:off x="3895656" y="4403969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31" name="TextBox 430"/>
          <p:cNvSpPr txBox="1"/>
          <p:nvPr/>
        </p:nvSpPr>
        <p:spPr>
          <a:xfrm>
            <a:off x="3808889" y="3750073"/>
            <a:ext cx="325830" cy="184666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3" name="TextBox 432"/>
          <p:cNvSpPr txBox="1"/>
          <p:nvPr/>
        </p:nvSpPr>
        <p:spPr>
          <a:xfrm>
            <a:off x="2651054" y="340300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4" name="TextBox 433"/>
          <p:cNvSpPr txBox="1"/>
          <p:nvPr/>
        </p:nvSpPr>
        <p:spPr>
          <a:xfrm>
            <a:off x="2411012" y="37307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5" name="TextBox 434"/>
          <p:cNvSpPr txBox="1"/>
          <p:nvPr/>
        </p:nvSpPr>
        <p:spPr>
          <a:xfrm>
            <a:off x="3282731" y="3097511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6" name="TextBox 435"/>
          <p:cNvSpPr txBox="1"/>
          <p:nvPr/>
        </p:nvSpPr>
        <p:spPr>
          <a:xfrm>
            <a:off x="2820516" y="311759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37" name="TextBox 436"/>
          <p:cNvSpPr txBox="1"/>
          <p:nvPr/>
        </p:nvSpPr>
        <p:spPr>
          <a:xfrm>
            <a:off x="3807157" y="2484868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38" name="TextBox 437"/>
          <p:cNvSpPr txBox="1"/>
          <p:nvPr/>
        </p:nvSpPr>
        <p:spPr>
          <a:xfrm>
            <a:off x="5042107" y="317838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39" name="TextBox 438"/>
          <p:cNvSpPr txBox="1"/>
          <p:nvPr/>
        </p:nvSpPr>
        <p:spPr>
          <a:xfrm>
            <a:off x="4397479" y="384218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141" name="TextBox 140"/>
          <p:cNvSpPr txBox="1"/>
          <p:nvPr/>
        </p:nvSpPr>
        <p:spPr>
          <a:xfrm>
            <a:off x="546777" y="248342"/>
            <a:ext cx="3355406" cy="523220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altLang="ko-KR" sz="2800" dirty="0"/>
              <a:t>Example Network</a:t>
            </a:r>
            <a:endParaRPr lang="ko-KR" altLang="en-US" sz="2800" dirty="0"/>
          </a:p>
        </p:txBody>
      </p:sp>
      <p:sp>
        <p:nvSpPr>
          <p:cNvPr id="74" name="TextBox 73"/>
          <p:cNvSpPr txBox="1"/>
          <p:nvPr/>
        </p:nvSpPr>
        <p:spPr>
          <a:xfrm>
            <a:off x="5142637" y="1524000"/>
            <a:ext cx="877163" cy="461665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R1 = 1.0</a:t>
            </a:r>
          </a:p>
          <a:p>
            <a:r>
              <a:rPr lang="en-US" sz="1200" dirty="0">
                <a:solidFill>
                  <a:srgbClr val="FF0000"/>
                </a:solidFill>
              </a:rPr>
              <a:t>L1 = 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495800" y="3276600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L4 = 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270967" y="2085201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L2 = 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24600" y="2679412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L6 = 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166567" y="4599801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L9 = 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912011" y="3990201"/>
            <a:ext cx="798617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L10 = 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43000" y="3048000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L3 = 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044680" y="4285425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L5 = 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209800" y="4828401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L7 = 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791200" y="43434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84" name="TextBox 83"/>
          <p:cNvSpPr txBox="1"/>
          <p:nvPr/>
        </p:nvSpPr>
        <p:spPr>
          <a:xfrm>
            <a:off x="3939328" y="22098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2" name="TextBox 1"/>
          <p:cNvSpPr txBox="1"/>
          <p:nvPr/>
        </p:nvSpPr>
        <p:spPr>
          <a:xfrm>
            <a:off x="76017" y="4911413"/>
            <a:ext cx="2908425" cy="1384995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vi-VN" sz="1200" dirty="0"/>
              <a:t>Init Rank: R1 = 1.0</a:t>
            </a:r>
          </a:p>
          <a:p>
            <a:r>
              <a:rPr lang="vi-VN" sz="1200" dirty="0"/>
              <a:t>All the other nodes has Rank = 0.0</a:t>
            </a:r>
          </a:p>
          <a:p>
            <a:r>
              <a:rPr lang="vi-VN" sz="1200" dirty="0"/>
              <a:t>Init Level after Join Process:</a:t>
            </a:r>
          </a:p>
          <a:p>
            <a:r>
              <a:rPr lang="vi-VN" sz="1200" dirty="0"/>
              <a:t>L1 = 0</a:t>
            </a:r>
          </a:p>
          <a:p>
            <a:r>
              <a:rPr lang="vi-VN" sz="1200" dirty="0"/>
              <a:t>L2 = L4 = L6 = 1</a:t>
            </a:r>
          </a:p>
          <a:p>
            <a:r>
              <a:rPr lang="vi-VN" sz="1200" dirty="0"/>
              <a:t>L3 = L5 = L9 = L10 = 2</a:t>
            </a:r>
          </a:p>
          <a:p>
            <a:r>
              <a:rPr lang="vi-VN" sz="1200" dirty="0"/>
              <a:t>L7 = 3</a:t>
            </a:r>
            <a:endParaRPr lang="en-US" sz="1200" dirty="0"/>
          </a:p>
        </p:txBody>
      </p:sp>
      <p:sp>
        <p:nvSpPr>
          <p:cNvPr id="86" name="Rectangle 85"/>
          <p:cNvSpPr/>
          <p:nvPr/>
        </p:nvSpPr>
        <p:spPr>
          <a:xfrm>
            <a:off x="2057400" y="1932801"/>
            <a:ext cx="877163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200">
                <a:solidFill>
                  <a:srgbClr val="FF0000"/>
                </a:solidFill>
              </a:rPr>
              <a:t>R2 = 0.0</a:t>
            </a:r>
            <a:endParaRPr lang="en-US" sz="1200" dirty="0">
              <a:solidFill>
                <a:srgbClr val="FF0000"/>
              </a:solidFill>
            </a:endParaRPr>
          </a:p>
        </p:txBody>
      </p:sp>
      <p:sp>
        <p:nvSpPr>
          <p:cNvPr id="87" name="Rectangle 86"/>
          <p:cNvSpPr/>
          <p:nvPr/>
        </p:nvSpPr>
        <p:spPr>
          <a:xfrm>
            <a:off x="990600" y="2847201"/>
            <a:ext cx="877163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200">
                <a:solidFill>
                  <a:srgbClr val="FF0000"/>
                </a:solidFill>
              </a:rPr>
              <a:t>R3 = 0.0</a:t>
            </a:r>
            <a:endParaRPr lang="en-US" sz="1200" dirty="0">
              <a:solidFill>
                <a:srgbClr val="FF0000"/>
              </a:solidFill>
            </a:endParaRPr>
          </a:p>
        </p:txBody>
      </p:sp>
      <p:sp>
        <p:nvSpPr>
          <p:cNvPr id="88" name="Rectangle 87"/>
          <p:cNvSpPr/>
          <p:nvPr/>
        </p:nvSpPr>
        <p:spPr>
          <a:xfrm>
            <a:off x="2209800" y="4980801"/>
            <a:ext cx="877163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200">
                <a:solidFill>
                  <a:srgbClr val="FF0000"/>
                </a:solidFill>
              </a:rPr>
              <a:t>R7 = 0.0</a:t>
            </a:r>
            <a:endParaRPr lang="en-US" sz="1200" dirty="0">
              <a:solidFill>
                <a:srgbClr val="FF0000"/>
              </a:solidFill>
            </a:endParaRPr>
          </a:p>
        </p:txBody>
      </p:sp>
      <p:sp>
        <p:nvSpPr>
          <p:cNvPr id="89" name="Rectangle 88"/>
          <p:cNvSpPr/>
          <p:nvPr/>
        </p:nvSpPr>
        <p:spPr>
          <a:xfrm>
            <a:off x="3009037" y="4447401"/>
            <a:ext cx="877163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200">
                <a:solidFill>
                  <a:srgbClr val="FF0000"/>
                </a:solidFill>
              </a:rPr>
              <a:t>R5 = 0.0</a:t>
            </a:r>
            <a:endParaRPr lang="en-US" sz="1200" dirty="0">
              <a:solidFill>
                <a:srgbClr val="FF0000"/>
              </a:solidFill>
            </a:endParaRPr>
          </a:p>
        </p:txBody>
      </p:sp>
      <p:sp>
        <p:nvSpPr>
          <p:cNvPr id="90" name="Rectangle 89"/>
          <p:cNvSpPr/>
          <p:nvPr/>
        </p:nvSpPr>
        <p:spPr>
          <a:xfrm>
            <a:off x="5828437" y="4599801"/>
            <a:ext cx="877163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200">
                <a:solidFill>
                  <a:srgbClr val="FF0000"/>
                </a:solidFill>
              </a:rPr>
              <a:t>R9 = 0.0</a:t>
            </a:r>
            <a:endParaRPr lang="en-US" sz="1200" dirty="0">
              <a:solidFill>
                <a:srgbClr val="FF0000"/>
              </a:solidFill>
            </a:endParaRPr>
          </a:p>
        </p:txBody>
      </p:sp>
      <p:sp>
        <p:nvSpPr>
          <p:cNvPr id="91" name="Rectangle 90"/>
          <p:cNvSpPr/>
          <p:nvPr/>
        </p:nvSpPr>
        <p:spPr>
          <a:xfrm>
            <a:off x="6895237" y="4142601"/>
            <a:ext cx="97494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200">
                <a:solidFill>
                  <a:srgbClr val="FF0000"/>
                </a:solidFill>
              </a:rPr>
              <a:t>R10 = 0.0</a:t>
            </a:r>
            <a:endParaRPr lang="en-US" sz="1200" dirty="0">
              <a:solidFill>
                <a:srgbClr val="FF0000"/>
              </a:solidFill>
            </a:endParaRPr>
          </a:p>
        </p:txBody>
      </p:sp>
      <p:sp>
        <p:nvSpPr>
          <p:cNvPr id="92" name="Rectangle 91"/>
          <p:cNvSpPr/>
          <p:nvPr/>
        </p:nvSpPr>
        <p:spPr>
          <a:xfrm>
            <a:off x="7115800" y="3223312"/>
            <a:ext cx="877163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200">
                <a:solidFill>
                  <a:srgbClr val="FF0000"/>
                </a:solidFill>
              </a:rPr>
              <a:t>R4 = 0.0</a:t>
            </a:r>
            <a:endParaRPr lang="en-US" sz="1200" dirty="0">
              <a:solidFill>
                <a:srgbClr val="FF0000"/>
              </a:solidFill>
            </a:endParaRPr>
          </a:p>
        </p:txBody>
      </p:sp>
      <p:sp>
        <p:nvSpPr>
          <p:cNvPr id="93" name="Rectangle 92"/>
          <p:cNvSpPr/>
          <p:nvPr/>
        </p:nvSpPr>
        <p:spPr>
          <a:xfrm>
            <a:off x="6324600" y="2466201"/>
            <a:ext cx="877163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R6 = 0.0</a:t>
            </a:r>
          </a:p>
        </p:txBody>
      </p:sp>
    </p:spTree>
    <p:extLst>
      <p:ext uri="{BB962C8B-B14F-4D97-AF65-F5344CB8AC3E}">
        <p14:creationId xmlns:p14="http://schemas.microsoft.com/office/powerpoint/2010/main" val="41286372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타원 4"/>
          <p:cNvSpPr/>
          <p:nvPr/>
        </p:nvSpPr>
        <p:spPr>
          <a:xfrm>
            <a:off x="4724400" y="1600200"/>
            <a:ext cx="457200" cy="457200"/>
          </a:xfrm>
          <a:prstGeom prst="ellipse">
            <a:avLst/>
          </a:prstGeom>
          <a:solidFill>
            <a:schemeClr val="bg1"/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1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" name="타원 5"/>
          <p:cNvSpPr/>
          <p:nvPr/>
        </p:nvSpPr>
        <p:spPr>
          <a:xfrm>
            <a:off x="4109222" y="3029954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4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7" name="타원 6"/>
          <p:cNvSpPr/>
          <p:nvPr/>
        </p:nvSpPr>
        <p:spPr>
          <a:xfrm>
            <a:off x="1827777" y="3046196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3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" name="타원 7"/>
          <p:cNvSpPr/>
          <p:nvPr/>
        </p:nvSpPr>
        <p:spPr>
          <a:xfrm>
            <a:off x="1837944" y="4622292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7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" name="타원 8"/>
          <p:cNvSpPr/>
          <p:nvPr/>
        </p:nvSpPr>
        <p:spPr>
          <a:xfrm>
            <a:off x="3019925" y="3750221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5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7" name="타원 16"/>
          <p:cNvSpPr/>
          <p:nvPr/>
        </p:nvSpPr>
        <p:spPr>
          <a:xfrm>
            <a:off x="5783580" y="2734056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6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8" name="타원 17"/>
          <p:cNvSpPr/>
          <p:nvPr/>
        </p:nvSpPr>
        <p:spPr>
          <a:xfrm>
            <a:off x="4786174" y="4315097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9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9" name="타원 18"/>
          <p:cNvSpPr/>
          <p:nvPr/>
        </p:nvSpPr>
        <p:spPr>
          <a:xfrm>
            <a:off x="6479771" y="3803904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10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8" name="타원 27"/>
          <p:cNvSpPr/>
          <p:nvPr/>
        </p:nvSpPr>
        <p:spPr>
          <a:xfrm>
            <a:off x="2944368" y="2042160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2</a:t>
            </a:r>
            <a:endParaRPr lang="ko-KR" altLang="en-US">
              <a:solidFill>
                <a:schemeClr val="tx1"/>
              </a:solidFill>
            </a:endParaRPr>
          </a:p>
        </p:txBody>
      </p:sp>
      <p:cxnSp>
        <p:nvCxnSpPr>
          <p:cNvPr id="32" name="직선 연결선 31"/>
          <p:cNvCxnSpPr/>
          <p:nvPr/>
        </p:nvCxnSpPr>
        <p:spPr>
          <a:xfrm flipV="1">
            <a:off x="3472941" y="1827495"/>
            <a:ext cx="1165961" cy="303209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3" name="TextBox 212"/>
          <p:cNvSpPr txBox="1"/>
          <p:nvPr/>
        </p:nvSpPr>
        <p:spPr>
          <a:xfrm>
            <a:off x="3754656" y="175974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cxnSp>
        <p:nvCxnSpPr>
          <p:cNvPr id="139" name="직선 연결선 138"/>
          <p:cNvCxnSpPr/>
          <p:nvPr/>
        </p:nvCxnSpPr>
        <p:spPr>
          <a:xfrm flipV="1">
            <a:off x="3501304" y="1956121"/>
            <a:ext cx="1165961" cy="303209"/>
          </a:xfrm>
          <a:prstGeom prst="line">
            <a:avLst/>
          </a:prstGeom>
          <a:solidFill>
            <a:schemeClr val="bg1"/>
          </a:solidFill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직선 연결선 141"/>
          <p:cNvCxnSpPr/>
          <p:nvPr/>
        </p:nvCxnSpPr>
        <p:spPr>
          <a:xfrm flipV="1">
            <a:off x="2248662" y="2429344"/>
            <a:ext cx="659129" cy="577552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직선 연결선 142"/>
          <p:cNvCxnSpPr/>
          <p:nvPr/>
        </p:nvCxnSpPr>
        <p:spPr>
          <a:xfrm flipV="1">
            <a:off x="2309915" y="2513106"/>
            <a:ext cx="671030" cy="57712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직선 연결선 147"/>
          <p:cNvCxnSpPr/>
          <p:nvPr/>
        </p:nvCxnSpPr>
        <p:spPr>
          <a:xfrm flipV="1">
            <a:off x="1958600" y="3632385"/>
            <a:ext cx="16351" cy="906139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연결선 148"/>
          <p:cNvCxnSpPr/>
          <p:nvPr/>
        </p:nvCxnSpPr>
        <p:spPr>
          <a:xfrm flipV="1">
            <a:off x="2094236" y="3700433"/>
            <a:ext cx="22135" cy="850769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직선 연결선 153"/>
          <p:cNvCxnSpPr/>
          <p:nvPr/>
        </p:nvCxnSpPr>
        <p:spPr>
          <a:xfrm flipH="1" flipV="1">
            <a:off x="2290191" y="3440941"/>
            <a:ext cx="589881" cy="493121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직선 연결선 154"/>
          <p:cNvCxnSpPr/>
          <p:nvPr/>
        </p:nvCxnSpPr>
        <p:spPr>
          <a:xfrm flipH="1" flipV="1">
            <a:off x="2411012" y="3405889"/>
            <a:ext cx="535029" cy="435171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직선 연결선 160"/>
          <p:cNvCxnSpPr/>
          <p:nvPr/>
        </p:nvCxnSpPr>
        <p:spPr>
          <a:xfrm flipH="1" flipV="1">
            <a:off x="3438145" y="2475959"/>
            <a:ext cx="748768" cy="480602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직선 연결선 164"/>
          <p:cNvCxnSpPr/>
          <p:nvPr/>
        </p:nvCxnSpPr>
        <p:spPr>
          <a:xfrm>
            <a:off x="3368318" y="2567059"/>
            <a:ext cx="715966" cy="461967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직선 연결선 167"/>
          <p:cNvCxnSpPr/>
          <p:nvPr/>
        </p:nvCxnSpPr>
        <p:spPr>
          <a:xfrm flipH="1">
            <a:off x="4447491" y="2152653"/>
            <a:ext cx="334974" cy="762056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직선 연결선 170"/>
          <p:cNvCxnSpPr/>
          <p:nvPr/>
        </p:nvCxnSpPr>
        <p:spPr>
          <a:xfrm flipV="1">
            <a:off x="4537864" y="2245801"/>
            <a:ext cx="331316" cy="710760"/>
          </a:xfrm>
          <a:prstGeom prst="line">
            <a:avLst/>
          </a:prstGeom>
          <a:solidFill>
            <a:schemeClr val="bg1"/>
          </a:solidFill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직선 연결선 173"/>
          <p:cNvCxnSpPr/>
          <p:nvPr/>
        </p:nvCxnSpPr>
        <p:spPr>
          <a:xfrm flipH="1" flipV="1">
            <a:off x="5135577" y="2128298"/>
            <a:ext cx="632428" cy="620821"/>
          </a:xfrm>
          <a:prstGeom prst="line">
            <a:avLst/>
          </a:prstGeom>
          <a:solidFill>
            <a:schemeClr val="bg1"/>
          </a:solidFill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직선 연결선 176"/>
          <p:cNvCxnSpPr/>
          <p:nvPr/>
        </p:nvCxnSpPr>
        <p:spPr>
          <a:xfrm>
            <a:off x="5220131" y="2057400"/>
            <a:ext cx="613221" cy="590992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직선 연결선 180"/>
          <p:cNvCxnSpPr/>
          <p:nvPr/>
        </p:nvCxnSpPr>
        <p:spPr>
          <a:xfrm flipV="1">
            <a:off x="3489848" y="3405889"/>
            <a:ext cx="531291" cy="418572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직선 연결선 183"/>
          <p:cNvCxnSpPr/>
          <p:nvPr/>
        </p:nvCxnSpPr>
        <p:spPr>
          <a:xfrm flipH="1">
            <a:off x="3591885" y="3461606"/>
            <a:ext cx="541757" cy="45277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직선 연결선 186"/>
          <p:cNvCxnSpPr/>
          <p:nvPr/>
        </p:nvCxnSpPr>
        <p:spPr>
          <a:xfrm flipH="1">
            <a:off x="4680690" y="2940038"/>
            <a:ext cx="950491" cy="191448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직선 연결선 189"/>
          <p:cNvCxnSpPr/>
          <p:nvPr/>
        </p:nvCxnSpPr>
        <p:spPr>
          <a:xfrm flipV="1">
            <a:off x="4667265" y="3051048"/>
            <a:ext cx="963916" cy="212595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직선 연결선 192"/>
          <p:cNvCxnSpPr/>
          <p:nvPr/>
        </p:nvCxnSpPr>
        <p:spPr>
          <a:xfrm flipH="1" flipV="1">
            <a:off x="6240780" y="3191256"/>
            <a:ext cx="467592" cy="525539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직선 연결선 195"/>
          <p:cNvCxnSpPr/>
          <p:nvPr/>
        </p:nvCxnSpPr>
        <p:spPr>
          <a:xfrm>
            <a:off x="6138151" y="3258554"/>
            <a:ext cx="482138" cy="498317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직선 연결선 205"/>
          <p:cNvCxnSpPr/>
          <p:nvPr/>
        </p:nvCxnSpPr>
        <p:spPr>
          <a:xfrm flipV="1">
            <a:off x="5372419" y="4191658"/>
            <a:ext cx="998239" cy="251131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직선 연결선 209"/>
          <p:cNvCxnSpPr/>
          <p:nvPr/>
        </p:nvCxnSpPr>
        <p:spPr>
          <a:xfrm flipH="1">
            <a:off x="5358830" y="4083509"/>
            <a:ext cx="1025416" cy="26247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직선 연결선 214"/>
          <p:cNvCxnSpPr/>
          <p:nvPr/>
        </p:nvCxnSpPr>
        <p:spPr>
          <a:xfrm>
            <a:off x="4562717" y="3494806"/>
            <a:ext cx="390283" cy="667479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직선 연결선 215"/>
          <p:cNvCxnSpPr/>
          <p:nvPr/>
        </p:nvCxnSpPr>
        <p:spPr>
          <a:xfrm flipH="1" flipV="1">
            <a:off x="4498065" y="3576469"/>
            <a:ext cx="385945" cy="65346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8" name="직선 연결선 287"/>
          <p:cNvCxnSpPr/>
          <p:nvPr/>
        </p:nvCxnSpPr>
        <p:spPr>
          <a:xfrm>
            <a:off x="3588398" y="4092930"/>
            <a:ext cx="1069768" cy="374335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직선 연결선 288"/>
          <p:cNvCxnSpPr/>
          <p:nvPr/>
        </p:nvCxnSpPr>
        <p:spPr>
          <a:xfrm flipH="1" flipV="1">
            <a:off x="3583007" y="4201324"/>
            <a:ext cx="1055897" cy="36998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7" name="직선 연결선 326"/>
          <p:cNvCxnSpPr/>
          <p:nvPr/>
        </p:nvCxnSpPr>
        <p:spPr>
          <a:xfrm flipH="1">
            <a:off x="2316235" y="4180226"/>
            <a:ext cx="692828" cy="47996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직선 연결선 327"/>
          <p:cNvCxnSpPr/>
          <p:nvPr/>
        </p:nvCxnSpPr>
        <p:spPr>
          <a:xfrm flipV="1">
            <a:off x="2357174" y="4284773"/>
            <a:ext cx="671553" cy="468066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3" name="직선 연결선 342"/>
          <p:cNvCxnSpPr/>
          <p:nvPr/>
        </p:nvCxnSpPr>
        <p:spPr>
          <a:xfrm flipH="1">
            <a:off x="5185796" y="3191256"/>
            <a:ext cx="647556" cy="98058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6" name="직선 연결선 345"/>
          <p:cNvCxnSpPr/>
          <p:nvPr/>
        </p:nvCxnSpPr>
        <p:spPr>
          <a:xfrm flipV="1">
            <a:off x="5264887" y="3294615"/>
            <a:ext cx="631711" cy="93531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4" name="TextBox 353"/>
          <p:cNvSpPr txBox="1"/>
          <p:nvPr/>
        </p:nvSpPr>
        <p:spPr>
          <a:xfrm>
            <a:off x="4316980" y="2439796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0.7</a:t>
            </a:r>
            <a:endParaRPr lang="ko-KR" altLang="en-US" sz="1200" dirty="0"/>
          </a:p>
        </p:txBody>
      </p:sp>
      <p:sp>
        <p:nvSpPr>
          <p:cNvPr id="355" name="TextBox 354"/>
          <p:cNvSpPr txBox="1"/>
          <p:nvPr/>
        </p:nvSpPr>
        <p:spPr>
          <a:xfrm>
            <a:off x="3466615" y="280901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56" name="TextBox 355"/>
          <p:cNvSpPr txBox="1"/>
          <p:nvPr/>
        </p:nvSpPr>
        <p:spPr>
          <a:xfrm>
            <a:off x="3499446" y="3429596"/>
            <a:ext cx="272374" cy="184666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57" name="TextBox 356"/>
          <p:cNvSpPr txBox="1"/>
          <p:nvPr/>
        </p:nvSpPr>
        <p:spPr>
          <a:xfrm>
            <a:off x="5000364" y="2820318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58" name="TextBox 357"/>
          <p:cNvSpPr txBox="1"/>
          <p:nvPr/>
        </p:nvSpPr>
        <p:spPr>
          <a:xfrm>
            <a:off x="1669027" y="4067286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cxnSp>
        <p:nvCxnSpPr>
          <p:cNvPr id="376" name="직선 연결선 375"/>
          <p:cNvCxnSpPr/>
          <p:nvPr/>
        </p:nvCxnSpPr>
        <p:spPr>
          <a:xfrm>
            <a:off x="3094397" y="2613307"/>
            <a:ext cx="29374" cy="107468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9" name="직선 연결선 378"/>
          <p:cNvCxnSpPr/>
          <p:nvPr/>
        </p:nvCxnSpPr>
        <p:spPr>
          <a:xfrm flipH="1" flipV="1">
            <a:off x="3211008" y="2670846"/>
            <a:ext cx="22041" cy="1006909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1" name="TextBox 390"/>
          <p:cNvSpPr txBox="1"/>
          <p:nvPr/>
        </p:nvSpPr>
        <p:spPr>
          <a:xfrm>
            <a:off x="2304551" y="252788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2" name="TextBox 391"/>
          <p:cNvSpPr txBox="1"/>
          <p:nvPr/>
        </p:nvSpPr>
        <p:spPr>
          <a:xfrm>
            <a:off x="2647303" y="287032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93" name="TextBox 392"/>
          <p:cNvSpPr txBox="1"/>
          <p:nvPr/>
        </p:nvSpPr>
        <p:spPr>
          <a:xfrm>
            <a:off x="5543024" y="2162151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4" name="TextBox 393"/>
          <p:cNvSpPr txBox="1"/>
          <p:nvPr/>
        </p:nvSpPr>
        <p:spPr>
          <a:xfrm>
            <a:off x="5196723" y="241329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5" name="TextBox 394"/>
          <p:cNvSpPr txBox="1"/>
          <p:nvPr/>
        </p:nvSpPr>
        <p:spPr>
          <a:xfrm>
            <a:off x="5675935" y="4001269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6" name="TextBox 395"/>
          <p:cNvSpPr txBox="1"/>
          <p:nvPr/>
        </p:nvSpPr>
        <p:spPr>
          <a:xfrm>
            <a:off x="4795708" y="366133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7" name="TextBox 396"/>
          <p:cNvSpPr txBox="1"/>
          <p:nvPr/>
        </p:nvSpPr>
        <p:spPr>
          <a:xfrm>
            <a:off x="4024292" y="4055547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01" name="TextBox 400"/>
          <p:cNvSpPr txBox="1"/>
          <p:nvPr/>
        </p:nvSpPr>
        <p:spPr>
          <a:xfrm>
            <a:off x="2426180" y="423512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02" name="TextBox 401"/>
          <p:cNvSpPr txBox="1"/>
          <p:nvPr/>
        </p:nvSpPr>
        <p:spPr>
          <a:xfrm>
            <a:off x="2662649" y="453010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03" name="TextBox 402"/>
          <p:cNvSpPr txBox="1"/>
          <p:nvPr/>
        </p:nvSpPr>
        <p:spPr>
          <a:xfrm>
            <a:off x="2168016" y="392886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08" name="TextBox 407"/>
          <p:cNvSpPr txBox="1"/>
          <p:nvPr/>
        </p:nvSpPr>
        <p:spPr>
          <a:xfrm>
            <a:off x="4731927" y="260161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09" name="TextBox 408"/>
          <p:cNvSpPr txBox="1"/>
          <p:nvPr/>
        </p:nvSpPr>
        <p:spPr>
          <a:xfrm>
            <a:off x="5265964" y="3522842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0.7</a:t>
            </a:r>
            <a:endParaRPr lang="ko-KR" altLang="en-US" sz="1200" dirty="0"/>
          </a:p>
        </p:txBody>
      </p:sp>
      <p:sp>
        <p:nvSpPr>
          <p:cNvPr id="410" name="TextBox 409"/>
          <p:cNvSpPr txBox="1"/>
          <p:nvPr/>
        </p:nvSpPr>
        <p:spPr>
          <a:xfrm>
            <a:off x="5719539" y="3619092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0.7</a:t>
            </a:r>
            <a:endParaRPr lang="ko-KR" altLang="en-US" sz="1200" dirty="0"/>
          </a:p>
        </p:txBody>
      </p:sp>
      <p:sp>
        <p:nvSpPr>
          <p:cNvPr id="420" name="TextBox 419"/>
          <p:cNvSpPr txBox="1"/>
          <p:nvPr/>
        </p:nvSpPr>
        <p:spPr>
          <a:xfrm>
            <a:off x="6479207" y="324886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21" name="TextBox 420"/>
          <p:cNvSpPr txBox="1"/>
          <p:nvPr/>
        </p:nvSpPr>
        <p:spPr>
          <a:xfrm>
            <a:off x="6157772" y="3531778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0" name="TextBox 429"/>
          <p:cNvSpPr txBox="1"/>
          <p:nvPr/>
        </p:nvSpPr>
        <p:spPr>
          <a:xfrm>
            <a:off x="3895656" y="4403969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31" name="TextBox 430"/>
          <p:cNvSpPr txBox="1"/>
          <p:nvPr/>
        </p:nvSpPr>
        <p:spPr>
          <a:xfrm>
            <a:off x="3808889" y="3750073"/>
            <a:ext cx="325830" cy="184666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3" name="TextBox 432"/>
          <p:cNvSpPr txBox="1"/>
          <p:nvPr/>
        </p:nvSpPr>
        <p:spPr>
          <a:xfrm>
            <a:off x="2651054" y="340300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4" name="TextBox 433"/>
          <p:cNvSpPr txBox="1"/>
          <p:nvPr/>
        </p:nvSpPr>
        <p:spPr>
          <a:xfrm>
            <a:off x="2411012" y="37307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5" name="TextBox 434"/>
          <p:cNvSpPr txBox="1"/>
          <p:nvPr/>
        </p:nvSpPr>
        <p:spPr>
          <a:xfrm>
            <a:off x="3282731" y="3097511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6" name="TextBox 435"/>
          <p:cNvSpPr txBox="1"/>
          <p:nvPr/>
        </p:nvSpPr>
        <p:spPr>
          <a:xfrm>
            <a:off x="2820516" y="311759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37" name="TextBox 436"/>
          <p:cNvSpPr txBox="1"/>
          <p:nvPr/>
        </p:nvSpPr>
        <p:spPr>
          <a:xfrm>
            <a:off x="3807157" y="2484868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38" name="TextBox 437"/>
          <p:cNvSpPr txBox="1"/>
          <p:nvPr/>
        </p:nvSpPr>
        <p:spPr>
          <a:xfrm>
            <a:off x="5042107" y="317838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39" name="TextBox 438"/>
          <p:cNvSpPr txBox="1"/>
          <p:nvPr/>
        </p:nvSpPr>
        <p:spPr>
          <a:xfrm>
            <a:off x="4397479" y="384218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141" name="TextBox 140"/>
          <p:cNvSpPr txBox="1"/>
          <p:nvPr/>
        </p:nvSpPr>
        <p:spPr>
          <a:xfrm>
            <a:off x="546777" y="248342"/>
            <a:ext cx="3355406" cy="523220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altLang="ko-KR" sz="2800" dirty="0"/>
              <a:t>Example Network</a:t>
            </a:r>
            <a:endParaRPr lang="ko-KR" altLang="en-US" sz="2800" dirty="0"/>
          </a:p>
        </p:txBody>
      </p:sp>
      <p:sp>
        <p:nvSpPr>
          <p:cNvPr id="74" name="TextBox 73"/>
          <p:cNvSpPr txBox="1"/>
          <p:nvPr/>
        </p:nvSpPr>
        <p:spPr>
          <a:xfrm>
            <a:off x="5142637" y="1524000"/>
            <a:ext cx="877163" cy="461665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R1 = 1.0</a:t>
            </a:r>
          </a:p>
          <a:p>
            <a:r>
              <a:rPr lang="en-US" sz="1200" dirty="0">
                <a:solidFill>
                  <a:srgbClr val="FF0000"/>
                </a:solidFill>
              </a:rPr>
              <a:t>L1 = 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495800" y="3276600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L4 = 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270967" y="2085201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L2 = 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24600" y="2679412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L6 = 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166567" y="4599801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L9 = 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912011" y="3990201"/>
            <a:ext cx="798617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L10 = 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43000" y="3048000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L3 = 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044680" y="4285425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L5 = 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209800" y="4828401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L7 = 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791200" y="43434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84" name="TextBox 83"/>
          <p:cNvSpPr txBox="1"/>
          <p:nvPr/>
        </p:nvSpPr>
        <p:spPr>
          <a:xfrm>
            <a:off x="3939328" y="22098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85" name="TextBox 84"/>
          <p:cNvSpPr txBox="1"/>
          <p:nvPr/>
        </p:nvSpPr>
        <p:spPr>
          <a:xfrm>
            <a:off x="60833" y="5149466"/>
            <a:ext cx="2601816" cy="1015663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/>
          <a:p>
            <a:r>
              <a:rPr lang="vi-VN" sz="1200" dirty="0"/>
              <a:t>Node 1 broadcast</a:t>
            </a:r>
          </a:p>
          <a:p>
            <a:r>
              <a:rPr lang="vi-VN" sz="1200" dirty="0">
                <a:solidFill>
                  <a:srgbClr val="FF0000"/>
                </a:solidFill>
              </a:rPr>
              <a:t>TREE_BUILDING_INIT: TI(Node ID, Level, Rank)</a:t>
            </a:r>
          </a:p>
          <a:p>
            <a:endParaRPr lang="vi-VN" sz="1200" dirty="0">
              <a:solidFill>
                <a:srgbClr val="FF0000"/>
              </a:solidFill>
            </a:endParaRPr>
          </a:p>
          <a:p>
            <a:r>
              <a:rPr lang="vi-VN" sz="1200" dirty="0">
                <a:solidFill>
                  <a:srgbClr val="FF0000"/>
                </a:solidFill>
              </a:rPr>
              <a:t>TI1 = (1, 0, 1.0) </a:t>
            </a:r>
            <a:endParaRPr lang="en-US" sz="1200" dirty="0">
              <a:solidFill>
                <a:srgbClr val="FF0000"/>
              </a:solidFill>
            </a:endParaRPr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2561041"/>
              </p:ext>
            </p:extLst>
          </p:nvPr>
        </p:nvGraphicFramePr>
        <p:xfrm>
          <a:off x="2980945" y="4876800"/>
          <a:ext cx="609600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rgbClr val="FF0000"/>
                          </a:solidFill>
                        </a:rPr>
                        <a:t>TI1</a:t>
                      </a:r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rgbClr val="FF0000"/>
                          </a:solidFill>
                        </a:rPr>
                        <a:t>TI1</a:t>
                      </a:r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rgbClr val="FF0000"/>
                          </a:solidFill>
                        </a:rPr>
                        <a:t>TI1</a:t>
                      </a:r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2057400" y="1932801"/>
            <a:ext cx="877163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200">
                <a:solidFill>
                  <a:srgbClr val="FF0000"/>
                </a:solidFill>
              </a:rPr>
              <a:t>R2 = 0.0</a:t>
            </a:r>
            <a:endParaRPr lang="en-US" sz="1200" dirty="0">
              <a:solidFill>
                <a:srgbClr val="FF0000"/>
              </a:solidFill>
            </a:endParaRPr>
          </a:p>
        </p:txBody>
      </p:sp>
      <p:sp>
        <p:nvSpPr>
          <p:cNvPr id="89" name="Rectangle 88"/>
          <p:cNvSpPr/>
          <p:nvPr/>
        </p:nvSpPr>
        <p:spPr>
          <a:xfrm>
            <a:off x="990600" y="2847201"/>
            <a:ext cx="877163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200">
                <a:solidFill>
                  <a:srgbClr val="FF0000"/>
                </a:solidFill>
              </a:rPr>
              <a:t>R3 = 0.0</a:t>
            </a:r>
            <a:endParaRPr lang="en-US" sz="1200" dirty="0">
              <a:solidFill>
                <a:srgbClr val="FF0000"/>
              </a:solidFill>
            </a:endParaRPr>
          </a:p>
        </p:txBody>
      </p:sp>
      <p:sp>
        <p:nvSpPr>
          <p:cNvPr id="90" name="Rectangle 89"/>
          <p:cNvSpPr/>
          <p:nvPr/>
        </p:nvSpPr>
        <p:spPr>
          <a:xfrm>
            <a:off x="2209800" y="4980801"/>
            <a:ext cx="877163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200">
                <a:solidFill>
                  <a:srgbClr val="FF0000"/>
                </a:solidFill>
              </a:rPr>
              <a:t>R7 = 0.0</a:t>
            </a:r>
            <a:endParaRPr lang="en-US" sz="1200" dirty="0">
              <a:solidFill>
                <a:srgbClr val="FF0000"/>
              </a:solidFill>
            </a:endParaRPr>
          </a:p>
        </p:txBody>
      </p:sp>
      <p:sp>
        <p:nvSpPr>
          <p:cNvPr id="91" name="Rectangle 90"/>
          <p:cNvSpPr/>
          <p:nvPr/>
        </p:nvSpPr>
        <p:spPr>
          <a:xfrm>
            <a:off x="3009037" y="4447401"/>
            <a:ext cx="877163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200">
                <a:solidFill>
                  <a:srgbClr val="FF0000"/>
                </a:solidFill>
              </a:rPr>
              <a:t>R5 = 0.0</a:t>
            </a:r>
            <a:endParaRPr lang="en-US" sz="1200" dirty="0">
              <a:solidFill>
                <a:srgbClr val="FF0000"/>
              </a:solidFill>
            </a:endParaRPr>
          </a:p>
        </p:txBody>
      </p:sp>
      <p:sp>
        <p:nvSpPr>
          <p:cNvPr id="92" name="Rectangle 91"/>
          <p:cNvSpPr/>
          <p:nvPr/>
        </p:nvSpPr>
        <p:spPr>
          <a:xfrm>
            <a:off x="5828437" y="4599801"/>
            <a:ext cx="877163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200">
                <a:solidFill>
                  <a:srgbClr val="FF0000"/>
                </a:solidFill>
              </a:rPr>
              <a:t>R9 = 0.0</a:t>
            </a:r>
            <a:endParaRPr lang="en-US" sz="1200" dirty="0">
              <a:solidFill>
                <a:srgbClr val="FF0000"/>
              </a:solidFill>
            </a:endParaRPr>
          </a:p>
        </p:txBody>
      </p:sp>
      <p:sp>
        <p:nvSpPr>
          <p:cNvPr id="93" name="Rectangle 92"/>
          <p:cNvSpPr/>
          <p:nvPr/>
        </p:nvSpPr>
        <p:spPr>
          <a:xfrm>
            <a:off x="6895237" y="4142601"/>
            <a:ext cx="97494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200">
                <a:solidFill>
                  <a:srgbClr val="FF0000"/>
                </a:solidFill>
              </a:rPr>
              <a:t>R10 = 0.0</a:t>
            </a:r>
            <a:endParaRPr lang="en-US" sz="1200" dirty="0">
              <a:solidFill>
                <a:srgbClr val="FF0000"/>
              </a:solidFill>
            </a:endParaRPr>
          </a:p>
        </p:txBody>
      </p:sp>
      <p:sp>
        <p:nvSpPr>
          <p:cNvPr id="94" name="Rectangle 93"/>
          <p:cNvSpPr/>
          <p:nvPr/>
        </p:nvSpPr>
        <p:spPr>
          <a:xfrm>
            <a:off x="7115800" y="3223312"/>
            <a:ext cx="877163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200">
                <a:solidFill>
                  <a:srgbClr val="FF0000"/>
                </a:solidFill>
              </a:rPr>
              <a:t>R4 = 0.0</a:t>
            </a:r>
            <a:endParaRPr lang="en-US" sz="1200" dirty="0">
              <a:solidFill>
                <a:srgbClr val="FF0000"/>
              </a:solidFill>
            </a:endParaRPr>
          </a:p>
        </p:txBody>
      </p:sp>
      <p:sp>
        <p:nvSpPr>
          <p:cNvPr id="95" name="Rectangle 94"/>
          <p:cNvSpPr/>
          <p:nvPr/>
        </p:nvSpPr>
        <p:spPr>
          <a:xfrm>
            <a:off x="6324600" y="2466201"/>
            <a:ext cx="877163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R6 = 0.0</a:t>
            </a:r>
          </a:p>
        </p:txBody>
      </p:sp>
    </p:spTree>
    <p:extLst>
      <p:ext uri="{BB962C8B-B14F-4D97-AF65-F5344CB8AC3E}">
        <p14:creationId xmlns:p14="http://schemas.microsoft.com/office/powerpoint/2010/main" val="3970958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타원 4"/>
          <p:cNvSpPr/>
          <p:nvPr/>
        </p:nvSpPr>
        <p:spPr>
          <a:xfrm>
            <a:off x="4724400" y="1600200"/>
            <a:ext cx="457200" cy="457200"/>
          </a:xfrm>
          <a:prstGeom prst="ellipse">
            <a:avLst/>
          </a:prstGeom>
          <a:solidFill>
            <a:schemeClr val="bg1"/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1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" name="타원 5"/>
          <p:cNvSpPr/>
          <p:nvPr/>
        </p:nvSpPr>
        <p:spPr>
          <a:xfrm>
            <a:off x="4109222" y="3029954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4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7" name="타원 6"/>
          <p:cNvSpPr/>
          <p:nvPr/>
        </p:nvSpPr>
        <p:spPr>
          <a:xfrm>
            <a:off x="1827777" y="3046196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3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" name="타원 7"/>
          <p:cNvSpPr/>
          <p:nvPr/>
        </p:nvSpPr>
        <p:spPr>
          <a:xfrm>
            <a:off x="1837944" y="4622292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7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" name="타원 8"/>
          <p:cNvSpPr/>
          <p:nvPr/>
        </p:nvSpPr>
        <p:spPr>
          <a:xfrm>
            <a:off x="3019925" y="3750221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5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7" name="타원 16"/>
          <p:cNvSpPr/>
          <p:nvPr/>
        </p:nvSpPr>
        <p:spPr>
          <a:xfrm>
            <a:off x="5783580" y="2734056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6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8" name="타원 17"/>
          <p:cNvSpPr/>
          <p:nvPr/>
        </p:nvSpPr>
        <p:spPr>
          <a:xfrm>
            <a:off x="4786174" y="4315097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9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9" name="타원 18"/>
          <p:cNvSpPr/>
          <p:nvPr/>
        </p:nvSpPr>
        <p:spPr>
          <a:xfrm>
            <a:off x="6479771" y="3803904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10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8" name="타원 27"/>
          <p:cNvSpPr/>
          <p:nvPr/>
        </p:nvSpPr>
        <p:spPr>
          <a:xfrm>
            <a:off x="2944368" y="2042160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2</a:t>
            </a:r>
            <a:endParaRPr lang="ko-KR" altLang="en-US">
              <a:solidFill>
                <a:schemeClr val="tx1"/>
              </a:solidFill>
            </a:endParaRPr>
          </a:p>
        </p:txBody>
      </p:sp>
      <p:cxnSp>
        <p:nvCxnSpPr>
          <p:cNvPr id="32" name="직선 연결선 31"/>
          <p:cNvCxnSpPr/>
          <p:nvPr/>
        </p:nvCxnSpPr>
        <p:spPr>
          <a:xfrm flipV="1">
            <a:off x="3472941" y="1827495"/>
            <a:ext cx="1165961" cy="303209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3" name="TextBox 212"/>
          <p:cNvSpPr txBox="1"/>
          <p:nvPr/>
        </p:nvSpPr>
        <p:spPr>
          <a:xfrm>
            <a:off x="3754656" y="175974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cxnSp>
        <p:nvCxnSpPr>
          <p:cNvPr id="139" name="직선 연결선 138"/>
          <p:cNvCxnSpPr/>
          <p:nvPr/>
        </p:nvCxnSpPr>
        <p:spPr>
          <a:xfrm flipV="1">
            <a:off x="3501304" y="1956121"/>
            <a:ext cx="1165961" cy="303209"/>
          </a:xfrm>
          <a:prstGeom prst="line">
            <a:avLst/>
          </a:prstGeom>
          <a:solidFill>
            <a:schemeClr val="bg1"/>
          </a:solidFill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직선 연결선 141"/>
          <p:cNvCxnSpPr/>
          <p:nvPr/>
        </p:nvCxnSpPr>
        <p:spPr>
          <a:xfrm flipV="1">
            <a:off x="2248662" y="2429344"/>
            <a:ext cx="659129" cy="577552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직선 연결선 142"/>
          <p:cNvCxnSpPr/>
          <p:nvPr/>
        </p:nvCxnSpPr>
        <p:spPr>
          <a:xfrm flipV="1">
            <a:off x="2309915" y="2513106"/>
            <a:ext cx="671030" cy="57712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직선 연결선 147"/>
          <p:cNvCxnSpPr/>
          <p:nvPr/>
        </p:nvCxnSpPr>
        <p:spPr>
          <a:xfrm flipV="1">
            <a:off x="1958600" y="3632385"/>
            <a:ext cx="16351" cy="906139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연결선 148"/>
          <p:cNvCxnSpPr/>
          <p:nvPr/>
        </p:nvCxnSpPr>
        <p:spPr>
          <a:xfrm flipV="1">
            <a:off x="2094236" y="3700433"/>
            <a:ext cx="22135" cy="850769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직선 연결선 153"/>
          <p:cNvCxnSpPr/>
          <p:nvPr/>
        </p:nvCxnSpPr>
        <p:spPr>
          <a:xfrm flipH="1" flipV="1">
            <a:off x="2290191" y="3440941"/>
            <a:ext cx="589881" cy="493121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직선 연결선 154"/>
          <p:cNvCxnSpPr/>
          <p:nvPr/>
        </p:nvCxnSpPr>
        <p:spPr>
          <a:xfrm flipH="1" flipV="1">
            <a:off x="2411012" y="3405889"/>
            <a:ext cx="535029" cy="435171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직선 연결선 160"/>
          <p:cNvCxnSpPr/>
          <p:nvPr/>
        </p:nvCxnSpPr>
        <p:spPr>
          <a:xfrm flipH="1" flipV="1">
            <a:off x="3438145" y="2475959"/>
            <a:ext cx="748768" cy="480602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직선 연결선 164"/>
          <p:cNvCxnSpPr/>
          <p:nvPr/>
        </p:nvCxnSpPr>
        <p:spPr>
          <a:xfrm>
            <a:off x="3368318" y="2567059"/>
            <a:ext cx="715966" cy="461967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직선 연결선 167"/>
          <p:cNvCxnSpPr/>
          <p:nvPr/>
        </p:nvCxnSpPr>
        <p:spPr>
          <a:xfrm flipH="1">
            <a:off x="4447491" y="2152653"/>
            <a:ext cx="334974" cy="762056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직선 연결선 170"/>
          <p:cNvCxnSpPr/>
          <p:nvPr/>
        </p:nvCxnSpPr>
        <p:spPr>
          <a:xfrm flipV="1">
            <a:off x="4537864" y="2245801"/>
            <a:ext cx="331316" cy="710760"/>
          </a:xfrm>
          <a:prstGeom prst="line">
            <a:avLst/>
          </a:prstGeom>
          <a:solidFill>
            <a:schemeClr val="bg1"/>
          </a:solidFill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직선 연결선 173"/>
          <p:cNvCxnSpPr/>
          <p:nvPr/>
        </p:nvCxnSpPr>
        <p:spPr>
          <a:xfrm flipH="1" flipV="1">
            <a:off x="5135577" y="2128298"/>
            <a:ext cx="632428" cy="620821"/>
          </a:xfrm>
          <a:prstGeom prst="line">
            <a:avLst/>
          </a:prstGeom>
          <a:solidFill>
            <a:schemeClr val="bg1"/>
          </a:solidFill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직선 연결선 176"/>
          <p:cNvCxnSpPr/>
          <p:nvPr/>
        </p:nvCxnSpPr>
        <p:spPr>
          <a:xfrm>
            <a:off x="5220131" y="2057400"/>
            <a:ext cx="613221" cy="590992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직선 연결선 180"/>
          <p:cNvCxnSpPr/>
          <p:nvPr/>
        </p:nvCxnSpPr>
        <p:spPr>
          <a:xfrm flipV="1">
            <a:off x="3489848" y="3405889"/>
            <a:ext cx="531291" cy="418572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직선 연결선 183"/>
          <p:cNvCxnSpPr/>
          <p:nvPr/>
        </p:nvCxnSpPr>
        <p:spPr>
          <a:xfrm flipH="1">
            <a:off x="3591885" y="3461606"/>
            <a:ext cx="541757" cy="45277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직선 연결선 186"/>
          <p:cNvCxnSpPr/>
          <p:nvPr/>
        </p:nvCxnSpPr>
        <p:spPr>
          <a:xfrm flipH="1">
            <a:off x="4680690" y="2940038"/>
            <a:ext cx="950491" cy="191448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직선 연결선 189"/>
          <p:cNvCxnSpPr/>
          <p:nvPr/>
        </p:nvCxnSpPr>
        <p:spPr>
          <a:xfrm flipV="1">
            <a:off x="4667265" y="3051048"/>
            <a:ext cx="963916" cy="212595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직선 연결선 192"/>
          <p:cNvCxnSpPr/>
          <p:nvPr/>
        </p:nvCxnSpPr>
        <p:spPr>
          <a:xfrm flipH="1" flipV="1">
            <a:off x="6240780" y="3191256"/>
            <a:ext cx="467592" cy="525539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직선 연결선 195"/>
          <p:cNvCxnSpPr/>
          <p:nvPr/>
        </p:nvCxnSpPr>
        <p:spPr>
          <a:xfrm>
            <a:off x="6138151" y="3258554"/>
            <a:ext cx="482138" cy="498317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직선 연결선 205"/>
          <p:cNvCxnSpPr/>
          <p:nvPr/>
        </p:nvCxnSpPr>
        <p:spPr>
          <a:xfrm flipV="1">
            <a:off x="5372419" y="4191658"/>
            <a:ext cx="998239" cy="251131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직선 연결선 209"/>
          <p:cNvCxnSpPr/>
          <p:nvPr/>
        </p:nvCxnSpPr>
        <p:spPr>
          <a:xfrm flipH="1">
            <a:off x="5358830" y="4083509"/>
            <a:ext cx="1025416" cy="26247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직선 연결선 214"/>
          <p:cNvCxnSpPr/>
          <p:nvPr/>
        </p:nvCxnSpPr>
        <p:spPr>
          <a:xfrm>
            <a:off x="4562717" y="3494806"/>
            <a:ext cx="390283" cy="667479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직선 연결선 215"/>
          <p:cNvCxnSpPr/>
          <p:nvPr/>
        </p:nvCxnSpPr>
        <p:spPr>
          <a:xfrm flipH="1" flipV="1">
            <a:off x="4498065" y="3576469"/>
            <a:ext cx="385945" cy="65346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8" name="직선 연결선 287"/>
          <p:cNvCxnSpPr/>
          <p:nvPr/>
        </p:nvCxnSpPr>
        <p:spPr>
          <a:xfrm>
            <a:off x="3588398" y="4092930"/>
            <a:ext cx="1069768" cy="374335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직선 연결선 288"/>
          <p:cNvCxnSpPr/>
          <p:nvPr/>
        </p:nvCxnSpPr>
        <p:spPr>
          <a:xfrm flipH="1" flipV="1">
            <a:off x="3583007" y="4201324"/>
            <a:ext cx="1055897" cy="36998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7" name="직선 연결선 326"/>
          <p:cNvCxnSpPr/>
          <p:nvPr/>
        </p:nvCxnSpPr>
        <p:spPr>
          <a:xfrm flipH="1">
            <a:off x="2316235" y="4180226"/>
            <a:ext cx="692828" cy="47996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직선 연결선 327"/>
          <p:cNvCxnSpPr/>
          <p:nvPr/>
        </p:nvCxnSpPr>
        <p:spPr>
          <a:xfrm flipV="1">
            <a:off x="2357174" y="4284773"/>
            <a:ext cx="671553" cy="468066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3" name="직선 연결선 342"/>
          <p:cNvCxnSpPr/>
          <p:nvPr/>
        </p:nvCxnSpPr>
        <p:spPr>
          <a:xfrm flipH="1">
            <a:off x="5185796" y="3191256"/>
            <a:ext cx="647556" cy="98058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6" name="직선 연결선 345"/>
          <p:cNvCxnSpPr/>
          <p:nvPr/>
        </p:nvCxnSpPr>
        <p:spPr>
          <a:xfrm flipV="1">
            <a:off x="5264887" y="3294615"/>
            <a:ext cx="631711" cy="93531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4" name="TextBox 353"/>
          <p:cNvSpPr txBox="1"/>
          <p:nvPr/>
        </p:nvSpPr>
        <p:spPr>
          <a:xfrm>
            <a:off x="4316980" y="2439796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0.7</a:t>
            </a:r>
            <a:endParaRPr lang="ko-KR" altLang="en-US" sz="1200" dirty="0"/>
          </a:p>
        </p:txBody>
      </p:sp>
      <p:sp>
        <p:nvSpPr>
          <p:cNvPr id="355" name="TextBox 354"/>
          <p:cNvSpPr txBox="1"/>
          <p:nvPr/>
        </p:nvSpPr>
        <p:spPr>
          <a:xfrm>
            <a:off x="3466615" y="280901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56" name="TextBox 355"/>
          <p:cNvSpPr txBox="1"/>
          <p:nvPr/>
        </p:nvSpPr>
        <p:spPr>
          <a:xfrm>
            <a:off x="3499446" y="3429596"/>
            <a:ext cx="272374" cy="184666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57" name="TextBox 356"/>
          <p:cNvSpPr txBox="1"/>
          <p:nvPr/>
        </p:nvSpPr>
        <p:spPr>
          <a:xfrm>
            <a:off x="5000364" y="2820318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58" name="TextBox 357"/>
          <p:cNvSpPr txBox="1"/>
          <p:nvPr/>
        </p:nvSpPr>
        <p:spPr>
          <a:xfrm>
            <a:off x="1669027" y="4067286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cxnSp>
        <p:nvCxnSpPr>
          <p:cNvPr id="376" name="직선 연결선 375"/>
          <p:cNvCxnSpPr/>
          <p:nvPr/>
        </p:nvCxnSpPr>
        <p:spPr>
          <a:xfrm>
            <a:off x="3094397" y="2613307"/>
            <a:ext cx="29374" cy="107468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9" name="직선 연결선 378"/>
          <p:cNvCxnSpPr/>
          <p:nvPr/>
        </p:nvCxnSpPr>
        <p:spPr>
          <a:xfrm flipH="1" flipV="1">
            <a:off x="3211008" y="2670846"/>
            <a:ext cx="22041" cy="1006909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1" name="TextBox 390"/>
          <p:cNvSpPr txBox="1"/>
          <p:nvPr/>
        </p:nvSpPr>
        <p:spPr>
          <a:xfrm>
            <a:off x="2304551" y="252788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2" name="TextBox 391"/>
          <p:cNvSpPr txBox="1"/>
          <p:nvPr/>
        </p:nvSpPr>
        <p:spPr>
          <a:xfrm>
            <a:off x="2647303" y="287032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93" name="TextBox 392"/>
          <p:cNvSpPr txBox="1"/>
          <p:nvPr/>
        </p:nvSpPr>
        <p:spPr>
          <a:xfrm>
            <a:off x="5543024" y="2162151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4" name="TextBox 393"/>
          <p:cNvSpPr txBox="1"/>
          <p:nvPr/>
        </p:nvSpPr>
        <p:spPr>
          <a:xfrm>
            <a:off x="5196723" y="241329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5" name="TextBox 394"/>
          <p:cNvSpPr txBox="1"/>
          <p:nvPr/>
        </p:nvSpPr>
        <p:spPr>
          <a:xfrm>
            <a:off x="5675935" y="4001269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6" name="TextBox 395"/>
          <p:cNvSpPr txBox="1"/>
          <p:nvPr/>
        </p:nvSpPr>
        <p:spPr>
          <a:xfrm>
            <a:off x="4795708" y="366133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7" name="TextBox 396"/>
          <p:cNvSpPr txBox="1"/>
          <p:nvPr/>
        </p:nvSpPr>
        <p:spPr>
          <a:xfrm>
            <a:off x="4024292" y="4055547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01" name="TextBox 400"/>
          <p:cNvSpPr txBox="1"/>
          <p:nvPr/>
        </p:nvSpPr>
        <p:spPr>
          <a:xfrm>
            <a:off x="2426180" y="423512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02" name="TextBox 401"/>
          <p:cNvSpPr txBox="1"/>
          <p:nvPr/>
        </p:nvSpPr>
        <p:spPr>
          <a:xfrm>
            <a:off x="2662649" y="453010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03" name="TextBox 402"/>
          <p:cNvSpPr txBox="1"/>
          <p:nvPr/>
        </p:nvSpPr>
        <p:spPr>
          <a:xfrm>
            <a:off x="2168016" y="392886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08" name="TextBox 407"/>
          <p:cNvSpPr txBox="1"/>
          <p:nvPr/>
        </p:nvSpPr>
        <p:spPr>
          <a:xfrm>
            <a:off x="4731927" y="260161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09" name="TextBox 408"/>
          <p:cNvSpPr txBox="1"/>
          <p:nvPr/>
        </p:nvSpPr>
        <p:spPr>
          <a:xfrm>
            <a:off x="5265964" y="3522842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0.7</a:t>
            </a:r>
            <a:endParaRPr lang="ko-KR" altLang="en-US" sz="1200" dirty="0"/>
          </a:p>
        </p:txBody>
      </p:sp>
      <p:sp>
        <p:nvSpPr>
          <p:cNvPr id="410" name="TextBox 409"/>
          <p:cNvSpPr txBox="1"/>
          <p:nvPr/>
        </p:nvSpPr>
        <p:spPr>
          <a:xfrm>
            <a:off x="5719539" y="3619092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0.7</a:t>
            </a:r>
            <a:endParaRPr lang="ko-KR" altLang="en-US" sz="1200" dirty="0"/>
          </a:p>
        </p:txBody>
      </p:sp>
      <p:sp>
        <p:nvSpPr>
          <p:cNvPr id="420" name="TextBox 419"/>
          <p:cNvSpPr txBox="1"/>
          <p:nvPr/>
        </p:nvSpPr>
        <p:spPr>
          <a:xfrm>
            <a:off x="6479207" y="324886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21" name="TextBox 420"/>
          <p:cNvSpPr txBox="1"/>
          <p:nvPr/>
        </p:nvSpPr>
        <p:spPr>
          <a:xfrm>
            <a:off x="6157772" y="3531778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0" name="TextBox 429"/>
          <p:cNvSpPr txBox="1"/>
          <p:nvPr/>
        </p:nvSpPr>
        <p:spPr>
          <a:xfrm>
            <a:off x="3895656" y="4403969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31" name="TextBox 430"/>
          <p:cNvSpPr txBox="1"/>
          <p:nvPr/>
        </p:nvSpPr>
        <p:spPr>
          <a:xfrm>
            <a:off x="3808889" y="3750073"/>
            <a:ext cx="325830" cy="184666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3" name="TextBox 432"/>
          <p:cNvSpPr txBox="1"/>
          <p:nvPr/>
        </p:nvSpPr>
        <p:spPr>
          <a:xfrm>
            <a:off x="2651054" y="340300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4" name="TextBox 433"/>
          <p:cNvSpPr txBox="1"/>
          <p:nvPr/>
        </p:nvSpPr>
        <p:spPr>
          <a:xfrm>
            <a:off x="2411012" y="37307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5" name="TextBox 434"/>
          <p:cNvSpPr txBox="1"/>
          <p:nvPr/>
        </p:nvSpPr>
        <p:spPr>
          <a:xfrm>
            <a:off x="3282731" y="3097511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6" name="TextBox 435"/>
          <p:cNvSpPr txBox="1"/>
          <p:nvPr/>
        </p:nvSpPr>
        <p:spPr>
          <a:xfrm>
            <a:off x="2820516" y="311759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37" name="TextBox 436"/>
          <p:cNvSpPr txBox="1"/>
          <p:nvPr/>
        </p:nvSpPr>
        <p:spPr>
          <a:xfrm>
            <a:off x="3807157" y="2484868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38" name="TextBox 437"/>
          <p:cNvSpPr txBox="1"/>
          <p:nvPr/>
        </p:nvSpPr>
        <p:spPr>
          <a:xfrm>
            <a:off x="5042107" y="317838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39" name="TextBox 438"/>
          <p:cNvSpPr txBox="1"/>
          <p:nvPr/>
        </p:nvSpPr>
        <p:spPr>
          <a:xfrm>
            <a:off x="4397479" y="384218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141" name="TextBox 140"/>
          <p:cNvSpPr txBox="1"/>
          <p:nvPr/>
        </p:nvSpPr>
        <p:spPr>
          <a:xfrm>
            <a:off x="546777" y="248342"/>
            <a:ext cx="3355406" cy="523220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altLang="ko-KR" sz="2800" dirty="0"/>
              <a:t>Example Network</a:t>
            </a:r>
            <a:endParaRPr lang="ko-KR" altLang="en-US" sz="2800" dirty="0"/>
          </a:p>
        </p:txBody>
      </p:sp>
      <p:sp>
        <p:nvSpPr>
          <p:cNvPr id="74" name="TextBox 73"/>
          <p:cNvSpPr txBox="1"/>
          <p:nvPr/>
        </p:nvSpPr>
        <p:spPr>
          <a:xfrm>
            <a:off x="5142637" y="1524000"/>
            <a:ext cx="877163" cy="461665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R1 = 1.0</a:t>
            </a:r>
          </a:p>
          <a:p>
            <a:r>
              <a:rPr lang="en-US" sz="1200" dirty="0">
                <a:solidFill>
                  <a:srgbClr val="FF0000"/>
                </a:solidFill>
              </a:rPr>
              <a:t>L1 = 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495800" y="3276600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L4 = 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270967" y="2085201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L2 = 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24600" y="2679412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L6 = 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166567" y="4599801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L9 = 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912011" y="3990201"/>
            <a:ext cx="798617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L10 = 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43000" y="3048000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L3 = 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044680" y="4285425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L5 = 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209800" y="4828401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L7 = 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791200" y="43434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84" name="TextBox 83"/>
          <p:cNvSpPr txBox="1"/>
          <p:nvPr/>
        </p:nvSpPr>
        <p:spPr>
          <a:xfrm>
            <a:off x="3939328" y="22098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85" name="TextBox 84"/>
          <p:cNvSpPr txBox="1"/>
          <p:nvPr/>
        </p:nvSpPr>
        <p:spPr>
          <a:xfrm>
            <a:off x="1369298" y="1752600"/>
            <a:ext cx="205697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R2= 1.0*0.9 = 0.9(T</a:t>
            </a:r>
            <a:r>
              <a:rPr lang="vi-VN" sz="1200" dirty="0">
                <a:solidFill>
                  <a:srgbClr val="FF0000"/>
                </a:solidFill>
              </a:rPr>
              <a:t>I1</a:t>
            </a:r>
            <a:r>
              <a:rPr lang="en-US" sz="1200" dirty="0">
                <a:solidFill>
                  <a:srgbClr val="FF0000"/>
                </a:solidFill>
              </a:rPr>
              <a:t>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299549" y="2457057"/>
            <a:ext cx="2111475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R6 = 1.0*0.8 = 0.8(</a:t>
            </a:r>
            <a:r>
              <a:rPr lang="vi-VN" sz="1200" dirty="0">
                <a:solidFill>
                  <a:srgbClr val="FF0000"/>
                </a:solidFill>
              </a:rPr>
              <a:t>TI1</a:t>
            </a:r>
            <a:r>
              <a:rPr lang="en-US" sz="1200" dirty="0">
                <a:solidFill>
                  <a:srgbClr val="FF0000"/>
                </a:solidFill>
              </a:rPr>
              <a:t>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047645" y="3132217"/>
            <a:ext cx="2111475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R4 = 1.0*0.7 = 0.7(</a:t>
            </a:r>
            <a:r>
              <a:rPr lang="vi-VN" sz="1200" dirty="0">
                <a:solidFill>
                  <a:srgbClr val="FF0000"/>
                </a:solidFill>
              </a:rPr>
              <a:t>TI1</a:t>
            </a:r>
            <a:r>
              <a:rPr lang="en-US" sz="1200" dirty="0">
                <a:solidFill>
                  <a:srgbClr val="FF0000"/>
                </a:solidFill>
              </a:rPr>
              <a:t>)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0" y="5156537"/>
            <a:ext cx="2907791" cy="1015663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/>
          <a:p>
            <a:r>
              <a:rPr lang="vi-VN" sz="1200" dirty="0"/>
              <a:t>Node 2, 4, 6 receive </a:t>
            </a:r>
            <a:r>
              <a:rPr lang="vi-VN" sz="1200" dirty="0">
                <a:solidFill>
                  <a:srgbClr val="FF0000"/>
                </a:solidFill>
              </a:rPr>
              <a:t>TI1</a:t>
            </a:r>
            <a:r>
              <a:rPr lang="vi-VN" sz="1200" dirty="0"/>
              <a:t> and calculate its Rank R2, R4, R6:</a:t>
            </a:r>
          </a:p>
          <a:p>
            <a:r>
              <a:rPr lang="vi-VN" sz="1200" dirty="0">
                <a:solidFill>
                  <a:srgbClr val="FF0000"/>
                </a:solidFill>
              </a:rPr>
              <a:t>Rn = R1*PRR(n-&gt;1)</a:t>
            </a:r>
          </a:p>
          <a:p>
            <a:r>
              <a:rPr lang="vi-VN" sz="1200" dirty="0"/>
              <a:t>Then compare Rn with init Rank </a:t>
            </a:r>
            <a:r>
              <a:rPr lang="vi-VN" sz="1200" dirty="0">
                <a:solidFill>
                  <a:srgbClr val="FF0000"/>
                </a:solidFill>
              </a:rPr>
              <a:t>to choose the max Rank value.</a:t>
            </a:r>
          </a:p>
        </p:txBody>
      </p:sp>
      <p:graphicFrame>
        <p:nvGraphicFramePr>
          <p:cNvPr id="92" name="Table 9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026272"/>
              </p:ext>
            </p:extLst>
          </p:nvPr>
        </p:nvGraphicFramePr>
        <p:xfrm>
          <a:off x="2980945" y="4876800"/>
          <a:ext cx="609600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rgbClr val="FF0000"/>
                          </a:solidFill>
                        </a:rPr>
                        <a:t>TI1</a:t>
                      </a:r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rgbClr val="FF0000"/>
                          </a:solidFill>
                        </a:rPr>
                        <a:t>TI1</a:t>
                      </a:r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rgbClr val="FF0000"/>
                          </a:solidFill>
                        </a:rPr>
                        <a:t>TI1</a:t>
                      </a:r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타원 4"/>
          <p:cNvSpPr/>
          <p:nvPr/>
        </p:nvSpPr>
        <p:spPr>
          <a:xfrm>
            <a:off x="4724400" y="1600200"/>
            <a:ext cx="457200" cy="457200"/>
          </a:xfrm>
          <a:prstGeom prst="ellipse">
            <a:avLst/>
          </a:prstGeom>
          <a:solidFill>
            <a:schemeClr val="bg1"/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1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" name="타원 5"/>
          <p:cNvSpPr/>
          <p:nvPr/>
        </p:nvSpPr>
        <p:spPr>
          <a:xfrm>
            <a:off x="4109222" y="3029954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4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7" name="타원 6"/>
          <p:cNvSpPr/>
          <p:nvPr/>
        </p:nvSpPr>
        <p:spPr>
          <a:xfrm>
            <a:off x="1827777" y="3046196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3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" name="타원 7"/>
          <p:cNvSpPr/>
          <p:nvPr/>
        </p:nvSpPr>
        <p:spPr>
          <a:xfrm>
            <a:off x="1837944" y="4622292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7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" name="타원 8"/>
          <p:cNvSpPr/>
          <p:nvPr/>
        </p:nvSpPr>
        <p:spPr>
          <a:xfrm>
            <a:off x="3019925" y="3750221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5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7" name="타원 16"/>
          <p:cNvSpPr/>
          <p:nvPr/>
        </p:nvSpPr>
        <p:spPr>
          <a:xfrm>
            <a:off x="5783580" y="2734056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6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8" name="타원 17"/>
          <p:cNvSpPr/>
          <p:nvPr/>
        </p:nvSpPr>
        <p:spPr>
          <a:xfrm>
            <a:off x="4786174" y="4315097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9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9" name="타원 18"/>
          <p:cNvSpPr/>
          <p:nvPr/>
        </p:nvSpPr>
        <p:spPr>
          <a:xfrm>
            <a:off x="6479771" y="3803904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10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8" name="타원 27"/>
          <p:cNvSpPr/>
          <p:nvPr/>
        </p:nvSpPr>
        <p:spPr>
          <a:xfrm>
            <a:off x="2944368" y="2042160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2</a:t>
            </a:r>
            <a:endParaRPr lang="ko-KR" altLang="en-US">
              <a:solidFill>
                <a:schemeClr val="tx1"/>
              </a:solidFill>
            </a:endParaRPr>
          </a:p>
        </p:txBody>
      </p:sp>
      <p:cxnSp>
        <p:nvCxnSpPr>
          <p:cNvPr id="32" name="직선 연결선 31"/>
          <p:cNvCxnSpPr/>
          <p:nvPr/>
        </p:nvCxnSpPr>
        <p:spPr>
          <a:xfrm flipV="1">
            <a:off x="3472941" y="1827495"/>
            <a:ext cx="1165961" cy="303209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3" name="TextBox 212"/>
          <p:cNvSpPr txBox="1"/>
          <p:nvPr/>
        </p:nvSpPr>
        <p:spPr>
          <a:xfrm>
            <a:off x="3754656" y="175974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cxnSp>
        <p:nvCxnSpPr>
          <p:cNvPr id="139" name="직선 연결선 138"/>
          <p:cNvCxnSpPr/>
          <p:nvPr/>
        </p:nvCxnSpPr>
        <p:spPr>
          <a:xfrm flipV="1">
            <a:off x="3501304" y="1956121"/>
            <a:ext cx="1165961" cy="303209"/>
          </a:xfrm>
          <a:prstGeom prst="line">
            <a:avLst/>
          </a:prstGeom>
          <a:solidFill>
            <a:schemeClr val="bg1"/>
          </a:solidFill>
          <a:ln>
            <a:solidFill>
              <a:schemeClr val="accent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직선 연결선 141"/>
          <p:cNvCxnSpPr/>
          <p:nvPr/>
        </p:nvCxnSpPr>
        <p:spPr>
          <a:xfrm flipV="1">
            <a:off x="2248662" y="2429344"/>
            <a:ext cx="659129" cy="577552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직선 연결선 142"/>
          <p:cNvCxnSpPr/>
          <p:nvPr/>
        </p:nvCxnSpPr>
        <p:spPr>
          <a:xfrm flipV="1">
            <a:off x="2309915" y="2513106"/>
            <a:ext cx="671030" cy="57712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직선 연결선 147"/>
          <p:cNvCxnSpPr/>
          <p:nvPr/>
        </p:nvCxnSpPr>
        <p:spPr>
          <a:xfrm flipV="1">
            <a:off x="1958600" y="3632385"/>
            <a:ext cx="16351" cy="906139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연결선 148"/>
          <p:cNvCxnSpPr/>
          <p:nvPr/>
        </p:nvCxnSpPr>
        <p:spPr>
          <a:xfrm flipV="1">
            <a:off x="2094236" y="3700433"/>
            <a:ext cx="22135" cy="850769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직선 연결선 153"/>
          <p:cNvCxnSpPr/>
          <p:nvPr/>
        </p:nvCxnSpPr>
        <p:spPr>
          <a:xfrm flipH="1" flipV="1">
            <a:off x="2290191" y="3440941"/>
            <a:ext cx="589881" cy="493121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직선 연결선 154"/>
          <p:cNvCxnSpPr/>
          <p:nvPr/>
        </p:nvCxnSpPr>
        <p:spPr>
          <a:xfrm flipH="1" flipV="1">
            <a:off x="2411012" y="3405889"/>
            <a:ext cx="535029" cy="435171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직선 연결선 160"/>
          <p:cNvCxnSpPr/>
          <p:nvPr/>
        </p:nvCxnSpPr>
        <p:spPr>
          <a:xfrm flipH="1" flipV="1">
            <a:off x="3438145" y="2475959"/>
            <a:ext cx="748768" cy="480602"/>
          </a:xfrm>
          <a:prstGeom prst="line">
            <a:avLst/>
          </a:prstGeom>
          <a:solidFill>
            <a:schemeClr val="bg1"/>
          </a:solidFill>
          <a:ln>
            <a:solidFill>
              <a:schemeClr val="accent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직선 연결선 164"/>
          <p:cNvCxnSpPr/>
          <p:nvPr/>
        </p:nvCxnSpPr>
        <p:spPr>
          <a:xfrm>
            <a:off x="3368318" y="2567059"/>
            <a:ext cx="715966" cy="461967"/>
          </a:xfrm>
          <a:prstGeom prst="line">
            <a:avLst/>
          </a:prstGeom>
          <a:solidFill>
            <a:schemeClr val="bg1"/>
          </a:solidFill>
          <a:ln>
            <a:solidFill>
              <a:schemeClr val="accent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직선 연결선 167"/>
          <p:cNvCxnSpPr/>
          <p:nvPr/>
        </p:nvCxnSpPr>
        <p:spPr>
          <a:xfrm flipH="1">
            <a:off x="4447491" y="2152653"/>
            <a:ext cx="334974" cy="762056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직선 연결선 170"/>
          <p:cNvCxnSpPr/>
          <p:nvPr/>
        </p:nvCxnSpPr>
        <p:spPr>
          <a:xfrm flipV="1">
            <a:off x="4537864" y="2245801"/>
            <a:ext cx="331316" cy="710760"/>
          </a:xfrm>
          <a:prstGeom prst="line">
            <a:avLst/>
          </a:prstGeom>
          <a:solidFill>
            <a:schemeClr val="bg1"/>
          </a:solidFill>
          <a:ln>
            <a:solidFill>
              <a:schemeClr val="accent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직선 연결선 173"/>
          <p:cNvCxnSpPr/>
          <p:nvPr/>
        </p:nvCxnSpPr>
        <p:spPr>
          <a:xfrm flipH="1" flipV="1">
            <a:off x="5135577" y="2128298"/>
            <a:ext cx="632428" cy="620821"/>
          </a:xfrm>
          <a:prstGeom prst="line">
            <a:avLst/>
          </a:prstGeom>
          <a:solidFill>
            <a:schemeClr val="bg1"/>
          </a:solidFill>
          <a:ln>
            <a:solidFill>
              <a:schemeClr val="accent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직선 연결선 176"/>
          <p:cNvCxnSpPr/>
          <p:nvPr/>
        </p:nvCxnSpPr>
        <p:spPr>
          <a:xfrm>
            <a:off x="5220131" y="2057400"/>
            <a:ext cx="613221" cy="590992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직선 연결선 180"/>
          <p:cNvCxnSpPr/>
          <p:nvPr/>
        </p:nvCxnSpPr>
        <p:spPr>
          <a:xfrm flipV="1">
            <a:off x="3489848" y="3405889"/>
            <a:ext cx="531291" cy="418572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직선 연결선 183"/>
          <p:cNvCxnSpPr/>
          <p:nvPr/>
        </p:nvCxnSpPr>
        <p:spPr>
          <a:xfrm flipH="1">
            <a:off x="3591885" y="3461606"/>
            <a:ext cx="541757" cy="45277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직선 연결선 186"/>
          <p:cNvCxnSpPr/>
          <p:nvPr/>
        </p:nvCxnSpPr>
        <p:spPr>
          <a:xfrm flipH="1">
            <a:off x="4680690" y="2940038"/>
            <a:ext cx="950491" cy="191448"/>
          </a:xfrm>
          <a:prstGeom prst="line">
            <a:avLst/>
          </a:prstGeom>
          <a:solidFill>
            <a:schemeClr val="bg1"/>
          </a:solidFill>
          <a:ln>
            <a:solidFill>
              <a:schemeClr val="accent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직선 연결선 189"/>
          <p:cNvCxnSpPr/>
          <p:nvPr/>
        </p:nvCxnSpPr>
        <p:spPr>
          <a:xfrm flipV="1">
            <a:off x="4667265" y="3051048"/>
            <a:ext cx="963916" cy="212595"/>
          </a:xfrm>
          <a:prstGeom prst="line">
            <a:avLst/>
          </a:prstGeom>
          <a:solidFill>
            <a:schemeClr val="bg1"/>
          </a:solidFill>
          <a:ln>
            <a:solidFill>
              <a:schemeClr val="accent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직선 연결선 192"/>
          <p:cNvCxnSpPr/>
          <p:nvPr/>
        </p:nvCxnSpPr>
        <p:spPr>
          <a:xfrm flipH="1" flipV="1">
            <a:off x="6240780" y="3191256"/>
            <a:ext cx="467592" cy="525539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직선 연결선 195"/>
          <p:cNvCxnSpPr/>
          <p:nvPr/>
        </p:nvCxnSpPr>
        <p:spPr>
          <a:xfrm>
            <a:off x="6138151" y="3258554"/>
            <a:ext cx="482138" cy="498317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직선 연결선 205"/>
          <p:cNvCxnSpPr/>
          <p:nvPr/>
        </p:nvCxnSpPr>
        <p:spPr>
          <a:xfrm flipV="1">
            <a:off x="5372419" y="4191658"/>
            <a:ext cx="998239" cy="251131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직선 연결선 209"/>
          <p:cNvCxnSpPr/>
          <p:nvPr/>
        </p:nvCxnSpPr>
        <p:spPr>
          <a:xfrm flipH="1">
            <a:off x="5358830" y="4083509"/>
            <a:ext cx="1025416" cy="26247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직선 연결선 214"/>
          <p:cNvCxnSpPr/>
          <p:nvPr/>
        </p:nvCxnSpPr>
        <p:spPr>
          <a:xfrm>
            <a:off x="4562717" y="3494806"/>
            <a:ext cx="390283" cy="667479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직선 연결선 215"/>
          <p:cNvCxnSpPr/>
          <p:nvPr/>
        </p:nvCxnSpPr>
        <p:spPr>
          <a:xfrm flipH="1" flipV="1">
            <a:off x="4498065" y="3576469"/>
            <a:ext cx="385945" cy="65346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8" name="직선 연결선 287"/>
          <p:cNvCxnSpPr/>
          <p:nvPr/>
        </p:nvCxnSpPr>
        <p:spPr>
          <a:xfrm>
            <a:off x="3588398" y="4092930"/>
            <a:ext cx="1069768" cy="374335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직선 연결선 288"/>
          <p:cNvCxnSpPr/>
          <p:nvPr/>
        </p:nvCxnSpPr>
        <p:spPr>
          <a:xfrm flipH="1" flipV="1">
            <a:off x="3583007" y="4201324"/>
            <a:ext cx="1055897" cy="36998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7" name="직선 연결선 326"/>
          <p:cNvCxnSpPr/>
          <p:nvPr/>
        </p:nvCxnSpPr>
        <p:spPr>
          <a:xfrm flipH="1">
            <a:off x="2316235" y="4180226"/>
            <a:ext cx="692828" cy="47996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직선 연결선 327"/>
          <p:cNvCxnSpPr/>
          <p:nvPr/>
        </p:nvCxnSpPr>
        <p:spPr>
          <a:xfrm flipV="1">
            <a:off x="2357174" y="4284773"/>
            <a:ext cx="671553" cy="468066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3" name="직선 연결선 342"/>
          <p:cNvCxnSpPr/>
          <p:nvPr/>
        </p:nvCxnSpPr>
        <p:spPr>
          <a:xfrm flipH="1">
            <a:off x="5185796" y="3191256"/>
            <a:ext cx="647556" cy="98058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6" name="직선 연결선 345"/>
          <p:cNvCxnSpPr/>
          <p:nvPr/>
        </p:nvCxnSpPr>
        <p:spPr>
          <a:xfrm flipV="1">
            <a:off x="5264887" y="3294615"/>
            <a:ext cx="631711" cy="93531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4" name="TextBox 353"/>
          <p:cNvSpPr txBox="1"/>
          <p:nvPr/>
        </p:nvSpPr>
        <p:spPr>
          <a:xfrm>
            <a:off x="4316980" y="2439796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0.7</a:t>
            </a:r>
            <a:endParaRPr lang="ko-KR" altLang="en-US" sz="1200" dirty="0"/>
          </a:p>
        </p:txBody>
      </p:sp>
      <p:sp>
        <p:nvSpPr>
          <p:cNvPr id="355" name="TextBox 354"/>
          <p:cNvSpPr txBox="1"/>
          <p:nvPr/>
        </p:nvSpPr>
        <p:spPr>
          <a:xfrm>
            <a:off x="3466615" y="280901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56" name="TextBox 355"/>
          <p:cNvSpPr txBox="1"/>
          <p:nvPr/>
        </p:nvSpPr>
        <p:spPr>
          <a:xfrm>
            <a:off x="3499446" y="3429596"/>
            <a:ext cx="272374" cy="184666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57" name="TextBox 356"/>
          <p:cNvSpPr txBox="1"/>
          <p:nvPr/>
        </p:nvSpPr>
        <p:spPr>
          <a:xfrm>
            <a:off x="5000364" y="2820318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58" name="TextBox 357"/>
          <p:cNvSpPr txBox="1"/>
          <p:nvPr/>
        </p:nvSpPr>
        <p:spPr>
          <a:xfrm>
            <a:off x="1669027" y="4067286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cxnSp>
        <p:nvCxnSpPr>
          <p:cNvPr id="376" name="직선 연결선 375"/>
          <p:cNvCxnSpPr/>
          <p:nvPr/>
        </p:nvCxnSpPr>
        <p:spPr>
          <a:xfrm>
            <a:off x="3094397" y="2613307"/>
            <a:ext cx="29374" cy="107468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9" name="직선 연결선 378"/>
          <p:cNvCxnSpPr/>
          <p:nvPr/>
        </p:nvCxnSpPr>
        <p:spPr>
          <a:xfrm flipH="1" flipV="1">
            <a:off x="3211008" y="2670846"/>
            <a:ext cx="22041" cy="1006909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1" name="TextBox 390"/>
          <p:cNvSpPr txBox="1"/>
          <p:nvPr/>
        </p:nvSpPr>
        <p:spPr>
          <a:xfrm>
            <a:off x="2304551" y="252788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2" name="TextBox 391"/>
          <p:cNvSpPr txBox="1"/>
          <p:nvPr/>
        </p:nvSpPr>
        <p:spPr>
          <a:xfrm>
            <a:off x="2647303" y="287032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93" name="TextBox 392"/>
          <p:cNvSpPr txBox="1"/>
          <p:nvPr/>
        </p:nvSpPr>
        <p:spPr>
          <a:xfrm>
            <a:off x="5543024" y="2162151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4" name="TextBox 393"/>
          <p:cNvSpPr txBox="1"/>
          <p:nvPr/>
        </p:nvSpPr>
        <p:spPr>
          <a:xfrm>
            <a:off x="5196723" y="241329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5" name="TextBox 394"/>
          <p:cNvSpPr txBox="1"/>
          <p:nvPr/>
        </p:nvSpPr>
        <p:spPr>
          <a:xfrm>
            <a:off x="5675935" y="4001269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6" name="TextBox 395"/>
          <p:cNvSpPr txBox="1"/>
          <p:nvPr/>
        </p:nvSpPr>
        <p:spPr>
          <a:xfrm>
            <a:off x="4795708" y="366133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7" name="TextBox 396"/>
          <p:cNvSpPr txBox="1"/>
          <p:nvPr/>
        </p:nvSpPr>
        <p:spPr>
          <a:xfrm>
            <a:off x="4024292" y="4055547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01" name="TextBox 400"/>
          <p:cNvSpPr txBox="1"/>
          <p:nvPr/>
        </p:nvSpPr>
        <p:spPr>
          <a:xfrm>
            <a:off x="2426180" y="423512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02" name="TextBox 401"/>
          <p:cNvSpPr txBox="1"/>
          <p:nvPr/>
        </p:nvSpPr>
        <p:spPr>
          <a:xfrm>
            <a:off x="2662649" y="453010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03" name="TextBox 402"/>
          <p:cNvSpPr txBox="1"/>
          <p:nvPr/>
        </p:nvSpPr>
        <p:spPr>
          <a:xfrm>
            <a:off x="2168016" y="392886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08" name="TextBox 407"/>
          <p:cNvSpPr txBox="1"/>
          <p:nvPr/>
        </p:nvSpPr>
        <p:spPr>
          <a:xfrm>
            <a:off x="4731927" y="260161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09" name="TextBox 408"/>
          <p:cNvSpPr txBox="1"/>
          <p:nvPr/>
        </p:nvSpPr>
        <p:spPr>
          <a:xfrm>
            <a:off x="5265964" y="3522842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0.7</a:t>
            </a:r>
            <a:endParaRPr lang="ko-KR" altLang="en-US" sz="1200" dirty="0"/>
          </a:p>
        </p:txBody>
      </p:sp>
      <p:sp>
        <p:nvSpPr>
          <p:cNvPr id="410" name="TextBox 409"/>
          <p:cNvSpPr txBox="1"/>
          <p:nvPr/>
        </p:nvSpPr>
        <p:spPr>
          <a:xfrm>
            <a:off x="5719539" y="3619092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0.7</a:t>
            </a:r>
            <a:endParaRPr lang="ko-KR" altLang="en-US" sz="1200" dirty="0"/>
          </a:p>
        </p:txBody>
      </p:sp>
      <p:sp>
        <p:nvSpPr>
          <p:cNvPr id="420" name="TextBox 419"/>
          <p:cNvSpPr txBox="1"/>
          <p:nvPr/>
        </p:nvSpPr>
        <p:spPr>
          <a:xfrm>
            <a:off x="6479207" y="324886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21" name="TextBox 420"/>
          <p:cNvSpPr txBox="1"/>
          <p:nvPr/>
        </p:nvSpPr>
        <p:spPr>
          <a:xfrm>
            <a:off x="6157772" y="3531778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0" name="TextBox 429"/>
          <p:cNvSpPr txBox="1"/>
          <p:nvPr/>
        </p:nvSpPr>
        <p:spPr>
          <a:xfrm>
            <a:off x="3895656" y="4403969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31" name="TextBox 430"/>
          <p:cNvSpPr txBox="1"/>
          <p:nvPr/>
        </p:nvSpPr>
        <p:spPr>
          <a:xfrm>
            <a:off x="3808889" y="3750073"/>
            <a:ext cx="325830" cy="184666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3" name="TextBox 432"/>
          <p:cNvSpPr txBox="1"/>
          <p:nvPr/>
        </p:nvSpPr>
        <p:spPr>
          <a:xfrm>
            <a:off x="2651054" y="340300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4" name="TextBox 433"/>
          <p:cNvSpPr txBox="1"/>
          <p:nvPr/>
        </p:nvSpPr>
        <p:spPr>
          <a:xfrm>
            <a:off x="2411012" y="37307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5" name="TextBox 434"/>
          <p:cNvSpPr txBox="1"/>
          <p:nvPr/>
        </p:nvSpPr>
        <p:spPr>
          <a:xfrm>
            <a:off x="3282731" y="3097511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6" name="TextBox 435"/>
          <p:cNvSpPr txBox="1"/>
          <p:nvPr/>
        </p:nvSpPr>
        <p:spPr>
          <a:xfrm>
            <a:off x="2820516" y="311759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37" name="TextBox 436"/>
          <p:cNvSpPr txBox="1"/>
          <p:nvPr/>
        </p:nvSpPr>
        <p:spPr>
          <a:xfrm>
            <a:off x="3807157" y="2484868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38" name="TextBox 437"/>
          <p:cNvSpPr txBox="1"/>
          <p:nvPr/>
        </p:nvSpPr>
        <p:spPr>
          <a:xfrm>
            <a:off x="5042107" y="317838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39" name="TextBox 438"/>
          <p:cNvSpPr txBox="1"/>
          <p:nvPr/>
        </p:nvSpPr>
        <p:spPr>
          <a:xfrm>
            <a:off x="4397479" y="384218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141" name="TextBox 140"/>
          <p:cNvSpPr txBox="1"/>
          <p:nvPr/>
        </p:nvSpPr>
        <p:spPr>
          <a:xfrm>
            <a:off x="546777" y="248342"/>
            <a:ext cx="3355406" cy="523220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altLang="ko-KR" sz="2800" dirty="0"/>
              <a:t>Example Network</a:t>
            </a:r>
            <a:endParaRPr lang="ko-KR" altLang="en-US" sz="2800" dirty="0"/>
          </a:p>
        </p:txBody>
      </p:sp>
      <p:sp>
        <p:nvSpPr>
          <p:cNvPr id="74" name="TextBox 73"/>
          <p:cNvSpPr txBox="1"/>
          <p:nvPr/>
        </p:nvSpPr>
        <p:spPr>
          <a:xfrm>
            <a:off x="5142637" y="1524000"/>
            <a:ext cx="877163" cy="461665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R1 = 1.0</a:t>
            </a:r>
          </a:p>
          <a:p>
            <a:r>
              <a:rPr lang="en-US" sz="1200" dirty="0">
                <a:solidFill>
                  <a:srgbClr val="FF0000"/>
                </a:solidFill>
              </a:rPr>
              <a:t>L1 = 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495800" y="3276600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L4 = 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270967" y="2085201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L2 = 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24600" y="2679412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L6 = 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166567" y="4599801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L9 = 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912011" y="3990201"/>
            <a:ext cx="798617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L10 = 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43000" y="3048000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L3 = 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044680" y="4285425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L5 = 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209800" y="4828401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L7 = 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791200" y="43434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84" name="TextBox 83"/>
          <p:cNvSpPr txBox="1"/>
          <p:nvPr/>
        </p:nvSpPr>
        <p:spPr>
          <a:xfrm>
            <a:off x="3939328" y="22098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85" name="TextBox 84"/>
          <p:cNvSpPr txBox="1"/>
          <p:nvPr/>
        </p:nvSpPr>
        <p:spPr>
          <a:xfrm>
            <a:off x="952518" y="1554777"/>
            <a:ext cx="2249590" cy="461665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R2= 1.0*0.9 = 0.9(</a:t>
            </a:r>
            <a:r>
              <a:rPr lang="vi-VN" sz="1200" dirty="0">
                <a:solidFill>
                  <a:srgbClr val="FF0000"/>
                </a:solidFill>
              </a:rPr>
              <a:t>TI1)</a:t>
            </a:r>
            <a:endParaRPr lang="en-US" sz="1200" dirty="0">
              <a:solidFill>
                <a:srgbClr val="FF0000"/>
              </a:solidFill>
            </a:endParaRPr>
          </a:p>
          <a:p>
            <a:r>
              <a:rPr lang="en-US" sz="1200" dirty="0">
                <a:solidFill>
                  <a:schemeClr val="accent2"/>
                </a:solidFill>
              </a:rPr>
              <a:t>R2=  0.7*0.8 = 0.56(</a:t>
            </a:r>
            <a:r>
              <a:rPr lang="vi-VN" sz="1200" dirty="0">
                <a:solidFill>
                  <a:schemeClr val="accent2"/>
                </a:solidFill>
              </a:rPr>
              <a:t>TC4</a:t>
            </a:r>
            <a:r>
              <a:rPr lang="en-US" sz="1200" dirty="0">
                <a:solidFill>
                  <a:schemeClr val="accent2"/>
                </a:solidFill>
              </a:rPr>
              <a:t>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16821" y="2240577"/>
            <a:ext cx="2249590" cy="461665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R6 = 1.0*0.8 = 0.8(</a:t>
            </a:r>
            <a:r>
              <a:rPr lang="vi-VN" sz="1200" dirty="0">
                <a:solidFill>
                  <a:srgbClr val="FF0000"/>
                </a:solidFill>
              </a:rPr>
              <a:t>TI1</a:t>
            </a:r>
            <a:r>
              <a:rPr lang="en-US" sz="1200" dirty="0">
                <a:solidFill>
                  <a:srgbClr val="FF0000"/>
                </a:solidFill>
              </a:rPr>
              <a:t>)</a:t>
            </a:r>
          </a:p>
          <a:p>
            <a:r>
              <a:rPr lang="en-US" sz="1200" dirty="0">
                <a:solidFill>
                  <a:schemeClr val="accent2"/>
                </a:solidFill>
              </a:rPr>
              <a:t>R6 = 0.7*0.8 = 0.56(</a:t>
            </a:r>
            <a:r>
              <a:rPr lang="vi-VN" sz="1200" dirty="0">
                <a:solidFill>
                  <a:schemeClr val="accent2"/>
                </a:solidFill>
              </a:rPr>
              <a:t>TC4</a:t>
            </a:r>
            <a:r>
              <a:rPr lang="en-US" sz="1200" dirty="0">
                <a:solidFill>
                  <a:schemeClr val="accent2"/>
                </a:solidFill>
              </a:rPr>
              <a:t>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934200" y="2988195"/>
            <a:ext cx="2249590" cy="646331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R4 = 1.0*0.7 = 0.7(</a:t>
            </a:r>
            <a:r>
              <a:rPr lang="vi-VN" sz="1200" dirty="0">
                <a:solidFill>
                  <a:srgbClr val="FF0000"/>
                </a:solidFill>
              </a:rPr>
              <a:t>TI1</a:t>
            </a:r>
            <a:r>
              <a:rPr lang="en-US" sz="1200" dirty="0">
                <a:solidFill>
                  <a:srgbClr val="FF0000"/>
                </a:solidFill>
              </a:rPr>
              <a:t>)</a:t>
            </a:r>
          </a:p>
          <a:p>
            <a:r>
              <a:rPr lang="en-US" sz="1200" dirty="0">
                <a:solidFill>
                  <a:schemeClr val="accent2"/>
                </a:solidFill>
              </a:rPr>
              <a:t>R4 = 0.9*0.9 = 0.81(</a:t>
            </a:r>
            <a:r>
              <a:rPr lang="vi-VN" sz="1200" dirty="0">
                <a:solidFill>
                  <a:schemeClr val="accent2"/>
                </a:solidFill>
              </a:rPr>
              <a:t>TC2</a:t>
            </a:r>
            <a:r>
              <a:rPr lang="en-US" sz="1200" dirty="0">
                <a:solidFill>
                  <a:schemeClr val="accent2"/>
                </a:solidFill>
              </a:rPr>
              <a:t>)</a:t>
            </a:r>
          </a:p>
          <a:p>
            <a:r>
              <a:rPr lang="en-US" sz="1200" dirty="0">
                <a:solidFill>
                  <a:schemeClr val="accent2"/>
                </a:solidFill>
              </a:rPr>
              <a:t>R4 = 0.9*0.8 = 0.72(</a:t>
            </a:r>
            <a:r>
              <a:rPr lang="vi-VN" sz="1200" dirty="0">
                <a:solidFill>
                  <a:schemeClr val="accent2"/>
                </a:solidFill>
              </a:rPr>
              <a:t>TC6</a:t>
            </a:r>
            <a:r>
              <a:rPr lang="en-US" sz="1200" dirty="0">
                <a:solidFill>
                  <a:schemeClr val="accent2"/>
                </a:solidFill>
              </a:rPr>
              <a:t>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7998" y="5168205"/>
            <a:ext cx="2907791" cy="1384995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/>
          <a:p>
            <a:r>
              <a:rPr lang="vi-VN" sz="1200" dirty="0"/>
              <a:t>Node 2, 4, 6 broadcast its Rank R2, R4, R6 calculated from </a:t>
            </a:r>
            <a:r>
              <a:rPr lang="vi-VN" sz="1200" dirty="0">
                <a:solidFill>
                  <a:srgbClr val="FF0000"/>
                </a:solidFill>
              </a:rPr>
              <a:t>TI1</a:t>
            </a:r>
            <a:r>
              <a:rPr lang="vi-VN" sz="1200" dirty="0"/>
              <a:t> by </a:t>
            </a:r>
            <a:r>
              <a:rPr lang="vi-VN" sz="1200" dirty="0">
                <a:solidFill>
                  <a:schemeClr val="accent2"/>
                </a:solidFill>
              </a:rPr>
              <a:t>TREE_BUILDING_COMPARE TC(Node ID, Level, Rank)</a:t>
            </a:r>
          </a:p>
          <a:p>
            <a:r>
              <a:rPr lang="vi-VN" sz="1200" dirty="0">
                <a:solidFill>
                  <a:schemeClr val="accent2"/>
                </a:solidFill>
              </a:rPr>
              <a:t>TC2 = (2, 1, 0.9)</a:t>
            </a:r>
          </a:p>
          <a:p>
            <a:r>
              <a:rPr lang="vi-VN" sz="1200" dirty="0">
                <a:solidFill>
                  <a:schemeClr val="accent2"/>
                </a:solidFill>
              </a:rPr>
              <a:t>TC4 = (4, 1, 0.7)</a:t>
            </a:r>
          </a:p>
          <a:p>
            <a:r>
              <a:rPr lang="vi-VN" sz="1200" dirty="0">
                <a:solidFill>
                  <a:schemeClr val="accent2"/>
                </a:solidFill>
              </a:rPr>
              <a:t>TC6 = (6, 1, 0.8)</a:t>
            </a:r>
          </a:p>
        </p:txBody>
      </p:sp>
      <p:graphicFrame>
        <p:nvGraphicFramePr>
          <p:cNvPr id="91" name="Table 9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8898506"/>
              </p:ext>
            </p:extLst>
          </p:nvPr>
        </p:nvGraphicFramePr>
        <p:xfrm>
          <a:off x="2980945" y="4876800"/>
          <a:ext cx="609600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TC2 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TC4 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TC6 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TC2 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TC4 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TC6 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TC2 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TC4 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TC6 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599973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타원 4"/>
          <p:cNvSpPr/>
          <p:nvPr/>
        </p:nvSpPr>
        <p:spPr>
          <a:xfrm>
            <a:off x="4724400" y="1600200"/>
            <a:ext cx="457200" cy="457200"/>
          </a:xfrm>
          <a:prstGeom prst="ellipse">
            <a:avLst/>
          </a:prstGeom>
          <a:solidFill>
            <a:schemeClr val="bg1"/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1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" name="타원 5"/>
          <p:cNvSpPr/>
          <p:nvPr/>
        </p:nvSpPr>
        <p:spPr>
          <a:xfrm>
            <a:off x="4109222" y="3029954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4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7" name="타원 6"/>
          <p:cNvSpPr/>
          <p:nvPr/>
        </p:nvSpPr>
        <p:spPr>
          <a:xfrm>
            <a:off x="1827777" y="3046196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3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" name="타원 7"/>
          <p:cNvSpPr/>
          <p:nvPr/>
        </p:nvSpPr>
        <p:spPr>
          <a:xfrm>
            <a:off x="1837944" y="4622292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7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" name="타원 8"/>
          <p:cNvSpPr/>
          <p:nvPr/>
        </p:nvSpPr>
        <p:spPr>
          <a:xfrm>
            <a:off x="3019925" y="3750221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5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7" name="타원 16"/>
          <p:cNvSpPr/>
          <p:nvPr/>
        </p:nvSpPr>
        <p:spPr>
          <a:xfrm>
            <a:off x="5783580" y="2734056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6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8" name="타원 17"/>
          <p:cNvSpPr/>
          <p:nvPr/>
        </p:nvSpPr>
        <p:spPr>
          <a:xfrm>
            <a:off x="4786174" y="4315097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9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9" name="타원 18"/>
          <p:cNvSpPr/>
          <p:nvPr/>
        </p:nvSpPr>
        <p:spPr>
          <a:xfrm>
            <a:off x="6479771" y="3803904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10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8" name="타원 27"/>
          <p:cNvSpPr/>
          <p:nvPr/>
        </p:nvSpPr>
        <p:spPr>
          <a:xfrm>
            <a:off x="2944368" y="2042160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2</a:t>
            </a:r>
            <a:endParaRPr lang="ko-KR" altLang="en-US">
              <a:solidFill>
                <a:schemeClr val="tx1"/>
              </a:solidFill>
            </a:endParaRPr>
          </a:p>
        </p:txBody>
      </p:sp>
      <p:cxnSp>
        <p:nvCxnSpPr>
          <p:cNvPr id="32" name="직선 연결선 31"/>
          <p:cNvCxnSpPr/>
          <p:nvPr/>
        </p:nvCxnSpPr>
        <p:spPr>
          <a:xfrm flipV="1">
            <a:off x="3472941" y="1827495"/>
            <a:ext cx="1165961" cy="303209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3" name="TextBox 212"/>
          <p:cNvSpPr txBox="1"/>
          <p:nvPr/>
        </p:nvSpPr>
        <p:spPr>
          <a:xfrm>
            <a:off x="3754656" y="175974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cxnSp>
        <p:nvCxnSpPr>
          <p:cNvPr id="139" name="직선 연결선 138"/>
          <p:cNvCxnSpPr/>
          <p:nvPr/>
        </p:nvCxnSpPr>
        <p:spPr>
          <a:xfrm flipV="1">
            <a:off x="3501304" y="1956121"/>
            <a:ext cx="1165961" cy="303209"/>
          </a:xfrm>
          <a:prstGeom prst="line">
            <a:avLst/>
          </a:prstGeom>
          <a:solidFill>
            <a:schemeClr val="bg1"/>
          </a:solidFill>
          <a:ln>
            <a:solidFill>
              <a:schemeClr val="accent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직선 연결선 141"/>
          <p:cNvCxnSpPr/>
          <p:nvPr/>
        </p:nvCxnSpPr>
        <p:spPr>
          <a:xfrm flipV="1">
            <a:off x="2248662" y="2429344"/>
            <a:ext cx="659129" cy="577552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직선 연결선 142"/>
          <p:cNvCxnSpPr/>
          <p:nvPr/>
        </p:nvCxnSpPr>
        <p:spPr>
          <a:xfrm flipV="1">
            <a:off x="2309915" y="2513106"/>
            <a:ext cx="671030" cy="57712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직선 연결선 147"/>
          <p:cNvCxnSpPr/>
          <p:nvPr/>
        </p:nvCxnSpPr>
        <p:spPr>
          <a:xfrm flipV="1">
            <a:off x="1958600" y="3632385"/>
            <a:ext cx="16351" cy="906139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연결선 148"/>
          <p:cNvCxnSpPr/>
          <p:nvPr/>
        </p:nvCxnSpPr>
        <p:spPr>
          <a:xfrm flipV="1">
            <a:off x="2094236" y="3700433"/>
            <a:ext cx="22135" cy="850769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직선 연결선 153"/>
          <p:cNvCxnSpPr/>
          <p:nvPr/>
        </p:nvCxnSpPr>
        <p:spPr>
          <a:xfrm flipH="1" flipV="1">
            <a:off x="2290191" y="3440941"/>
            <a:ext cx="589881" cy="493121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직선 연결선 154"/>
          <p:cNvCxnSpPr/>
          <p:nvPr/>
        </p:nvCxnSpPr>
        <p:spPr>
          <a:xfrm flipH="1" flipV="1">
            <a:off x="2411012" y="3405889"/>
            <a:ext cx="535029" cy="435171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직선 연결선 160"/>
          <p:cNvCxnSpPr/>
          <p:nvPr/>
        </p:nvCxnSpPr>
        <p:spPr>
          <a:xfrm flipH="1" flipV="1">
            <a:off x="3438145" y="2475959"/>
            <a:ext cx="748768" cy="480602"/>
          </a:xfrm>
          <a:prstGeom prst="line">
            <a:avLst/>
          </a:prstGeom>
          <a:solidFill>
            <a:schemeClr val="bg1"/>
          </a:solidFill>
          <a:ln>
            <a:solidFill>
              <a:schemeClr val="accent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직선 연결선 164"/>
          <p:cNvCxnSpPr/>
          <p:nvPr/>
        </p:nvCxnSpPr>
        <p:spPr>
          <a:xfrm>
            <a:off x="3368318" y="2567059"/>
            <a:ext cx="715966" cy="461967"/>
          </a:xfrm>
          <a:prstGeom prst="line">
            <a:avLst/>
          </a:prstGeom>
          <a:solidFill>
            <a:schemeClr val="bg1"/>
          </a:solidFill>
          <a:ln>
            <a:solidFill>
              <a:schemeClr val="accent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직선 연결선 167"/>
          <p:cNvCxnSpPr/>
          <p:nvPr/>
        </p:nvCxnSpPr>
        <p:spPr>
          <a:xfrm flipH="1">
            <a:off x="4447491" y="2152653"/>
            <a:ext cx="334974" cy="762056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직선 연결선 170"/>
          <p:cNvCxnSpPr/>
          <p:nvPr/>
        </p:nvCxnSpPr>
        <p:spPr>
          <a:xfrm flipV="1">
            <a:off x="4537864" y="2245801"/>
            <a:ext cx="331316" cy="710760"/>
          </a:xfrm>
          <a:prstGeom prst="line">
            <a:avLst/>
          </a:prstGeom>
          <a:solidFill>
            <a:schemeClr val="bg1"/>
          </a:solidFill>
          <a:ln>
            <a:solidFill>
              <a:schemeClr val="accent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직선 연결선 173"/>
          <p:cNvCxnSpPr/>
          <p:nvPr/>
        </p:nvCxnSpPr>
        <p:spPr>
          <a:xfrm flipH="1" flipV="1">
            <a:off x="5135577" y="2128298"/>
            <a:ext cx="632428" cy="620821"/>
          </a:xfrm>
          <a:prstGeom prst="line">
            <a:avLst/>
          </a:prstGeom>
          <a:solidFill>
            <a:schemeClr val="bg1"/>
          </a:solidFill>
          <a:ln>
            <a:solidFill>
              <a:schemeClr val="accent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직선 연결선 176"/>
          <p:cNvCxnSpPr/>
          <p:nvPr/>
        </p:nvCxnSpPr>
        <p:spPr>
          <a:xfrm>
            <a:off x="5220131" y="2057400"/>
            <a:ext cx="613221" cy="590992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직선 연결선 180"/>
          <p:cNvCxnSpPr/>
          <p:nvPr/>
        </p:nvCxnSpPr>
        <p:spPr>
          <a:xfrm flipV="1">
            <a:off x="3489848" y="3405889"/>
            <a:ext cx="531291" cy="418572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직선 연결선 183"/>
          <p:cNvCxnSpPr/>
          <p:nvPr/>
        </p:nvCxnSpPr>
        <p:spPr>
          <a:xfrm flipH="1">
            <a:off x="3591885" y="3461606"/>
            <a:ext cx="541757" cy="45277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직선 연결선 186"/>
          <p:cNvCxnSpPr/>
          <p:nvPr/>
        </p:nvCxnSpPr>
        <p:spPr>
          <a:xfrm flipH="1">
            <a:off x="4680690" y="2940038"/>
            <a:ext cx="950491" cy="191448"/>
          </a:xfrm>
          <a:prstGeom prst="line">
            <a:avLst/>
          </a:prstGeom>
          <a:solidFill>
            <a:schemeClr val="bg1"/>
          </a:solidFill>
          <a:ln>
            <a:solidFill>
              <a:schemeClr val="accent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직선 연결선 189"/>
          <p:cNvCxnSpPr/>
          <p:nvPr/>
        </p:nvCxnSpPr>
        <p:spPr>
          <a:xfrm flipV="1">
            <a:off x="4667265" y="3051048"/>
            <a:ext cx="963916" cy="212595"/>
          </a:xfrm>
          <a:prstGeom prst="line">
            <a:avLst/>
          </a:prstGeom>
          <a:solidFill>
            <a:schemeClr val="bg1"/>
          </a:solidFill>
          <a:ln>
            <a:solidFill>
              <a:schemeClr val="accent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직선 연결선 192"/>
          <p:cNvCxnSpPr/>
          <p:nvPr/>
        </p:nvCxnSpPr>
        <p:spPr>
          <a:xfrm flipH="1" flipV="1">
            <a:off x="6240780" y="3191256"/>
            <a:ext cx="467592" cy="525539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직선 연결선 195"/>
          <p:cNvCxnSpPr/>
          <p:nvPr/>
        </p:nvCxnSpPr>
        <p:spPr>
          <a:xfrm>
            <a:off x="6138151" y="3258554"/>
            <a:ext cx="482138" cy="498317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직선 연결선 205"/>
          <p:cNvCxnSpPr/>
          <p:nvPr/>
        </p:nvCxnSpPr>
        <p:spPr>
          <a:xfrm flipV="1">
            <a:off x="5372419" y="4191658"/>
            <a:ext cx="998239" cy="251131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직선 연결선 209"/>
          <p:cNvCxnSpPr/>
          <p:nvPr/>
        </p:nvCxnSpPr>
        <p:spPr>
          <a:xfrm flipH="1">
            <a:off x="5358830" y="4083509"/>
            <a:ext cx="1025416" cy="26247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직선 연결선 214"/>
          <p:cNvCxnSpPr/>
          <p:nvPr/>
        </p:nvCxnSpPr>
        <p:spPr>
          <a:xfrm>
            <a:off x="4562717" y="3494806"/>
            <a:ext cx="390283" cy="667479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직선 연결선 215"/>
          <p:cNvCxnSpPr/>
          <p:nvPr/>
        </p:nvCxnSpPr>
        <p:spPr>
          <a:xfrm flipH="1" flipV="1">
            <a:off x="4498065" y="3576469"/>
            <a:ext cx="385945" cy="65346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8" name="직선 연결선 287"/>
          <p:cNvCxnSpPr/>
          <p:nvPr/>
        </p:nvCxnSpPr>
        <p:spPr>
          <a:xfrm>
            <a:off x="3588398" y="4092930"/>
            <a:ext cx="1069768" cy="374335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직선 연결선 288"/>
          <p:cNvCxnSpPr/>
          <p:nvPr/>
        </p:nvCxnSpPr>
        <p:spPr>
          <a:xfrm flipH="1" flipV="1">
            <a:off x="3583007" y="4201324"/>
            <a:ext cx="1055897" cy="36998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7" name="직선 연결선 326"/>
          <p:cNvCxnSpPr/>
          <p:nvPr/>
        </p:nvCxnSpPr>
        <p:spPr>
          <a:xfrm flipH="1">
            <a:off x="2316235" y="4180226"/>
            <a:ext cx="692828" cy="47996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직선 연결선 327"/>
          <p:cNvCxnSpPr/>
          <p:nvPr/>
        </p:nvCxnSpPr>
        <p:spPr>
          <a:xfrm flipV="1">
            <a:off x="2357174" y="4284773"/>
            <a:ext cx="671553" cy="468066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3" name="직선 연결선 342"/>
          <p:cNvCxnSpPr/>
          <p:nvPr/>
        </p:nvCxnSpPr>
        <p:spPr>
          <a:xfrm flipH="1">
            <a:off x="5185796" y="3191256"/>
            <a:ext cx="647556" cy="98058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6" name="직선 연결선 345"/>
          <p:cNvCxnSpPr/>
          <p:nvPr/>
        </p:nvCxnSpPr>
        <p:spPr>
          <a:xfrm flipV="1">
            <a:off x="5264887" y="3294615"/>
            <a:ext cx="631711" cy="93531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4" name="TextBox 353"/>
          <p:cNvSpPr txBox="1"/>
          <p:nvPr/>
        </p:nvSpPr>
        <p:spPr>
          <a:xfrm>
            <a:off x="4316980" y="2439796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0.7</a:t>
            </a:r>
            <a:endParaRPr lang="ko-KR" altLang="en-US" sz="1200" dirty="0"/>
          </a:p>
        </p:txBody>
      </p:sp>
      <p:sp>
        <p:nvSpPr>
          <p:cNvPr id="355" name="TextBox 354"/>
          <p:cNvSpPr txBox="1"/>
          <p:nvPr/>
        </p:nvSpPr>
        <p:spPr>
          <a:xfrm>
            <a:off x="3466615" y="280901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56" name="TextBox 355"/>
          <p:cNvSpPr txBox="1"/>
          <p:nvPr/>
        </p:nvSpPr>
        <p:spPr>
          <a:xfrm>
            <a:off x="3499446" y="3429596"/>
            <a:ext cx="272374" cy="184666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57" name="TextBox 356"/>
          <p:cNvSpPr txBox="1"/>
          <p:nvPr/>
        </p:nvSpPr>
        <p:spPr>
          <a:xfrm>
            <a:off x="5000364" y="2820318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58" name="TextBox 357"/>
          <p:cNvSpPr txBox="1"/>
          <p:nvPr/>
        </p:nvSpPr>
        <p:spPr>
          <a:xfrm>
            <a:off x="1669027" y="4067286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cxnSp>
        <p:nvCxnSpPr>
          <p:cNvPr id="376" name="직선 연결선 375"/>
          <p:cNvCxnSpPr/>
          <p:nvPr/>
        </p:nvCxnSpPr>
        <p:spPr>
          <a:xfrm>
            <a:off x="3094397" y="2613307"/>
            <a:ext cx="29374" cy="107468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9" name="직선 연결선 378"/>
          <p:cNvCxnSpPr/>
          <p:nvPr/>
        </p:nvCxnSpPr>
        <p:spPr>
          <a:xfrm flipH="1" flipV="1">
            <a:off x="3211008" y="2670846"/>
            <a:ext cx="22041" cy="1006909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1" name="TextBox 390"/>
          <p:cNvSpPr txBox="1"/>
          <p:nvPr/>
        </p:nvSpPr>
        <p:spPr>
          <a:xfrm>
            <a:off x="2304551" y="252788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2" name="TextBox 391"/>
          <p:cNvSpPr txBox="1"/>
          <p:nvPr/>
        </p:nvSpPr>
        <p:spPr>
          <a:xfrm>
            <a:off x="2647303" y="287032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93" name="TextBox 392"/>
          <p:cNvSpPr txBox="1"/>
          <p:nvPr/>
        </p:nvSpPr>
        <p:spPr>
          <a:xfrm>
            <a:off x="5543024" y="2162151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4" name="TextBox 393"/>
          <p:cNvSpPr txBox="1"/>
          <p:nvPr/>
        </p:nvSpPr>
        <p:spPr>
          <a:xfrm>
            <a:off x="5196723" y="241329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5" name="TextBox 394"/>
          <p:cNvSpPr txBox="1"/>
          <p:nvPr/>
        </p:nvSpPr>
        <p:spPr>
          <a:xfrm>
            <a:off x="5675935" y="4001269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6" name="TextBox 395"/>
          <p:cNvSpPr txBox="1"/>
          <p:nvPr/>
        </p:nvSpPr>
        <p:spPr>
          <a:xfrm>
            <a:off x="4795708" y="366133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7" name="TextBox 396"/>
          <p:cNvSpPr txBox="1"/>
          <p:nvPr/>
        </p:nvSpPr>
        <p:spPr>
          <a:xfrm>
            <a:off x="4024292" y="4055547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01" name="TextBox 400"/>
          <p:cNvSpPr txBox="1"/>
          <p:nvPr/>
        </p:nvSpPr>
        <p:spPr>
          <a:xfrm>
            <a:off x="2426180" y="423512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02" name="TextBox 401"/>
          <p:cNvSpPr txBox="1"/>
          <p:nvPr/>
        </p:nvSpPr>
        <p:spPr>
          <a:xfrm>
            <a:off x="2662649" y="453010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03" name="TextBox 402"/>
          <p:cNvSpPr txBox="1"/>
          <p:nvPr/>
        </p:nvSpPr>
        <p:spPr>
          <a:xfrm>
            <a:off x="2168016" y="392886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08" name="TextBox 407"/>
          <p:cNvSpPr txBox="1"/>
          <p:nvPr/>
        </p:nvSpPr>
        <p:spPr>
          <a:xfrm>
            <a:off x="4731927" y="260161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09" name="TextBox 408"/>
          <p:cNvSpPr txBox="1"/>
          <p:nvPr/>
        </p:nvSpPr>
        <p:spPr>
          <a:xfrm>
            <a:off x="5265964" y="3522842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0.7</a:t>
            </a:r>
            <a:endParaRPr lang="ko-KR" altLang="en-US" sz="1200" dirty="0"/>
          </a:p>
        </p:txBody>
      </p:sp>
      <p:sp>
        <p:nvSpPr>
          <p:cNvPr id="410" name="TextBox 409"/>
          <p:cNvSpPr txBox="1"/>
          <p:nvPr/>
        </p:nvSpPr>
        <p:spPr>
          <a:xfrm>
            <a:off x="5719539" y="3619092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0.7</a:t>
            </a:r>
            <a:endParaRPr lang="ko-KR" altLang="en-US" sz="1200" dirty="0"/>
          </a:p>
        </p:txBody>
      </p:sp>
      <p:sp>
        <p:nvSpPr>
          <p:cNvPr id="420" name="TextBox 419"/>
          <p:cNvSpPr txBox="1"/>
          <p:nvPr/>
        </p:nvSpPr>
        <p:spPr>
          <a:xfrm>
            <a:off x="6479207" y="324886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21" name="TextBox 420"/>
          <p:cNvSpPr txBox="1"/>
          <p:nvPr/>
        </p:nvSpPr>
        <p:spPr>
          <a:xfrm>
            <a:off x="6157772" y="3531778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0" name="TextBox 429"/>
          <p:cNvSpPr txBox="1"/>
          <p:nvPr/>
        </p:nvSpPr>
        <p:spPr>
          <a:xfrm>
            <a:off x="3895656" y="4403969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31" name="TextBox 430"/>
          <p:cNvSpPr txBox="1"/>
          <p:nvPr/>
        </p:nvSpPr>
        <p:spPr>
          <a:xfrm>
            <a:off x="3808889" y="3750073"/>
            <a:ext cx="325830" cy="184666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3" name="TextBox 432"/>
          <p:cNvSpPr txBox="1"/>
          <p:nvPr/>
        </p:nvSpPr>
        <p:spPr>
          <a:xfrm>
            <a:off x="2651054" y="340300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4" name="TextBox 433"/>
          <p:cNvSpPr txBox="1"/>
          <p:nvPr/>
        </p:nvSpPr>
        <p:spPr>
          <a:xfrm>
            <a:off x="2411012" y="37307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5" name="TextBox 434"/>
          <p:cNvSpPr txBox="1"/>
          <p:nvPr/>
        </p:nvSpPr>
        <p:spPr>
          <a:xfrm>
            <a:off x="3282731" y="3097511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6" name="TextBox 435"/>
          <p:cNvSpPr txBox="1"/>
          <p:nvPr/>
        </p:nvSpPr>
        <p:spPr>
          <a:xfrm>
            <a:off x="2820516" y="311759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37" name="TextBox 436"/>
          <p:cNvSpPr txBox="1"/>
          <p:nvPr/>
        </p:nvSpPr>
        <p:spPr>
          <a:xfrm>
            <a:off x="3807157" y="2484868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38" name="TextBox 437"/>
          <p:cNvSpPr txBox="1"/>
          <p:nvPr/>
        </p:nvSpPr>
        <p:spPr>
          <a:xfrm>
            <a:off x="5042107" y="317838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39" name="TextBox 438"/>
          <p:cNvSpPr txBox="1"/>
          <p:nvPr/>
        </p:nvSpPr>
        <p:spPr>
          <a:xfrm>
            <a:off x="4397479" y="384218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141" name="TextBox 140"/>
          <p:cNvSpPr txBox="1"/>
          <p:nvPr/>
        </p:nvSpPr>
        <p:spPr>
          <a:xfrm>
            <a:off x="546777" y="248342"/>
            <a:ext cx="3355406" cy="523220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altLang="ko-KR" sz="2800" dirty="0"/>
              <a:t>Example Network</a:t>
            </a:r>
            <a:endParaRPr lang="ko-KR" altLang="en-US" sz="2800" dirty="0"/>
          </a:p>
        </p:txBody>
      </p:sp>
      <p:sp>
        <p:nvSpPr>
          <p:cNvPr id="74" name="TextBox 73"/>
          <p:cNvSpPr txBox="1"/>
          <p:nvPr/>
        </p:nvSpPr>
        <p:spPr>
          <a:xfrm>
            <a:off x="5142637" y="1524000"/>
            <a:ext cx="877163" cy="461665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R1 = 1.0</a:t>
            </a:r>
          </a:p>
          <a:p>
            <a:r>
              <a:rPr lang="en-US" sz="1200" dirty="0">
                <a:solidFill>
                  <a:srgbClr val="FF0000"/>
                </a:solidFill>
              </a:rPr>
              <a:t>L1 = 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495800" y="3276600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L4 = 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270967" y="2085201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L2 = 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24600" y="2679412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L6 = 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166567" y="4599801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L9 = 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912011" y="3990201"/>
            <a:ext cx="798617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L10 = 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43000" y="3048000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L3 = 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044680" y="4285425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L5 = 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209800" y="4828401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L7 = 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791200" y="43434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84" name="TextBox 83"/>
          <p:cNvSpPr txBox="1"/>
          <p:nvPr/>
        </p:nvSpPr>
        <p:spPr>
          <a:xfrm>
            <a:off x="3939328" y="22098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85" name="TextBox 84"/>
          <p:cNvSpPr txBox="1"/>
          <p:nvPr/>
        </p:nvSpPr>
        <p:spPr>
          <a:xfrm>
            <a:off x="952518" y="1554777"/>
            <a:ext cx="2249590" cy="461665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R2= 1.0*0.9 = 0.9(</a:t>
            </a:r>
            <a:r>
              <a:rPr lang="vi-VN" sz="1200" dirty="0">
                <a:solidFill>
                  <a:srgbClr val="FF0000"/>
                </a:solidFill>
              </a:rPr>
              <a:t>TI1)</a:t>
            </a:r>
            <a:endParaRPr lang="en-US" sz="1200" dirty="0">
              <a:solidFill>
                <a:srgbClr val="FF0000"/>
              </a:solidFill>
            </a:endParaRPr>
          </a:p>
          <a:p>
            <a:r>
              <a:rPr lang="en-US" sz="1200" dirty="0">
                <a:solidFill>
                  <a:schemeClr val="accent2"/>
                </a:solidFill>
              </a:rPr>
              <a:t>R2=  0.7*0.8 = 0.56(</a:t>
            </a:r>
            <a:r>
              <a:rPr lang="vi-VN" sz="1200" dirty="0">
                <a:solidFill>
                  <a:schemeClr val="accent2"/>
                </a:solidFill>
              </a:rPr>
              <a:t>TC4)</a:t>
            </a:r>
            <a:endParaRPr lang="en-US" sz="1200" dirty="0">
              <a:solidFill>
                <a:schemeClr val="accent2"/>
              </a:solidFill>
            </a:endParaRPr>
          </a:p>
        </p:txBody>
      </p:sp>
      <p:sp>
        <p:nvSpPr>
          <p:cNvPr id="86" name="TextBox 85"/>
          <p:cNvSpPr txBox="1"/>
          <p:nvPr/>
        </p:nvSpPr>
        <p:spPr>
          <a:xfrm>
            <a:off x="6316821" y="2240577"/>
            <a:ext cx="2249590" cy="461665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R6 = 1.0*0.8 = 0.8(</a:t>
            </a:r>
            <a:r>
              <a:rPr lang="vi-VN" sz="1200" dirty="0">
                <a:solidFill>
                  <a:srgbClr val="FF0000"/>
                </a:solidFill>
              </a:rPr>
              <a:t>TI1</a:t>
            </a:r>
            <a:r>
              <a:rPr lang="en-US" sz="1200" dirty="0">
                <a:solidFill>
                  <a:srgbClr val="FF0000"/>
                </a:solidFill>
              </a:rPr>
              <a:t>)</a:t>
            </a:r>
          </a:p>
          <a:p>
            <a:r>
              <a:rPr lang="en-US" sz="1200" dirty="0">
                <a:solidFill>
                  <a:schemeClr val="accent2"/>
                </a:solidFill>
              </a:rPr>
              <a:t>R6 = 0.7*0.8 = 0.56(</a:t>
            </a:r>
            <a:r>
              <a:rPr lang="vi-VN" sz="1200" dirty="0">
                <a:solidFill>
                  <a:schemeClr val="accent2"/>
                </a:solidFill>
              </a:rPr>
              <a:t>TC4)</a:t>
            </a:r>
            <a:endParaRPr lang="en-US" sz="1200" dirty="0">
              <a:solidFill>
                <a:schemeClr val="accent2"/>
              </a:solidFill>
            </a:endParaRPr>
          </a:p>
        </p:txBody>
      </p:sp>
      <p:sp>
        <p:nvSpPr>
          <p:cNvPr id="87" name="TextBox 86"/>
          <p:cNvSpPr txBox="1"/>
          <p:nvPr/>
        </p:nvSpPr>
        <p:spPr>
          <a:xfrm>
            <a:off x="6860746" y="2895600"/>
            <a:ext cx="2283254" cy="646331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R4 = 1.0*0.7 = 0.7(</a:t>
            </a:r>
            <a:r>
              <a:rPr lang="vi-VN" sz="1200" dirty="0">
                <a:solidFill>
                  <a:srgbClr val="FF0000"/>
                </a:solidFill>
              </a:rPr>
              <a:t>TI1</a:t>
            </a:r>
            <a:r>
              <a:rPr lang="en-US" sz="1200" dirty="0">
                <a:solidFill>
                  <a:srgbClr val="FF0000"/>
                </a:solidFill>
              </a:rPr>
              <a:t>)</a:t>
            </a:r>
          </a:p>
          <a:p>
            <a:r>
              <a:rPr lang="en-US" sz="1200" dirty="0">
                <a:solidFill>
                  <a:schemeClr val="accent2"/>
                </a:solidFill>
              </a:rPr>
              <a:t>R4 = 0.9*0.9 = 0.81(</a:t>
            </a:r>
            <a:r>
              <a:rPr lang="vi-VN" sz="1200" dirty="0">
                <a:solidFill>
                  <a:schemeClr val="accent2"/>
                </a:solidFill>
              </a:rPr>
              <a:t>TC2)</a:t>
            </a:r>
            <a:endParaRPr lang="en-US" sz="1200" dirty="0">
              <a:solidFill>
                <a:schemeClr val="accent2"/>
              </a:solidFill>
            </a:endParaRPr>
          </a:p>
          <a:p>
            <a:r>
              <a:rPr lang="en-US" sz="1200" dirty="0">
                <a:solidFill>
                  <a:schemeClr val="accent2"/>
                </a:solidFill>
              </a:rPr>
              <a:t>R4 = 0.9*0.8 = 0.72(</a:t>
            </a:r>
            <a:r>
              <a:rPr lang="vi-VN" sz="1200" dirty="0">
                <a:solidFill>
                  <a:schemeClr val="accent2"/>
                </a:solidFill>
              </a:rPr>
              <a:t>TC6)</a:t>
            </a:r>
            <a:endParaRPr lang="en-US" sz="1200" dirty="0">
              <a:solidFill>
                <a:schemeClr val="accent2"/>
              </a:solidFill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37998" y="5105400"/>
            <a:ext cx="2907791" cy="1200329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/>
          <a:p>
            <a:r>
              <a:rPr lang="vi-VN" sz="1200" dirty="0"/>
              <a:t>Node 2, 4, 6 calculated Rank from</a:t>
            </a:r>
            <a:endParaRPr lang="vi-VN" sz="1200" dirty="0">
              <a:solidFill>
                <a:schemeClr val="accent2"/>
              </a:solidFill>
            </a:endParaRPr>
          </a:p>
          <a:p>
            <a:r>
              <a:rPr lang="vi-VN" sz="1200" dirty="0">
                <a:solidFill>
                  <a:schemeClr val="accent2"/>
                </a:solidFill>
              </a:rPr>
              <a:t>TC2 = (2, 1, 0.9)</a:t>
            </a:r>
          </a:p>
          <a:p>
            <a:r>
              <a:rPr lang="vi-VN" sz="1200" dirty="0">
                <a:solidFill>
                  <a:schemeClr val="accent2"/>
                </a:solidFill>
              </a:rPr>
              <a:t>TC4 = (4, 1, 0.7)</a:t>
            </a:r>
          </a:p>
          <a:p>
            <a:r>
              <a:rPr lang="vi-VN" sz="1200" dirty="0">
                <a:solidFill>
                  <a:schemeClr val="accent2"/>
                </a:solidFill>
              </a:rPr>
              <a:t>TC6 = (6, 1, 0.8)</a:t>
            </a:r>
          </a:p>
          <a:p>
            <a:r>
              <a:rPr lang="en-US" sz="1200" dirty="0">
                <a:solidFill>
                  <a:schemeClr val="accent2"/>
                </a:solidFill>
              </a:rPr>
              <a:t>T</a:t>
            </a:r>
            <a:r>
              <a:rPr lang="vi-VN" sz="1200" dirty="0">
                <a:solidFill>
                  <a:schemeClr val="accent2"/>
                </a:solidFill>
              </a:rPr>
              <a:t>hen compare to choose the maximum Rank value.</a:t>
            </a:r>
          </a:p>
        </p:txBody>
      </p:sp>
      <p:graphicFrame>
        <p:nvGraphicFramePr>
          <p:cNvPr id="91" name="Table 9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8898506"/>
              </p:ext>
            </p:extLst>
          </p:nvPr>
        </p:nvGraphicFramePr>
        <p:xfrm>
          <a:off x="2980945" y="4876800"/>
          <a:ext cx="609600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TC2 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TC4 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TC6 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TC2 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TC4 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TC6 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TC2 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TC4 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TC6 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6497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타원 4"/>
          <p:cNvSpPr/>
          <p:nvPr/>
        </p:nvSpPr>
        <p:spPr>
          <a:xfrm>
            <a:off x="4724400" y="1600200"/>
            <a:ext cx="457200" cy="457200"/>
          </a:xfrm>
          <a:prstGeom prst="ellipse">
            <a:avLst/>
          </a:prstGeom>
          <a:solidFill>
            <a:schemeClr val="bg1"/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1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" name="타원 5"/>
          <p:cNvSpPr/>
          <p:nvPr/>
        </p:nvSpPr>
        <p:spPr>
          <a:xfrm>
            <a:off x="4109222" y="3029954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4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7" name="타원 6"/>
          <p:cNvSpPr/>
          <p:nvPr/>
        </p:nvSpPr>
        <p:spPr>
          <a:xfrm>
            <a:off x="1827777" y="3046196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3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" name="타원 7"/>
          <p:cNvSpPr/>
          <p:nvPr/>
        </p:nvSpPr>
        <p:spPr>
          <a:xfrm>
            <a:off x="1837944" y="4622292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7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" name="타원 8"/>
          <p:cNvSpPr/>
          <p:nvPr/>
        </p:nvSpPr>
        <p:spPr>
          <a:xfrm>
            <a:off x="3019925" y="3750221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5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7" name="타원 16"/>
          <p:cNvSpPr/>
          <p:nvPr/>
        </p:nvSpPr>
        <p:spPr>
          <a:xfrm>
            <a:off x="5783580" y="2734056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6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8" name="타원 17"/>
          <p:cNvSpPr/>
          <p:nvPr/>
        </p:nvSpPr>
        <p:spPr>
          <a:xfrm>
            <a:off x="4786174" y="4315097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9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9" name="타원 18"/>
          <p:cNvSpPr/>
          <p:nvPr/>
        </p:nvSpPr>
        <p:spPr>
          <a:xfrm>
            <a:off x="6479771" y="3803904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10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8" name="타원 27"/>
          <p:cNvSpPr/>
          <p:nvPr/>
        </p:nvSpPr>
        <p:spPr>
          <a:xfrm>
            <a:off x="2944368" y="2042160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2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13" name="TextBox 212"/>
          <p:cNvSpPr txBox="1"/>
          <p:nvPr/>
        </p:nvSpPr>
        <p:spPr>
          <a:xfrm>
            <a:off x="3754656" y="175974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cxnSp>
        <p:nvCxnSpPr>
          <p:cNvPr id="142" name="직선 연결선 141"/>
          <p:cNvCxnSpPr/>
          <p:nvPr/>
        </p:nvCxnSpPr>
        <p:spPr>
          <a:xfrm flipV="1">
            <a:off x="2248662" y="2429344"/>
            <a:ext cx="659129" cy="577552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직선 연결선 142"/>
          <p:cNvCxnSpPr/>
          <p:nvPr/>
        </p:nvCxnSpPr>
        <p:spPr>
          <a:xfrm flipV="1">
            <a:off x="2309915" y="2513106"/>
            <a:ext cx="671030" cy="57712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직선 연결선 147"/>
          <p:cNvCxnSpPr/>
          <p:nvPr/>
        </p:nvCxnSpPr>
        <p:spPr>
          <a:xfrm flipV="1">
            <a:off x="1958600" y="3632385"/>
            <a:ext cx="16351" cy="906139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연결선 148"/>
          <p:cNvCxnSpPr/>
          <p:nvPr/>
        </p:nvCxnSpPr>
        <p:spPr>
          <a:xfrm flipV="1">
            <a:off x="2094236" y="3700433"/>
            <a:ext cx="22135" cy="850769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직선 연결선 153"/>
          <p:cNvCxnSpPr/>
          <p:nvPr/>
        </p:nvCxnSpPr>
        <p:spPr>
          <a:xfrm flipH="1" flipV="1">
            <a:off x="2290191" y="3440941"/>
            <a:ext cx="589881" cy="493121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직선 연결선 154"/>
          <p:cNvCxnSpPr/>
          <p:nvPr/>
        </p:nvCxnSpPr>
        <p:spPr>
          <a:xfrm flipH="1" flipV="1">
            <a:off x="2411012" y="3405889"/>
            <a:ext cx="535029" cy="435171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직선 연결선 180"/>
          <p:cNvCxnSpPr/>
          <p:nvPr/>
        </p:nvCxnSpPr>
        <p:spPr>
          <a:xfrm flipV="1">
            <a:off x="3489848" y="3405889"/>
            <a:ext cx="531291" cy="418572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직선 연결선 183"/>
          <p:cNvCxnSpPr/>
          <p:nvPr/>
        </p:nvCxnSpPr>
        <p:spPr>
          <a:xfrm flipH="1">
            <a:off x="3591885" y="3461606"/>
            <a:ext cx="541757" cy="45277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직선 연결선 192"/>
          <p:cNvCxnSpPr/>
          <p:nvPr/>
        </p:nvCxnSpPr>
        <p:spPr>
          <a:xfrm flipH="1" flipV="1">
            <a:off x="6240780" y="3191256"/>
            <a:ext cx="467592" cy="525539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직선 연결선 195"/>
          <p:cNvCxnSpPr/>
          <p:nvPr/>
        </p:nvCxnSpPr>
        <p:spPr>
          <a:xfrm>
            <a:off x="6138151" y="3258554"/>
            <a:ext cx="482138" cy="498317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직선 연결선 205"/>
          <p:cNvCxnSpPr/>
          <p:nvPr/>
        </p:nvCxnSpPr>
        <p:spPr>
          <a:xfrm flipV="1">
            <a:off x="5372419" y="4191658"/>
            <a:ext cx="998239" cy="251131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직선 연결선 209"/>
          <p:cNvCxnSpPr/>
          <p:nvPr/>
        </p:nvCxnSpPr>
        <p:spPr>
          <a:xfrm flipH="1">
            <a:off x="5358830" y="4083509"/>
            <a:ext cx="1025416" cy="26247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직선 연결선 214"/>
          <p:cNvCxnSpPr/>
          <p:nvPr/>
        </p:nvCxnSpPr>
        <p:spPr>
          <a:xfrm>
            <a:off x="4562717" y="3494806"/>
            <a:ext cx="390283" cy="667479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직선 연결선 215"/>
          <p:cNvCxnSpPr/>
          <p:nvPr/>
        </p:nvCxnSpPr>
        <p:spPr>
          <a:xfrm flipH="1" flipV="1">
            <a:off x="4498065" y="3576469"/>
            <a:ext cx="385945" cy="65346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8" name="직선 연결선 287"/>
          <p:cNvCxnSpPr/>
          <p:nvPr/>
        </p:nvCxnSpPr>
        <p:spPr>
          <a:xfrm>
            <a:off x="3588398" y="4092930"/>
            <a:ext cx="1069768" cy="374335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직선 연결선 288"/>
          <p:cNvCxnSpPr/>
          <p:nvPr/>
        </p:nvCxnSpPr>
        <p:spPr>
          <a:xfrm flipH="1" flipV="1">
            <a:off x="3583007" y="4201324"/>
            <a:ext cx="1055897" cy="36998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7" name="직선 연결선 326"/>
          <p:cNvCxnSpPr/>
          <p:nvPr/>
        </p:nvCxnSpPr>
        <p:spPr>
          <a:xfrm flipH="1">
            <a:off x="2316235" y="4180226"/>
            <a:ext cx="692828" cy="47996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직선 연결선 327"/>
          <p:cNvCxnSpPr/>
          <p:nvPr/>
        </p:nvCxnSpPr>
        <p:spPr>
          <a:xfrm flipV="1">
            <a:off x="2357174" y="4284773"/>
            <a:ext cx="671553" cy="468066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3" name="직선 연결선 342"/>
          <p:cNvCxnSpPr/>
          <p:nvPr/>
        </p:nvCxnSpPr>
        <p:spPr>
          <a:xfrm flipH="1">
            <a:off x="5185796" y="3191256"/>
            <a:ext cx="647556" cy="98058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6" name="직선 연결선 345"/>
          <p:cNvCxnSpPr/>
          <p:nvPr/>
        </p:nvCxnSpPr>
        <p:spPr>
          <a:xfrm flipV="1">
            <a:off x="5264887" y="3294615"/>
            <a:ext cx="631711" cy="93531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5" name="TextBox 354"/>
          <p:cNvSpPr txBox="1"/>
          <p:nvPr/>
        </p:nvSpPr>
        <p:spPr>
          <a:xfrm>
            <a:off x="3466615" y="280901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56" name="TextBox 355"/>
          <p:cNvSpPr txBox="1"/>
          <p:nvPr/>
        </p:nvSpPr>
        <p:spPr>
          <a:xfrm>
            <a:off x="3499446" y="3429596"/>
            <a:ext cx="272374" cy="184666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58" name="TextBox 357"/>
          <p:cNvSpPr txBox="1"/>
          <p:nvPr/>
        </p:nvSpPr>
        <p:spPr>
          <a:xfrm>
            <a:off x="1669027" y="4067286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cxnSp>
        <p:nvCxnSpPr>
          <p:cNvPr id="376" name="직선 연결선 375"/>
          <p:cNvCxnSpPr/>
          <p:nvPr/>
        </p:nvCxnSpPr>
        <p:spPr>
          <a:xfrm>
            <a:off x="3094397" y="2613307"/>
            <a:ext cx="29374" cy="107468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9" name="직선 연결선 378"/>
          <p:cNvCxnSpPr/>
          <p:nvPr/>
        </p:nvCxnSpPr>
        <p:spPr>
          <a:xfrm flipH="1" flipV="1">
            <a:off x="3211008" y="2670846"/>
            <a:ext cx="22041" cy="1006909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1" name="TextBox 390"/>
          <p:cNvSpPr txBox="1"/>
          <p:nvPr/>
        </p:nvSpPr>
        <p:spPr>
          <a:xfrm>
            <a:off x="2304551" y="252788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2" name="TextBox 391"/>
          <p:cNvSpPr txBox="1"/>
          <p:nvPr/>
        </p:nvSpPr>
        <p:spPr>
          <a:xfrm>
            <a:off x="2647303" y="287032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93" name="TextBox 392"/>
          <p:cNvSpPr txBox="1"/>
          <p:nvPr/>
        </p:nvSpPr>
        <p:spPr>
          <a:xfrm>
            <a:off x="5543024" y="2162151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5" name="TextBox 394"/>
          <p:cNvSpPr txBox="1"/>
          <p:nvPr/>
        </p:nvSpPr>
        <p:spPr>
          <a:xfrm>
            <a:off x="5675935" y="4001269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6" name="TextBox 395"/>
          <p:cNvSpPr txBox="1"/>
          <p:nvPr/>
        </p:nvSpPr>
        <p:spPr>
          <a:xfrm>
            <a:off x="4795708" y="366133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7" name="TextBox 396"/>
          <p:cNvSpPr txBox="1"/>
          <p:nvPr/>
        </p:nvSpPr>
        <p:spPr>
          <a:xfrm>
            <a:off x="4024292" y="4055547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01" name="TextBox 400"/>
          <p:cNvSpPr txBox="1"/>
          <p:nvPr/>
        </p:nvSpPr>
        <p:spPr>
          <a:xfrm>
            <a:off x="2426180" y="423512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02" name="TextBox 401"/>
          <p:cNvSpPr txBox="1"/>
          <p:nvPr/>
        </p:nvSpPr>
        <p:spPr>
          <a:xfrm>
            <a:off x="2662649" y="453010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03" name="TextBox 402"/>
          <p:cNvSpPr txBox="1"/>
          <p:nvPr/>
        </p:nvSpPr>
        <p:spPr>
          <a:xfrm>
            <a:off x="2168016" y="392886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09" name="TextBox 408"/>
          <p:cNvSpPr txBox="1"/>
          <p:nvPr/>
        </p:nvSpPr>
        <p:spPr>
          <a:xfrm>
            <a:off x="5265964" y="3522842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0.7</a:t>
            </a:r>
            <a:endParaRPr lang="ko-KR" altLang="en-US" sz="1200" dirty="0"/>
          </a:p>
        </p:txBody>
      </p:sp>
      <p:sp>
        <p:nvSpPr>
          <p:cNvPr id="410" name="TextBox 409"/>
          <p:cNvSpPr txBox="1"/>
          <p:nvPr/>
        </p:nvSpPr>
        <p:spPr>
          <a:xfrm>
            <a:off x="5719539" y="3619092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0.7</a:t>
            </a:r>
            <a:endParaRPr lang="ko-KR" altLang="en-US" sz="1200" dirty="0"/>
          </a:p>
        </p:txBody>
      </p:sp>
      <p:sp>
        <p:nvSpPr>
          <p:cNvPr id="420" name="TextBox 419"/>
          <p:cNvSpPr txBox="1"/>
          <p:nvPr/>
        </p:nvSpPr>
        <p:spPr>
          <a:xfrm>
            <a:off x="6479207" y="324886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21" name="TextBox 420"/>
          <p:cNvSpPr txBox="1"/>
          <p:nvPr/>
        </p:nvSpPr>
        <p:spPr>
          <a:xfrm>
            <a:off x="6157772" y="3531778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0" name="TextBox 429"/>
          <p:cNvSpPr txBox="1"/>
          <p:nvPr/>
        </p:nvSpPr>
        <p:spPr>
          <a:xfrm>
            <a:off x="3895656" y="4403969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31" name="TextBox 430"/>
          <p:cNvSpPr txBox="1"/>
          <p:nvPr/>
        </p:nvSpPr>
        <p:spPr>
          <a:xfrm>
            <a:off x="3808889" y="3750073"/>
            <a:ext cx="325830" cy="184666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3" name="TextBox 432"/>
          <p:cNvSpPr txBox="1"/>
          <p:nvPr/>
        </p:nvSpPr>
        <p:spPr>
          <a:xfrm>
            <a:off x="2651054" y="340300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4" name="TextBox 433"/>
          <p:cNvSpPr txBox="1"/>
          <p:nvPr/>
        </p:nvSpPr>
        <p:spPr>
          <a:xfrm>
            <a:off x="2411012" y="37307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5" name="TextBox 434"/>
          <p:cNvSpPr txBox="1"/>
          <p:nvPr/>
        </p:nvSpPr>
        <p:spPr>
          <a:xfrm>
            <a:off x="3282731" y="3097511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6" name="TextBox 435"/>
          <p:cNvSpPr txBox="1"/>
          <p:nvPr/>
        </p:nvSpPr>
        <p:spPr>
          <a:xfrm>
            <a:off x="2820516" y="311759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39" name="TextBox 438"/>
          <p:cNvSpPr txBox="1"/>
          <p:nvPr/>
        </p:nvSpPr>
        <p:spPr>
          <a:xfrm>
            <a:off x="4397479" y="384218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141" name="TextBox 140"/>
          <p:cNvSpPr txBox="1"/>
          <p:nvPr/>
        </p:nvSpPr>
        <p:spPr>
          <a:xfrm>
            <a:off x="546777" y="248342"/>
            <a:ext cx="3355406" cy="523220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altLang="ko-KR" sz="2800" dirty="0"/>
              <a:t>Example Network</a:t>
            </a:r>
            <a:endParaRPr lang="ko-KR" altLang="en-US" sz="2800" dirty="0"/>
          </a:p>
        </p:txBody>
      </p:sp>
      <p:cxnSp>
        <p:nvCxnSpPr>
          <p:cNvPr id="3" name="Straight Connector 2"/>
          <p:cNvCxnSpPr>
            <a:stCxn id="28" idx="6"/>
            <a:endCxn id="5" idx="2"/>
          </p:cNvCxnSpPr>
          <p:nvPr/>
        </p:nvCxnSpPr>
        <p:spPr bwMode="auto">
          <a:xfrm flipV="1">
            <a:off x="3401568" y="1828800"/>
            <a:ext cx="1322832" cy="44196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2" name="Straight Connector 11"/>
          <p:cNvCxnSpPr>
            <a:stCxn id="17" idx="1"/>
            <a:endCxn id="5" idx="5"/>
          </p:cNvCxnSpPr>
          <p:nvPr/>
        </p:nvCxnSpPr>
        <p:spPr bwMode="auto">
          <a:xfrm flipH="1" flipV="1">
            <a:off x="5114645" y="1990445"/>
            <a:ext cx="735890" cy="810566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4" name="Straight Connector 13"/>
          <p:cNvCxnSpPr>
            <a:stCxn id="6" idx="1"/>
            <a:endCxn id="28" idx="5"/>
          </p:cNvCxnSpPr>
          <p:nvPr/>
        </p:nvCxnSpPr>
        <p:spPr bwMode="auto">
          <a:xfrm flipH="1" flipV="1">
            <a:off x="3334613" y="2432405"/>
            <a:ext cx="841564" cy="664504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5791200" y="43434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69" name="TextBox 68"/>
          <p:cNvSpPr txBox="1"/>
          <p:nvPr/>
        </p:nvSpPr>
        <p:spPr>
          <a:xfrm>
            <a:off x="3939328" y="22098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70" name="TextBox 69"/>
          <p:cNvSpPr txBox="1"/>
          <p:nvPr/>
        </p:nvSpPr>
        <p:spPr>
          <a:xfrm>
            <a:off x="5142637" y="1524000"/>
            <a:ext cx="877163" cy="461665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R1 = 1.0</a:t>
            </a:r>
          </a:p>
          <a:p>
            <a:r>
              <a:rPr lang="en-US" sz="1200" dirty="0">
                <a:solidFill>
                  <a:srgbClr val="FF0000"/>
                </a:solidFill>
              </a:rPr>
              <a:t>L1 = 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495800" y="3276600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L4 = 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70967" y="2085201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L2 = 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324600" y="2679412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L6 = 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166567" y="4599801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L9 = 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12011" y="3990201"/>
            <a:ext cx="798617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L10 = 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143000" y="3048000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L3 = 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044680" y="4285425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L5 = 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209800" y="4828401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L7 = 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276719" y="1839037"/>
            <a:ext cx="822661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R2= 0.9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03474" y="2512109"/>
            <a:ext cx="87716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R6 = 0.8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503834" y="3077416"/>
            <a:ext cx="974947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R4 = 0.81</a:t>
            </a:r>
          </a:p>
        </p:txBody>
      </p:sp>
      <p:cxnSp>
        <p:nvCxnSpPr>
          <p:cNvPr id="86" name="직선 연결선 31"/>
          <p:cNvCxnSpPr/>
          <p:nvPr/>
        </p:nvCxnSpPr>
        <p:spPr>
          <a:xfrm flipV="1">
            <a:off x="3505200" y="1752600"/>
            <a:ext cx="1093481" cy="370960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직선 연결선 138"/>
          <p:cNvCxnSpPr/>
          <p:nvPr/>
        </p:nvCxnSpPr>
        <p:spPr>
          <a:xfrm flipV="1">
            <a:off x="3556581" y="1944411"/>
            <a:ext cx="1042100" cy="351285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TextBox 88"/>
          <p:cNvSpPr txBox="1"/>
          <p:nvPr/>
        </p:nvSpPr>
        <p:spPr>
          <a:xfrm>
            <a:off x="5196723" y="241329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cxnSp>
        <p:nvCxnSpPr>
          <p:cNvPr id="90" name="직선 연결선 173"/>
          <p:cNvCxnSpPr/>
          <p:nvPr/>
        </p:nvCxnSpPr>
        <p:spPr>
          <a:xfrm flipH="1" flipV="1">
            <a:off x="5105401" y="2057400"/>
            <a:ext cx="678179" cy="73622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직선 연결선 176"/>
          <p:cNvCxnSpPr/>
          <p:nvPr/>
        </p:nvCxnSpPr>
        <p:spPr>
          <a:xfrm>
            <a:off x="5201222" y="1981200"/>
            <a:ext cx="589978" cy="657947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직선 연결선 160"/>
          <p:cNvCxnSpPr/>
          <p:nvPr/>
        </p:nvCxnSpPr>
        <p:spPr>
          <a:xfrm flipH="1" flipV="1">
            <a:off x="3429000" y="2456616"/>
            <a:ext cx="687467" cy="51518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연결선 164"/>
          <p:cNvCxnSpPr/>
          <p:nvPr/>
        </p:nvCxnSpPr>
        <p:spPr>
          <a:xfrm>
            <a:off x="3368318" y="2560070"/>
            <a:ext cx="638010" cy="48793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TextBox 93"/>
          <p:cNvSpPr txBox="1"/>
          <p:nvPr/>
        </p:nvSpPr>
        <p:spPr>
          <a:xfrm>
            <a:off x="3733800" y="25146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95" name="TextBox 94"/>
          <p:cNvSpPr txBox="1"/>
          <p:nvPr/>
        </p:nvSpPr>
        <p:spPr>
          <a:xfrm>
            <a:off x="37998" y="5290066"/>
            <a:ext cx="2907791" cy="830997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/>
          <a:p>
            <a:r>
              <a:rPr lang="vi-VN" sz="1200" dirty="0"/>
              <a:t>Node 2, 4, 6 after choose the max Rank will send </a:t>
            </a:r>
            <a:r>
              <a:rPr lang="vi-VN" sz="1200" dirty="0">
                <a:solidFill>
                  <a:schemeClr val="accent2"/>
                </a:solidFill>
              </a:rPr>
              <a:t>TREE_BUILDING_RESPONSE to its Parent TR2, TR4, TR6 by unicast </a:t>
            </a:r>
          </a:p>
        </p:txBody>
      </p:sp>
      <p:graphicFrame>
        <p:nvGraphicFramePr>
          <p:cNvPr id="96" name="Table 9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1662880"/>
              </p:ext>
            </p:extLst>
          </p:nvPr>
        </p:nvGraphicFramePr>
        <p:xfrm>
          <a:off x="2980945" y="4876800"/>
          <a:ext cx="609600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TR2 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TR4 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TR6 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23550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타원 4"/>
          <p:cNvSpPr/>
          <p:nvPr/>
        </p:nvSpPr>
        <p:spPr>
          <a:xfrm>
            <a:off x="4724400" y="1600200"/>
            <a:ext cx="457200" cy="457200"/>
          </a:xfrm>
          <a:prstGeom prst="ellipse">
            <a:avLst/>
          </a:prstGeom>
          <a:solidFill>
            <a:schemeClr val="bg1"/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1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" name="타원 5"/>
          <p:cNvSpPr/>
          <p:nvPr/>
        </p:nvSpPr>
        <p:spPr>
          <a:xfrm>
            <a:off x="4109222" y="3029954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4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7" name="타원 6"/>
          <p:cNvSpPr/>
          <p:nvPr/>
        </p:nvSpPr>
        <p:spPr>
          <a:xfrm>
            <a:off x="1827777" y="3046196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3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" name="타원 7"/>
          <p:cNvSpPr/>
          <p:nvPr/>
        </p:nvSpPr>
        <p:spPr>
          <a:xfrm>
            <a:off x="1837944" y="4622292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7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" name="타원 8"/>
          <p:cNvSpPr/>
          <p:nvPr/>
        </p:nvSpPr>
        <p:spPr>
          <a:xfrm>
            <a:off x="3019925" y="3750221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5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7" name="타원 16"/>
          <p:cNvSpPr/>
          <p:nvPr/>
        </p:nvSpPr>
        <p:spPr>
          <a:xfrm>
            <a:off x="5783580" y="2734056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6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8" name="타원 17"/>
          <p:cNvSpPr/>
          <p:nvPr/>
        </p:nvSpPr>
        <p:spPr>
          <a:xfrm>
            <a:off x="4786174" y="4315097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9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9" name="타원 18"/>
          <p:cNvSpPr/>
          <p:nvPr/>
        </p:nvSpPr>
        <p:spPr>
          <a:xfrm>
            <a:off x="6479771" y="3803904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10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8" name="타원 27"/>
          <p:cNvSpPr/>
          <p:nvPr/>
        </p:nvSpPr>
        <p:spPr>
          <a:xfrm>
            <a:off x="2944368" y="2042160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2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13" name="TextBox 212"/>
          <p:cNvSpPr txBox="1"/>
          <p:nvPr/>
        </p:nvSpPr>
        <p:spPr>
          <a:xfrm>
            <a:off x="3754656" y="175974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cxnSp>
        <p:nvCxnSpPr>
          <p:cNvPr id="142" name="직선 연결선 141"/>
          <p:cNvCxnSpPr/>
          <p:nvPr/>
        </p:nvCxnSpPr>
        <p:spPr>
          <a:xfrm flipV="1">
            <a:off x="2248662" y="2429344"/>
            <a:ext cx="659129" cy="577552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직선 연결선 142"/>
          <p:cNvCxnSpPr/>
          <p:nvPr/>
        </p:nvCxnSpPr>
        <p:spPr>
          <a:xfrm flipV="1">
            <a:off x="2309915" y="2513106"/>
            <a:ext cx="671030" cy="577124"/>
          </a:xfrm>
          <a:prstGeom prst="line">
            <a:avLst/>
          </a:prstGeom>
          <a:solidFill>
            <a:schemeClr val="bg1"/>
          </a:solidFill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직선 연결선 147"/>
          <p:cNvCxnSpPr/>
          <p:nvPr/>
        </p:nvCxnSpPr>
        <p:spPr>
          <a:xfrm flipV="1">
            <a:off x="1958600" y="3632385"/>
            <a:ext cx="16351" cy="906139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연결선 148"/>
          <p:cNvCxnSpPr/>
          <p:nvPr/>
        </p:nvCxnSpPr>
        <p:spPr>
          <a:xfrm flipV="1">
            <a:off x="2094236" y="3700433"/>
            <a:ext cx="22135" cy="850769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직선 연결선 153"/>
          <p:cNvCxnSpPr/>
          <p:nvPr/>
        </p:nvCxnSpPr>
        <p:spPr>
          <a:xfrm flipH="1" flipV="1">
            <a:off x="2290191" y="3440941"/>
            <a:ext cx="589881" cy="493121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직선 연결선 154"/>
          <p:cNvCxnSpPr/>
          <p:nvPr/>
        </p:nvCxnSpPr>
        <p:spPr>
          <a:xfrm flipH="1" flipV="1">
            <a:off x="2411012" y="3405889"/>
            <a:ext cx="535029" cy="435171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직선 연결선 180"/>
          <p:cNvCxnSpPr/>
          <p:nvPr/>
        </p:nvCxnSpPr>
        <p:spPr>
          <a:xfrm flipV="1">
            <a:off x="3489848" y="3405889"/>
            <a:ext cx="531291" cy="418572"/>
          </a:xfrm>
          <a:prstGeom prst="line">
            <a:avLst/>
          </a:prstGeom>
          <a:solidFill>
            <a:schemeClr val="bg1"/>
          </a:solidFill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직선 연결선 183"/>
          <p:cNvCxnSpPr/>
          <p:nvPr/>
        </p:nvCxnSpPr>
        <p:spPr>
          <a:xfrm flipH="1">
            <a:off x="3591885" y="3461606"/>
            <a:ext cx="541757" cy="45277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직선 연결선 192"/>
          <p:cNvCxnSpPr/>
          <p:nvPr/>
        </p:nvCxnSpPr>
        <p:spPr>
          <a:xfrm flipH="1" flipV="1">
            <a:off x="6240780" y="3191256"/>
            <a:ext cx="467592" cy="525539"/>
          </a:xfrm>
          <a:prstGeom prst="line">
            <a:avLst/>
          </a:prstGeom>
          <a:solidFill>
            <a:schemeClr val="bg1"/>
          </a:solidFill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직선 연결선 195"/>
          <p:cNvCxnSpPr/>
          <p:nvPr/>
        </p:nvCxnSpPr>
        <p:spPr>
          <a:xfrm>
            <a:off x="6138151" y="3258554"/>
            <a:ext cx="482138" cy="498317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직선 연결선 205"/>
          <p:cNvCxnSpPr/>
          <p:nvPr/>
        </p:nvCxnSpPr>
        <p:spPr>
          <a:xfrm flipV="1">
            <a:off x="5372419" y="4191658"/>
            <a:ext cx="998239" cy="251131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직선 연결선 209"/>
          <p:cNvCxnSpPr/>
          <p:nvPr/>
        </p:nvCxnSpPr>
        <p:spPr>
          <a:xfrm flipH="1">
            <a:off x="5358830" y="4083509"/>
            <a:ext cx="1025416" cy="26247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직선 연결선 214"/>
          <p:cNvCxnSpPr/>
          <p:nvPr/>
        </p:nvCxnSpPr>
        <p:spPr>
          <a:xfrm>
            <a:off x="4562717" y="3494806"/>
            <a:ext cx="390283" cy="667479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직선 연결선 215"/>
          <p:cNvCxnSpPr/>
          <p:nvPr/>
        </p:nvCxnSpPr>
        <p:spPr>
          <a:xfrm flipH="1" flipV="1">
            <a:off x="4498065" y="3576469"/>
            <a:ext cx="385945" cy="653460"/>
          </a:xfrm>
          <a:prstGeom prst="line">
            <a:avLst/>
          </a:prstGeom>
          <a:solidFill>
            <a:schemeClr val="bg1"/>
          </a:solidFill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8" name="직선 연결선 287"/>
          <p:cNvCxnSpPr/>
          <p:nvPr/>
        </p:nvCxnSpPr>
        <p:spPr>
          <a:xfrm>
            <a:off x="3588398" y="4092930"/>
            <a:ext cx="1069768" cy="374335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직선 연결선 288"/>
          <p:cNvCxnSpPr/>
          <p:nvPr/>
        </p:nvCxnSpPr>
        <p:spPr>
          <a:xfrm flipH="1" flipV="1">
            <a:off x="3583007" y="4201324"/>
            <a:ext cx="1055897" cy="36998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7" name="직선 연결선 326"/>
          <p:cNvCxnSpPr/>
          <p:nvPr/>
        </p:nvCxnSpPr>
        <p:spPr>
          <a:xfrm flipH="1">
            <a:off x="2316235" y="4180226"/>
            <a:ext cx="692828" cy="47996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직선 연결선 327"/>
          <p:cNvCxnSpPr/>
          <p:nvPr/>
        </p:nvCxnSpPr>
        <p:spPr>
          <a:xfrm flipV="1">
            <a:off x="2357174" y="4284773"/>
            <a:ext cx="671553" cy="468066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3" name="직선 연결선 342"/>
          <p:cNvCxnSpPr/>
          <p:nvPr/>
        </p:nvCxnSpPr>
        <p:spPr>
          <a:xfrm flipH="1">
            <a:off x="5185796" y="3191256"/>
            <a:ext cx="647556" cy="98058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6" name="직선 연결선 345"/>
          <p:cNvCxnSpPr/>
          <p:nvPr/>
        </p:nvCxnSpPr>
        <p:spPr>
          <a:xfrm flipV="1">
            <a:off x="5264887" y="3294615"/>
            <a:ext cx="631711" cy="935314"/>
          </a:xfrm>
          <a:prstGeom prst="line">
            <a:avLst/>
          </a:prstGeom>
          <a:solidFill>
            <a:schemeClr val="bg1"/>
          </a:solidFill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5" name="TextBox 354"/>
          <p:cNvSpPr txBox="1"/>
          <p:nvPr/>
        </p:nvSpPr>
        <p:spPr>
          <a:xfrm>
            <a:off x="3466615" y="280901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56" name="TextBox 355"/>
          <p:cNvSpPr txBox="1"/>
          <p:nvPr/>
        </p:nvSpPr>
        <p:spPr>
          <a:xfrm>
            <a:off x="3499446" y="3429596"/>
            <a:ext cx="272374" cy="184666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58" name="TextBox 357"/>
          <p:cNvSpPr txBox="1"/>
          <p:nvPr/>
        </p:nvSpPr>
        <p:spPr>
          <a:xfrm>
            <a:off x="1669027" y="4067286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cxnSp>
        <p:nvCxnSpPr>
          <p:cNvPr id="376" name="직선 연결선 375"/>
          <p:cNvCxnSpPr/>
          <p:nvPr/>
        </p:nvCxnSpPr>
        <p:spPr>
          <a:xfrm>
            <a:off x="3094397" y="2613307"/>
            <a:ext cx="29374" cy="107468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9" name="직선 연결선 378"/>
          <p:cNvCxnSpPr/>
          <p:nvPr/>
        </p:nvCxnSpPr>
        <p:spPr>
          <a:xfrm flipH="1" flipV="1">
            <a:off x="3211008" y="2670846"/>
            <a:ext cx="22041" cy="1006909"/>
          </a:xfrm>
          <a:prstGeom prst="line">
            <a:avLst/>
          </a:prstGeom>
          <a:solidFill>
            <a:schemeClr val="bg1"/>
          </a:solidFill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1" name="TextBox 390"/>
          <p:cNvSpPr txBox="1"/>
          <p:nvPr/>
        </p:nvSpPr>
        <p:spPr>
          <a:xfrm>
            <a:off x="2304551" y="252788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2" name="TextBox 391"/>
          <p:cNvSpPr txBox="1"/>
          <p:nvPr/>
        </p:nvSpPr>
        <p:spPr>
          <a:xfrm>
            <a:off x="2647303" y="287032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93" name="TextBox 392"/>
          <p:cNvSpPr txBox="1"/>
          <p:nvPr/>
        </p:nvSpPr>
        <p:spPr>
          <a:xfrm>
            <a:off x="5543024" y="2162151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5" name="TextBox 394"/>
          <p:cNvSpPr txBox="1"/>
          <p:nvPr/>
        </p:nvSpPr>
        <p:spPr>
          <a:xfrm>
            <a:off x="5675935" y="4001269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6" name="TextBox 395"/>
          <p:cNvSpPr txBox="1"/>
          <p:nvPr/>
        </p:nvSpPr>
        <p:spPr>
          <a:xfrm>
            <a:off x="4795708" y="366133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7" name="TextBox 396"/>
          <p:cNvSpPr txBox="1"/>
          <p:nvPr/>
        </p:nvSpPr>
        <p:spPr>
          <a:xfrm>
            <a:off x="4024292" y="4055547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01" name="TextBox 400"/>
          <p:cNvSpPr txBox="1"/>
          <p:nvPr/>
        </p:nvSpPr>
        <p:spPr>
          <a:xfrm>
            <a:off x="2426180" y="423512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02" name="TextBox 401"/>
          <p:cNvSpPr txBox="1"/>
          <p:nvPr/>
        </p:nvSpPr>
        <p:spPr>
          <a:xfrm>
            <a:off x="2662649" y="453010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03" name="TextBox 402"/>
          <p:cNvSpPr txBox="1"/>
          <p:nvPr/>
        </p:nvSpPr>
        <p:spPr>
          <a:xfrm>
            <a:off x="2168016" y="392886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09" name="TextBox 408"/>
          <p:cNvSpPr txBox="1"/>
          <p:nvPr/>
        </p:nvSpPr>
        <p:spPr>
          <a:xfrm>
            <a:off x="5265964" y="3522842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0.7</a:t>
            </a:r>
            <a:endParaRPr lang="ko-KR" altLang="en-US" sz="1200" dirty="0"/>
          </a:p>
        </p:txBody>
      </p:sp>
      <p:sp>
        <p:nvSpPr>
          <p:cNvPr id="410" name="TextBox 409"/>
          <p:cNvSpPr txBox="1"/>
          <p:nvPr/>
        </p:nvSpPr>
        <p:spPr>
          <a:xfrm>
            <a:off x="5719539" y="3619092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0.7</a:t>
            </a:r>
            <a:endParaRPr lang="ko-KR" altLang="en-US" sz="1200" dirty="0"/>
          </a:p>
        </p:txBody>
      </p:sp>
      <p:sp>
        <p:nvSpPr>
          <p:cNvPr id="420" name="TextBox 419"/>
          <p:cNvSpPr txBox="1"/>
          <p:nvPr/>
        </p:nvSpPr>
        <p:spPr>
          <a:xfrm>
            <a:off x="6479207" y="324886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21" name="TextBox 420"/>
          <p:cNvSpPr txBox="1"/>
          <p:nvPr/>
        </p:nvSpPr>
        <p:spPr>
          <a:xfrm>
            <a:off x="6157772" y="3531778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0" name="TextBox 429"/>
          <p:cNvSpPr txBox="1"/>
          <p:nvPr/>
        </p:nvSpPr>
        <p:spPr>
          <a:xfrm>
            <a:off x="3895656" y="4403969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31" name="TextBox 430"/>
          <p:cNvSpPr txBox="1"/>
          <p:nvPr/>
        </p:nvSpPr>
        <p:spPr>
          <a:xfrm>
            <a:off x="3808889" y="3750073"/>
            <a:ext cx="325830" cy="184666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3" name="TextBox 432"/>
          <p:cNvSpPr txBox="1"/>
          <p:nvPr/>
        </p:nvSpPr>
        <p:spPr>
          <a:xfrm>
            <a:off x="2651054" y="340300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4" name="TextBox 433"/>
          <p:cNvSpPr txBox="1"/>
          <p:nvPr/>
        </p:nvSpPr>
        <p:spPr>
          <a:xfrm>
            <a:off x="2411012" y="37307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5" name="TextBox 434"/>
          <p:cNvSpPr txBox="1"/>
          <p:nvPr/>
        </p:nvSpPr>
        <p:spPr>
          <a:xfrm>
            <a:off x="3282731" y="3097511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6" name="TextBox 435"/>
          <p:cNvSpPr txBox="1"/>
          <p:nvPr/>
        </p:nvSpPr>
        <p:spPr>
          <a:xfrm>
            <a:off x="2820516" y="311759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39" name="TextBox 438"/>
          <p:cNvSpPr txBox="1"/>
          <p:nvPr/>
        </p:nvSpPr>
        <p:spPr>
          <a:xfrm>
            <a:off x="4397479" y="384218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141" name="TextBox 140"/>
          <p:cNvSpPr txBox="1"/>
          <p:nvPr/>
        </p:nvSpPr>
        <p:spPr>
          <a:xfrm>
            <a:off x="546777" y="248342"/>
            <a:ext cx="3355406" cy="523220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altLang="ko-KR" sz="2800" dirty="0"/>
              <a:t>Example Network</a:t>
            </a:r>
            <a:endParaRPr lang="ko-KR" altLang="en-US" sz="2800" dirty="0"/>
          </a:p>
        </p:txBody>
      </p:sp>
      <p:cxnSp>
        <p:nvCxnSpPr>
          <p:cNvPr id="3" name="Straight Connector 2"/>
          <p:cNvCxnSpPr>
            <a:stCxn id="28" idx="6"/>
            <a:endCxn id="5" idx="2"/>
          </p:cNvCxnSpPr>
          <p:nvPr/>
        </p:nvCxnSpPr>
        <p:spPr bwMode="auto">
          <a:xfrm flipV="1">
            <a:off x="3401568" y="1828800"/>
            <a:ext cx="1322832" cy="44196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2" name="Straight Connector 11"/>
          <p:cNvCxnSpPr>
            <a:stCxn id="17" idx="1"/>
            <a:endCxn id="5" idx="5"/>
          </p:cNvCxnSpPr>
          <p:nvPr/>
        </p:nvCxnSpPr>
        <p:spPr bwMode="auto">
          <a:xfrm flipH="1" flipV="1">
            <a:off x="5114645" y="1990445"/>
            <a:ext cx="735890" cy="810566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4" name="Straight Connector 13"/>
          <p:cNvCxnSpPr>
            <a:stCxn id="6" idx="1"/>
            <a:endCxn id="28" idx="5"/>
          </p:cNvCxnSpPr>
          <p:nvPr/>
        </p:nvCxnSpPr>
        <p:spPr bwMode="auto">
          <a:xfrm flipH="1" flipV="1">
            <a:off x="3334613" y="2432405"/>
            <a:ext cx="841564" cy="664504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5791200" y="43434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69" name="TextBox 68"/>
          <p:cNvSpPr txBox="1"/>
          <p:nvPr/>
        </p:nvSpPr>
        <p:spPr>
          <a:xfrm>
            <a:off x="3939328" y="22098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70" name="TextBox 69"/>
          <p:cNvSpPr txBox="1"/>
          <p:nvPr/>
        </p:nvSpPr>
        <p:spPr>
          <a:xfrm>
            <a:off x="5142637" y="1524000"/>
            <a:ext cx="877163" cy="461665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R1 = 1.0</a:t>
            </a:r>
          </a:p>
          <a:p>
            <a:r>
              <a:rPr lang="en-US" sz="1200" dirty="0">
                <a:solidFill>
                  <a:srgbClr val="FF0000"/>
                </a:solidFill>
              </a:rPr>
              <a:t>L1 = 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495800" y="3276600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L4 = 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70967" y="2085201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L2 = 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324600" y="2679412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L6 = 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166567" y="4599801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L9 = 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12011" y="3990201"/>
            <a:ext cx="798617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L10 = 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143000" y="3048000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L3 = 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044680" y="4285425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L5 = 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209800" y="4828401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L7 = 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276719" y="1839037"/>
            <a:ext cx="822661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R2= 0.9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03474" y="2512109"/>
            <a:ext cx="87716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R6 = 0.8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503834" y="3077416"/>
            <a:ext cx="974947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R4 = 0.81</a:t>
            </a:r>
          </a:p>
        </p:txBody>
      </p:sp>
      <p:cxnSp>
        <p:nvCxnSpPr>
          <p:cNvPr id="84" name="직선 연결선 31"/>
          <p:cNvCxnSpPr/>
          <p:nvPr/>
        </p:nvCxnSpPr>
        <p:spPr>
          <a:xfrm flipV="1">
            <a:off x="3505200" y="1752600"/>
            <a:ext cx="1093481" cy="370960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직선 연결선 138"/>
          <p:cNvCxnSpPr/>
          <p:nvPr/>
        </p:nvCxnSpPr>
        <p:spPr>
          <a:xfrm flipV="1">
            <a:off x="3556581" y="1944411"/>
            <a:ext cx="1042100" cy="351285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직선 연결선 173"/>
          <p:cNvCxnSpPr/>
          <p:nvPr/>
        </p:nvCxnSpPr>
        <p:spPr>
          <a:xfrm flipH="1" flipV="1">
            <a:off x="5105401" y="2057400"/>
            <a:ext cx="678179" cy="73622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직선 연결선 176"/>
          <p:cNvCxnSpPr/>
          <p:nvPr/>
        </p:nvCxnSpPr>
        <p:spPr>
          <a:xfrm>
            <a:off x="5201222" y="1981200"/>
            <a:ext cx="589978" cy="657947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5196723" y="241329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cxnSp>
        <p:nvCxnSpPr>
          <p:cNvPr id="89" name="직선 연결선 160"/>
          <p:cNvCxnSpPr/>
          <p:nvPr/>
        </p:nvCxnSpPr>
        <p:spPr>
          <a:xfrm flipH="1" flipV="1">
            <a:off x="3429000" y="2456616"/>
            <a:ext cx="687467" cy="51518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직선 연결선 164"/>
          <p:cNvCxnSpPr/>
          <p:nvPr/>
        </p:nvCxnSpPr>
        <p:spPr>
          <a:xfrm>
            <a:off x="3368318" y="2560070"/>
            <a:ext cx="638010" cy="48793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TextBox 90"/>
          <p:cNvSpPr txBox="1"/>
          <p:nvPr/>
        </p:nvSpPr>
        <p:spPr>
          <a:xfrm>
            <a:off x="3733800" y="25146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graphicFrame>
        <p:nvGraphicFramePr>
          <p:cNvPr id="92" name="Table 9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9121924"/>
              </p:ext>
            </p:extLst>
          </p:nvPr>
        </p:nvGraphicFramePr>
        <p:xfrm>
          <a:off x="2980945" y="4876800"/>
          <a:ext cx="609600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rgbClr val="FF0000"/>
                          </a:solidFill>
                        </a:rPr>
                        <a:t>TI2 </a:t>
                      </a:r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rgbClr val="FF0000"/>
                          </a:solidFill>
                        </a:rPr>
                        <a:t>TI4 </a:t>
                      </a:r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rgbClr val="FF0000"/>
                          </a:solidFill>
                        </a:rPr>
                        <a:t>TI6 </a:t>
                      </a:r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rgbClr val="FF0000"/>
                          </a:solidFill>
                        </a:rPr>
                        <a:t>TI2 </a:t>
                      </a:r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rgbClr val="FF0000"/>
                          </a:solidFill>
                        </a:rPr>
                        <a:t>TI4 </a:t>
                      </a:r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rgbClr val="FF0000"/>
                          </a:solidFill>
                        </a:rPr>
                        <a:t>TI6 </a:t>
                      </a:r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rgbClr val="FF0000"/>
                          </a:solidFill>
                        </a:rPr>
                        <a:t>TI2 </a:t>
                      </a:r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rgbClr val="FF0000"/>
                          </a:solidFill>
                        </a:rPr>
                        <a:t>TI4 </a:t>
                      </a:r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rgbClr val="FF0000"/>
                          </a:solidFill>
                        </a:rPr>
                        <a:t>TI6 </a:t>
                      </a:r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" name="Rectangle 1"/>
          <p:cNvSpPr/>
          <p:nvPr/>
        </p:nvSpPr>
        <p:spPr>
          <a:xfrm>
            <a:off x="57976" y="5080337"/>
            <a:ext cx="2841000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vi-VN" sz="1200" dirty="0"/>
              <a:t>Node 2, 4, 6 broadcast</a:t>
            </a:r>
          </a:p>
          <a:p>
            <a:r>
              <a:rPr lang="vi-VN" sz="1200" dirty="0">
                <a:solidFill>
                  <a:srgbClr val="FF0000"/>
                </a:solidFill>
              </a:rPr>
              <a:t>TREE_BUILDING_INIT:</a:t>
            </a:r>
          </a:p>
          <a:p>
            <a:r>
              <a:rPr lang="vi-VN" sz="1200" dirty="0">
                <a:solidFill>
                  <a:srgbClr val="FF0000"/>
                </a:solidFill>
              </a:rPr>
              <a:t>TI2 = (2, 1, 0.9)</a:t>
            </a:r>
          </a:p>
          <a:p>
            <a:r>
              <a:rPr lang="vi-VN" sz="1200" dirty="0">
                <a:solidFill>
                  <a:srgbClr val="FF0000"/>
                </a:solidFill>
              </a:rPr>
              <a:t>TI4 = (4, 2, 0.81)</a:t>
            </a:r>
          </a:p>
          <a:p>
            <a:r>
              <a:rPr lang="vi-VN" sz="1200" dirty="0">
                <a:solidFill>
                  <a:srgbClr val="FF0000"/>
                </a:solidFill>
              </a:rPr>
              <a:t>TI6 = (6, 1, 0.8) </a:t>
            </a:r>
            <a:endParaRPr lang="en-US" sz="1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994307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타원 4"/>
          <p:cNvSpPr/>
          <p:nvPr/>
        </p:nvSpPr>
        <p:spPr>
          <a:xfrm>
            <a:off x="4724400" y="1600200"/>
            <a:ext cx="457200" cy="457200"/>
          </a:xfrm>
          <a:prstGeom prst="ellipse">
            <a:avLst/>
          </a:prstGeom>
          <a:solidFill>
            <a:schemeClr val="bg1"/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1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" name="타원 5"/>
          <p:cNvSpPr/>
          <p:nvPr/>
        </p:nvSpPr>
        <p:spPr>
          <a:xfrm>
            <a:off x="4109222" y="3029954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4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7" name="타원 6"/>
          <p:cNvSpPr/>
          <p:nvPr/>
        </p:nvSpPr>
        <p:spPr>
          <a:xfrm>
            <a:off x="1827777" y="3046196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3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" name="타원 7"/>
          <p:cNvSpPr/>
          <p:nvPr/>
        </p:nvSpPr>
        <p:spPr>
          <a:xfrm>
            <a:off x="1837944" y="4622292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7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" name="타원 8"/>
          <p:cNvSpPr/>
          <p:nvPr/>
        </p:nvSpPr>
        <p:spPr>
          <a:xfrm>
            <a:off x="3019925" y="3750221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5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7" name="타원 16"/>
          <p:cNvSpPr/>
          <p:nvPr/>
        </p:nvSpPr>
        <p:spPr>
          <a:xfrm>
            <a:off x="5783580" y="2734056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6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8" name="타원 17"/>
          <p:cNvSpPr/>
          <p:nvPr/>
        </p:nvSpPr>
        <p:spPr>
          <a:xfrm>
            <a:off x="4786174" y="4315097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9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9" name="타원 18"/>
          <p:cNvSpPr/>
          <p:nvPr/>
        </p:nvSpPr>
        <p:spPr>
          <a:xfrm>
            <a:off x="6479771" y="3803904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10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8" name="타원 27"/>
          <p:cNvSpPr/>
          <p:nvPr/>
        </p:nvSpPr>
        <p:spPr>
          <a:xfrm>
            <a:off x="2944368" y="2042160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2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13" name="TextBox 212"/>
          <p:cNvSpPr txBox="1"/>
          <p:nvPr/>
        </p:nvSpPr>
        <p:spPr>
          <a:xfrm>
            <a:off x="3754656" y="175974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cxnSp>
        <p:nvCxnSpPr>
          <p:cNvPr id="142" name="직선 연결선 141"/>
          <p:cNvCxnSpPr/>
          <p:nvPr/>
        </p:nvCxnSpPr>
        <p:spPr>
          <a:xfrm flipV="1">
            <a:off x="2248662" y="2429344"/>
            <a:ext cx="659129" cy="577552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직선 연결선 142"/>
          <p:cNvCxnSpPr/>
          <p:nvPr/>
        </p:nvCxnSpPr>
        <p:spPr>
          <a:xfrm flipV="1">
            <a:off x="2309915" y="2513106"/>
            <a:ext cx="671030" cy="577124"/>
          </a:xfrm>
          <a:prstGeom prst="line">
            <a:avLst/>
          </a:prstGeom>
          <a:solidFill>
            <a:schemeClr val="bg1"/>
          </a:solidFill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직선 연결선 147"/>
          <p:cNvCxnSpPr/>
          <p:nvPr/>
        </p:nvCxnSpPr>
        <p:spPr>
          <a:xfrm flipV="1">
            <a:off x="1958600" y="3632385"/>
            <a:ext cx="16351" cy="906139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연결선 148"/>
          <p:cNvCxnSpPr/>
          <p:nvPr/>
        </p:nvCxnSpPr>
        <p:spPr>
          <a:xfrm flipV="1">
            <a:off x="2094236" y="3700433"/>
            <a:ext cx="22135" cy="850769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직선 연결선 153"/>
          <p:cNvCxnSpPr/>
          <p:nvPr/>
        </p:nvCxnSpPr>
        <p:spPr>
          <a:xfrm flipH="1" flipV="1">
            <a:off x="2290191" y="3440941"/>
            <a:ext cx="589881" cy="493121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직선 연결선 154"/>
          <p:cNvCxnSpPr/>
          <p:nvPr/>
        </p:nvCxnSpPr>
        <p:spPr>
          <a:xfrm flipH="1" flipV="1">
            <a:off x="2411012" y="3405889"/>
            <a:ext cx="535029" cy="435171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직선 연결선 180"/>
          <p:cNvCxnSpPr/>
          <p:nvPr/>
        </p:nvCxnSpPr>
        <p:spPr>
          <a:xfrm flipV="1">
            <a:off x="3489848" y="3405889"/>
            <a:ext cx="531291" cy="418572"/>
          </a:xfrm>
          <a:prstGeom prst="line">
            <a:avLst/>
          </a:prstGeom>
          <a:solidFill>
            <a:schemeClr val="bg1"/>
          </a:solidFill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직선 연결선 183"/>
          <p:cNvCxnSpPr/>
          <p:nvPr/>
        </p:nvCxnSpPr>
        <p:spPr>
          <a:xfrm flipH="1">
            <a:off x="3591885" y="3461606"/>
            <a:ext cx="541757" cy="45277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직선 연결선 192"/>
          <p:cNvCxnSpPr/>
          <p:nvPr/>
        </p:nvCxnSpPr>
        <p:spPr>
          <a:xfrm flipH="1" flipV="1">
            <a:off x="6240780" y="3191256"/>
            <a:ext cx="467592" cy="525539"/>
          </a:xfrm>
          <a:prstGeom prst="line">
            <a:avLst/>
          </a:prstGeom>
          <a:solidFill>
            <a:schemeClr val="bg1"/>
          </a:solidFill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직선 연결선 195"/>
          <p:cNvCxnSpPr/>
          <p:nvPr/>
        </p:nvCxnSpPr>
        <p:spPr>
          <a:xfrm>
            <a:off x="6138151" y="3258554"/>
            <a:ext cx="482138" cy="498317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직선 연결선 205"/>
          <p:cNvCxnSpPr/>
          <p:nvPr/>
        </p:nvCxnSpPr>
        <p:spPr>
          <a:xfrm flipV="1">
            <a:off x="5372419" y="4191658"/>
            <a:ext cx="998239" cy="251131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직선 연결선 209"/>
          <p:cNvCxnSpPr/>
          <p:nvPr/>
        </p:nvCxnSpPr>
        <p:spPr>
          <a:xfrm flipH="1">
            <a:off x="5358830" y="4083509"/>
            <a:ext cx="1025416" cy="26247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직선 연결선 214"/>
          <p:cNvCxnSpPr/>
          <p:nvPr/>
        </p:nvCxnSpPr>
        <p:spPr>
          <a:xfrm>
            <a:off x="4562717" y="3494806"/>
            <a:ext cx="390283" cy="667479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직선 연결선 215"/>
          <p:cNvCxnSpPr/>
          <p:nvPr/>
        </p:nvCxnSpPr>
        <p:spPr>
          <a:xfrm flipH="1" flipV="1">
            <a:off x="4498065" y="3576469"/>
            <a:ext cx="385945" cy="653460"/>
          </a:xfrm>
          <a:prstGeom prst="line">
            <a:avLst/>
          </a:prstGeom>
          <a:solidFill>
            <a:schemeClr val="bg1"/>
          </a:solidFill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8" name="직선 연결선 287"/>
          <p:cNvCxnSpPr/>
          <p:nvPr/>
        </p:nvCxnSpPr>
        <p:spPr>
          <a:xfrm>
            <a:off x="3588398" y="4092930"/>
            <a:ext cx="1069768" cy="374335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직선 연결선 288"/>
          <p:cNvCxnSpPr/>
          <p:nvPr/>
        </p:nvCxnSpPr>
        <p:spPr>
          <a:xfrm flipH="1" flipV="1">
            <a:off x="3583007" y="4201324"/>
            <a:ext cx="1055897" cy="36998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7" name="직선 연결선 326"/>
          <p:cNvCxnSpPr/>
          <p:nvPr/>
        </p:nvCxnSpPr>
        <p:spPr>
          <a:xfrm flipH="1">
            <a:off x="2316235" y="4180226"/>
            <a:ext cx="692828" cy="47996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직선 연결선 327"/>
          <p:cNvCxnSpPr/>
          <p:nvPr/>
        </p:nvCxnSpPr>
        <p:spPr>
          <a:xfrm flipV="1">
            <a:off x="2357174" y="4284773"/>
            <a:ext cx="671553" cy="468066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3" name="직선 연결선 342"/>
          <p:cNvCxnSpPr/>
          <p:nvPr/>
        </p:nvCxnSpPr>
        <p:spPr>
          <a:xfrm flipH="1">
            <a:off x="5185796" y="3191256"/>
            <a:ext cx="647556" cy="98058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6" name="직선 연결선 345"/>
          <p:cNvCxnSpPr/>
          <p:nvPr/>
        </p:nvCxnSpPr>
        <p:spPr>
          <a:xfrm flipV="1">
            <a:off x="5264887" y="3294615"/>
            <a:ext cx="631711" cy="935314"/>
          </a:xfrm>
          <a:prstGeom prst="line">
            <a:avLst/>
          </a:prstGeom>
          <a:solidFill>
            <a:schemeClr val="bg1"/>
          </a:solidFill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5" name="TextBox 354"/>
          <p:cNvSpPr txBox="1"/>
          <p:nvPr/>
        </p:nvSpPr>
        <p:spPr>
          <a:xfrm>
            <a:off x="3466615" y="280901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56" name="TextBox 355"/>
          <p:cNvSpPr txBox="1"/>
          <p:nvPr/>
        </p:nvSpPr>
        <p:spPr>
          <a:xfrm>
            <a:off x="3499446" y="3429596"/>
            <a:ext cx="272374" cy="184666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58" name="TextBox 357"/>
          <p:cNvSpPr txBox="1"/>
          <p:nvPr/>
        </p:nvSpPr>
        <p:spPr>
          <a:xfrm>
            <a:off x="1669027" y="4067286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cxnSp>
        <p:nvCxnSpPr>
          <p:cNvPr id="376" name="직선 연결선 375"/>
          <p:cNvCxnSpPr/>
          <p:nvPr/>
        </p:nvCxnSpPr>
        <p:spPr>
          <a:xfrm>
            <a:off x="3094397" y="2613307"/>
            <a:ext cx="29374" cy="107468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9" name="직선 연결선 378"/>
          <p:cNvCxnSpPr/>
          <p:nvPr/>
        </p:nvCxnSpPr>
        <p:spPr>
          <a:xfrm flipH="1" flipV="1">
            <a:off x="3211008" y="2670846"/>
            <a:ext cx="22041" cy="1006909"/>
          </a:xfrm>
          <a:prstGeom prst="line">
            <a:avLst/>
          </a:prstGeom>
          <a:solidFill>
            <a:schemeClr val="bg1"/>
          </a:solidFill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1" name="TextBox 390"/>
          <p:cNvSpPr txBox="1"/>
          <p:nvPr/>
        </p:nvSpPr>
        <p:spPr>
          <a:xfrm>
            <a:off x="2304551" y="252788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2" name="TextBox 391"/>
          <p:cNvSpPr txBox="1"/>
          <p:nvPr/>
        </p:nvSpPr>
        <p:spPr>
          <a:xfrm>
            <a:off x="2647303" y="287032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93" name="TextBox 392"/>
          <p:cNvSpPr txBox="1"/>
          <p:nvPr/>
        </p:nvSpPr>
        <p:spPr>
          <a:xfrm>
            <a:off x="5543024" y="2162151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5" name="TextBox 394"/>
          <p:cNvSpPr txBox="1"/>
          <p:nvPr/>
        </p:nvSpPr>
        <p:spPr>
          <a:xfrm>
            <a:off x="5675935" y="4001269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6" name="TextBox 395"/>
          <p:cNvSpPr txBox="1"/>
          <p:nvPr/>
        </p:nvSpPr>
        <p:spPr>
          <a:xfrm>
            <a:off x="4795708" y="366133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7" name="TextBox 396"/>
          <p:cNvSpPr txBox="1"/>
          <p:nvPr/>
        </p:nvSpPr>
        <p:spPr>
          <a:xfrm>
            <a:off x="4024292" y="4055547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01" name="TextBox 400"/>
          <p:cNvSpPr txBox="1"/>
          <p:nvPr/>
        </p:nvSpPr>
        <p:spPr>
          <a:xfrm>
            <a:off x="2426180" y="423512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02" name="TextBox 401"/>
          <p:cNvSpPr txBox="1"/>
          <p:nvPr/>
        </p:nvSpPr>
        <p:spPr>
          <a:xfrm>
            <a:off x="2662649" y="453010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03" name="TextBox 402"/>
          <p:cNvSpPr txBox="1"/>
          <p:nvPr/>
        </p:nvSpPr>
        <p:spPr>
          <a:xfrm>
            <a:off x="2168016" y="392886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09" name="TextBox 408"/>
          <p:cNvSpPr txBox="1"/>
          <p:nvPr/>
        </p:nvSpPr>
        <p:spPr>
          <a:xfrm>
            <a:off x="5265964" y="3522842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0.7</a:t>
            </a:r>
            <a:endParaRPr lang="ko-KR" altLang="en-US" sz="1200" dirty="0"/>
          </a:p>
        </p:txBody>
      </p:sp>
      <p:sp>
        <p:nvSpPr>
          <p:cNvPr id="410" name="TextBox 409"/>
          <p:cNvSpPr txBox="1"/>
          <p:nvPr/>
        </p:nvSpPr>
        <p:spPr>
          <a:xfrm>
            <a:off x="5719539" y="3619092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0.7</a:t>
            </a:r>
            <a:endParaRPr lang="ko-KR" altLang="en-US" sz="1200" dirty="0"/>
          </a:p>
        </p:txBody>
      </p:sp>
      <p:sp>
        <p:nvSpPr>
          <p:cNvPr id="420" name="TextBox 419"/>
          <p:cNvSpPr txBox="1"/>
          <p:nvPr/>
        </p:nvSpPr>
        <p:spPr>
          <a:xfrm>
            <a:off x="6479207" y="324886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21" name="TextBox 420"/>
          <p:cNvSpPr txBox="1"/>
          <p:nvPr/>
        </p:nvSpPr>
        <p:spPr>
          <a:xfrm>
            <a:off x="6157772" y="3531778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0" name="TextBox 429"/>
          <p:cNvSpPr txBox="1"/>
          <p:nvPr/>
        </p:nvSpPr>
        <p:spPr>
          <a:xfrm>
            <a:off x="3895656" y="4403969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31" name="TextBox 430"/>
          <p:cNvSpPr txBox="1"/>
          <p:nvPr/>
        </p:nvSpPr>
        <p:spPr>
          <a:xfrm>
            <a:off x="3808889" y="3750073"/>
            <a:ext cx="325830" cy="184666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3" name="TextBox 432"/>
          <p:cNvSpPr txBox="1"/>
          <p:nvPr/>
        </p:nvSpPr>
        <p:spPr>
          <a:xfrm>
            <a:off x="2651054" y="340300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4" name="TextBox 433"/>
          <p:cNvSpPr txBox="1"/>
          <p:nvPr/>
        </p:nvSpPr>
        <p:spPr>
          <a:xfrm>
            <a:off x="2411012" y="37307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5" name="TextBox 434"/>
          <p:cNvSpPr txBox="1"/>
          <p:nvPr/>
        </p:nvSpPr>
        <p:spPr>
          <a:xfrm>
            <a:off x="3282731" y="3097511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6" name="TextBox 435"/>
          <p:cNvSpPr txBox="1"/>
          <p:nvPr/>
        </p:nvSpPr>
        <p:spPr>
          <a:xfrm>
            <a:off x="2820516" y="311759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39" name="TextBox 438"/>
          <p:cNvSpPr txBox="1"/>
          <p:nvPr/>
        </p:nvSpPr>
        <p:spPr>
          <a:xfrm>
            <a:off x="4397479" y="384218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141" name="TextBox 140"/>
          <p:cNvSpPr txBox="1"/>
          <p:nvPr/>
        </p:nvSpPr>
        <p:spPr>
          <a:xfrm>
            <a:off x="546777" y="248342"/>
            <a:ext cx="3355406" cy="523220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altLang="ko-KR" sz="2800" dirty="0"/>
              <a:t>Example Network</a:t>
            </a:r>
            <a:endParaRPr lang="ko-KR" altLang="en-US" sz="2800" dirty="0"/>
          </a:p>
        </p:txBody>
      </p:sp>
      <p:cxnSp>
        <p:nvCxnSpPr>
          <p:cNvPr id="3" name="Straight Connector 2"/>
          <p:cNvCxnSpPr>
            <a:stCxn id="28" idx="6"/>
            <a:endCxn id="5" idx="2"/>
          </p:cNvCxnSpPr>
          <p:nvPr/>
        </p:nvCxnSpPr>
        <p:spPr bwMode="auto">
          <a:xfrm flipV="1">
            <a:off x="3401568" y="1828800"/>
            <a:ext cx="1322832" cy="44196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2" name="Straight Connector 11"/>
          <p:cNvCxnSpPr>
            <a:stCxn id="17" idx="1"/>
            <a:endCxn id="5" idx="5"/>
          </p:cNvCxnSpPr>
          <p:nvPr/>
        </p:nvCxnSpPr>
        <p:spPr bwMode="auto">
          <a:xfrm flipH="1" flipV="1">
            <a:off x="5114645" y="1990445"/>
            <a:ext cx="735890" cy="810566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4" name="Straight Connector 13"/>
          <p:cNvCxnSpPr>
            <a:stCxn id="6" idx="1"/>
            <a:endCxn id="28" idx="5"/>
          </p:cNvCxnSpPr>
          <p:nvPr/>
        </p:nvCxnSpPr>
        <p:spPr bwMode="auto">
          <a:xfrm flipH="1" flipV="1">
            <a:off x="3334613" y="2432405"/>
            <a:ext cx="841564" cy="664504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228600" y="2743200"/>
            <a:ext cx="2154757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R3= 0.9*0.8 = 0.72(</a:t>
            </a:r>
            <a:r>
              <a:rPr lang="vi-VN" sz="1200" dirty="0">
                <a:solidFill>
                  <a:srgbClr val="FF0000"/>
                </a:solidFill>
              </a:rPr>
              <a:t>TI2</a:t>
            </a:r>
            <a:r>
              <a:rPr lang="en-US" sz="1200" dirty="0">
                <a:solidFill>
                  <a:srgbClr val="FF0000"/>
                </a:solidFill>
              </a:rPr>
              <a:t>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903042" y="4233821"/>
            <a:ext cx="2307042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R10 = 0.8*0.9 = 0.72(</a:t>
            </a:r>
            <a:r>
              <a:rPr lang="vi-VN" sz="1200" dirty="0">
                <a:solidFill>
                  <a:srgbClr val="FF0000"/>
                </a:solidFill>
              </a:rPr>
              <a:t>TI6</a:t>
            </a:r>
            <a:r>
              <a:rPr lang="en-US" sz="1200" dirty="0">
                <a:solidFill>
                  <a:srgbClr val="FF0000"/>
                </a:solidFill>
              </a:rPr>
              <a:t>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160239" y="4858646"/>
            <a:ext cx="2209259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R9 = 0.8*0.7 = 0.56(</a:t>
            </a:r>
            <a:r>
              <a:rPr lang="vi-VN" sz="1200" dirty="0">
                <a:solidFill>
                  <a:srgbClr val="FF0000"/>
                </a:solidFill>
              </a:rPr>
              <a:t>TI6</a:t>
            </a:r>
            <a:r>
              <a:rPr lang="en-US" sz="1200" dirty="0">
                <a:solidFill>
                  <a:srgbClr val="FF0000"/>
                </a:solidFill>
              </a:rPr>
              <a:t>)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791200" y="43434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73" name="TextBox 72"/>
          <p:cNvSpPr txBox="1"/>
          <p:nvPr/>
        </p:nvSpPr>
        <p:spPr>
          <a:xfrm>
            <a:off x="3939328" y="22098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74" name="TextBox 73"/>
          <p:cNvSpPr txBox="1"/>
          <p:nvPr/>
        </p:nvSpPr>
        <p:spPr>
          <a:xfrm>
            <a:off x="5142637" y="1524000"/>
            <a:ext cx="877163" cy="461665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R1 = 1.0</a:t>
            </a:r>
          </a:p>
          <a:p>
            <a:r>
              <a:rPr lang="en-US" sz="1200" dirty="0">
                <a:solidFill>
                  <a:srgbClr val="FF0000"/>
                </a:solidFill>
              </a:rPr>
              <a:t>L1 = 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495800" y="3276600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L4 = 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270967" y="2085201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L2 = 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24600" y="2679412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L6 = 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166567" y="4599801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L9 = 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912011" y="3990201"/>
            <a:ext cx="798617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L10 = 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143000" y="3048000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L3 = 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044680" y="4285425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L5 = 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209800" y="4828401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L7 = 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276719" y="1839037"/>
            <a:ext cx="822661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R2= 0.9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03474" y="2512109"/>
            <a:ext cx="87716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R6 = 0.8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503834" y="3077416"/>
            <a:ext cx="974947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R4 = 0.81</a:t>
            </a:r>
          </a:p>
        </p:txBody>
      </p:sp>
      <p:cxnSp>
        <p:nvCxnSpPr>
          <p:cNvPr id="88" name="직선 연결선 31"/>
          <p:cNvCxnSpPr/>
          <p:nvPr/>
        </p:nvCxnSpPr>
        <p:spPr>
          <a:xfrm flipV="1">
            <a:off x="3505200" y="1752600"/>
            <a:ext cx="1093481" cy="370960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연결선 138"/>
          <p:cNvCxnSpPr/>
          <p:nvPr/>
        </p:nvCxnSpPr>
        <p:spPr>
          <a:xfrm flipV="1">
            <a:off x="3556581" y="1944411"/>
            <a:ext cx="1042100" cy="351285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직선 연결선 173"/>
          <p:cNvCxnSpPr/>
          <p:nvPr/>
        </p:nvCxnSpPr>
        <p:spPr>
          <a:xfrm flipH="1" flipV="1">
            <a:off x="5105401" y="2057400"/>
            <a:ext cx="678179" cy="73622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직선 연결선 176"/>
          <p:cNvCxnSpPr/>
          <p:nvPr/>
        </p:nvCxnSpPr>
        <p:spPr>
          <a:xfrm>
            <a:off x="5201222" y="1981200"/>
            <a:ext cx="589978" cy="657947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직선 연결선 160"/>
          <p:cNvCxnSpPr/>
          <p:nvPr/>
        </p:nvCxnSpPr>
        <p:spPr>
          <a:xfrm flipH="1" flipV="1">
            <a:off x="3429000" y="2456616"/>
            <a:ext cx="687467" cy="51518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연결선 164"/>
          <p:cNvCxnSpPr/>
          <p:nvPr/>
        </p:nvCxnSpPr>
        <p:spPr>
          <a:xfrm>
            <a:off x="3368318" y="2560070"/>
            <a:ext cx="638010" cy="48793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TextBox 93"/>
          <p:cNvSpPr txBox="1"/>
          <p:nvPr/>
        </p:nvSpPr>
        <p:spPr>
          <a:xfrm>
            <a:off x="5196723" y="241329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95" name="TextBox 94"/>
          <p:cNvSpPr txBox="1"/>
          <p:nvPr/>
        </p:nvSpPr>
        <p:spPr>
          <a:xfrm>
            <a:off x="3733800" y="25146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2" name="Rectangle 1"/>
          <p:cNvSpPr/>
          <p:nvPr/>
        </p:nvSpPr>
        <p:spPr>
          <a:xfrm>
            <a:off x="3048541" y="4800600"/>
            <a:ext cx="2209259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R5 = 0.9*0.8 = 0.72(</a:t>
            </a:r>
            <a:r>
              <a:rPr lang="vi-VN" sz="1200" dirty="0">
                <a:solidFill>
                  <a:srgbClr val="FF0000"/>
                </a:solidFill>
              </a:rPr>
              <a:t>TI2</a:t>
            </a:r>
            <a:r>
              <a:rPr lang="en-US" sz="1200" dirty="0">
                <a:solidFill>
                  <a:srgbClr val="FF0000"/>
                </a:solidFill>
              </a:rPr>
              <a:t>)</a:t>
            </a:r>
          </a:p>
        </p:txBody>
      </p:sp>
      <p:graphicFrame>
        <p:nvGraphicFramePr>
          <p:cNvPr id="96" name="Table 9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6896499"/>
              </p:ext>
            </p:extLst>
          </p:nvPr>
        </p:nvGraphicFramePr>
        <p:xfrm>
          <a:off x="2980945" y="5181600"/>
          <a:ext cx="609600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rgbClr val="FF0000"/>
                          </a:solidFill>
                        </a:rPr>
                        <a:t>TI2 </a:t>
                      </a:r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rgbClr val="FF0000"/>
                          </a:solidFill>
                        </a:rPr>
                        <a:t>TI4 </a:t>
                      </a:r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rgbClr val="FF0000"/>
                          </a:solidFill>
                        </a:rPr>
                        <a:t>TI6 </a:t>
                      </a:r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rgbClr val="FF0000"/>
                          </a:solidFill>
                        </a:rPr>
                        <a:t>TI2 </a:t>
                      </a:r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rgbClr val="FF0000"/>
                          </a:solidFill>
                        </a:rPr>
                        <a:t>TI4 </a:t>
                      </a:r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rgbClr val="FF0000"/>
                          </a:solidFill>
                        </a:rPr>
                        <a:t>TI6 </a:t>
                      </a:r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rgbClr val="FF0000"/>
                          </a:solidFill>
                        </a:rPr>
                        <a:t>TI2 </a:t>
                      </a:r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rgbClr val="FF0000"/>
                          </a:solidFill>
                        </a:rPr>
                        <a:t>TI4 </a:t>
                      </a:r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rgbClr val="FF0000"/>
                          </a:solidFill>
                        </a:rPr>
                        <a:t>TI6 </a:t>
                      </a:r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7" name="Rectangle 96"/>
          <p:cNvSpPr/>
          <p:nvPr/>
        </p:nvSpPr>
        <p:spPr>
          <a:xfrm>
            <a:off x="57976" y="5080337"/>
            <a:ext cx="28410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vi-VN" sz="1200" dirty="0"/>
              <a:t>Node 3, 5, 9, 10 has init Level is 2 so it only calculate Rank from </a:t>
            </a:r>
            <a:r>
              <a:rPr lang="vi-VN" sz="1200" dirty="0">
                <a:solidFill>
                  <a:srgbClr val="FF0000"/>
                </a:solidFill>
              </a:rPr>
              <a:t>TI2, TI6 (Lower Level)</a:t>
            </a:r>
            <a:endParaRPr lang="en-US" sz="1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680920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타원 4"/>
          <p:cNvSpPr/>
          <p:nvPr/>
        </p:nvSpPr>
        <p:spPr>
          <a:xfrm>
            <a:off x="4724400" y="1600200"/>
            <a:ext cx="457200" cy="457200"/>
          </a:xfrm>
          <a:prstGeom prst="ellipse">
            <a:avLst/>
          </a:prstGeom>
          <a:solidFill>
            <a:schemeClr val="bg1"/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1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" name="타원 5"/>
          <p:cNvSpPr/>
          <p:nvPr/>
        </p:nvSpPr>
        <p:spPr>
          <a:xfrm>
            <a:off x="4109222" y="3029954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4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7" name="타원 6"/>
          <p:cNvSpPr/>
          <p:nvPr/>
        </p:nvSpPr>
        <p:spPr>
          <a:xfrm>
            <a:off x="1827777" y="3046196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3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" name="타원 7"/>
          <p:cNvSpPr/>
          <p:nvPr/>
        </p:nvSpPr>
        <p:spPr>
          <a:xfrm>
            <a:off x="1837944" y="4622292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7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" name="타원 8"/>
          <p:cNvSpPr/>
          <p:nvPr/>
        </p:nvSpPr>
        <p:spPr>
          <a:xfrm>
            <a:off x="3019925" y="3750221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5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7" name="타원 16"/>
          <p:cNvSpPr/>
          <p:nvPr/>
        </p:nvSpPr>
        <p:spPr>
          <a:xfrm>
            <a:off x="5783580" y="2734056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6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8" name="타원 17"/>
          <p:cNvSpPr/>
          <p:nvPr/>
        </p:nvSpPr>
        <p:spPr>
          <a:xfrm>
            <a:off x="4786174" y="4315097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9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9" name="타원 18"/>
          <p:cNvSpPr/>
          <p:nvPr/>
        </p:nvSpPr>
        <p:spPr>
          <a:xfrm>
            <a:off x="6479771" y="3803904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10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8" name="타원 27"/>
          <p:cNvSpPr/>
          <p:nvPr/>
        </p:nvSpPr>
        <p:spPr>
          <a:xfrm>
            <a:off x="2944368" y="2042160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2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13" name="TextBox 212"/>
          <p:cNvSpPr txBox="1"/>
          <p:nvPr/>
        </p:nvSpPr>
        <p:spPr>
          <a:xfrm>
            <a:off x="3754656" y="175974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cxnSp>
        <p:nvCxnSpPr>
          <p:cNvPr id="142" name="직선 연결선 141"/>
          <p:cNvCxnSpPr/>
          <p:nvPr/>
        </p:nvCxnSpPr>
        <p:spPr>
          <a:xfrm flipV="1">
            <a:off x="2248662" y="2429344"/>
            <a:ext cx="659129" cy="577552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직선 연결선 142"/>
          <p:cNvCxnSpPr/>
          <p:nvPr/>
        </p:nvCxnSpPr>
        <p:spPr>
          <a:xfrm flipV="1">
            <a:off x="2309915" y="2513106"/>
            <a:ext cx="671030" cy="577124"/>
          </a:xfrm>
          <a:prstGeom prst="line">
            <a:avLst/>
          </a:prstGeom>
          <a:solidFill>
            <a:schemeClr val="bg1"/>
          </a:solidFill>
          <a:ln>
            <a:solidFill>
              <a:schemeClr val="accent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직선 연결선 147"/>
          <p:cNvCxnSpPr/>
          <p:nvPr/>
        </p:nvCxnSpPr>
        <p:spPr>
          <a:xfrm flipV="1">
            <a:off x="1958600" y="3632385"/>
            <a:ext cx="16351" cy="906139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연결선 148"/>
          <p:cNvCxnSpPr/>
          <p:nvPr/>
        </p:nvCxnSpPr>
        <p:spPr>
          <a:xfrm flipV="1">
            <a:off x="2094236" y="3700433"/>
            <a:ext cx="22135" cy="850769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직선 연결선 153"/>
          <p:cNvCxnSpPr/>
          <p:nvPr/>
        </p:nvCxnSpPr>
        <p:spPr>
          <a:xfrm flipH="1" flipV="1">
            <a:off x="2290191" y="3440941"/>
            <a:ext cx="589881" cy="493121"/>
          </a:xfrm>
          <a:prstGeom prst="line">
            <a:avLst/>
          </a:prstGeom>
          <a:solidFill>
            <a:schemeClr val="bg1"/>
          </a:solidFill>
          <a:ln>
            <a:solidFill>
              <a:schemeClr val="accent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직선 연결선 154"/>
          <p:cNvCxnSpPr/>
          <p:nvPr/>
        </p:nvCxnSpPr>
        <p:spPr>
          <a:xfrm flipH="1" flipV="1">
            <a:off x="2411012" y="3405889"/>
            <a:ext cx="535029" cy="435171"/>
          </a:xfrm>
          <a:prstGeom prst="line">
            <a:avLst/>
          </a:prstGeom>
          <a:solidFill>
            <a:schemeClr val="bg1"/>
          </a:solidFill>
          <a:ln>
            <a:solidFill>
              <a:schemeClr val="accent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직선 연결선 180"/>
          <p:cNvCxnSpPr/>
          <p:nvPr/>
        </p:nvCxnSpPr>
        <p:spPr>
          <a:xfrm flipV="1">
            <a:off x="3489848" y="3405889"/>
            <a:ext cx="531291" cy="418572"/>
          </a:xfrm>
          <a:prstGeom prst="line">
            <a:avLst/>
          </a:prstGeom>
          <a:solidFill>
            <a:schemeClr val="bg1"/>
          </a:solidFill>
          <a:ln>
            <a:solidFill>
              <a:schemeClr val="accent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직선 연결선 183"/>
          <p:cNvCxnSpPr/>
          <p:nvPr/>
        </p:nvCxnSpPr>
        <p:spPr>
          <a:xfrm flipH="1">
            <a:off x="3591885" y="3461606"/>
            <a:ext cx="541757" cy="452770"/>
          </a:xfrm>
          <a:prstGeom prst="line">
            <a:avLst/>
          </a:prstGeom>
          <a:solidFill>
            <a:schemeClr val="bg1"/>
          </a:solidFill>
          <a:ln>
            <a:solidFill>
              <a:schemeClr val="accent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직선 연결선 192"/>
          <p:cNvCxnSpPr/>
          <p:nvPr/>
        </p:nvCxnSpPr>
        <p:spPr>
          <a:xfrm flipH="1" flipV="1">
            <a:off x="6240780" y="3191256"/>
            <a:ext cx="467592" cy="525539"/>
          </a:xfrm>
          <a:prstGeom prst="line">
            <a:avLst/>
          </a:prstGeom>
          <a:solidFill>
            <a:schemeClr val="bg1"/>
          </a:solidFill>
          <a:ln>
            <a:solidFill>
              <a:schemeClr val="accent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직선 연결선 195"/>
          <p:cNvCxnSpPr/>
          <p:nvPr/>
        </p:nvCxnSpPr>
        <p:spPr>
          <a:xfrm>
            <a:off x="6138151" y="3258554"/>
            <a:ext cx="482138" cy="498317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직선 연결선 205"/>
          <p:cNvCxnSpPr/>
          <p:nvPr/>
        </p:nvCxnSpPr>
        <p:spPr>
          <a:xfrm flipV="1">
            <a:off x="5372419" y="4191658"/>
            <a:ext cx="998239" cy="251131"/>
          </a:xfrm>
          <a:prstGeom prst="line">
            <a:avLst/>
          </a:prstGeom>
          <a:solidFill>
            <a:schemeClr val="bg1"/>
          </a:solidFill>
          <a:ln>
            <a:solidFill>
              <a:schemeClr val="accent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직선 연결선 209"/>
          <p:cNvCxnSpPr/>
          <p:nvPr/>
        </p:nvCxnSpPr>
        <p:spPr>
          <a:xfrm flipH="1">
            <a:off x="5358830" y="4083509"/>
            <a:ext cx="1025416" cy="262474"/>
          </a:xfrm>
          <a:prstGeom prst="line">
            <a:avLst/>
          </a:prstGeom>
          <a:solidFill>
            <a:schemeClr val="bg1"/>
          </a:solidFill>
          <a:ln>
            <a:solidFill>
              <a:schemeClr val="accent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직선 연결선 214"/>
          <p:cNvCxnSpPr/>
          <p:nvPr/>
        </p:nvCxnSpPr>
        <p:spPr>
          <a:xfrm>
            <a:off x="4562717" y="3494806"/>
            <a:ext cx="390283" cy="667479"/>
          </a:xfrm>
          <a:prstGeom prst="line">
            <a:avLst/>
          </a:prstGeom>
          <a:solidFill>
            <a:schemeClr val="bg1"/>
          </a:solidFill>
          <a:ln>
            <a:solidFill>
              <a:schemeClr val="accent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직선 연결선 215"/>
          <p:cNvCxnSpPr/>
          <p:nvPr/>
        </p:nvCxnSpPr>
        <p:spPr>
          <a:xfrm flipH="1" flipV="1">
            <a:off x="4498065" y="3576469"/>
            <a:ext cx="385945" cy="653460"/>
          </a:xfrm>
          <a:prstGeom prst="line">
            <a:avLst/>
          </a:prstGeom>
          <a:solidFill>
            <a:schemeClr val="bg1"/>
          </a:solidFill>
          <a:ln>
            <a:solidFill>
              <a:schemeClr val="accent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8" name="직선 연결선 287"/>
          <p:cNvCxnSpPr/>
          <p:nvPr/>
        </p:nvCxnSpPr>
        <p:spPr>
          <a:xfrm>
            <a:off x="3588398" y="4092930"/>
            <a:ext cx="1069768" cy="374335"/>
          </a:xfrm>
          <a:prstGeom prst="line">
            <a:avLst/>
          </a:prstGeom>
          <a:solidFill>
            <a:schemeClr val="bg1"/>
          </a:solidFill>
          <a:ln>
            <a:solidFill>
              <a:schemeClr val="accent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직선 연결선 288"/>
          <p:cNvCxnSpPr/>
          <p:nvPr/>
        </p:nvCxnSpPr>
        <p:spPr>
          <a:xfrm flipH="1" flipV="1">
            <a:off x="3583007" y="4201324"/>
            <a:ext cx="1055897" cy="369984"/>
          </a:xfrm>
          <a:prstGeom prst="line">
            <a:avLst/>
          </a:prstGeom>
          <a:solidFill>
            <a:schemeClr val="bg1"/>
          </a:solidFill>
          <a:ln>
            <a:solidFill>
              <a:schemeClr val="accent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7" name="직선 연결선 326"/>
          <p:cNvCxnSpPr/>
          <p:nvPr/>
        </p:nvCxnSpPr>
        <p:spPr>
          <a:xfrm flipH="1">
            <a:off x="2316235" y="4180226"/>
            <a:ext cx="692828" cy="47996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직선 연결선 327"/>
          <p:cNvCxnSpPr/>
          <p:nvPr/>
        </p:nvCxnSpPr>
        <p:spPr>
          <a:xfrm flipV="1">
            <a:off x="2357174" y="4284773"/>
            <a:ext cx="671553" cy="468066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3" name="직선 연결선 342"/>
          <p:cNvCxnSpPr/>
          <p:nvPr/>
        </p:nvCxnSpPr>
        <p:spPr>
          <a:xfrm flipH="1">
            <a:off x="5185796" y="3191256"/>
            <a:ext cx="647556" cy="98058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6" name="직선 연결선 345"/>
          <p:cNvCxnSpPr/>
          <p:nvPr/>
        </p:nvCxnSpPr>
        <p:spPr>
          <a:xfrm flipV="1">
            <a:off x="5264887" y="3294615"/>
            <a:ext cx="631711" cy="935314"/>
          </a:xfrm>
          <a:prstGeom prst="line">
            <a:avLst/>
          </a:prstGeom>
          <a:solidFill>
            <a:schemeClr val="bg1"/>
          </a:solidFill>
          <a:ln>
            <a:solidFill>
              <a:schemeClr val="accent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5" name="TextBox 354"/>
          <p:cNvSpPr txBox="1"/>
          <p:nvPr/>
        </p:nvSpPr>
        <p:spPr>
          <a:xfrm>
            <a:off x="3466615" y="280901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56" name="TextBox 355"/>
          <p:cNvSpPr txBox="1"/>
          <p:nvPr/>
        </p:nvSpPr>
        <p:spPr>
          <a:xfrm>
            <a:off x="3499446" y="3429596"/>
            <a:ext cx="272374" cy="184666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58" name="TextBox 357"/>
          <p:cNvSpPr txBox="1"/>
          <p:nvPr/>
        </p:nvSpPr>
        <p:spPr>
          <a:xfrm>
            <a:off x="1669027" y="4067286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cxnSp>
        <p:nvCxnSpPr>
          <p:cNvPr id="376" name="직선 연결선 375"/>
          <p:cNvCxnSpPr/>
          <p:nvPr/>
        </p:nvCxnSpPr>
        <p:spPr>
          <a:xfrm>
            <a:off x="3094397" y="2613307"/>
            <a:ext cx="29374" cy="107468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9" name="직선 연결선 378"/>
          <p:cNvCxnSpPr/>
          <p:nvPr/>
        </p:nvCxnSpPr>
        <p:spPr>
          <a:xfrm flipH="1" flipV="1">
            <a:off x="3211008" y="2670846"/>
            <a:ext cx="22041" cy="1006909"/>
          </a:xfrm>
          <a:prstGeom prst="line">
            <a:avLst/>
          </a:prstGeom>
          <a:solidFill>
            <a:schemeClr val="bg1"/>
          </a:solidFill>
          <a:ln>
            <a:solidFill>
              <a:schemeClr val="accent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1" name="TextBox 390"/>
          <p:cNvSpPr txBox="1"/>
          <p:nvPr/>
        </p:nvSpPr>
        <p:spPr>
          <a:xfrm>
            <a:off x="2304551" y="252788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2" name="TextBox 391"/>
          <p:cNvSpPr txBox="1"/>
          <p:nvPr/>
        </p:nvSpPr>
        <p:spPr>
          <a:xfrm>
            <a:off x="2647303" y="287032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93" name="TextBox 392"/>
          <p:cNvSpPr txBox="1"/>
          <p:nvPr/>
        </p:nvSpPr>
        <p:spPr>
          <a:xfrm>
            <a:off x="5543024" y="2162151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5" name="TextBox 394"/>
          <p:cNvSpPr txBox="1"/>
          <p:nvPr/>
        </p:nvSpPr>
        <p:spPr>
          <a:xfrm>
            <a:off x="5675935" y="4001269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6" name="TextBox 395"/>
          <p:cNvSpPr txBox="1"/>
          <p:nvPr/>
        </p:nvSpPr>
        <p:spPr>
          <a:xfrm>
            <a:off x="4795708" y="366133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7" name="TextBox 396"/>
          <p:cNvSpPr txBox="1"/>
          <p:nvPr/>
        </p:nvSpPr>
        <p:spPr>
          <a:xfrm>
            <a:off x="4024292" y="4055547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01" name="TextBox 400"/>
          <p:cNvSpPr txBox="1"/>
          <p:nvPr/>
        </p:nvSpPr>
        <p:spPr>
          <a:xfrm>
            <a:off x="2426180" y="423512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02" name="TextBox 401"/>
          <p:cNvSpPr txBox="1"/>
          <p:nvPr/>
        </p:nvSpPr>
        <p:spPr>
          <a:xfrm>
            <a:off x="2662649" y="453010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03" name="TextBox 402"/>
          <p:cNvSpPr txBox="1"/>
          <p:nvPr/>
        </p:nvSpPr>
        <p:spPr>
          <a:xfrm>
            <a:off x="2168016" y="392886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09" name="TextBox 408"/>
          <p:cNvSpPr txBox="1"/>
          <p:nvPr/>
        </p:nvSpPr>
        <p:spPr>
          <a:xfrm>
            <a:off x="5265964" y="3522842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0.7</a:t>
            </a:r>
            <a:endParaRPr lang="ko-KR" altLang="en-US" sz="1200" dirty="0"/>
          </a:p>
        </p:txBody>
      </p:sp>
      <p:sp>
        <p:nvSpPr>
          <p:cNvPr id="410" name="TextBox 409"/>
          <p:cNvSpPr txBox="1"/>
          <p:nvPr/>
        </p:nvSpPr>
        <p:spPr>
          <a:xfrm>
            <a:off x="5719539" y="3619092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0.7</a:t>
            </a:r>
            <a:endParaRPr lang="ko-KR" altLang="en-US" sz="1200" dirty="0"/>
          </a:p>
        </p:txBody>
      </p:sp>
      <p:sp>
        <p:nvSpPr>
          <p:cNvPr id="420" name="TextBox 419"/>
          <p:cNvSpPr txBox="1"/>
          <p:nvPr/>
        </p:nvSpPr>
        <p:spPr>
          <a:xfrm>
            <a:off x="6479207" y="324886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21" name="TextBox 420"/>
          <p:cNvSpPr txBox="1"/>
          <p:nvPr/>
        </p:nvSpPr>
        <p:spPr>
          <a:xfrm>
            <a:off x="6157772" y="3531778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0" name="TextBox 429"/>
          <p:cNvSpPr txBox="1"/>
          <p:nvPr/>
        </p:nvSpPr>
        <p:spPr>
          <a:xfrm>
            <a:off x="3895656" y="4403969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31" name="TextBox 430"/>
          <p:cNvSpPr txBox="1"/>
          <p:nvPr/>
        </p:nvSpPr>
        <p:spPr>
          <a:xfrm>
            <a:off x="3808889" y="3750073"/>
            <a:ext cx="325830" cy="184666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3" name="TextBox 432"/>
          <p:cNvSpPr txBox="1"/>
          <p:nvPr/>
        </p:nvSpPr>
        <p:spPr>
          <a:xfrm>
            <a:off x="2651054" y="340300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4" name="TextBox 433"/>
          <p:cNvSpPr txBox="1"/>
          <p:nvPr/>
        </p:nvSpPr>
        <p:spPr>
          <a:xfrm>
            <a:off x="2411012" y="37307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5" name="TextBox 434"/>
          <p:cNvSpPr txBox="1"/>
          <p:nvPr/>
        </p:nvSpPr>
        <p:spPr>
          <a:xfrm>
            <a:off x="3282731" y="3097511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6" name="TextBox 435"/>
          <p:cNvSpPr txBox="1"/>
          <p:nvPr/>
        </p:nvSpPr>
        <p:spPr>
          <a:xfrm>
            <a:off x="2820516" y="311759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39" name="TextBox 438"/>
          <p:cNvSpPr txBox="1"/>
          <p:nvPr/>
        </p:nvSpPr>
        <p:spPr>
          <a:xfrm>
            <a:off x="4397479" y="384218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141" name="TextBox 140"/>
          <p:cNvSpPr txBox="1"/>
          <p:nvPr/>
        </p:nvSpPr>
        <p:spPr>
          <a:xfrm>
            <a:off x="546777" y="248342"/>
            <a:ext cx="3355406" cy="523220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altLang="ko-KR" sz="2800" dirty="0"/>
              <a:t>Example Network</a:t>
            </a:r>
            <a:endParaRPr lang="ko-KR" altLang="en-US" sz="2800" dirty="0"/>
          </a:p>
        </p:txBody>
      </p:sp>
      <p:cxnSp>
        <p:nvCxnSpPr>
          <p:cNvPr id="3" name="Straight Connector 2"/>
          <p:cNvCxnSpPr>
            <a:stCxn id="28" idx="6"/>
            <a:endCxn id="5" idx="2"/>
          </p:cNvCxnSpPr>
          <p:nvPr/>
        </p:nvCxnSpPr>
        <p:spPr bwMode="auto">
          <a:xfrm flipV="1">
            <a:off x="3401568" y="1828800"/>
            <a:ext cx="1322832" cy="44196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2" name="Straight Connector 11"/>
          <p:cNvCxnSpPr>
            <a:stCxn id="17" idx="1"/>
            <a:endCxn id="5" idx="5"/>
          </p:cNvCxnSpPr>
          <p:nvPr/>
        </p:nvCxnSpPr>
        <p:spPr bwMode="auto">
          <a:xfrm flipH="1" flipV="1">
            <a:off x="5114645" y="1990445"/>
            <a:ext cx="735890" cy="810566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4" name="Straight Connector 13"/>
          <p:cNvCxnSpPr>
            <a:stCxn id="6" idx="1"/>
            <a:endCxn id="28" idx="5"/>
          </p:cNvCxnSpPr>
          <p:nvPr/>
        </p:nvCxnSpPr>
        <p:spPr bwMode="auto">
          <a:xfrm flipH="1" flipV="1">
            <a:off x="3334613" y="2432405"/>
            <a:ext cx="841564" cy="664504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-76200" y="3132892"/>
            <a:ext cx="1865065" cy="830997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R3= 0.9*0.8 = 0.72(</a:t>
            </a:r>
            <a:r>
              <a:rPr lang="vi-VN" sz="1200" dirty="0">
                <a:solidFill>
                  <a:srgbClr val="FF0000"/>
                </a:solidFill>
              </a:rPr>
              <a:t>TI2)</a:t>
            </a:r>
            <a:endParaRPr lang="en-US" sz="1200" dirty="0">
              <a:solidFill>
                <a:srgbClr val="FF0000"/>
              </a:solidFill>
            </a:endParaRPr>
          </a:p>
          <a:p>
            <a:r>
              <a:rPr lang="en-US" sz="1200" dirty="0">
                <a:solidFill>
                  <a:schemeClr val="accent2"/>
                </a:solidFill>
              </a:rPr>
              <a:t>R3= 0.72*0.9 = 0.648(</a:t>
            </a:r>
            <a:r>
              <a:rPr lang="vi-VN" sz="1200" dirty="0">
                <a:solidFill>
                  <a:schemeClr val="accent2"/>
                </a:solidFill>
              </a:rPr>
              <a:t>TC5</a:t>
            </a:r>
            <a:r>
              <a:rPr lang="en-US" sz="1200" dirty="0">
                <a:solidFill>
                  <a:schemeClr val="accent2"/>
                </a:solidFill>
              </a:rPr>
              <a:t>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705600" y="4231957"/>
            <a:ext cx="2542940" cy="461665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R10 = 0.8*0.9 = 0.72(</a:t>
            </a:r>
            <a:r>
              <a:rPr lang="vi-VN" sz="1200" dirty="0">
                <a:solidFill>
                  <a:srgbClr val="FF0000"/>
                </a:solidFill>
              </a:rPr>
              <a:t>TI6</a:t>
            </a:r>
            <a:r>
              <a:rPr lang="en-US" sz="1200" dirty="0">
                <a:solidFill>
                  <a:srgbClr val="FF0000"/>
                </a:solidFill>
              </a:rPr>
              <a:t>)</a:t>
            </a:r>
          </a:p>
          <a:p>
            <a:r>
              <a:rPr lang="en-US" sz="1200" dirty="0">
                <a:solidFill>
                  <a:schemeClr val="accent2"/>
                </a:solidFill>
              </a:rPr>
              <a:t>R10 = 0.56*0.8 = 0.448(</a:t>
            </a:r>
            <a:r>
              <a:rPr lang="vi-VN" sz="1200" dirty="0">
                <a:solidFill>
                  <a:schemeClr val="accent2"/>
                </a:solidFill>
              </a:rPr>
              <a:t>TC9</a:t>
            </a:r>
            <a:r>
              <a:rPr lang="en-US" sz="1200" dirty="0">
                <a:solidFill>
                  <a:schemeClr val="accent2"/>
                </a:solidFill>
              </a:rPr>
              <a:t>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334000" y="4746248"/>
            <a:ext cx="2542940" cy="830997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R9 = 0.8*0.7 = 0.56(</a:t>
            </a:r>
            <a:r>
              <a:rPr lang="vi-VN" sz="1200" dirty="0">
                <a:solidFill>
                  <a:srgbClr val="FF0000"/>
                </a:solidFill>
              </a:rPr>
              <a:t>TI6</a:t>
            </a:r>
            <a:r>
              <a:rPr lang="en-US" sz="1200" dirty="0">
                <a:solidFill>
                  <a:srgbClr val="FF0000"/>
                </a:solidFill>
              </a:rPr>
              <a:t>)</a:t>
            </a:r>
          </a:p>
          <a:p>
            <a:r>
              <a:rPr lang="en-US" sz="1200" dirty="0">
                <a:solidFill>
                  <a:schemeClr val="accent2"/>
                </a:solidFill>
              </a:rPr>
              <a:t>R9 = 0.72*0.8 = 0.576(</a:t>
            </a:r>
            <a:r>
              <a:rPr lang="vi-VN" sz="1200" dirty="0">
                <a:solidFill>
                  <a:schemeClr val="accent2"/>
                </a:solidFill>
              </a:rPr>
              <a:t>TC10</a:t>
            </a:r>
            <a:r>
              <a:rPr lang="en-US" sz="1200" dirty="0">
                <a:solidFill>
                  <a:schemeClr val="accent2"/>
                </a:solidFill>
              </a:rPr>
              <a:t>)</a:t>
            </a:r>
          </a:p>
          <a:p>
            <a:r>
              <a:rPr lang="en-US" sz="1200" dirty="0">
                <a:solidFill>
                  <a:schemeClr val="accent2"/>
                </a:solidFill>
              </a:rPr>
              <a:t>R9 = 0.72*0.8 = 0.576(</a:t>
            </a:r>
            <a:r>
              <a:rPr lang="vi-VN" sz="1200" dirty="0">
                <a:solidFill>
                  <a:schemeClr val="accent2"/>
                </a:solidFill>
              </a:rPr>
              <a:t>TC5</a:t>
            </a:r>
            <a:r>
              <a:rPr lang="en-US" sz="1200" dirty="0">
                <a:solidFill>
                  <a:schemeClr val="accent2"/>
                </a:solidFill>
              </a:rPr>
              <a:t>)</a:t>
            </a:r>
          </a:p>
          <a:p>
            <a:r>
              <a:rPr lang="en-US" sz="1200" dirty="0">
                <a:solidFill>
                  <a:schemeClr val="accent2"/>
                </a:solidFill>
              </a:rPr>
              <a:t>R9 = 0.81*0.8 = 0.648(</a:t>
            </a:r>
            <a:r>
              <a:rPr lang="vi-VN" sz="1200" dirty="0">
                <a:solidFill>
                  <a:schemeClr val="accent2"/>
                </a:solidFill>
              </a:rPr>
              <a:t>TC4</a:t>
            </a:r>
            <a:r>
              <a:rPr lang="en-US" sz="1200" dirty="0">
                <a:solidFill>
                  <a:schemeClr val="accent2"/>
                </a:solidFill>
              </a:rPr>
              <a:t>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943460" y="4884003"/>
            <a:ext cx="2445157" cy="830997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R5 = 0.9*0.8 = 0.72(</a:t>
            </a:r>
            <a:r>
              <a:rPr lang="vi-VN" sz="1200" dirty="0">
                <a:solidFill>
                  <a:srgbClr val="FF0000"/>
                </a:solidFill>
              </a:rPr>
              <a:t>TI2</a:t>
            </a:r>
            <a:r>
              <a:rPr lang="en-US" sz="1200" dirty="0">
                <a:solidFill>
                  <a:srgbClr val="FF0000"/>
                </a:solidFill>
              </a:rPr>
              <a:t>)</a:t>
            </a:r>
          </a:p>
          <a:p>
            <a:r>
              <a:rPr lang="en-US" sz="1200" dirty="0">
                <a:solidFill>
                  <a:schemeClr val="accent2"/>
                </a:solidFill>
              </a:rPr>
              <a:t>R5 = 0.72*0.9 = 0.648(</a:t>
            </a:r>
            <a:r>
              <a:rPr lang="vi-VN" sz="1200" dirty="0">
                <a:solidFill>
                  <a:schemeClr val="accent2"/>
                </a:solidFill>
              </a:rPr>
              <a:t>TC3</a:t>
            </a:r>
            <a:r>
              <a:rPr lang="en-US" sz="1200" dirty="0">
                <a:solidFill>
                  <a:schemeClr val="accent2"/>
                </a:solidFill>
              </a:rPr>
              <a:t>)</a:t>
            </a:r>
          </a:p>
          <a:p>
            <a:r>
              <a:rPr lang="en-US" sz="1200" dirty="0">
                <a:solidFill>
                  <a:schemeClr val="accent2"/>
                </a:solidFill>
              </a:rPr>
              <a:t>R5 = 0.81*0.9 = 0.729(</a:t>
            </a:r>
            <a:r>
              <a:rPr lang="vi-VN" sz="1200" dirty="0">
                <a:solidFill>
                  <a:schemeClr val="accent2"/>
                </a:solidFill>
              </a:rPr>
              <a:t>TC4</a:t>
            </a:r>
            <a:r>
              <a:rPr lang="en-US" sz="1200" dirty="0">
                <a:solidFill>
                  <a:schemeClr val="accent2"/>
                </a:solidFill>
              </a:rPr>
              <a:t>)</a:t>
            </a:r>
          </a:p>
          <a:p>
            <a:r>
              <a:rPr lang="en-US" sz="1200" dirty="0">
                <a:solidFill>
                  <a:schemeClr val="accent2"/>
                </a:solidFill>
              </a:rPr>
              <a:t>R5 = 0.56*0.8 = 0.448(</a:t>
            </a:r>
            <a:r>
              <a:rPr lang="vi-VN" sz="1200" dirty="0">
                <a:solidFill>
                  <a:schemeClr val="accent2"/>
                </a:solidFill>
              </a:rPr>
              <a:t>TC9</a:t>
            </a:r>
            <a:r>
              <a:rPr lang="en-US" sz="1200" dirty="0">
                <a:solidFill>
                  <a:schemeClr val="accent2"/>
                </a:solidFill>
              </a:rPr>
              <a:t>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91200" y="43434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74" name="TextBox 73"/>
          <p:cNvSpPr txBox="1"/>
          <p:nvPr/>
        </p:nvSpPr>
        <p:spPr>
          <a:xfrm>
            <a:off x="3939328" y="22098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75" name="TextBox 74"/>
          <p:cNvSpPr txBox="1"/>
          <p:nvPr/>
        </p:nvSpPr>
        <p:spPr>
          <a:xfrm>
            <a:off x="5142637" y="1524000"/>
            <a:ext cx="877163" cy="461665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R1 = 1.0</a:t>
            </a:r>
          </a:p>
          <a:p>
            <a:r>
              <a:rPr lang="en-US" sz="1200" dirty="0">
                <a:solidFill>
                  <a:srgbClr val="FF0000"/>
                </a:solidFill>
              </a:rPr>
              <a:t>L1 = 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495800" y="3276600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L4 = 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270967" y="2085201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L2 = 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24600" y="2679412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L6 = 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166567" y="4599801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L9 = 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912011" y="3990201"/>
            <a:ext cx="798617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L10 = 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143000" y="3048000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L3 = 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044680" y="4285425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L5 = 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209800" y="4828401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L7 = 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276719" y="1839037"/>
            <a:ext cx="822661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R2= 0.9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303474" y="2512109"/>
            <a:ext cx="87716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R6 = 0.8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503834" y="3077416"/>
            <a:ext cx="974947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R4 = 0.81</a:t>
            </a:r>
          </a:p>
        </p:txBody>
      </p:sp>
      <p:cxnSp>
        <p:nvCxnSpPr>
          <p:cNvPr id="89" name="직선 연결선 31"/>
          <p:cNvCxnSpPr/>
          <p:nvPr/>
        </p:nvCxnSpPr>
        <p:spPr>
          <a:xfrm flipV="1">
            <a:off x="3505200" y="1752600"/>
            <a:ext cx="1093481" cy="370960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직선 연결선 138"/>
          <p:cNvCxnSpPr/>
          <p:nvPr/>
        </p:nvCxnSpPr>
        <p:spPr>
          <a:xfrm flipV="1">
            <a:off x="3556581" y="1944411"/>
            <a:ext cx="1042100" cy="351285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직선 연결선 173"/>
          <p:cNvCxnSpPr/>
          <p:nvPr/>
        </p:nvCxnSpPr>
        <p:spPr>
          <a:xfrm flipH="1" flipV="1">
            <a:off x="5105401" y="2057400"/>
            <a:ext cx="678179" cy="73622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직선 연결선 176"/>
          <p:cNvCxnSpPr/>
          <p:nvPr/>
        </p:nvCxnSpPr>
        <p:spPr>
          <a:xfrm>
            <a:off x="5201222" y="1981200"/>
            <a:ext cx="589978" cy="657947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연결선 160"/>
          <p:cNvCxnSpPr/>
          <p:nvPr/>
        </p:nvCxnSpPr>
        <p:spPr>
          <a:xfrm flipH="1" flipV="1">
            <a:off x="3429000" y="2456616"/>
            <a:ext cx="687467" cy="51518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직선 연결선 164"/>
          <p:cNvCxnSpPr/>
          <p:nvPr/>
        </p:nvCxnSpPr>
        <p:spPr>
          <a:xfrm>
            <a:off x="3368318" y="2560070"/>
            <a:ext cx="638010" cy="48793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TextBox 94"/>
          <p:cNvSpPr txBox="1"/>
          <p:nvPr/>
        </p:nvSpPr>
        <p:spPr>
          <a:xfrm>
            <a:off x="5196723" y="241329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96" name="TextBox 95"/>
          <p:cNvSpPr txBox="1"/>
          <p:nvPr/>
        </p:nvSpPr>
        <p:spPr>
          <a:xfrm>
            <a:off x="3733800" y="25146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97" name="TextBox 96"/>
          <p:cNvSpPr txBox="1"/>
          <p:nvPr/>
        </p:nvSpPr>
        <p:spPr>
          <a:xfrm>
            <a:off x="37998" y="5075873"/>
            <a:ext cx="2907791" cy="156966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/>
          <a:p>
            <a:r>
              <a:rPr lang="vi-VN" sz="1200" dirty="0"/>
              <a:t>Node 3, 4, 5, 9, 10 broadcast its Rank R3, R4, R5, R9, R10 by </a:t>
            </a:r>
            <a:r>
              <a:rPr lang="vi-VN" sz="1200" dirty="0">
                <a:solidFill>
                  <a:schemeClr val="accent2"/>
                </a:solidFill>
              </a:rPr>
              <a:t>TREE_BUILDING_COMPARE</a:t>
            </a:r>
          </a:p>
          <a:p>
            <a:r>
              <a:rPr lang="vi-VN" sz="1200" dirty="0">
                <a:solidFill>
                  <a:schemeClr val="accent2"/>
                </a:solidFill>
              </a:rPr>
              <a:t>TC3 = (3, 2, 0.72)</a:t>
            </a:r>
          </a:p>
          <a:p>
            <a:r>
              <a:rPr lang="vi-VN" sz="1200" dirty="0">
                <a:solidFill>
                  <a:schemeClr val="accent2"/>
                </a:solidFill>
              </a:rPr>
              <a:t>TC4 = (4, 2, 0.81)</a:t>
            </a:r>
          </a:p>
          <a:p>
            <a:r>
              <a:rPr lang="vi-VN" sz="1200" dirty="0">
                <a:solidFill>
                  <a:schemeClr val="accent2"/>
                </a:solidFill>
              </a:rPr>
              <a:t>TC5 = (5, 2, 0.72)</a:t>
            </a:r>
          </a:p>
          <a:p>
            <a:r>
              <a:rPr lang="vi-VN" sz="1200" dirty="0">
                <a:solidFill>
                  <a:schemeClr val="accent2"/>
                </a:solidFill>
              </a:rPr>
              <a:t>TC9 = (9, 2, 0.56)</a:t>
            </a:r>
          </a:p>
          <a:p>
            <a:r>
              <a:rPr lang="vi-VN" sz="1200" dirty="0">
                <a:solidFill>
                  <a:schemeClr val="accent2"/>
                </a:solidFill>
              </a:rPr>
              <a:t>TC10 = (10, 2, 0.72)</a:t>
            </a:r>
          </a:p>
        </p:txBody>
      </p:sp>
      <p:graphicFrame>
        <p:nvGraphicFramePr>
          <p:cNvPr id="98" name="Table 9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420782"/>
              </p:ext>
            </p:extLst>
          </p:nvPr>
        </p:nvGraphicFramePr>
        <p:xfrm>
          <a:off x="3048000" y="5760720"/>
          <a:ext cx="6096000" cy="10972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52959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959"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 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TC3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TC4 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TC5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TC9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TC10</a:t>
                      </a:r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959"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TC3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TC4 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TC5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TC9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TC10</a:t>
                      </a:r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2959"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TC3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TC4 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TC5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TC9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TC10</a:t>
                      </a:r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9" name="TextBox 98"/>
          <p:cNvSpPr txBox="1"/>
          <p:nvPr/>
        </p:nvSpPr>
        <p:spPr>
          <a:xfrm>
            <a:off x="6781800" y="3064133"/>
            <a:ext cx="2445157" cy="646331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R4 = 0.81</a:t>
            </a:r>
          </a:p>
          <a:p>
            <a:r>
              <a:rPr lang="en-US" sz="1200" dirty="0">
                <a:solidFill>
                  <a:schemeClr val="accent2"/>
                </a:solidFill>
              </a:rPr>
              <a:t>R4 = 0.72*0.9 = 0.648(</a:t>
            </a:r>
            <a:r>
              <a:rPr lang="vi-VN" sz="1200" dirty="0">
                <a:solidFill>
                  <a:schemeClr val="accent2"/>
                </a:solidFill>
              </a:rPr>
              <a:t>TC5</a:t>
            </a:r>
            <a:r>
              <a:rPr lang="en-US" sz="1200" dirty="0">
                <a:solidFill>
                  <a:schemeClr val="accent2"/>
                </a:solidFill>
              </a:rPr>
              <a:t>)</a:t>
            </a:r>
          </a:p>
          <a:p>
            <a:r>
              <a:rPr lang="en-US" sz="1200" dirty="0">
                <a:solidFill>
                  <a:schemeClr val="accent2"/>
                </a:solidFill>
              </a:rPr>
              <a:t>R4 = 0.56*0.8 = 0.448(</a:t>
            </a:r>
            <a:r>
              <a:rPr lang="vi-VN" sz="1200" dirty="0">
                <a:solidFill>
                  <a:schemeClr val="accent2"/>
                </a:solidFill>
              </a:rPr>
              <a:t>TC9</a:t>
            </a:r>
            <a:r>
              <a:rPr lang="en-US" sz="1200" dirty="0">
                <a:solidFill>
                  <a:schemeClr val="accent2"/>
                </a:solidFill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9493324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타원 4"/>
          <p:cNvSpPr/>
          <p:nvPr/>
        </p:nvSpPr>
        <p:spPr>
          <a:xfrm>
            <a:off x="4724400" y="1600200"/>
            <a:ext cx="457200" cy="457200"/>
          </a:xfrm>
          <a:prstGeom prst="ellipse">
            <a:avLst/>
          </a:prstGeom>
          <a:solidFill>
            <a:schemeClr val="bg1"/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1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" name="타원 5"/>
          <p:cNvSpPr/>
          <p:nvPr/>
        </p:nvSpPr>
        <p:spPr>
          <a:xfrm>
            <a:off x="4109222" y="3029954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4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7" name="타원 6"/>
          <p:cNvSpPr/>
          <p:nvPr/>
        </p:nvSpPr>
        <p:spPr>
          <a:xfrm>
            <a:off x="1827777" y="3046196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3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" name="타원 7"/>
          <p:cNvSpPr/>
          <p:nvPr/>
        </p:nvSpPr>
        <p:spPr>
          <a:xfrm>
            <a:off x="1837944" y="4622292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7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" name="타원 8"/>
          <p:cNvSpPr/>
          <p:nvPr/>
        </p:nvSpPr>
        <p:spPr>
          <a:xfrm>
            <a:off x="3019925" y="3750221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5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7" name="타원 16"/>
          <p:cNvSpPr/>
          <p:nvPr/>
        </p:nvSpPr>
        <p:spPr>
          <a:xfrm>
            <a:off x="5783580" y="2734056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6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8" name="타원 17"/>
          <p:cNvSpPr/>
          <p:nvPr/>
        </p:nvSpPr>
        <p:spPr>
          <a:xfrm>
            <a:off x="4786174" y="4315097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9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9" name="타원 18"/>
          <p:cNvSpPr/>
          <p:nvPr/>
        </p:nvSpPr>
        <p:spPr>
          <a:xfrm>
            <a:off x="6479771" y="3803904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10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8" name="타원 27"/>
          <p:cNvSpPr/>
          <p:nvPr/>
        </p:nvSpPr>
        <p:spPr>
          <a:xfrm>
            <a:off x="2944368" y="2042160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2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13" name="TextBox 212"/>
          <p:cNvSpPr txBox="1"/>
          <p:nvPr/>
        </p:nvSpPr>
        <p:spPr>
          <a:xfrm>
            <a:off x="3754656" y="175974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cxnSp>
        <p:nvCxnSpPr>
          <p:cNvPr id="148" name="직선 연결선 147"/>
          <p:cNvCxnSpPr/>
          <p:nvPr/>
        </p:nvCxnSpPr>
        <p:spPr>
          <a:xfrm flipV="1">
            <a:off x="1958600" y="3632385"/>
            <a:ext cx="16351" cy="906139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연결선 148"/>
          <p:cNvCxnSpPr/>
          <p:nvPr/>
        </p:nvCxnSpPr>
        <p:spPr>
          <a:xfrm flipV="1">
            <a:off x="2094236" y="3700433"/>
            <a:ext cx="22135" cy="850769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7" name="직선 연결선 326"/>
          <p:cNvCxnSpPr/>
          <p:nvPr/>
        </p:nvCxnSpPr>
        <p:spPr>
          <a:xfrm flipH="1">
            <a:off x="2316235" y="4180226"/>
            <a:ext cx="692828" cy="47996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직선 연결선 327"/>
          <p:cNvCxnSpPr/>
          <p:nvPr/>
        </p:nvCxnSpPr>
        <p:spPr>
          <a:xfrm flipV="1">
            <a:off x="2357174" y="4284773"/>
            <a:ext cx="671553" cy="468066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5" name="TextBox 354"/>
          <p:cNvSpPr txBox="1"/>
          <p:nvPr/>
        </p:nvSpPr>
        <p:spPr>
          <a:xfrm>
            <a:off x="3466615" y="280901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56" name="TextBox 355"/>
          <p:cNvSpPr txBox="1"/>
          <p:nvPr/>
        </p:nvSpPr>
        <p:spPr>
          <a:xfrm>
            <a:off x="3499446" y="3429596"/>
            <a:ext cx="272374" cy="184666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58" name="TextBox 357"/>
          <p:cNvSpPr txBox="1"/>
          <p:nvPr/>
        </p:nvSpPr>
        <p:spPr>
          <a:xfrm>
            <a:off x="1669027" y="4067286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91" name="TextBox 390"/>
          <p:cNvSpPr txBox="1"/>
          <p:nvPr/>
        </p:nvSpPr>
        <p:spPr>
          <a:xfrm>
            <a:off x="2304551" y="252788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2" name="TextBox 391"/>
          <p:cNvSpPr txBox="1"/>
          <p:nvPr/>
        </p:nvSpPr>
        <p:spPr>
          <a:xfrm>
            <a:off x="2647303" y="287032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93" name="TextBox 392"/>
          <p:cNvSpPr txBox="1"/>
          <p:nvPr/>
        </p:nvSpPr>
        <p:spPr>
          <a:xfrm>
            <a:off x="5543024" y="2162151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6" name="TextBox 395"/>
          <p:cNvSpPr txBox="1"/>
          <p:nvPr/>
        </p:nvSpPr>
        <p:spPr>
          <a:xfrm>
            <a:off x="4795708" y="366133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01" name="TextBox 400"/>
          <p:cNvSpPr txBox="1"/>
          <p:nvPr/>
        </p:nvSpPr>
        <p:spPr>
          <a:xfrm>
            <a:off x="2426180" y="423512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02" name="TextBox 401"/>
          <p:cNvSpPr txBox="1"/>
          <p:nvPr/>
        </p:nvSpPr>
        <p:spPr>
          <a:xfrm>
            <a:off x="2662649" y="453010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03" name="TextBox 402"/>
          <p:cNvSpPr txBox="1"/>
          <p:nvPr/>
        </p:nvSpPr>
        <p:spPr>
          <a:xfrm>
            <a:off x="2168016" y="392886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20" name="TextBox 419"/>
          <p:cNvSpPr txBox="1"/>
          <p:nvPr/>
        </p:nvSpPr>
        <p:spPr>
          <a:xfrm>
            <a:off x="6479207" y="324886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21" name="TextBox 420"/>
          <p:cNvSpPr txBox="1"/>
          <p:nvPr/>
        </p:nvSpPr>
        <p:spPr>
          <a:xfrm>
            <a:off x="6157772" y="3531778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1" name="TextBox 430"/>
          <p:cNvSpPr txBox="1"/>
          <p:nvPr/>
        </p:nvSpPr>
        <p:spPr>
          <a:xfrm>
            <a:off x="3808889" y="3750073"/>
            <a:ext cx="325830" cy="184666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9" name="TextBox 438"/>
          <p:cNvSpPr txBox="1"/>
          <p:nvPr/>
        </p:nvSpPr>
        <p:spPr>
          <a:xfrm>
            <a:off x="4397479" y="384218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141" name="TextBox 140"/>
          <p:cNvSpPr txBox="1"/>
          <p:nvPr/>
        </p:nvSpPr>
        <p:spPr>
          <a:xfrm>
            <a:off x="546777" y="248342"/>
            <a:ext cx="3355406" cy="523220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altLang="ko-KR" sz="2800" dirty="0"/>
              <a:t>Example Network</a:t>
            </a:r>
            <a:endParaRPr lang="ko-KR" altLang="en-US" sz="2800" dirty="0"/>
          </a:p>
        </p:txBody>
      </p:sp>
      <p:cxnSp>
        <p:nvCxnSpPr>
          <p:cNvPr id="3" name="Straight Connector 2"/>
          <p:cNvCxnSpPr>
            <a:stCxn id="28" idx="6"/>
            <a:endCxn id="5" idx="2"/>
          </p:cNvCxnSpPr>
          <p:nvPr/>
        </p:nvCxnSpPr>
        <p:spPr bwMode="auto">
          <a:xfrm flipV="1">
            <a:off x="3401568" y="1828800"/>
            <a:ext cx="1322832" cy="44196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2" name="Straight Connector 11"/>
          <p:cNvCxnSpPr>
            <a:stCxn id="17" idx="1"/>
            <a:endCxn id="5" idx="5"/>
          </p:cNvCxnSpPr>
          <p:nvPr/>
        </p:nvCxnSpPr>
        <p:spPr bwMode="auto">
          <a:xfrm flipH="1" flipV="1">
            <a:off x="5114645" y="1990445"/>
            <a:ext cx="735890" cy="810566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4" name="Straight Connector 13"/>
          <p:cNvCxnSpPr>
            <a:stCxn id="6" idx="1"/>
            <a:endCxn id="28" idx="5"/>
          </p:cNvCxnSpPr>
          <p:nvPr/>
        </p:nvCxnSpPr>
        <p:spPr bwMode="auto">
          <a:xfrm flipH="1" flipV="1">
            <a:off x="3334613" y="2432405"/>
            <a:ext cx="841564" cy="664504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74" name="TextBox 73"/>
          <p:cNvSpPr txBox="1"/>
          <p:nvPr/>
        </p:nvSpPr>
        <p:spPr>
          <a:xfrm>
            <a:off x="3939328" y="22098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cxnSp>
        <p:nvCxnSpPr>
          <p:cNvPr id="11" name="Straight Connector 10"/>
          <p:cNvCxnSpPr>
            <a:stCxn id="7" idx="7"/>
            <a:endCxn id="28" idx="3"/>
          </p:cNvCxnSpPr>
          <p:nvPr/>
        </p:nvCxnSpPr>
        <p:spPr bwMode="auto">
          <a:xfrm flipV="1">
            <a:off x="2218022" y="2432405"/>
            <a:ext cx="793301" cy="680746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5" name="Straight Connector 14"/>
          <p:cNvCxnSpPr>
            <a:stCxn id="9" idx="7"/>
            <a:endCxn id="6" idx="3"/>
          </p:cNvCxnSpPr>
          <p:nvPr/>
        </p:nvCxnSpPr>
        <p:spPr bwMode="auto">
          <a:xfrm flipV="1">
            <a:off x="3410170" y="3420199"/>
            <a:ext cx="766007" cy="396977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1" name="Straight Connector 20"/>
          <p:cNvCxnSpPr>
            <a:stCxn id="18" idx="0"/>
            <a:endCxn id="6" idx="5"/>
          </p:cNvCxnSpPr>
          <p:nvPr/>
        </p:nvCxnSpPr>
        <p:spPr bwMode="auto">
          <a:xfrm flipH="1" flipV="1">
            <a:off x="4499467" y="3420199"/>
            <a:ext cx="515307" cy="894898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3" name="Straight Connector 22"/>
          <p:cNvCxnSpPr>
            <a:stCxn id="19" idx="0"/>
            <a:endCxn id="17" idx="5"/>
          </p:cNvCxnSpPr>
          <p:nvPr/>
        </p:nvCxnSpPr>
        <p:spPr bwMode="auto">
          <a:xfrm flipH="1" flipV="1">
            <a:off x="6173825" y="3124301"/>
            <a:ext cx="534546" cy="679603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54" name="TextBox 53"/>
          <p:cNvSpPr txBox="1"/>
          <p:nvPr/>
        </p:nvSpPr>
        <p:spPr>
          <a:xfrm>
            <a:off x="5142637" y="1524000"/>
            <a:ext cx="877163" cy="461665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R1 = 1.0</a:t>
            </a:r>
          </a:p>
          <a:p>
            <a:r>
              <a:rPr lang="en-US" sz="1200" dirty="0">
                <a:solidFill>
                  <a:srgbClr val="FF0000"/>
                </a:solidFill>
              </a:rPr>
              <a:t>L1 = 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495800" y="3276600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L4 = 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270967" y="2085201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L2 = 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24600" y="2679412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L6 = 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166567" y="4599801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L9 = 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912011" y="3990201"/>
            <a:ext cx="798617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L10 = 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43000" y="3048000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L3 = 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044680" y="4285425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L5 = 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209800" y="4828401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L7 = 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276719" y="1839037"/>
            <a:ext cx="822661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R2= 0.9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03474" y="2512109"/>
            <a:ext cx="87716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R6 = 0.8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503834" y="3077416"/>
            <a:ext cx="974947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R4 = 0.81</a:t>
            </a:r>
          </a:p>
        </p:txBody>
      </p:sp>
      <p:cxnSp>
        <p:nvCxnSpPr>
          <p:cNvPr id="66" name="직선 연결선 31"/>
          <p:cNvCxnSpPr/>
          <p:nvPr/>
        </p:nvCxnSpPr>
        <p:spPr>
          <a:xfrm flipV="1">
            <a:off x="3505200" y="1752600"/>
            <a:ext cx="1093481" cy="370960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138"/>
          <p:cNvCxnSpPr/>
          <p:nvPr/>
        </p:nvCxnSpPr>
        <p:spPr>
          <a:xfrm flipV="1">
            <a:off x="3556581" y="1944411"/>
            <a:ext cx="1042100" cy="351285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연결선 173"/>
          <p:cNvCxnSpPr/>
          <p:nvPr/>
        </p:nvCxnSpPr>
        <p:spPr>
          <a:xfrm flipH="1" flipV="1">
            <a:off x="5105401" y="2057400"/>
            <a:ext cx="678179" cy="73622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연결선 176"/>
          <p:cNvCxnSpPr/>
          <p:nvPr/>
        </p:nvCxnSpPr>
        <p:spPr>
          <a:xfrm>
            <a:off x="5201222" y="1981200"/>
            <a:ext cx="589978" cy="657947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직선 연결선 160"/>
          <p:cNvCxnSpPr/>
          <p:nvPr/>
        </p:nvCxnSpPr>
        <p:spPr>
          <a:xfrm flipH="1" flipV="1">
            <a:off x="3429000" y="2456616"/>
            <a:ext cx="687467" cy="51518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연결선 164"/>
          <p:cNvCxnSpPr/>
          <p:nvPr/>
        </p:nvCxnSpPr>
        <p:spPr>
          <a:xfrm>
            <a:off x="3368318" y="2560070"/>
            <a:ext cx="638010" cy="48793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5196723" y="241329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80" name="TextBox 79"/>
          <p:cNvSpPr txBox="1"/>
          <p:nvPr/>
        </p:nvSpPr>
        <p:spPr>
          <a:xfrm>
            <a:off x="3733800" y="25146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cxnSp>
        <p:nvCxnSpPr>
          <p:cNvPr id="89" name="직선 연결선 141"/>
          <p:cNvCxnSpPr/>
          <p:nvPr/>
        </p:nvCxnSpPr>
        <p:spPr>
          <a:xfrm flipV="1">
            <a:off x="2248662" y="2429344"/>
            <a:ext cx="659129" cy="577552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직선 연결선 142"/>
          <p:cNvCxnSpPr/>
          <p:nvPr/>
        </p:nvCxnSpPr>
        <p:spPr>
          <a:xfrm flipV="1">
            <a:off x="2376970" y="2513106"/>
            <a:ext cx="671030" cy="57712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직선 연결선 192"/>
          <p:cNvCxnSpPr/>
          <p:nvPr/>
        </p:nvCxnSpPr>
        <p:spPr>
          <a:xfrm flipH="1" flipV="1">
            <a:off x="6316821" y="3191256"/>
            <a:ext cx="391551" cy="52554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직선 연결선 195"/>
          <p:cNvCxnSpPr/>
          <p:nvPr/>
        </p:nvCxnSpPr>
        <p:spPr>
          <a:xfrm>
            <a:off x="6172200" y="3276600"/>
            <a:ext cx="415049" cy="480293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연결선 214"/>
          <p:cNvCxnSpPr/>
          <p:nvPr/>
        </p:nvCxnSpPr>
        <p:spPr>
          <a:xfrm>
            <a:off x="4638917" y="3494806"/>
            <a:ext cx="390283" cy="667479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직선 연결선 215"/>
          <p:cNvCxnSpPr/>
          <p:nvPr/>
        </p:nvCxnSpPr>
        <p:spPr>
          <a:xfrm flipH="1" flipV="1">
            <a:off x="4498065" y="3576469"/>
            <a:ext cx="385945" cy="65346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직선 연결선 180"/>
          <p:cNvCxnSpPr/>
          <p:nvPr/>
        </p:nvCxnSpPr>
        <p:spPr>
          <a:xfrm flipV="1">
            <a:off x="3429000" y="3405889"/>
            <a:ext cx="592139" cy="310555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연결선 183"/>
          <p:cNvCxnSpPr/>
          <p:nvPr/>
        </p:nvCxnSpPr>
        <p:spPr>
          <a:xfrm flipH="1">
            <a:off x="3410170" y="3530630"/>
            <a:ext cx="723473" cy="35557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-76200" y="3317558"/>
            <a:ext cx="1865065" cy="461665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R3= 0.9*0.8 = 0.72(</a:t>
            </a:r>
            <a:r>
              <a:rPr lang="vi-VN" sz="1200" dirty="0">
                <a:solidFill>
                  <a:srgbClr val="FF0000"/>
                </a:solidFill>
              </a:rPr>
              <a:t>TI2)</a:t>
            </a:r>
            <a:endParaRPr lang="en-US" sz="1200" dirty="0">
              <a:solidFill>
                <a:srgbClr val="FF0000"/>
              </a:solidFill>
            </a:endParaRPr>
          </a:p>
        </p:txBody>
      </p:sp>
      <p:sp>
        <p:nvSpPr>
          <p:cNvPr id="98" name="TextBox 97"/>
          <p:cNvSpPr txBox="1"/>
          <p:nvPr/>
        </p:nvSpPr>
        <p:spPr>
          <a:xfrm>
            <a:off x="6705600" y="4324290"/>
            <a:ext cx="2307042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R10 = 0.8*0.9 = 0.72(</a:t>
            </a:r>
            <a:r>
              <a:rPr lang="vi-VN" sz="1200" dirty="0">
                <a:solidFill>
                  <a:srgbClr val="FF0000"/>
                </a:solidFill>
              </a:rPr>
              <a:t>TI6</a:t>
            </a:r>
            <a:r>
              <a:rPr lang="en-US" sz="1200" dirty="0">
                <a:solidFill>
                  <a:srgbClr val="FF0000"/>
                </a:solidFill>
              </a:rPr>
              <a:t>)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334000" y="4953000"/>
            <a:ext cx="2445157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>
                <a:solidFill>
                  <a:schemeClr val="accent2"/>
                </a:solidFill>
              </a:rPr>
              <a:t>R9 </a:t>
            </a:r>
            <a:r>
              <a:rPr lang="en-US" sz="1200" dirty="0">
                <a:solidFill>
                  <a:schemeClr val="accent2"/>
                </a:solidFill>
              </a:rPr>
              <a:t>= 0.81*0.8 = 0.648(</a:t>
            </a:r>
            <a:r>
              <a:rPr lang="vi-VN" sz="1200" dirty="0">
                <a:solidFill>
                  <a:schemeClr val="accent2"/>
                </a:solidFill>
              </a:rPr>
              <a:t>TC4</a:t>
            </a:r>
            <a:r>
              <a:rPr lang="en-US" sz="1200" dirty="0">
                <a:solidFill>
                  <a:schemeClr val="accent2"/>
                </a:solidFill>
              </a:rPr>
              <a:t>)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895600" y="5008602"/>
            <a:ext cx="2445157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chemeClr val="accent2"/>
                </a:solidFill>
              </a:rPr>
              <a:t>R5 = 0.81*0.9 = 0.729(</a:t>
            </a:r>
            <a:r>
              <a:rPr lang="vi-VN" sz="1200" dirty="0">
                <a:solidFill>
                  <a:schemeClr val="accent2"/>
                </a:solidFill>
              </a:rPr>
              <a:t>TC4</a:t>
            </a:r>
            <a:r>
              <a:rPr lang="en-US" sz="1200" dirty="0">
                <a:solidFill>
                  <a:schemeClr val="accent2"/>
                </a:solidFill>
              </a:rPr>
              <a:t>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7998" y="5317867"/>
            <a:ext cx="2907791" cy="1015663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/>
          <a:p>
            <a:r>
              <a:rPr lang="vi-VN" sz="1200" dirty="0"/>
              <a:t>Node 3, 5, 9, 10 after choose the max Rank will send </a:t>
            </a:r>
            <a:r>
              <a:rPr lang="vi-VN" sz="1200" dirty="0">
                <a:solidFill>
                  <a:schemeClr val="accent2"/>
                </a:solidFill>
              </a:rPr>
              <a:t>TREE_BUILDING_RESPONSE to its Parent TR3, TR5, TR9, TR10 by unicast </a:t>
            </a:r>
          </a:p>
        </p:txBody>
      </p:sp>
      <p:graphicFrame>
        <p:nvGraphicFramePr>
          <p:cNvPr id="102" name="Table 10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3748473"/>
              </p:ext>
            </p:extLst>
          </p:nvPr>
        </p:nvGraphicFramePr>
        <p:xfrm>
          <a:off x="2895600" y="5334000"/>
          <a:ext cx="609600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TR3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TR5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TR9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TR10</a:t>
                      </a:r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970402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타원 4"/>
          <p:cNvSpPr/>
          <p:nvPr/>
        </p:nvSpPr>
        <p:spPr>
          <a:xfrm>
            <a:off x="4724400" y="1600200"/>
            <a:ext cx="457200" cy="457200"/>
          </a:xfrm>
          <a:prstGeom prst="ellipse">
            <a:avLst/>
          </a:prstGeom>
          <a:solidFill>
            <a:schemeClr val="bg1"/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1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" name="타원 5"/>
          <p:cNvSpPr/>
          <p:nvPr/>
        </p:nvSpPr>
        <p:spPr>
          <a:xfrm>
            <a:off x="4109222" y="3029954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4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7" name="타원 6"/>
          <p:cNvSpPr/>
          <p:nvPr/>
        </p:nvSpPr>
        <p:spPr>
          <a:xfrm>
            <a:off x="1827777" y="3046196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3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" name="타원 7"/>
          <p:cNvSpPr/>
          <p:nvPr/>
        </p:nvSpPr>
        <p:spPr>
          <a:xfrm>
            <a:off x="1837944" y="4622292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7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" name="타원 8"/>
          <p:cNvSpPr/>
          <p:nvPr/>
        </p:nvSpPr>
        <p:spPr>
          <a:xfrm>
            <a:off x="3019925" y="3750221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5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7" name="타원 16"/>
          <p:cNvSpPr/>
          <p:nvPr/>
        </p:nvSpPr>
        <p:spPr>
          <a:xfrm>
            <a:off x="5783580" y="2734056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6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8" name="타원 17"/>
          <p:cNvSpPr/>
          <p:nvPr/>
        </p:nvSpPr>
        <p:spPr>
          <a:xfrm>
            <a:off x="4786174" y="4315097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9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9" name="타원 18"/>
          <p:cNvSpPr/>
          <p:nvPr/>
        </p:nvSpPr>
        <p:spPr>
          <a:xfrm>
            <a:off x="6479771" y="3803904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10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8" name="타원 27"/>
          <p:cNvSpPr/>
          <p:nvPr/>
        </p:nvSpPr>
        <p:spPr>
          <a:xfrm>
            <a:off x="2944368" y="2042160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2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13" name="TextBox 212"/>
          <p:cNvSpPr txBox="1"/>
          <p:nvPr/>
        </p:nvSpPr>
        <p:spPr>
          <a:xfrm>
            <a:off x="3754656" y="175974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cxnSp>
        <p:nvCxnSpPr>
          <p:cNvPr id="148" name="직선 연결선 147"/>
          <p:cNvCxnSpPr/>
          <p:nvPr/>
        </p:nvCxnSpPr>
        <p:spPr>
          <a:xfrm flipV="1">
            <a:off x="1958600" y="3632385"/>
            <a:ext cx="16351" cy="906139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연결선 148"/>
          <p:cNvCxnSpPr/>
          <p:nvPr/>
        </p:nvCxnSpPr>
        <p:spPr>
          <a:xfrm flipV="1">
            <a:off x="2094236" y="3700433"/>
            <a:ext cx="22135" cy="850769"/>
          </a:xfrm>
          <a:prstGeom prst="line">
            <a:avLst/>
          </a:prstGeom>
          <a:solidFill>
            <a:schemeClr val="bg1"/>
          </a:solidFill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7" name="직선 연결선 326"/>
          <p:cNvCxnSpPr/>
          <p:nvPr/>
        </p:nvCxnSpPr>
        <p:spPr>
          <a:xfrm flipH="1">
            <a:off x="2316235" y="4180226"/>
            <a:ext cx="692828" cy="47996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직선 연결선 327"/>
          <p:cNvCxnSpPr/>
          <p:nvPr/>
        </p:nvCxnSpPr>
        <p:spPr>
          <a:xfrm flipV="1">
            <a:off x="2357174" y="4284773"/>
            <a:ext cx="671553" cy="468066"/>
          </a:xfrm>
          <a:prstGeom prst="line">
            <a:avLst/>
          </a:prstGeom>
          <a:solidFill>
            <a:schemeClr val="bg1"/>
          </a:solidFill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5" name="TextBox 354"/>
          <p:cNvSpPr txBox="1"/>
          <p:nvPr/>
        </p:nvSpPr>
        <p:spPr>
          <a:xfrm>
            <a:off x="3466615" y="280901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56" name="TextBox 355"/>
          <p:cNvSpPr txBox="1"/>
          <p:nvPr/>
        </p:nvSpPr>
        <p:spPr>
          <a:xfrm>
            <a:off x="3499446" y="3429596"/>
            <a:ext cx="272374" cy="184666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58" name="TextBox 357"/>
          <p:cNvSpPr txBox="1"/>
          <p:nvPr/>
        </p:nvSpPr>
        <p:spPr>
          <a:xfrm>
            <a:off x="1669027" y="4067286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91" name="TextBox 390"/>
          <p:cNvSpPr txBox="1"/>
          <p:nvPr/>
        </p:nvSpPr>
        <p:spPr>
          <a:xfrm>
            <a:off x="2304551" y="252788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2" name="TextBox 391"/>
          <p:cNvSpPr txBox="1"/>
          <p:nvPr/>
        </p:nvSpPr>
        <p:spPr>
          <a:xfrm>
            <a:off x="2647303" y="287032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93" name="TextBox 392"/>
          <p:cNvSpPr txBox="1"/>
          <p:nvPr/>
        </p:nvSpPr>
        <p:spPr>
          <a:xfrm>
            <a:off x="5543024" y="2162151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6" name="TextBox 395"/>
          <p:cNvSpPr txBox="1"/>
          <p:nvPr/>
        </p:nvSpPr>
        <p:spPr>
          <a:xfrm>
            <a:off x="4795708" y="366133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01" name="TextBox 400"/>
          <p:cNvSpPr txBox="1"/>
          <p:nvPr/>
        </p:nvSpPr>
        <p:spPr>
          <a:xfrm>
            <a:off x="2426180" y="423512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02" name="TextBox 401"/>
          <p:cNvSpPr txBox="1"/>
          <p:nvPr/>
        </p:nvSpPr>
        <p:spPr>
          <a:xfrm>
            <a:off x="2662649" y="453010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03" name="TextBox 402"/>
          <p:cNvSpPr txBox="1"/>
          <p:nvPr/>
        </p:nvSpPr>
        <p:spPr>
          <a:xfrm>
            <a:off x="2168016" y="392886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20" name="TextBox 419"/>
          <p:cNvSpPr txBox="1"/>
          <p:nvPr/>
        </p:nvSpPr>
        <p:spPr>
          <a:xfrm>
            <a:off x="6479207" y="324886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21" name="TextBox 420"/>
          <p:cNvSpPr txBox="1"/>
          <p:nvPr/>
        </p:nvSpPr>
        <p:spPr>
          <a:xfrm>
            <a:off x="6157772" y="3531778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1" name="TextBox 430"/>
          <p:cNvSpPr txBox="1"/>
          <p:nvPr/>
        </p:nvSpPr>
        <p:spPr>
          <a:xfrm>
            <a:off x="3808889" y="3750073"/>
            <a:ext cx="325830" cy="184666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9" name="TextBox 438"/>
          <p:cNvSpPr txBox="1"/>
          <p:nvPr/>
        </p:nvSpPr>
        <p:spPr>
          <a:xfrm>
            <a:off x="4397479" y="384218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141" name="TextBox 140"/>
          <p:cNvSpPr txBox="1"/>
          <p:nvPr/>
        </p:nvSpPr>
        <p:spPr>
          <a:xfrm>
            <a:off x="546777" y="248342"/>
            <a:ext cx="3355406" cy="523220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altLang="ko-KR" sz="2800" dirty="0"/>
              <a:t>Example Network</a:t>
            </a:r>
            <a:endParaRPr lang="ko-KR" altLang="en-US" sz="2800" dirty="0"/>
          </a:p>
        </p:txBody>
      </p:sp>
      <p:cxnSp>
        <p:nvCxnSpPr>
          <p:cNvPr id="3" name="Straight Connector 2"/>
          <p:cNvCxnSpPr>
            <a:stCxn id="28" idx="6"/>
            <a:endCxn id="5" idx="2"/>
          </p:cNvCxnSpPr>
          <p:nvPr/>
        </p:nvCxnSpPr>
        <p:spPr bwMode="auto">
          <a:xfrm flipV="1">
            <a:off x="3401568" y="1828800"/>
            <a:ext cx="1322832" cy="44196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2" name="Straight Connector 11"/>
          <p:cNvCxnSpPr>
            <a:stCxn id="17" idx="1"/>
            <a:endCxn id="5" idx="5"/>
          </p:cNvCxnSpPr>
          <p:nvPr/>
        </p:nvCxnSpPr>
        <p:spPr bwMode="auto">
          <a:xfrm flipH="1" flipV="1">
            <a:off x="5114645" y="1990445"/>
            <a:ext cx="735890" cy="810566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4" name="Straight Connector 13"/>
          <p:cNvCxnSpPr>
            <a:stCxn id="6" idx="1"/>
            <a:endCxn id="28" idx="5"/>
          </p:cNvCxnSpPr>
          <p:nvPr/>
        </p:nvCxnSpPr>
        <p:spPr bwMode="auto">
          <a:xfrm flipH="1" flipV="1">
            <a:off x="3334613" y="2432405"/>
            <a:ext cx="841564" cy="664504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74" name="TextBox 73"/>
          <p:cNvSpPr txBox="1"/>
          <p:nvPr/>
        </p:nvSpPr>
        <p:spPr>
          <a:xfrm>
            <a:off x="3939328" y="22098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cxnSp>
        <p:nvCxnSpPr>
          <p:cNvPr id="11" name="Straight Connector 10"/>
          <p:cNvCxnSpPr>
            <a:stCxn id="7" idx="7"/>
            <a:endCxn id="28" idx="3"/>
          </p:cNvCxnSpPr>
          <p:nvPr/>
        </p:nvCxnSpPr>
        <p:spPr bwMode="auto">
          <a:xfrm flipV="1">
            <a:off x="2218022" y="2432405"/>
            <a:ext cx="793301" cy="680746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5" name="Straight Connector 14"/>
          <p:cNvCxnSpPr>
            <a:stCxn id="9" idx="7"/>
            <a:endCxn id="6" idx="3"/>
          </p:cNvCxnSpPr>
          <p:nvPr/>
        </p:nvCxnSpPr>
        <p:spPr bwMode="auto">
          <a:xfrm flipV="1">
            <a:off x="3410170" y="3420199"/>
            <a:ext cx="766007" cy="396977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1" name="Straight Connector 20"/>
          <p:cNvCxnSpPr>
            <a:stCxn id="18" idx="0"/>
            <a:endCxn id="6" idx="5"/>
          </p:cNvCxnSpPr>
          <p:nvPr/>
        </p:nvCxnSpPr>
        <p:spPr bwMode="auto">
          <a:xfrm flipH="1" flipV="1">
            <a:off x="4499467" y="3420199"/>
            <a:ext cx="515307" cy="894898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3" name="Straight Connector 22"/>
          <p:cNvCxnSpPr>
            <a:stCxn id="19" idx="0"/>
            <a:endCxn id="17" idx="5"/>
          </p:cNvCxnSpPr>
          <p:nvPr/>
        </p:nvCxnSpPr>
        <p:spPr bwMode="auto">
          <a:xfrm flipH="1" flipV="1">
            <a:off x="6173825" y="3124301"/>
            <a:ext cx="534546" cy="679603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54" name="TextBox 53"/>
          <p:cNvSpPr txBox="1"/>
          <p:nvPr/>
        </p:nvSpPr>
        <p:spPr>
          <a:xfrm>
            <a:off x="-12900" y="4327267"/>
            <a:ext cx="2222700" cy="461665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R7= 0.72*0.9 = 0.648(</a:t>
            </a:r>
            <a:r>
              <a:rPr lang="vi-VN" sz="1200" dirty="0">
                <a:solidFill>
                  <a:srgbClr val="FF0000"/>
                </a:solidFill>
              </a:rPr>
              <a:t>TI3</a:t>
            </a:r>
            <a:r>
              <a:rPr lang="en-US" sz="1200" dirty="0">
                <a:solidFill>
                  <a:srgbClr val="FF0000"/>
                </a:solidFill>
              </a:rPr>
              <a:t>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142637" y="1524000"/>
            <a:ext cx="877163" cy="461665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R1 = 1.0</a:t>
            </a:r>
          </a:p>
          <a:p>
            <a:r>
              <a:rPr lang="en-US" sz="1200" dirty="0">
                <a:solidFill>
                  <a:srgbClr val="FF0000"/>
                </a:solidFill>
              </a:rPr>
              <a:t>L1 = 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495800" y="3276600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L4 = 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270967" y="2085201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L2 = 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24600" y="2679412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L6 = 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166567" y="4599801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L9 = 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912011" y="3990201"/>
            <a:ext cx="798617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L10 = 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43000" y="3048000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L3 = 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044680" y="4285425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L5 = 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209800" y="4828401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L7 = 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276719" y="1839037"/>
            <a:ext cx="822661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R2= 0.9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03474" y="2512109"/>
            <a:ext cx="87716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R6 = 0.8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03834" y="3077416"/>
            <a:ext cx="974947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R4 = 0.81</a:t>
            </a:r>
          </a:p>
        </p:txBody>
      </p:sp>
      <p:cxnSp>
        <p:nvCxnSpPr>
          <p:cNvPr id="67" name="직선 연결선 141"/>
          <p:cNvCxnSpPr/>
          <p:nvPr/>
        </p:nvCxnSpPr>
        <p:spPr>
          <a:xfrm flipV="1">
            <a:off x="2248662" y="2429344"/>
            <a:ext cx="659129" cy="577552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연결선 142"/>
          <p:cNvCxnSpPr/>
          <p:nvPr/>
        </p:nvCxnSpPr>
        <p:spPr>
          <a:xfrm flipV="1">
            <a:off x="2376970" y="2513106"/>
            <a:ext cx="671030" cy="57712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연결선 192"/>
          <p:cNvCxnSpPr/>
          <p:nvPr/>
        </p:nvCxnSpPr>
        <p:spPr>
          <a:xfrm flipH="1" flipV="1">
            <a:off x="6316821" y="3191256"/>
            <a:ext cx="391551" cy="52554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직선 연결선 195"/>
          <p:cNvCxnSpPr/>
          <p:nvPr/>
        </p:nvCxnSpPr>
        <p:spPr>
          <a:xfrm>
            <a:off x="6172200" y="3276600"/>
            <a:ext cx="415049" cy="480293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연결선 214"/>
          <p:cNvCxnSpPr/>
          <p:nvPr/>
        </p:nvCxnSpPr>
        <p:spPr>
          <a:xfrm>
            <a:off x="4638917" y="3494806"/>
            <a:ext cx="390283" cy="667479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직선 연결선 215"/>
          <p:cNvCxnSpPr/>
          <p:nvPr/>
        </p:nvCxnSpPr>
        <p:spPr>
          <a:xfrm flipH="1" flipV="1">
            <a:off x="4498065" y="3576469"/>
            <a:ext cx="385945" cy="65346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직선 연결선 180"/>
          <p:cNvCxnSpPr/>
          <p:nvPr/>
        </p:nvCxnSpPr>
        <p:spPr>
          <a:xfrm flipV="1">
            <a:off x="3429000" y="3405889"/>
            <a:ext cx="592139" cy="310555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직선 연결선 183"/>
          <p:cNvCxnSpPr/>
          <p:nvPr/>
        </p:nvCxnSpPr>
        <p:spPr>
          <a:xfrm flipH="1">
            <a:off x="3410170" y="3530630"/>
            <a:ext cx="723473" cy="35557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5196723" y="241329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cxnSp>
        <p:nvCxnSpPr>
          <p:cNvPr id="83" name="직선 연결선 173"/>
          <p:cNvCxnSpPr/>
          <p:nvPr/>
        </p:nvCxnSpPr>
        <p:spPr>
          <a:xfrm flipH="1" flipV="1">
            <a:off x="5105401" y="2057400"/>
            <a:ext cx="678179" cy="73622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직선 연결선 176"/>
          <p:cNvCxnSpPr/>
          <p:nvPr/>
        </p:nvCxnSpPr>
        <p:spPr>
          <a:xfrm>
            <a:off x="5201222" y="1981200"/>
            <a:ext cx="589978" cy="657947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직선 연결선 31"/>
          <p:cNvCxnSpPr/>
          <p:nvPr/>
        </p:nvCxnSpPr>
        <p:spPr>
          <a:xfrm flipV="1">
            <a:off x="3505200" y="1752600"/>
            <a:ext cx="1093481" cy="370960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직선 연결선 138"/>
          <p:cNvCxnSpPr/>
          <p:nvPr/>
        </p:nvCxnSpPr>
        <p:spPr>
          <a:xfrm flipV="1">
            <a:off x="3556581" y="1944411"/>
            <a:ext cx="1042100" cy="351285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직선 연결선 160"/>
          <p:cNvCxnSpPr/>
          <p:nvPr/>
        </p:nvCxnSpPr>
        <p:spPr>
          <a:xfrm flipH="1" flipV="1">
            <a:off x="3429000" y="2456616"/>
            <a:ext cx="687467" cy="51518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연결선 164"/>
          <p:cNvCxnSpPr/>
          <p:nvPr/>
        </p:nvCxnSpPr>
        <p:spPr>
          <a:xfrm>
            <a:off x="3368318" y="2560070"/>
            <a:ext cx="638010" cy="48793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TextBox 88"/>
          <p:cNvSpPr txBox="1"/>
          <p:nvPr/>
        </p:nvSpPr>
        <p:spPr>
          <a:xfrm>
            <a:off x="3733800" y="25146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90" name="TextBox 89"/>
          <p:cNvSpPr txBox="1"/>
          <p:nvPr/>
        </p:nvSpPr>
        <p:spPr>
          <a:xfrm>
            <a:off x="1137233" y="2767485"/>
            <a:ext cx="1042479" cy="276999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/>
          <a:p>
            <a:r>
              <a:rPr lang="en-US" sz="1200">
                <a:solidFill>
                  <a:srgbClr val="FF0000"/>
                </a:solidFill>
              </a:rPr>
              <a:t>R3= 0.72</a:t>
            </a:r>
            <a:endParaRPr lang="en-US" sz="1200" dirty="0">
              <a:solidFill>
                <a:srgbClr val="FF0000"/>
              </a:solidFill>
            </a:endParaRPr>
          </a:p>
        </p:txBody>
      </p:sp>
      <p:sp>
        <p:nvSpPr>
          <p:cNvPr id="91" name="TextBox 90"/>
          <p:cNvSpPr txBox="1"/>
          <p:nvPr/>
        </p:nvSpPr>
        <p:spPr>
          <a:xfrm>
            <a:off x="6922495" y="3830949"/>
            <a:ext cx="1072730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R10 </a:t>
            </a:r>
            <a:r>
              <a:rPr lang="en-US" sz="1200">
                <a:solidFill>
                  <a:srgbClr val="FF0000"/>
                </a:solidFill>
              </a:rPr>
              <a:t>= 0.72</a:t>
            </a:r>
            <a:endParaRPr lang="en-US" sz="1200" dirty="0">
              <a:solidFill>
                <a:srgbClr val="FF0000"/>
              </a:solidFill>
            </a:endParaRPr>
          </a:p>
        </p:txBody>
      </p:sp>
      <p:sp>
        <p:nvSpPr>
          <p:cNvPr id="92" name="TextBox 91"/>
          <p:cNvSpPr txBox="1"/>
          <p:nvPr/>
        </p:nvSpPr>
        <p:spPr>
          <a:xfrm>
            <a:off x="5168050" y="4435115"/>
            <a:ext cx="1072730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R9 = 0.648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033726" y="4501928"/>
            <a:ext cx="1072730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R5 </a:t>
            </a:r>
            <a:r>
              <a:rPr lang="en-US" sz="1200">
                <a:solidFill>
                  <a:srgbClr val="FF0000"/>
                </a:solidFill>
              </a:rPr>
              <a:t>= 0.729</a:t>
            </a:r>
            <a:endParaRPr lang="en-US" sz="1200" dirty="0">
              <a:solidFill>
                <a:srgbClr val="FF0000"/>
              </a:solidFill>
            </a:endParaRPr>
          </a:p>
        </p:txBody>
      </p:sp>
      <p:graphicFrame>
        <p:nvGraphicFramePr>
          <p:cNvPr id="94" name="Table 9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519019"/>
              </p:ext>
            </p:extLst>
          </p:nvPr>
        </p:nvGraphicFramePr>
        <p:xfrm>
          <a:off x="2980945" y="4953000"/>
          <a:ext cx="609600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vi-VN" sz="1200" dirty="0">
                          <a:solidFill>
                            <a:srgbClr val="FF0000"/>
                          </a:solidFill>
                        </a:rPr>
                        <a:t>TI3</a:t>
                      </a:r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rgbClr val="FF0000"/>
                          </a:solidFill>
                        </a:rPr>
                        <a:t>TI5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rgbClr val="FF0000"/>
                          </a:solidFill>
                        </a:rPr>
                        <a:t>TI3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rgbClr val="FF0000"/>
                          </a:solidFill>
                        </a:rPr>
                        <a:t>TI5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rgbClr val="FF0000"/>
                          </a:solidFill>
                        </a:rPr>
                        <a:t>TI3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rgbClr val="FF0000"/>
                          </a:solidFill>
                        </a:rPr>
                        <a:t>TI5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5" name="Rectangle 94"/>
          <p:cNvSpPr/>
          <p:nvPr/>
        </p:nvSpPr>
        <p:spPr>
          <a:xfrm>
            <a:off x="57976" y="5156537"/>
            <a:ext cx="28410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vi-VN" sz="1200" dirty="0"/>
              <a:t>Node 3, 5 broadcast</a:t>
            </a:r>
          </a:p>
          <a:p>
            <a:r>
              <a:rPr lang="vi-VN" sz="1200" dirty="0">
                <a:solidFill>
                  <a:srgbClr val="FF0000"/>
                </a:solidFill>
              </a:rPr>
              <a:t>TREE_BUILDING_INIT:</a:t>
            </a:r>
          </a:p>
          <a:p>
            <a:r>
              <a:rPr lang="vi-VN" sz="1200" dirty="0">
                <a:solidFill>
                  <a:srgbClr val="FF0000"/>
                </a:solidFill>
              </a:rPr>
              <a:t>TI3 = (3, 2, 0.72)</a:t>
            </a:r>
          </a:p>
          <a:p>
            <a:r>
              <a:rPr lang="vi-VN" sz="1200" dirty="0">
                <a:solidFill>
                  <a:srgbClr val="FF0000"/>
                </a:solidFill>
              </a:rPr>
              <a:t>TI5 = (5, 3, 0.729) </a:t>
            </a:r>
            <a:endParaRPr lang="en-US" sz="1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826175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타원 4"/>
          <p:cNvSpPr/>
          <p:nvPr/>
        </p:nvSpPr>
        <p:spPr>
          <a:xfrm>
            <a:off x="4724400" y="1600200"/>
            <a:ext cx="457200" cy="457200"/>
          </a:xfrm>
          <a:prstGeom prst="ellipse">
            <a:avLst/>
          </a:prstGeom>
          <a:solidFill>
            <a:schemeClr val="bg1"/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1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" name="타원 5"/>
          <p:cNvSpPr/>
          <p:nvPr/>
        </p:nvSpPr>
        <p:spPr>
          <a:xfrm>
            <a:off x="4109222" y="3029954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4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7" name="타원 6"/>
          <p:cNvSpPr/>
          <p:nvPr/>
        </p:nvSpPr>
        <p:spPr>
          <a:xfrm>
            <a:off x="1827777" y="3046196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3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" name="타원 7"/>
          <p:cNvSpPr/>
          <p:nvPr/>
        </p:nvSpPr>
        <p:spPr>
          <a:xfrm>
            <a:off x="1837944" y="4622292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7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" name="타원 8"/>
          <p:cNvSpPr/>
          <p:nvPr/>
        </p:nvSpPr>
        <p:spPr>
          <a:xfrm>
            <a:off x="3019925" y="3750221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5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7" name="타원 16"/>
          <p:cNvSpPr/>
          <p:nvPr/>
        </p:nvSpPr>
        <p:spPr>
          <a:xfrm>
            <a:off x="5783580" y="2734056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6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8" name="타원 17"/>
          <p:cNvSpPr/>
          <p:nvPr/>
        </p:nvSpPr>
        <p:spPr>
          <a:xfrm>
            <a:off x="4786174" y="4315097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9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9" name="타원 18"/>
          <p:cNvSpPr/>
          <p:nvPr/>
        </p:nvSpPr>
        <p:spPr>
          <a:xfrm>
            <a:off x="6479771" y="3803904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10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8" name="타원 27"/>
          <p:cNvSpPr/>
          <p:nvPr/>
        </p:nvSpPr>
        <p:spPr>
          <a:xfrm>
            <a:off x="2944368" y="2042160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2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13" name="TextBox 212"/>
          <p:cNvSpPr txBox="1"/>
          <p:nvPr/>
        </p:nvSpPr>
        <p:spPr>
          <a:xfrm>
            <a:off x="3754656" y="175974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cxnSp>
        <p:nvCxnSpPr>
          <p:cNvPr id="148" name="직선 연결선 147"/>
          <p:cNvCxnSpPr/>
          <p:nvPr/>
        </p:nvCxnSpPr>
        <p:spPr>
          <a:xfrm flipV="1">
            <a:off x="1958600" y="3632385"/>
            <a:ext cx="16351" cy="906139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연결선 148"/>
          <p:cNvCxnSpPr/>
          <p:nvPr/>
        </p:nvCxnSpPr>
        <p:spPr>
          <a:xfrm flipV="1">
            <a:off x="2094236" y="3700433"/>
            <a:ext cx="22135" cy="850769"/>
          </a:xfrm>
          <a:prstGeom prst="line">
            <a:avLst/>
          </a:prstGeom>
          <a:solidFill>
            <a:schemeClr val="bg1"/>
          </a:solidFill>
          <a:ln>
            <a:solidFill>
              <a:schemeClr val="accent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7" name="직선 연결선 326"/>
          <p:cNvCxnSpPr/>
          <p:nvPr/>
        </p:nvCxnSpPr>
        <p:spPr>
          <a:xfrm flipH="1">
            <a:off x="2316235" y="4180226"/>
            <a:ext cx="692828" cy="479964"/>
          </a:xfrm>
          <a:prstGeom prst="line">
            <a:avLst/>
          </a:prstGeom>
          <a:solidFill>
            <a:schemeClr val="bg1"/>
          </a:solidFill>
          <a:ln>
            <a:solidFill>
              <a:schemeClr val="accent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직선 연결선 327"/>
          <p:cNvCxnSpPr/>
          <p:nvPr/>
        </p:nvCxnSpPr>
        <p:spPr>
          <a:xfrm flipV="1">
            <a:off x="2357174" y="4284773"/>
            <a:ext cx="671553" cy="468066"/>
          </a:xfrm>
          <a:prstGeom prst="line">
            <a:avLst/>
          </a:prstGeom>
          <a:solidFill>
            <a:schemeClr val="bg1"/>
          </a:solidFill>
          <a:ln>
            <a:solidFill>
              <a:schemeClr val="accent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5" name="TextBox 354"/>
          <p:cNvSpPr txBox="1"/>
          <p:nvPr/>
        </p:nvSpPr>
        <p:spPr>
          <a:xfrm>
            <a:off x="3466615" y="280901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56" name="TextBox 355"/>
          <p:cNvSpPr txBox="1"/>
          <p:nvPr/>
        </p:nvSpPr>
        <p:spPr>
          <a:xfrm>
            <a:off x="3499446" y="3429596"/>
            <a:ext cx="272374" cy="184666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58" name="TextBox 357"/>
          <p:cNvSpPr txBox="1"/>
          <p:nvPr/>
        </p:nvSpPr>
        <p:spPr>
          <a:xfrm>
            <a:off x="1669027" y="4067286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91" name="TextBox 390"/>
          <p:cNvSpPr txBox="1"/>
          <p:nvPr/>
        </p:nvSpPr>
        <p:spPr>
          <a:xfrm>
            <a:off x="2304551" y="252788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2" name="TextBox 391"/>
          <p:cNvSpPr txBox="1"/>
          <p:nvPr/>
        </p:nvSpPr>
        <p:spPr>
          <a:xfrm>
            <a:off x="2647303" y="287032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93" name="TextBox 392"/>
          <p:cNvSpPr txBox="1"/>
          <p:nvPr/>
        </p:nvSpPr>
        <p:spPr>
          <a:xfrm>
            <a:off x="5543024" y="2162151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6" name="TextBox 395"/>
          <p:cNvSpPr txBox="1"/>
          <p:nvPr/>
        </p:nvSpPr>
        <p:spPr>
          <a:xfrm>
            <a:off x="4795708" y="366133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01" name="TextBox 400"/>
          <p:cNvSpPr txBox="1"/>
          <p:nvPr/>
        </p:nvSpPr>
        <p:spPr>
          <a:xfrm>
            <a:off x="2426180" y="423512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02" name="TextBox 401"/>
          <p:cNvSpPr txBox="1"/>
          <p:nvPr/>
        </p:nvSpPr>
        <p:spPr>
          <a:xfrm>
            <a:off x="2662649" y="453010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03" name="TextBox 402"/>
          <p:cNvSpPr txBox="1"/>
          <p:nvPr/>
        </p:nvSpPr>
        <p:spPr>
          <a:xfrm>
            <a:off x="2168016" y="392886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20" name="TextBox 419"/>
          <p:cNvSpPr txBox="1"/>
          <p:nvPr/>
        </p:nvSpPr>
        <p:spPr>
          <a:xfrm>
            <a:off x="6479207" y="324886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21" name="TextBox 420"/>
          <p:cNvSpPr txBox="1"/>
          <p:nvPr/>
        </p:nvSpPr>
        <p:spPr>
          <a:xfrm>
            <a:off x="6157772" y="3531778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1" name="TextBox 430"/>
          <p:cNvSpPr txBox="1"/>
          <p:nvPr/>
        </p:nvSpPr>
        <p:spPr>
          <a:xfrm>
            <a:off x="3808889" y="3750073"/>
            <a:ext cx="325830" cy="184666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9" name="TextBox 438"/>
          <p:cNvSpPr txBox="1"/>
          <p:nvPr/>
        </p:nvSpPr>
        <p:spPr>
          <a:xfrm>
            <a:off x="4397479" y="384218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141" name="TextBox 140"/>
          <p:cNvSpPr txBox="1"/>
          <p:nvPr/>
        </p:nvSpPr>
        <p:spPr>
          <a:xfrm>
            <a:off x="546777" y="248342"/>
            <a:ext cx="3355406" cy="523220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altLang="ko-KR" sz="2800" dirty="0"/>
              <a:t>Example Network</a:t>
            </a:r>
            <a:endParaRPr lang="ko-KR" altLang="en-US" sz="2800" dirty="0"/>
          </a:p>
        </p:txBody>
      </p:sp>
      <p:cxnSp>
        <p:nvCxnSpPr>
          <p:cNvPr id="3" name="Straight Connector 2"/>
          <p:cNvCxnSpPr>
            <a:stCxn id="28" idx="6"/>
            <a:endCxn id="5" idx="2"/>
          </p:cNvCxnSpPr>
          <p:nvPr/>
        </p:nvCxnSpPr>
        <p:spPr bwMode="auto">
          <a:xfrm flipV="1">
            <a:off x="3401568" y="1828800"/>
            <a:ext cx="1322832" cy="44196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2" name="Straight Connector 11"/>
          <p:cNvCxnSpPr>
            <a:stCxn id="17" idx="1"/>
            <a:endCxn id="5" idx="5"/>
          </p:cNvCxnSpPr>
          <p:nvPr/>
        </p:nvCxnSpPr>
        <p:spPr bwMode="auto">
          <a:xfrm flipH="1" flipV="1">
            <a:off x="5114645" y="1990445"/>
            <a:ext cx="735890" cy="810566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4" name="Straight Connector 13"/>
          <p:cNvCxnSpPr>
            <a:stCxn id="6" idx="1"/>
            <a:endCxn id="28" idx="5"/>
          </p:cNvCxnSpPr>
          <p:nvPr/>
        </p:nvCxnSpPr>
        <p:spPr bwMode="auto">
          <a:xfrm flipH="1" flipV="1">
            <a:off x="3334613" y="2432405"/>
            <a:ext cx="841564" cy="664504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74" name="TextBox 73"/>
          <p:cNvSpPr txBox="1"/>
          <p:nvPr/>
        </p:nvSpPr>
        <p:spPr>
          <a:xfrm>
            <a:off x="3939328" y="22098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cxnSp>
        <p:nvCxnSpPr>
          <p:cNvPr id="11" name="Straight Connector 10"/>
          <p:cNvCxnSpPr>
            <a:stCxn id="7" idx="7"/>
            <a:endCxn id="28" idx="3"/>
          </p:cNvCxnSpPr>
          <p:nvPr/>
        </p:nvCxnSpPr>
        <p:spPr bwMode="auto">
          <a:xfrm flipV="1">
            <a:off x="2218022" y="2432405"/>
            <a:ext cx="793301" cy="680746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5" name="Straight Connector 14"/>
          <p:cNvCxnSpPr>
            <a:stCxn id="9" idx="7"/>
            <a:endCxn id="6" idx="3"/>
          </p:cNvCxnSpPr>
          <p:nvPr/>
        </p:nvCxnSpPr>
        <p:spPr bwMode="auto">
          <a:xfrm flipV="1">
            <a:off x="3410170" y="3420199"/>
            <a:ext cx="766007" cy="396977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1" name="Straight Connector 20"/>
          <p:cNvCxnSpPr>
            <a:stCxn id="18" idx="0"/>
            <a:endCxn id="6" idx="5"/>
          </p:cNvCxnSpPr>
          <p:nvPr/>
        </p:nvCxnSpPr>
        <p:spPr bwMode="auto">
          <a:xfrm flipH="1" flipV="1">
            <a:off x="4499467" y="3420199"/>
            <a:ext cx="515307" cy="894898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3" name="Straight Connector 22"/>
          <p:cNvCxnSpPr>
            <a:stCxn id="19" idx="0"/>
            <a:endCxn id="17" idx="5"/>
          </p:cNvCxnSpPr>
          <p:nvPr/>
        </p:nvCxnSpPr>
        <p:spPr bwMode="auto">
          <a:xfrm flipH="1" flipV="1">
            <a:off x="6173825" y="3124301"/>
            <a:ext cx="534546" cy="679603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54" name="TextBox 53"/>
          <p:cNvSpPr txBox="1"/>
          <p:nvPr/>
        </p:nvSpPr>
        <p:spPr>
          <a:xfrm>
            <a:off x="-44121" y="4063816"/>
            <a:ext cx="1774121" cy="830997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R7= 0.72*0.9 = 0.648(</a:t>
            </a:r>
            <a:r>
              <a:rPr lang="vi-VN" sz="1200" dirty="0">
                <a:solidFill>
                  <a:srgbClr val="FF0000"/>
                </a:solidFill>
              </a:rPr>
              <a:t>TI3</a:t>
            </a:r>
            <a:r>
              <a:rPr lang="en-US" sz="1200" dirty="0">
                <a:solidFill>
                  <a:srgbClr val="FF0000"/>
                </a:solidFill>
              </a:rPr>
              <a:t>)</a:t>
            </a:r>
          </a:p>
          <a:p>
            <a:r>
              <a:rPr lang="en-US" sz="1200" dirty="0">
                <a:solidFill>
                  <a:schemeClr val="accent2"/>
                </a:solidFill>
              </a:rPr>
              <a:t>R7 = 0.729*0.9 = 0.656(</a:t>
            </a:r>
            <a:r>
              <a:rPr lang="vi-VN" sz="1200" dirty="0">
                <a:solidFill>
                  <a:schemeClr val="accent2"/>
                </a:solidFill>
              </a:rPr>
              <a:t>TC5</a:t>
            </a:r>
            <a:r>
              <a:rPr lang="en-US" sz="1200" dirty="0">
                <a:solidFill>
                  <a:schemeClr val="accent2"/>
                </a:solidFill>
              </a:rPr>
              <a:t>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142637" y="1524000"/>
            <a:ext cx="877163" cy="461665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R1 = 1.0</a:t>
            </a:r>
          </a:p>
          <a:p>
            <a:r>
              <a:rPr lang="en-US" sz="1200" dirty="0">
                <a:solidFill>
                  <a:srgbClr val="FF0000"/>
                </a:solidFill>
              </a:rPr>
              <a:t>L1 = 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495800" y="3276600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L4 = 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270967" y="2085201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L2 = 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24600" y="2679412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L6 = 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166567" y="4599801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L9 = 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912011" y="3990201"/>
            <a:ext cx="798617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L10 = 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43000" y="3048000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L3 = 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044680" y="4285425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L5 = 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209800" y="4828401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L7 = 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276719" y="1839037"/>
            <a:ext cx="822661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R2= 0.9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03474" y="2512109"/>
            <a:ext cx="87716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R6 = 0.8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03834" y="3077416"/>
            <a:ext cx="974947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R4 = 0.81</a:t>
            </a:r>
          </a:p>
        </p:txBody>
      </p:sp>
      <p:cxnSp>
        <p:nvCxnSpPr>
          <p:cNvPr id="67" name="직선 연결선 141"/>
          <p:cNvCxnSpPr/>
          <p:nvPr/>
        </p:nvCxnSpPr>
        <p:spPr>
          <a:xfrm flipV="1">
            <a:off x="2248662" y="2429344"/>
            <a:ext cx="659129" cy="577552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연결선 142"/>
          <p:cNvCxnSpPr/>
          <p:nvPr/>
        </p:nvCxnSpPr>
        <p:spPr>
          <a:xfrm flipV="1">
            <a:off x="2376970" y="2513106"/>
            <a:ext cx="671030" cy="57712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연결선 192"/>
          <p:cNvCxnSpPr/>
          <p:nvPr/>
        </p:nvCxnSpPr>
        <p:spPr>
          <a:xfrm flipH="1" flipV="1">
            <a:off x="6316821" y="3191256"/>
            <a:ext cx="391551" cy="52554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직선 연결선 195"/>
          <p:cNvCxnSpPr/>
          <p:nvPr/>
        </p:nvCxnSpPr>
        <p:spPr>
          <a:xfrm>
            <a:off x="6172200" y="3276600"/>
            <a:ext cx="415049" cy="480293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연결선 214"/>
          <p:cNvCxnSpPr/>
          <p:nvPr/>
        </p:nvCxnSpPr>
        <p:spPr>
          <a:xfrm>
            <a:off x="4638917" y="3494806"/>
            <a:ext cx="390283" cy="667479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직선 연결선 215"/>
          <p:cNvCxnSpPr/>
          <p:nvPr/>
        </p:nvCxnSpPr>
        <p:spPr>
          <a:xfrm flipH="1" flipV="1">
            <a:off x="4498065" y="3576469"/>
            <a:ext cx="385945" cy="65346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직선 연결선 180"/>
          <p:cNvCxnSpPr/>
          <p:nvPr/>
        </p:nvCxnSpPr>
        <p:spPr>
          <a:xfrm flipV="1">
            <a:off x="3429000" y="3405889"/>
            <a:ext cx="592139" cy="310555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직선 연결선 183"/>
          <p:cNvCxnSpPr/>
          <p:nvPr/>
        </p:nvCxnSpPr>
        <p:spPr>
          <a:xfrm flipH="1">
            <a:off x="3410170" y="3530630"/>
            <a:ext cx="723473" cy="35557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5196723" y="241329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cxnSp>
        <p:nvCxnSpPr>
          <p:cNvPr id="83" name="직선 연결선 173"/>
          <p:cNvCxnSpPr/>
          <p:nvPr/>
        </p:nvCxnSpPr>
        <p:spPr>
          <a:xfrm flipH="1" flipV="1">
            <a:off x="5105401" y="2057400"/>
            <a:ext cx="678179" cy="73622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직선 연결선 176"/>
          <p:cNvCxnSpPr/>
          <p:nvPr/>
        </p:nvCxnSpPr>
        <p:spPr>
          <a:xfrm>
            <a:off x="5201222" y="1981200"/>
            <a:ext cx="589978" cy="657947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직선 연결선 31"/>
          <p:cNvCxnSpPr/>
          <p:nvPr/>
        </p:nvCxnSpPr>
        <p:spPr>
          <a:xfrm flipV="1">
            <a:off x="3505200" y="1752600"/>
            <a:ext cx="1093481" cy="370960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직선 연결선 138"/>
          <p:cNvCxnSpPr/>
          <p:nvPr/>
        </p:nvCxnSpPr>
        <p:spPr>
          <a:xfrm flipV="1">
            <a:off x="3556581" y="1944411"/>
            <a:ext cx="1042100" cy="351285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직선 연결선 160"/>
          <p:cNvCxnSpPr/>
          <p:nvPr/>
        </p:nvCxnSpPr>
        <p:spPr>
          <a:xfrm flipH="1" flipV="1">
            <a:off x="3429000" y="2456616"/>
            <a:ext cx="687467" cy="51518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연결선 164"/>
          <p:cNvCxnSpPr/>
          <p:nvPr/>
        </p:nvCxnSpPr>
        <p:spPr>
          <a:xfrm>
            <a:off x="3368318" y="2560070"/>
            <a:ext cx="638010" cy="48793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TextBox 88"/>
          <p:cNvSpPr txBox="1"/>
          <p:nvPr/>
        </p:nvSpPr>
        <p:spPr>
          <a:xfrm>
            <a:off x="3733800" y="25146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90" name="TextBox 89"/>
          <p:cNvSpPr txBox="1"/>
          <p:nvPr/>
        </p:nvSpPr>
        <p:spPr>
          <a:xfrm>
            <a:off x="1137233" y="2767485"/>
            <a:ext cx="1042479" cy="276999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/>
          <a:p>
            <a:r>
              <a:rPr lang="en-US" sz="1200">
                <a:solidFill>
                  <a:srgbClr val="FF0000"/>
                </a:solidFill>
              </a:rPr>
              <a:t>R3= 0.72</a:t>
            </a:r>
            <a:endParaRPr lang="en-US" sz="1200" dirty="0">
              <a:solidFill>
                <a:srgbClr val="FF0000"/>
              </a:solidFill>
            </a:endParaRPr>
          </a:p>
        </p:txBody>
      </p:sp>
      <p:sp>
        <p:nvSpPr>
          <p:cNvPr id="91" name="TextBox 90"/>
          <p:cNvSpPr txBox="1"/>
          <p:nvPr/>
        </p:nvSpPr>
        <p:spPr>
          <a:xfrm>
            <a:off x="6922495" y="3830949"/>
            <a:ext cx="1072730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R10 </a:t>
            </a:r>
            <a:r>
              <a:rPr lang="en-US" sz="1200">
                <a:solidFill>
                  <a:srgbClr val="FF0000"/>
                </a:solidFill>
              </a:rPr>
              <a:t>= 0.72</a:t>
            </a:r>
            <a:endParaRPr lang="en-US" sz="1200" dirty="0">
              <a:solidFill>
                <a:srgbClr val="FF0000"/>
              </a:solidFill>
            </a:endParaRPr>
          </a:p>
        </p:txBody>
      </p:sp>
      <p:sp>
        <p:nvSpPr>
          <p:cNvPr id="92" name="TextBox 91"/>
          <p:cNvSpPr txBox="1"/>
          <p:nvPr/>
        </p:nvSpPr>
        <p:spPr>
          <a:xfrm>
            <a:off x="5168050" y="4435115"/>
            <a:ext cx="1072730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R9 = 0.648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033726" y="4459069"/>
            <a:ext cx="1605191" cy="646331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R5 = 0.729</a:t>
            </a:r>
          </a:p>
          <a:p>
            <a:r>
              <a:rPr lang="en-US" sz="1200" dirty="0">
                <a:solidFill>
                  <a:schemeClr val="accent2"/>
                </a:solidFill>
              </a:rPr>
              <a:t>R5 = 0.648*0.9 = 0.583(</a:t>
            </a:r>
            <a:r>
              <a:rPr lang="vi-VN" sz="1200" dirty="0">
                <a:solidFill>
                  <a:schemeClr val="accent2"/>
                </a:solidFill>
              </a:rPr>
              <a:t>TC7</a:t>
            </a:r>
            <a:r>
              <a:rPr lang="en-US" sz="1200" dirty="0">
                <a:solidFill>
                  <a:schemeClr val="accent2"/>
                </a:solidFill>
              </a:rPr>
              <a:t>)</a:t>
            </a:r>
          </a:p>
        </p:txBody>
      </p:sp>
      <p:graphicFrame>
        <p:nvGraphicFramePr>
          <p:cNvPr id="94" name="Table 9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1097529"/>
              </p:ext>
            </p:extLst>
          </p:nvPr>
        </p:nvGraphicFramePr>
        <p:xfrm>
          <a:off x="2971800" y="5410200"/>
          <a:ext cx="609600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52959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959"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 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TC5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TC7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959"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TC5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TC7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2959"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TC5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TC7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480625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타원 4"/>
          <p:cNvSpPr/>
          <p:nvPr/>
        </p:nvSpPr>
        <p:spPr>
          <a:xfrm>
            <a:off x="4724400" y="1600200"/>
            <a:ext cx="457200" cy="457200"/>
          </a:xfrm>
          <a:prstGeom prst="ellipse">
            <a:avLst/>
          </a:prstGeom>
          <a:solidFill>
            <a:schemeClr val="bg1"/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1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" name="타원 5"/>
          <p:cNvSpPr/>
          <p:nvPr/>
        </p:nvSpPr>
        <p:spPr>
          <a:xfrm>
            <a:off x="4109222" y="3029954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4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7" name="타원 6"/>
          <p:cNvSpPr/>
          <p:nvPr/>
        </p:nvSpPr>
        <p:spPr>
          <a:xfrm>
            <a:off x="1827777" y="3046196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3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" name="타원 7"/>
          <p:cNvSpPr/>
          <p:nvPr/>
        </p:nvSpPr>
        <p:spPr>
          <a:xfrm>
            <a:off x="1837944" y="4622292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7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" name="타원 8"/>
          <p:cNvSpPr/>
          <p:nvPr/>
        </p:nvSpPr>
        <p:spPr>
          <a:xfrm>
            <a:off x="3019925" y="3750221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5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7" name="타원 16"/>
          <p:cNvSpPr/>
          <p:nvPr/>
        </p:nvSpPr>
        <p:spPr>
          <a:xfrm>
            <a:off x="5783580" y="2734056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6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8" name="타원 17"/>
          <p:cNvSpPr/>
          <p:nvPr/>
        </p:nvSpPr>
        <p:spPr>
          <a:xfrm>
            <a:off x="4786174" y="4315097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9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9" name="타원 18"/>
          <p:cNvSpPr/>
          <p:nvPr/>
        </p:nvSpPr>
        <p:spPr>
          <a:xfrm>
            <a:off x="6479771" y="3803904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10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8" name="타원 27"/>
          <p:cNvSpPr/>
          <p:nvPr/>
        </p:nvSpPr>
        <p:spPr>
          <a:xfrm>
            <a:off x="2944368" y="2042160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2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13" name="TextBox 212"/>
          <p:cNvSpPr txBox="1"/>
          <p:nvPr/>
        </p:nvSpPr>
        <p:spPr>
          <a:xfrm>
            <a:off x="3754656" y="175974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55" name="TextBox 354"/>
          <p:cNvSpPr txBox="1"/>
          <p:nvPr/>
        </p:nvSpPr>
        <p:spPr>
          <a:xfrm>
            <a:off x="3466615" y="280901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56" name="TextBox 355"/>
          <p:cNvSpPr txBox="1"/>
          <p:nvPr/>
        </p:nvSpPr>
        <p:spPr>
          <a:xfrm>
            <a:off x="3499446" y="3429596"/>
            <a:ext cx="272374" cy="184666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91" name="TextBox 390"/>
          <p:cNvSpPr txBox="1"/>
          <p:nvPr/>
        </p:nvSpPr>
        <p:spPr>
          <a:xfrm>
            <a:off x="2304551" y="252788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2" name="TextBox 391"/>
          <p:cNvSpPr txBox="1"/>
          <p:nvPr/>
        </p:nvSpPr>
        <p:spPr>
          <a:xfrm>
            <a:off x="2647303" y="287032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93" name="TextBox 392"/>
          <p:cNvSpPr txBox="1"/>
          <p:nvPr/>
        </p:nvSpPr>
        <p:spPr>
          <a:xfrm>
            <a:off x="5543024" y="2162151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6" name="TextBox 395"/>
          <p:cNvSpPr txBox="1"/>
          <p:nvPr/>
        </p:nvSpPr>
        <p:spPr>
          <a:xfrm>
            <a:off x="4795708" y="366133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01" name="TextBox 400"/>
          <p:cNvSpPr txBox="1"/>
          <p:nvPr/>
        </p:nvSpPr>
        <p:spPr>
          <a:xfrm>
            <a:off x="2362200" y="41148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02" name="TextBox 401"/>
          <p:cNvSpPr txBox="1"/>
          <p:nvPr/>
        </p:nvSpPr>
        <p:spPr>
          <a:xfrm>
            <a:off x="2662649" y="453010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20" name="TextBox 419"/>
          <p:cNvSpPr txBox="1"/>
          <p:nvPr/>
        </p:nvSpPr>
        <p:spPr>
          <a:xfrm>
            <a:off x="6479207" y="324886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21" name="TextBox 420"/>
          <p:cNvSpPr txBox="1"/>
          <p:nvPr/>
        </p:nvSpPr>
        <p:spPr>
          <a:xfrm>
            <a:off x="6157772" y="3531778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1" name="TextBox 430"/>
          <p:cNvSpPr txBox="1"/>
          <p:nvPr/>
        </p:nvSpPr>
        <p:spPr>
          <a:xfrm>
            <a:off x="3808889" y="3750073"/>
            <a:ext cx="325830" cy="184666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9" name="TextBox 438"/>
          <p:cNvSpPr txBox="1"/>
          <p:nvPr/>
        </p:nvSpPr>
        <p:spPr>
          <a:xfrm>
            <a:off x="4397479" y="384218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141" name="TextBox 140"/>
          <p:cNvSpPr txBox="1"/>
          <p:nvPr/>
        </p:nvSpPr>
        <p:spPr>
          <a:xfrm>
            <a:off x="546777" y="248342"/>
            <a:ext cx="3355406" cy="523220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altLang="ko-KR" sz="2800" dirty="0"/>
              <a:t>Example Network</a:t>
            </a:r>
            <a:endParaRPr lang="ko-KR" altLang="en-US" sz="2800" dirty="0"/>
          </a:p>
        </p:txBody>
      </p:sp>
      <p:cxnSp>
        <p:nvCxnSpPr>
          <p:cNvPr id="3" name="Straight Connector 2"/>
          <p:cNvCxnSpPr>
            <a:stCxn id="28" idx="6"/>
            <a:endCxn id="5" idx="2"/>
          </p:cNvCxnSpPr>
          <p:nvPr/>
        </p:nvCxnSpPr>
        <p:spPr bwMode="auto">
          <a:xfrm flipV="1">
            <a:off x="3401568" y="1828800"/>
            <a:ext cx="1322832" cy="44196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2" name="Straight Connector 11"/>
          <p:cNvCxnSpPr>
            <a:stCxn id="17" idx="1"/>
            <a:endCxn id="5" idx="5"/>
          </p:cNvCxnSpPr>
          <p:nvPr/>
        </p:nvCxnSpPr>
        <p:spPr bwMode="auto">
          <a:xfrm flipH="1" flipV="1">
            <a:off x="5114645" y="1990445"/>
            <a:ext cx="735890" cy="810566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4" name="Straight Connector 13"/>
          <p:cNvCxnSpPr>
            <a:stCxn id="6" idx="1"/>
            <a:endCxn id="28" idx="5"/>
          </p:cNvCxnSpPr>
          <p:nvPr/>
        </p:nvCxnSpPr>
        <p:spPr bwMode="auto">
          <a:xfrm flipH="1" flipV="1">
            <a:off x="3334613" y="2432405"/>
            <a:ext cx="841564" cy="664504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74" name="TextBox 73"/>
          <p:cNvSpPr txBox="1"/>
          <p:nvPr/>
        </p:nvSpPr>
        <p:spPr>
          <a:xfrm>
            <a:off x="3939328" y="22098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cxnSp>
        <p:nvCxnSpPr>
          <p:cNvPr id="11" name="Straight Connector 10"/>
          <p:cNvCxnSpPr>
            <a:stCxn id="7" idx="7"/>
            <a:endCxn id="28" idx="3"/>
          </p:cNvCxnSpPr>
          <p:nvPr/>
        </p:nvCxnSpPr>
        <p:spPr bwMode="auto">
          <a:xfrm flipV="1">
            <a:off x="2218022" y="2432405"/>
            <a:ext cx="793301" cy="680746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5" name="Straight Connector 14"/>
          <p:cNvCxnSpPr>
            <a:stCxn id="9" idx="7"/>
            <a:endCxn id="6" idx="3"/>
          </p:cNvCxnSpPr>
          <p:nvPr/>
        </p:nvCxnSpPr>
        <p:spPr bwMode="auto">
          <a:xfrm flipV="1">
            <a:off x="3410170" y="3420199"/>
            <a:ext cx="766007" cy="396977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1" name="Straight Connector 20"/>
          <p:cNvCxnSpPr>
            <a:stCxn id="18" idx="0"/>
            <a:endCxn id="6" idx="5"/>
          </p:cNvCxnSpPr>
          <p:nvPr/>
        </p:nvCxnSpPr>
        <p:spPr bwMode="auto">
          <a:xfrm flipH="1" flipV="1">
            <a:off x="4499467" y="3420199"/>
            <a:ext cx="515307" cy="894898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3" name="Straight Connector 22"/>
          <p:cNvCxnSpPr>
            <a:stCxn id="19" idx="0"/>
            <a:endCxn id="17" idx="5"/>
          </p:cNvCxnSpPr>
          <p:nvPr/>
        </p:nvCxnSpPr>
        <p:spPr bwMode="auto">
          <a:xfrm flipH="1" flipV="1">
            <a:off x="6173825" y="3124301"/>
            <a:ext cx="534546" cy="679603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3" name="Straight Connector 12"/>
          <p:cNvCxnSpPr>
            <a:stCxn id="8" idx="7"/>
            <a:endCxn id="9" idx="3"/>
          </p:cNvCxnSpPr>
          <p:nvPr/>
        </p:nvCxnSpPr>
        <p:spPr bwMode="auto">
          <a:xfrm flipV="1">
            <a:off x="2228189" y="4140466"/>
            <a:ext cx="858691" cy="548781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58" name="TextBox 57"/>
          <p:cNvSpPr txBox="1"/>
          <p:nvPr/>
        </p:nvSpPr>
        <p:spPr>
          <a:xfrm>
            <a:off x="5196723" y="241329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cxnSp>
        <p:nvCxnSpPr>
          <p:cNvPr id="59" name="직선 연결선 173"/>
          <p:cNvCxnSpPr/>
          <p:nvPr/>
        </p:nvCxnSpPr>
        <p:spPr>
          <a:xfrm flipH="1" flipV="1">
            <a:off x="5105401" y="2057400"/>
            <a:ext cx="678179" cy="73622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176"/>
          <p:cNvCxnSpPr/>
          <p:nvPr/>
        </p:nvCxnSpPr>
        <p:spPr>
          <a:xfrm>
            <a:off x="5201222" y="1981200"/>
            <a:ext cx="589978" cy="657947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연결선 31"/>
          <p:cNvCxnSpPr/>
          <p:nvPr/>
        </p:nvCxnSpPr>
        <p:spPr>
          <a:xfrm flipV="1">
            <a:off x="3505200" y="1752600"/>
            <a:ext cx="1093481" cy="370960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138"/>
          <p:cNvCxnSpPr/>
          <p:nvPr/>
        </p:nvCxnSpPr>
        <p:spPr>
          <a:xfrm flipV="1">
            <a:off x="3556581" y="1944411"/>
            <a:ext cx="1042100" cy="351285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연결선 141"/>
          <p:cNvCxnSpPr/>
          <p:nvPr/>
        </p:nvCxnSpPr>
        <p:spPr>
          <a:xfrm flipV="1">
            <a:off x="2248662" y="2429344"/>
            <a:ext cx="659129" cy="577552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연결선 142"/>
          <p:cNvCxnSpPr/>
          <p:nvPr/>
        </p:nvCxnSpPr>
        <p:spPr>
          <a:xfrm flipV="1">
            <a:off x="2376970" y="2513106"/>
            <a:ext cx="671030" cy="57712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직선 연결선 160"/>
          <p:cNvCxnSpPr/>
          <p:nvPr/>
        </p:nvCxnSpPr>
        <p:spPr>
          <a:xfrm flipH="1" flipV="1">
            <a:off x="3429000" y="2456616"/>
            <a:ext cx="687467" cy="51518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연결선 164"/>
          <p:cNvCxnSpPr/>
          <p:nvPr/>
        </p:nvCxnSpPr>
        <p:spPr>
          <a:xfrm>
            <a:off x="3368318" y="2560070"/>
            <a:ext cx="638010" cy="48793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3733800" y="25146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cxnSp>
        <p:nvCxnSpPr>
          <p:cNvPr id="81" name="직선 연결선 192"/>
          <p:cNvCxnSpPr/>
          <p:nvPr/>
        </p:nvCxnSpPr>
        <p:spPr>
          <a:xfrm flipH="1" flipV="1">
            <a:off x="6316821" y="3191256"/>
            <a:ext cx="391551" cy="52554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연결선 195"/>
          <p:cNvCxnSpPr/>
          <p:nvPr/>
        </p:nvCxnSpPr>
        <p:spPr>
          <a:xfrm>
            <a:off x="6172200" y="3276600"/>
            <a:ext cx="415049" cy="480293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연결선 214"/>
          <p:cNvCxnSpPr/>
          <p:nvPr/>
        </p:nvCxnSpPr>
        <p:spPr>
          <a:xfrm>
            <a:off x="4638917" y="3494806"/>
            <a:ext cx="390283" cy="667479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직선 연결선 215"/>
          <p:cNvCxnSpPr/>
          <p:nvPr/>
        </p:nvCxnSpPr>
        <p:spPr>
          <a:xfrm flipH="1" flipV="1">
            <a:off x="4498065" y="3576469"/>
            <a:ext cx="385945" cy="65346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직선 연결선 180"/>
          <p:cNvCxnSpPr/>
          <p:nvPr/>
        </p:nvCxnSpPr>
        <p:spPr>
          <a:xfrm flipV="1">
            <a:off x="3429000" y="3405889"/>
            <a:ext cx="592139" cy="310555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직선 연결선 183"/>
          <p:cNvCxnSpPr/>
          <p:nvPr/>
        </p:nvCxnSpPr>
        <p:spPr>
          <a:xfrm flipH="1">
            <a:off x="3410170" y="3530630"/>
            <a:ext cx="723473" cy="35557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연결선 326"/>
          <p:cNvCxnSpPr/>
          <p:nvPr/>
        </p:nvCxnSpPr>
        <p:spPr>
          <a:xfrm flipH="1">
            <a:off x="2336636" y="4162285"/>
            <a:ext cx="635164" cy="367818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직선 연결선 327"/>
          <p:cNvCxnSpPr/>
          <p:nvPr/>
        </p:nvCxnSpPr>
        <p:spPr>
          <a:xfrm flipV="1">
            <a:off x="2376447" y="4256334"/>
            <a:ext cx="671553" cy="468066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5142637" y="1524000"/>
            <a:ext cx="877163" cy="461665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R1 = 1.0</a:t>
            </a:r>
          </a:p>
          <a:p>
            <a:r>
              <a:rPr lang="en-US" sz="1200" dirty="0">
                <a:solidFill>
                  <a:srgbClr val="FF0000"/>
                </a:solidFill>
              </a:rPr>
              <a:t>L1 = 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495800" y="3276600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L4 = 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270967" y="2085201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L2 = 1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324600" y="2679412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L6 = 1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166567" y="4599801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L9 = 3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912011" y="3990201"/>
            <a:ext cx="798617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L10 = 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143000" y="3048000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L3 = 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044680" y="4285425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L5 = 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209800" y="4828401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L7 = 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276719" y="1839037"/>
            <a:ext cx="822661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R2= 0.9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303474" y="2512109"/>
            <a:ext cx="87716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R6 = 0.8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503834" y="3077416"/>
            <a:ext cx="974947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R4 = 0.81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137233" y="2767485"/>
            <a:ext cx="1042479" cy="276999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/>
          <a:p>
            <a:r>
              <a:rPr lang="en-US" sz="1200">
                <a:solidFill>
                  <a:srgbClr val="FF0000"/>
                </a:solidFill>
              </a:rPr>
              <a:t>R3= 0.72</a:t>
            </a:r>
            <a:endParaRPr lang="en-US" sz="1200" dirty="0">
              <a:solidFill>
                <a:srgbClr val="FF0000"/>
              </a:solidFill>
            </a:endParaRPr>
          </a:p>
        </p:txBody>
      </p:sp>
      <p:sp>
        <p:nvSpPr>
          <p:cNvPr id="86" name="TextBox 85"/>
          <p:cNvSpPr txBox="1"/>
          <p:nvPr/>
        </p:nvSpPr>
        <p:spPr>
          <a:xfrm>
            <a:off x="6922495" y="3830949"/>
            <a:ext cx="1072730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R10 </a:t>
            </a:r>
            <a:r>
              <a:rPr lang="en-US" sz="1200">
                <a:solidFill>
                  <a:srgbClr val="FF0000"/>
                </a:solidFill>
              </a:rPr>
              <a:t>= 0.72</a:t>
            </a:r>
            <a:endParaRPr lang="en-US" sz="1200" dirty="0">
              <a:solidFill>
                <a:srgbClr val="FF0000"/>
              </a:solidFill>
            </a:endParaRPr>
          </a:p>
        </p:txBody>
      </p:sp>
      <p:sp>
        <p:nvSpPr>
          <p:cNvPr id="87" name="TextBox 86"/>
          <p:cNvSpPr txBox="1"/>
          <p:nvPr/>
        </p:nvSpPr>
        <p:spPr>
          <a:xfrm>
            <a:off x="5168050" y="4435115"/>
            <a:ext cx="1072730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R9 = 0.648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3033726" y="4501928"/>
            <a:ext cx="1072730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R5 </a:t>
            </a:r>
            <a:r>
              <a:rPr lang="en-US" sz="1200">
                <a:solidFill>
                  <a:srgbClr val="FF0000"/>
                </a:solidFill>
              </a:rPr>
              <a:t>= 0.729</a:t>
            </a:r>
            <a:endParaRPr lang="en-US" sz="1200" dirty="0">
              <a:solidFill>
                <a:srgbClr val="FF0000"/>
              </a:solidFill>
            </a:endParaRPr>
          </a:p>
        </p:txBody>
      </p:sp>
      <p:sp>
        <p:nvSpPr>
          <p:cNvPr id="105" name="TextBox 104"/>
          <p:cNvSpPr txBox="1"/>
          <p:nvPr/>
        </p:nvSpPr>
        <p:spPr>
          <a:xfrm>
            <a:off x="2182834" y="5096236"/>
            <a:ext cx="1774121" cy="276999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R7 = 0.656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3046010" y="5841525"/>
            <a:ext cx="28083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vi-VN" sz="1200" dirty="0"/>
              <a:t>Finally, we have the tree topology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027559928"/>
      </p:ext>
    </p:extLst>
  </p:cSld>
  <p:clrMapOvr>
    <a:masterClrMapping/>
  </p:clrMapOvr>
</p:sld>
</file>

<file path=ppt/theme/theme1.xml><?xml version="1.0" encoding="utf-8"?>
<a:theme xmlns:a="http://schemas.openxmlformats.org/drawingml/2006/main" name="기본 디자인">
  <a:themeElements>
    <a:clrScheme name="기본 디자인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기본 디자인">
      <a:majorFont>
        <a:latin typeface="MS Reference Sans Serif"/>
        <a:ea typeface="HY견고딕"/>
        <a:cs typeface=""/>
      </a:majorFont>
      <a:minorFont>
        <a:latin typeface="MS Reference Sans Serif"/>
        <a:ea typeface="돋움체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noFill/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rtlCol="0" anchor="ctr" anchorCtr="1" compatLnSpc="1">
        <a:prstTxWarp prst="textNoShape">
          <a:avLst/>
        </a:prstTxWarp>
      </a:bodyPr>
      <a:lstStyle>
        <a:defPPr marL="0" marR="0" indent="0" algn="ctr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sz="1600" b="0" i="0" u="none" strike="noStrike" cap="none" normalizeH="0" baseline="0" dirty="0" smtClean="0">
            <a:ln>
              <a:noFill/>
            </a:ln>
            <a:solidFill>
              <a:schemeClr val="tx1"/>
            </a:solidFill>
            <a:effectLst/>
            <a:latin typeface="+mn-lt"/>
            <a:ea typeface="굴림" pitchFamily="50" charset="-127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굴림" pitchFamily="50" charset="-127"/>
            <a:ea typeface="굴림" pitchFamily="50" charset="-127"/>
          </a:defRPr>
        </a:defPPr>
      </a:lstStyle>
    </a:lnDef>
    <a:txDef>
      <a:spPr/>
      <a:bodyPr vert="horz" wrap="none" lIns="91440" tIns="45720" rIns="91440" bIns="45720" rtlCol="0" anchor="ctr">
        <a:spAutoFit/>
      </a:bodyPr>
      <a:lstStyle>
        <a:defPPr>
          <a:defRPr sz="1600" dirty="0" smtClean="0"/>
        </a:defPPr>
      </a:lstStyle>
    </a:tx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99326</TotalTime>
  <Words>2172</Words>
  <Application>Microsoft Office PowerPoint</Application>
  <PresentationFormat>On-screen Show (4:3)</PresentationFormat>
  <Paragraphs>1069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4" baseType="lpstr">
      <vt:lpstr>굴림</vt:lpstr>
      <vt:lpstr>맑은 고딕</vt:lpstr>
      <vt:lpstr>Arial</vt:lpstr>
      <vt:lpstr>Calibri</vt:lpstr>
      <vt:lpstr>MS Reference Sans Serif</vt:lpstr>
      <vt:lpstr>Wingdings</vt:lpstr>
      <vt:lpstr>기본 디자인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Mr Tan</dc:creator>
  <cp:lastModifiedBy>Mr Tan</cp:lastModifiedBy>
  <cp:revision>1018</cp:revision>
  <cp:lastPrinted>2018-01-05T07:02:08Z</cp:lastPrinted>
  <dcterms:created xsi:type="dcterms:W3CDTF">2017-07-31T05:47:21Z</dcterms:created>
  <dcterms:modified xsi:type="dcterms:W3CDTF">2020-09-23T14:11:24Z</dcterms:modified>
</cp:coreProperties>
</file>
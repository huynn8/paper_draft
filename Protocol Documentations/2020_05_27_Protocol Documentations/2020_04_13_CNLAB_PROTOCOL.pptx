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76" r:id="rId7"/>
    <p:sldId id="277" r:id="rId8"/>
    <p:sldId id="278" r:id="rId9"/>
    <p:sldId id="261" r:id="rId10"/>
    <p:sldId id="304" r:id="rId11"/>
    <p:sldId id="262" r:id="rId12"/>
    <p:sldId id="305" r:id="rId13"/>
    <p:sldId id="265" r:id="rId14"/>
    <p:sldId id="306" r:id="rId15"/>
    <p:sldId id="307" r:id="rId16"/>
    <p:sldId id="308" r:id="rId17"/>
    <p:sldId id="266" r:id="rId18"/>
    <p:sldId id="273" r:id="rId19"/>
    <p:sldId id="282" r:id="rId20"/>
    <p:sldId id="274" r:id="rId21"/>
    <p:sldId id="283" r:id="rId22"/>
    <p:sldId id="284" r:id="rId23"/>
    <p:sldId id="27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8"/>
    <p:restoredTop sz="94621"/>
  </p:normalViewPr>
  <p:slideViewPr>
    <p:cSldViewPr snapToGrid="0" snapToObject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16EC84-E442-824B-954D-2C321762CEF7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35B622-68D5-F141-B340-69FCC55EB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773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2636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747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4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253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45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96CA-A114-CA4B-82AC-764C61C84207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C4175-475F-754E-9967-6CCA73D87331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FA9AF-E56E-FA45-B6A5-7E4244D835B0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3F06-576F-A947-ABC9-3CBBAAAB46D9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B1B93-D984-CE48-8011-C44628B8B0BB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136D-65C7-8246-A179-B846ABAD6179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93604-4E2B-5941-9D45-CD703C845843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A876D-50D5-E448-BB1E-E3D3E5E67046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FEAAF-D565-C545-9F1B-04D2EC0F401C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CB748-C492-4E40-9B26-B3D4232C58B7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F7E4D-78B4-8E4E-85CD-032BABD80B7D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BA1B48-0FA3-3848-8EF4-C8FCF50B129C}" type="datetime1">
              <a:rPr lang="en-US" smtClean="0"/>
              <a:t>1/19/2021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73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CNLAB PROTOCOL</a:t>
            </a:r>
          </a:p>
        </p:txBody>
      </p:sp>
    </p:spTree>
    <p:extLst>
      <p:ext uri="{BB962C8B-B14F-4D97-AF65-F5344CB8AC3E}">
        <p14:creationId xmlns:p14="http://schemas.microsoft.com/office/powerpoint/2010/main" val="777891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Development environment: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Sensor nodes: </a:t>
            </a:r>
            <a:r>
              <a:rPr lang="en-US" sz="2000" dirty="0" err="1"/>
              <a:t>Zoulertia</a:t>
            </a:r>
            <a:r>
              <a:rPr lang="en-US" sz="2000" dirty="0"/>
              <a:t> RE-Mote B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Scheduling Server: Raspberry Pi 3 Model B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OS: </a:t>
            </a:r>
            <a:r>
              <a:rPr lang="en-US" sz="2000" dirty="0" err="1"/>
              <a:t>Contiki</a:t>
            </a:r>
            <a:r>
              <a:rPr lang="en-US" sz="2000" dirty="0"/>
              <a:t>-NG</a:t>
            </a:r>
          </a:p>
          <a:p>
            <a:r>
              <a:rPr lang="en-US" sz="2400" dirty="0"/>
              <a:t>Precondition: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Each sensor nodes has an unique ID.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The coordinator will be started after another sensor nodes</a:t>
            </a:r>
          </a:p>
          <a:p>
            <a:pPr lvl="1">
              <a:buFont typeface="Arial" charset="0"/>
              <a:buChar char="•"/>
            </a:pPr>
            <a:endParaRPr lang="en-US" sz="20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615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</a:t>
            </a:fld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1312984" y="2250831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INITIALIZE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652" y="2236764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MEASURE LINK QUALITY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10195" y="2235701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MAKE ROUTING STATE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944" y="2236764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COLLECT NODE INFORMATION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82200" y="2235701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MAKE SCHEDULE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82199" y="3756709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DATA TRANSMISSION STATE</a:t>
            </a:r>
          </a:p>
        </p:txBody>
      </p:sp>
      <p:cxnSp>
        <p:nvCxnSpPr>
          <p:cNvPr id="12" name="Straight Arrow Connector 11"/>
          <p:cNvCxnSpPr>
            <a:stCxn id="4" idx="3"/>
            <a:endCxn id="5" idx="1"/>
          </p:cNvCxnSpPr>
          <p:nvPr/>
        </p:nvCxnSpPr>
        <p:spPr>
          <a:xfrm flipV="1">
            <a:off x="2902633" y="2588456"/>
            <a:ext cx="558019" cy="14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5" idx="3"/>
          </p:cNvCxnSpPr>
          <p:nvPr/>
        </p:nvCxnSpPr>
        <p:spPr>
          <a:xfrm>
            <a:off x="5050301" y="2588456"/>
            <a:ext cx="558019" cy="14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7" idx="3"/>
            <a:endCxn id="8" idx="1"/>
          </p:cNvCxnSpPr>
          <p:nvPr/>
        </p:nvCxnSpPr>
        <p:spPr>
          <a:xfrm>
            <a:off x="7199844" y="2587393"/>
            <a:ext cx="436100" cy="1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8" idx="3"/>
            <a:endCxn id="9" idx="1"/>
          </p:cNvCxnSpPr>
          <p:nvPr/>
        </p:nvCxnSpPr>
        <p:spPr>
          <a:xfrm flipV="1">
            <a:off x="9225593" y="2587393"/>
            <a:ext cx="756607" cy="1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9" idx="2"/>
            <a:endCxn id="10" idx="0"/>
          </p:cNvCxnSpPr>
          <p:nvPr/>
        </p:nvCxnSpPr>
        <p:spPr>
          <a:xfrm flipH="1">
            <a:off x="10777024" y="2939085"/>
            <a:ext cx="1" cy="817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95420" y="5500468"/>
            <a:ext cx="3062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1: Protocol operation state</a:t>
            </a:r>
          </a:p>
        </p:txBody>
      </p:sp>
    </p:spTree>
    <p:extLst>
      <p:ext uri="{BB962C8B-B14F-4D97-AF65-F5344CB8AC3E}">
        <p14:creationId xmlns:p14="http://schemas.microsoft.com/office/powerpoint/2010/main" val="1795587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79" y="1804056"/>
            <a:ext cx="8669021" cy="640991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/>
              <a:t>At initialize state, each node assigned in orchestra </a:t>
            </a:r>
            <a:r>
              <a:rPr lang="en-US" sz="2000" dirty="0" err="1"/>
              <a:t>slotframe</a:t>
            </a:r>
            <a:r>
              <a:rPr lang="en-US" sz="2000" dirty="0"/>
              <a:t>.</a:t>
            </a:r>
          </a:p>
          <a:p>
            <a:r>
              <a:rPr lang="en-US" sz="2000" dirty="0"/>
              <a:t>Implemented in /</a:t>
            </a:r>
            <a:r>
              <a:rPr lang="en-US" sz="2000" dirty="0" err="1"/>
              <a:t>contiki</a:t>
            </a:r>
            <a:r>
              <a:rPr lang="en-US" sz="2000" dirty="0"/>
              <a:t>-ng/</a:t>
            </a:r>
            <a:r>
              <a:rPr lang="en-US" sz="2000" dirty="0" err="1"/>
              <a:t>os</a:t>
            </a:r>
            <a:r>
              <a:rPr lang="en-US" sz="2000" dirty="0"/>
              <a:t>/services/orchestra/</a:t>
            </a:r>
            <a:r>
              <a:rPr lang="en-US" sz="2000" dirty="0" err="1"/>
              <a:t>cnlab</a:t>
            </a:r>
            <a:r>
              <a:rPr lang="en-US" sz="2000" dirty="0"/>
              <a:t>-orchestra-rule-</a:t>
            </a:r>
            <a:r>
              <a:rPr lang="en-US" sz="2000" dirty="0" err="1"/>
              <a:t>eb</a:t>
            </a:r>
            <a:r>
              <a:rPr lang="en-US" sz="2000" dirty="0"/>
              <a:t>-</a:t>
            </a:r>
            <a:r>
              <a:rPr lang="en-US" sz="2000" dirty="0" err="1"/>
              <a:t>period.c</a:t>
            </a:r>
            <a:endParaRPr lang="en-US" sz="2000" dirty="0"/>
          </a:p>
          <a:p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0850539"/>
              </p:ext>
            </p:extLst>
          </p:nvPr>
        </p:nvGraphicFramePr>
        <p:xfrm>
          <a:off x="1097280" y="2634828"/>
          <a:ext cx="8054444" cy="34150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2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43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86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71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9769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26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5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90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9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85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77446" y="2314132"/>
            <a:ext cx="814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542" y="2432850"/>
            <a:ext cx="774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Node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3479" y="2380828"/>
            <a:ext cx="15377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Tx</a:t>
            </a:r>
            <a:r>
              <a:rPr lang="en-US" sz="1400" dirty="0"/>
              <a:t>: Transmit</a:t>
            </a:r>
          </a:p>
          <a:p>
            <a:r>
              <a:rPr lang="en-US" sz="1400" dirty="0"/>
              <a:t>Rx: Receive</a:t>
            </a:r>
          </a:p>
          <a:p>
            <a:endParaRPr lang="en-US" sz="1400" dirty="0"/>
          </a:p>
          <a:p>
            <a:r>
              <a:rPr lang="en-US" sz="1400" dirty="0"/>
              <a:t>Timeslot 0 -&gt; 7: Assigned for Node 1 -&gt; 8 respectively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2652" y="6075398"/>
            <a:ext cx="529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1: Example of Orchestra </a:t>
            </a:r>
            <a:r>
              <a:rPr lang="en-US" dirty="0" err="1"/>
              <a:t>slotframe</a:t>
            </a:r>
            <a:r>
              <a:rPr lang="en-US" dirty="0"/>
              <a:t> with 8 nodes.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7371" y="5952"/>
            <a:ext cx="2059756" cy="1696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05523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Coordinator broadcast EB packet at timeslot 0.</a:t>
            </a:r>
          </a:p>
          <a:p>
            <a:pPr>
              <a:buFont typeface="Arial" charset="0"/>
              <a:buChar char="•"/>
            </a:pPr>
            <a:r>
              <a:rPr lang="en-US" dirty="0"/>
              <a:t> All the sensor node in scan mode.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849772" y="2265355"/>
            <a:ext cx="543529" cy="361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8662506" y="2433711"/>
            <a:ext cx="0" cy="34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8876715" y="2307101"/>
            <a:ext cx="396701" cy="469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94138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If the node receive EB packet, it will join the network and broadcast EB packet in it assigned timeslot.(Node 4 (timeslot 3))</a:t>
            </a:r>
          </a:p>
          <a:p>
            <a:r>
              <a:rPr lang="en-US" dirty="0"/>
              <a:t>After sensor node join to the network, it will broadcast its EB packet.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7105144" y="2980267"/>
            <a:ext cx="254177" cy="4100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863840" y="2795176"/>
            <a:ext cx="418838" cy="703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 flipV="1">
            <a:off x="7863840" y="2865516"/>
            <a:ext cx="418838" cy="86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8820443" y="2865516"/>
            <a:ext cx="309489" cy="28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H="1">
            <a:off x="8820443" y="2994335"/>
            <a:ext cx="3967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8610600" y="3263705"/>
            <a:ext cx="0" cy="304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9654275" y="3145696"/>
            <a:ext cx="447040" cy="422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endCxn id="7" idx="4"/>
          </p:cNvCxnSpPr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359321" y="3145696"/>
            <a:ext cx="1026944" cy="422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>
            <a:off x="7683524" y="3130456"/>
            <a:ext cx="469876" cy="5022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99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r>
              <a:rPr lang="en-US" sz="2000" dirty="0">
                <a:sym typeface="Wingdings"/>
              </a:rPr>
              <a:t>We predefine MAX_DEPTH_LEVEL(16) for initialize state to wait for all node receive EB and join the network.</a:t>
            </a:r>
          </a:p>
          <a:p>
            <a:r>
              <a:rPr lang="en-US" sz="2000" dirty="0">
                <a:sym typeface="Wingdings"/>
              </a:rPr>
              <a:t>An event timer will be </a:t>
            </a:r>
            <a:r>
              <a:rPr lang="en-US" sz="2000" dirty="0" err="1">
                <a:sym typeface="Wingdings"/>
              </a:rPr>
              <a:t>triggerred</a:t>
            </a:r>
            <a:r>
              <a:rPr lang="en-US" sz="2000" dirty="0">
                <a:sym typeface="Wingdings"/>
              </a:rPr>
              <a:t> after this time.</a:t>
            </a:r>
          </a:p>
          <a:p>
            <a:r>
              <a:rPr lang="en-US" sz="2000" dirty="0">
                <a:sym typeface="Wingdings"/>
              </a:rPr>
              <a:t>Implemented in /</a:t>
            </a:r>
            <a:r>
              <a:rPr lang="en-US" sz="2000" dirty="0" err="1">
                <a:sym typeface="Wingdings"/>
              </a:rPr>
              <a:t>contiki</a:t>
            </a:r>
            <a:r>
              <a:rPr lang="en-US" sz="2000" dirty="0">
                <a:sym typeface="Wingdings"/>
              </a:rPr>
              <a:t>-ng/</a:t>
            </a:r>
            <a:r>
              <a:rPr lang="en-US" sz="2000" dirty="0" err="1">
                <a:sym typeface="Wingdings"/>
              </a:rPr>
              <a:t>os</a:t>
            </a:r>
            <a:r>
              <a:rPr lang="en-US" sz="2000" dirty="0">
                <a:sym typeface="Wingdings"/>
              </a:rPr>
              <a:t>/net/mac/</a:t>
            </a:r>
            <a:r>
              <a:rPr lang="en-US" sz="2000" dirty="0" err="1">
                <a:sym typeface="Wingdings"/>
              </a:rPr>
              <a:t>tsch</a:t>
            </a:r>
            <a:r>
              <a:rPr lang="en-US" sz="2000" dirty="0">
                <a:sym typeface="Wingdings"/>
              </a:rPr>
              <a:t>/</a:t>
            </a:r>
            <a:r>
              <a:rPr lang="en-US" sz="2000" dirty="0" err="1">
                <a:sym typeface="Wingdings"/>
              </a:rPr>
              <a:t>cnlab</a:t>
            </a:r>
            <a:r>
              <a:rPr lang="en-US" sz="2000" dirty="0">
                <a:sym typeface="Wingdings"/>
              </a:rPr>
              <a:t>-</a:t>
            </a:r>
            <a:r>
              <a:rPr lang="en-US" sz="2000" dirty="0" err="1">
                <a:sym typeface="Wingdings"/>
              </a:rPr>
              <a:t>tsch</a:t>
            </a:r>
            <a:r>
              <a:rPr lang="en-US" sz="2000" dirty="0">
                <a:sym typeface="Wingdings"/>
              </a:rPr>
              <a:t>-measure-link-</a:t>
            </a:r>
            <a:r>
              <a:rPr lang="en-US" sz="2000" dirty="0" err="1">
                <a:sym typeface="Wingdings"/>
              </a:rPr>
              <a:t>quality.c</a:t>
            </a:r>
            <a:endParaRPr lang="en-US" sz="2000" dirty="0">
              <a:sym typeface="Wingdings"/>
            </a:endParaRPr>
          </a:p>
          <a:p>
            <a:r>
              <a:rPr lang="en-US" sz="2000" dirty="0">
                <a:sym typeface="Wingdings"/>
              </a:rPr>
              <a:t>PROCESS(</a:t>
            </a:r>
            <a:r>
              <a:rPr lang="en-US" sz="2000" dirty="0" err="1">
                <a:sym typeface="Wingdings"/>
              </a:rPr>
              <a:t>cnlab_measure_link_process</a:t>
            </a:r>
            <a:r>
              <a:rPr lang="en-US" sz="2000" dirty="0">
                <a:sym typeface="Wingdings"/>
              </a:rPr>
              <a:t>, "measure link process");</a:t>
            </a:r>
          </a:p>
          <a:p>
            <a:endParaRPr lang="en-US" sz="2000" dirty="0">
              <a:sym typeface="Wingding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865034" y="3998515"/>
            <a:ext cx="105507" cy="432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6"/>
            <a:endCxn id="16" idx="2"/>
          </p:cNvCxnSpPr>
          <p:nvPr/>
        </p:nvCxnSpPr>
        <p:spPr>
          <a:xfrm>
            <a:off x="7739149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16" idx="6"/>
            <a:endCxn id="13" idx="2"/>
          </p:cNvCxnSpPr>
          <p:nvPr/>
        </p:nvCxnSpPr>
        <p:spPr>
          <a:xfrm>
            <a:off x="8766093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2" idx="5"/>
            <a:endCxn id="10" idx="1"/>
          </p:cNvCxnSpPr>
          <p:nvPr/>
        </p:nvCxnSpPr>
        <p:spPr>
          <a:xfrm>
            <a:off x="7683524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2" idx="4"/>
            <a:endCxn id="14" idx="0"/>
          </p:cNvCxnSpPr>
          <p:nvPr/>
        </p:nvCxnSpPr>
        <p:spPr>
          <a:xfrm flipH="1">
            <a:off x="7160455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14" idx="6"/>
            <a:endCxn id="16" idx="3"/>
          </p:cNvCxnSpPr>
          <p:nvPr/>
        </p:nvCxnSpPr>
        <p:spPr>
          <a:xfrm flipV="1">
            <a:off x="7350369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10" idx="0"/>
            <a:endCxn id="16" idx="4"/>
          </p:cNvCxnSpPr>
          <p:nvPr/>
        </p:nvCxnSpPr>
        <p:spPr>
          <a:xfrm flipV="1">
            <a:off x="8472592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stCxn id="90" idx="1"/>
            <a:endCxn id="13" idx="5"/>
          </p:cNvCxnSpPr>
          <p:nvPr/>
        </p:nvCxnSpPr>
        <p:spPr>
          <a:xfrm flipH="1" flipV="1">
            <a:off x="9598650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14" idx="5"/>
            <a:endCxn id="10" idx="2"/>
          </p:cNvCxnSpPr>
          <p:nvPr/>
        </p:nvCxnSpPr>
        <p:spPr>
          <a:xfrm>
            <a:off x="7294744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7125608" y="4098689"/>
            <a:ext cx="1281435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52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ym typeface="Wingdings"/>
            </a:endParaRPr>
          </a:p>
          <a:p>
            <a:pPr marL="0" indent="0">
              <a:buNone/>
            </a:pPr>
            <a:r>
              <a:rPr lang="en-US" dirty="0">
                <a:sym typeface="Wingdings"/>
              </a:rPr>
              <a:t> </a:t>
            </a:r>
            <a:r>
              <a:rPr lang="en-US" dirty="0"/>
              <a:t>After that it change to Measure Link Quality state.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49" name="Straight Connector 48"/>
          <p:cNvCxnSpPr/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6"/>
            <a:endCxn id="16" idx="2"/>
          </p:cNvCxnSpPr>
          <p:nvPr/>
        </p:nvCxnSpPr>
        <p:spPr>
          <a:xfrm>
            <a:off x="7739149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16" idx="6"/>
            <a:endCxn id="13" idx="2"/>
          </p:cNvCxnSpPr>
          <p:nvPr/>
        </p:nvCxnSpPr>
        <p:spPr>
          <a:xfrm>
            <a:off x="8766093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2" idx="5"/>
            <a:endCxn id="10" idx="1"/>
          </p:cNvCxnSpPr>
          <p:nvPr/>
        </p:nvCxnSpPr>
        <p:spPr>
          <a:xfrm>
            <a:off x="7683524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2" idx="4"/>
            <a:endCxn id="14" idx="0"/>
          </p:cNvCxnSpPr>
          <p:nvPr/>
        </p:nvCxnSpPr>
        <p:spPr>
          <a:xfrm flipH="1">
            <a:off x="7160455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14" idx="6"/>
            <a:endCxn id="16" idx="3"/>
          </p:cNvCxnSpPr>
          <p:nvPr/>
        </p:nvCxnSpPr>
        <p:spPr>
          <a:xfrm flipV="1">
            <a:off x="7350369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10" idx="0"/>
            <a:endCxn id="16" idx="4"/>
          </p:cNvCxnSpPr>
          <p:nvPr/>
        </p:nvCxnSpPr>
        <p:spPr>
          <a:xfrm flipV="1">
            <a:off x="8472592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stCxn id="90" idx="1"/>
            <a:endCxn id="13" idx="5"/>
          </p:cNvCxnSpPr>
          <p:nvPr/>
        </p:nvCxnSpPr>
        <p:spPr>
          <a:xfrm flipH="1" flipV="1">
            <a:off x="9598650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14" idx="5"/>
            <a:endCxn id="10" idx="2"/>
          </p:cNvCxnSpPr>
          <p:nvPr/>
        </p:nvCxnSpPr>
        <p:spPr>
          <a:xfrm>
            <a:off x="7294744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14" idx="4"/>
            <a:endCxn id="11" idx="0"/>
          </p:cNvCxnSpPr>
          <p:nvPr/>
        </p:nvCxnSpPr>
        <p:spPr>
          <a:xfrm flipH="1">
            <a:off x="6915230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1" idx="6"/>
            <a:endCxn id="10" idx="3"/>
          </p:cNvCxnSpPr>
          <p:nvPr/>
        </p:nvCxnSpPr>
        <p:spPr>
          <a:xfrm flipV="1">
            <a:off x="7105144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111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951828" cy="4023360"/>
          </a:xfrm>
        </p:spPr>
        <p:txBody>
          <a:bodyPr>
            <a:normAutofit fontScale="77500" lnSpcReduction="2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We have predefine NUMBER_OF_PROBE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value to determine how many PROBE packet will be transmitted between each link. (NUMBER_OF_PROBE = 500)</a:t>
            </a:r>
          </a:p>
          <a:p>
            <a:pPr>
              <a:buFont typeface="Arial" charset="0"/>
              <a:buChar char="•"/>
            </a:pPr>
            <a:r>
              <a:rPr lang="en-US" dirty="0"/>
              <a:t> In Measure Link Quality(MLQ) state, all nodes create PROBE packet contains its node id and sequence number. PROBE(id, </a:t>
            </a:r>
            <a:r>
              <a:rPr lang="en-US" dirty="0" err="1"/>
              <a:t>seqno</a:t>
            </a:r>
            <a:r>
              <a:rPr lang="en-US" dirty="0"/>
              <a:t>).</a:t>
            </a:r>
          </a:p>
          <a:p>
            <a:pPr>
              <a:buFont typeface="Arial" charset="0"/>
              <a:buChar char="•"/>
            </a:pPr>
            <a:r>
              <a:rPr lang="en-US" dirty="0"/>
              <a:t> PROBE packets broadcasted in orchestra </a:t>
            </a:r>
            <a:r>
              <a:rPr lang="en-US" dirty="0" err="1"/>
              <a:t>slotframe</a:t>
            </a:r>
            <a:r>
              <a:rPr lang="en-US" dirty="0"/>
              <a:t> (</a:t>
            </a:r>
            <a:r>
              <a:rPr lang="en-US" dirty="0">
                <a:sym typeface="Wingdings"/>
              </a:rPr>
              <a:t>Same </a:t>
            </a:r>
            <a:r>
              <a:rPr lang="en-US" dirty="0" err="1">
                <a:sym typeface="Wingdings"/>
              </a:rPr>
              <a:t>slotframe</a:t>
            </a:r>
            <a:r>
              <a:rPr lang="en-US" dirty="0">
                <a:sym typeface="Wingdings"/>
              </a:rPr>
              <a:t> with Initialize state (broadcast)</a:t>
            </a:r>
            <a:r>
              <a:rPr lang="en-US" dirty="0"/>
              <a:t>)</a:t>
            </a:r>
          </a:p>
          <a:p>
            <a:pPr>
              <a:buFont typeface="Wingdings"/>
              <a:buChar char="è"/>
            </a:pPr>
            <a:r>
              <a:rPr lang="en-US" dirty="0">
                <a:sym typeface="Wingdings"/>
              </a:rPr>
              <a:t>All the neighbor node listen and count the number of the received PROBE packet.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9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3" name="Oval 42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44" name="Oval 43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5" name="Oval 44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6" name="Oval 45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7" name="Oval 46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8" name="Oval 47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9" name="Oval 48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0" name="Oval 49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53" idx="6"/>
            <a:endCxn id="57" idx="2"/>
          </p:cNvCxnSpPr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57" idx="6"/>
            <a:endCxn id="54" idx="2"/>
          </p:cNvCxnSpPr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53" idx="5"/>
            <a:endCxn id="51" idx="1"/>
          </p:cNvCxnSpPr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53" idx="4"/>
            <a:endCxn id="55" idx="0"/>
          </p:cNvCxnSpPr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55" idx="6"/>
            <a:endCxn id="57" idx="3"/>
          </p:cNvCxnSpPr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51" idx="0"/>
            <a:endCxn id="57" idx="4"/>
          </p:cNvCxnSpPr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endCxn id="54" idx="5"/>
          </p:cNvCxnSpPr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>
            <a:stCxn id="55" idx="5"/>
            <a:endCxn id="51" idx="2"/>
          </p:cNvCxnSpPr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55" idx="4"/>
            <a:endCxn id="52" idx="0"/>
          </p:cNvCxnSpPr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>
            <a:stCxn id="52" idx="6"/>
            <a:endCxn id="51" idx="3"/>
          </p:cNvCxnSpPr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276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79" y="1804056"/>
            <a:ext cx="10649244" cy="4173412"/>
          </a:xfrm>
        </p:spPr>
        <p:txBody>
          <a:bodyPr>
            <a:normAutofit/>
          </a:bodyPr>
          <a:lstStyle/>
          <a:p>
            <a:r>
              <a:rPr lang="en-US" sz="2400" dirty="0"/>
              <a:t>Each node assigned in orchestra </a:t>
            </a:r>
            <a:r>
              <a:rPr lang="en-US" sz="2400" dirty="0" err="1"/>
              <a:t>slotframe</a:t>
            </a:r>
            <a:r>
              <a:rPr lang="en-US" sz="2400" dirty="0"/>
              <a:t>.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10</a:t>
            </a:fld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118725"/>
              </p:ext>
            </p:extLst>
          </p:nvPr>
        </p:nvGraphicFramePr>
        <p:xfrm>
          <a:off x="1097280" y="2380828"/>
          <a:ext cx="8054444" cy="34150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2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43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86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71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9769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26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5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90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9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85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77446" y="2314132"/>
            <a:ext cx="814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542" y="2432850"/>
            <a:ext cx="774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Node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3479" y="2380828"/>
            <a:ext cx="15377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Tx</a:t>
            </a:r>
            <a:r>
              <a:rPr lang="en-US" sz="1400" dirty="0"/>
              <a:t>: Transmit</a:t>
            </a:r>
          </a:p>
          <a:p>
            <a:r>
              <a:rPr lang="en-US" sz="1400" dirty="0"/>
              <a:t>Rx: Receive</a:t>
            </a:r>
          </a:p>
          <a:p>
            <a:endParaRPr lang="en-US" sz="1400" dirty="0"/>
          </a:p>
          <a:p>
            <a:r>
              <a:rPr lang="en-US" sz="1400" dirty="0"/>
              <a:t>Timeslot 0 -&gt; 7: Assigned for Node 1 -&gt; 8 respectively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2652" y="5859498"/>
            <a:ext cx="529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1: Example of Orchestra </a:t>
            </a:r>
            <a:r>
              <a:rPr lang="en-US" dirty="0" err="1"/>
              <a:t>slotframe</a:t>
            </a:r>
            <a:r>
              <a:rPr lang="en-US" dirty="0"/>
              <a:t> with 8 nodes.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7371" y="5952"/>
            <a:ext cx="2059756" cy="1696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4661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845734"/>
                <a:ext cx="5219114" cy="402336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buFont typeface="Arial" charset="0"/>
                  <a:buChar char="•"/>
                </a:pPr>
                <a:r>
                  <a:rPr lang="en-US" dirty="0"/>
                  <a:t> Example: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1: broadcast PROBE(1, 1)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4, 8, 5 if receive PROBE packet will add Node 1 to its neighbor table and count the number of received PROBE packet</a:t>
                </a:r>
                <a:r>
                  <a:rPr lang="en-US" dirty="0">
                    <a:solidFill>
                      <a:schemeClr val="tx1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𝑟𝑥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_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𝑝𝑟𝑜𝑏𝑒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_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𝑐𝑜𝑢𝑛𝑡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All the network runs MLQ state until it reaches the NUMBER_OF_PROBE.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1 calculate PRR value from its neighbor: PRR(4-&gt;1), PRR(8-&gt;1), PRR(5-&gt;1).</a:t>
                </a:r>
              </a:p>
              <a:p>
                <a:pPr>
                  <a:buFont typeface="Arial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i="1" dirty="0" smtClean="0">
                        <a:latin typeface="Cambria Math" charset="0"/>
                      </a:rPr>
                      <m:t>PRR</m:t>
                    </m:r>
                    <m:r>
                      <a:rPr lang="vi-VN" b="0" i="1" dirty="0" smtClean="0">
                        <a:latin typeface="Cambria Math" charset="0"/>
                      </a:rPr>
                      <m:t>= </m:t>
                    </m:r>
                    <m:f>
                      <m:fPr>
                        <m:ctrlPr>
                          <a:rPr lang="mr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charset="0"/>
                          </a:rPr>
                          <m:t>𝑟𝑥</m:t>
                        </m:r>
                        <m:r>
                          <a:rPr lang="en-US" i="1">
                            <a:latin typeface="Cambria Math" charset="0"/>
                          </a:rPr>
                          <m:t>_</m:t>
                        </m:r>
                        <m:r>
                          <a:rPr lang="en-US" i="1">
                            <a:latin typeface="Cambria Math" charset="0"/>
                          </a:rPr>
                          <m:t>𝑝𝑟𝑜𝑏𝑒</m:t>
                        </m:r>
                        <m:r>
                          <a:rPr lang="en-US" i="1">
                            <a:latin typeface="Cambria Math" charset="0"/>
                          </a:rPr>
                          <m:t>_</m:t>
                        </m:r>
                        <m:r>
                          <a:rPr lang="en-US" i="1">
                            <a:latin typeface="Cambria Math" charset="0"/>
                          </a:rPr>
                          <m:t>𝑐𝑜𝑢𝑛𝑡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dirty="0"/>
                          <m:t>NUMBER</m:t>
                        </m:r>
                        <m:r>
                          <m:rPr>
                            <m:nor/>
                          </m:rPr>
                          <a:rPr lang="en-US" dirty="0"/>
                          <m:t>_</m:t>
                        </m:r>
                        <m:r>
                          <m:rPr>
                            <m:nor/>
                          </m:rPr>
                          <a:rPr lang="en-US" dirty="0"/>
                          <m:t>OF</m:t>
                        </m:r>
                        <m:r>
                          <m:rPr>
                            <m:nor/>
                          </m:rPr>
                          <a:rPr lang="en-US" dirty="0"/>
                          <m:t>_</m:t>
                        </m:r>
                        <m:r>
                          <m:rPr>
                            <m:nor/>
                          </m:rPr>
                          <a:rPr lang="en-US" dirty="0"/>
                          <m:t>PROBE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845734"/>
                <a:ext cx="5219114" cy="4023360"/>
              </a:xfrm>
              <a:blipFill rotWithShape="0">
                <a:blip r:embed="rId2"/>
                <a:stretch>
                  <a:fillRect l="-1519" t="-3485" r="-2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11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9" name="Oval 48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50" name="Oval 49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51" name="Oval 50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52" name="Oval 51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54" name="Oval 53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55" name="Oval 54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6" name="Oval 55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526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219114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After calculate PRR for each neighbor, Node will send PRR value for each neighbor by unicast using Orchestra </a:t>
            </a:r>
            <a:r>
              <a:rPr lang="en-US" dirty="0" err="1"/>
              <a:t>slotframe</a:t>
            </a:r>
            <a:r>
              <a:rPr lang="en-US" dirty="0"/>
              <a:t>.</a:t>
            </a:r>
          </a:p>
          <a:p>
            <a:pPr>
              <a:buFont typeface="Arial" charset="0"/>
              <a:buChar char="•"/>
            </a:pPr>
            <a:r>
              <a:rPr lang="en-US" dirty="0"/>
              <a:t>Each node will remain 2 PRRs value:</a:t>
            </a:r>
          </a:p>
          <a:p>
            <a:pPr>
              <a:buFont typeface="Arial" charset="0"/>
              <a:buChar char="•"/>
            </a:pPr>
            <a:r>
              <a:rPr lang="en-US" dirty="0" err="1"/>
              <a:t>Forward_PRR</a:t>
            </a:r>
            <a:r>
              <a:rPr lang="en-US" dirty="0"/>
              <a:t>(Node-&gt;Neighbor)</a:t>
            </a:r>
          </a:p>
          <a:p>
            <a:pPr>
              <a:buFont typeface="Arial" charset="0"/>
              <a:buChar char="•"/>
            </a:pPr>
            <a:r>
              <a:rPr lang="en-US" dirty="0" err="1"/>
              <a:t>Backward_PRR</a:t>
            </a:r>
            <a:r>
              <a:rPr lang="en-US" dirty="0"/>
              <a:t>(Neighbor-&gt;Node)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12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9" name="Oval 48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50" name="Oval 49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51" name="Oval 50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52" name="Oval 51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54" name="Oval 53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55" name="Oval 54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6" name="Oval 55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572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In Make Routing state, Coordinator will send BUILDING_TREE_INIT message contain </a:t>
            </a:r>
            <a:r>
              <a:rPr lang="en-US" dirty="0" err="1"/>
              <a:t>ist</a:t>
            </a:r>
            <a:r>
              <a:rPr lang="en-US" dirty="0"/>
              <a:t> Rank (</a:t>
            </a:r>
            <a:r>
              <a:rPr lang="en-US" dirty="0" err="1"/>
              <a:t>init</a:t>
            </a:r>
            <a:r>
              <a:rPr lang="en-US" dirty="0"/>
              <a:t> = 0) to lower level node.</a:t>
            </a:r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cnlab_send_building_tree_init_process</a:t>
            </a:r>
            <a:r>
              <a:rPr lang="en-US" dirty="0"/>
              <a:t>, "send BT INIT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13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7683524" y="2019300"/>
            <a:ext cx="702741" cy="406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8410979" y="2287966"/>
            <a:ext cx="152401" cy="496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8888333" y="2292877"/>
            <a:ext cx="301070" cy="4540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036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 lnSpcReduction="1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Node received  will calculate Rank: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Rank = </a:t>
            </a:r>
            <a:r>
              <a:rPr lang="en-US" sz="2400" dirty="0" err="1"/>
              <a:t>neighbor_rank</a:t>
            </a:r>
            <a:r>
              <a:rPr lang="en-US" sz="2400" dirty="0"/>
              <a:t>*</a:t>
            </a:r>
            <a:r>
              <a:rPr lang="en-US" sz="2400" dirty="0" err="1"/>
              <a:t>forward_prr</a:t>
            </a:r>
            <a:r>
              <a:rPr lang="en-US" sz="2400" dirty="0"/>
              <a:t>;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After calculate Rank, each node broadcast BUILDING_TREE_COMPARE contains its Rank to the neighbor.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PROCESS(</a:t>
            </a:r>
            <a:r>
              <a:rPr lang="en-US" sz="2400" dirty="0" err="1"/>
              <a:t>cnlab_send_building_tree_compare_process</a:t>
            </a:r>
            <a:r>
              <a:rPr lang="en-US" sz="2400" dirty="0"/>
              <a:t>, "send BT COMPARE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14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856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400" dirty="0"/>
              <a:t>Each node choose the lowest Rank received from BUILDING_TREE_COMPARE to determine the parent node, then send unicast BUILDING_TREE_RESPONSE to its parent.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static void </a:t>
            </a:r>
            <a:r>
              <a:rPr lang="en-US" sz="2400" dirty="0" err="1"/>
              <a:t>cnlab_route_response_output</a:t>
            </a:r>
            <a:r>
              <a:rPr lang="en-US" sz="2400" dirty="0"/>
              <a:t>(</a:t>
            </a:r>
            <a:r>
              <a:rPr lang="en-US" sz="2400" dirty="0" err="1"/>
              <a:t>linkaddr_t</a:t>
            </a:r>
            <a:r>
              <a:rPr lang="en-US" sz="2400" dirty="0"/>
              <a:t> *</a:t>
            </a:r>
            <a:r>
              <a:rPr lang="en-US" sz="2400" dirty="0" err="1"/>
              <a:t>lladdr</a:t>
            </a:r>
            <a:r>
              <a:rPr lang="en-US" sz="2400" dirty="0"/>
              <a:t>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15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24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400" dirty="0"/>
              <a:t>After choose parent node, Each node start Routing to lower level by broadcasting BUILDING_TREE_INIT as Coordinator progress.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16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162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 Node Information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 fontScale="85000" lnSpcReduction="2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All sensor nodes send a Node Information packet to its parent node until it reaches the Coordinator.</a:t>
            </a:r>
          </a:p>
          <a:p>
            <a:pPr>
              <a:buFont typeface="Arial" charset="0"/>
              <a:buChar char="•"/>
            </a:pPr>
            <a:r>
              <a:rPr lang="en-US" dirty="0"/>
              <a:t> If the parent is not the Coordinator, it will forward the packet to next hop.</a:t>
            </a:r>
          </a:p>
          <a:p>
            <a:pPr>
              <a:buFont typeface="Arial" charset="0"/>
              <a:buChar char="•"/>
            </a:pPr>
            <a:r>
              <a:rPr lang="en-US" dirty="0"/>
              <a:t> Node Information packet contains: (Node ID, Parent ID, Number Child, Child List[ ], Data Period)</a:t>
            </a:r>
          </a:p>
          <a:p>
            <a:pPr>
              <a:buFont typeface="Arial" charset="0"/>
              <a:buChar char="•"/>
            </a:pPr>
            <a:r>
              <a:rPr lang="en-US" dirty="0"/>
              <a:t>Orchestra unicast </a:t>
            </a:r>
            <a:r>
              <a:rPr lang="en-US" dirty="0" err="1"/>
              <a:t>slotframe</a:t>
            </a:r>
            <a:endParaRPr lang="en-US" dirty="0"/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cnlab_send_node_information_process</a:t>
            </a:r>
            <a:r>
              <a:rPr lang="en-US" dirty="0"/>
              <a:t>, "send Node Information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17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5642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6: Example network in Collect Node Information state.</a:t>
            </a:r>
          </a:p>
        </p:txBody>
      </p:sp>
    </p:spTree>
    <p:extLst>
      <p:ext uri="{BB962C8B-B14F-4D97-AF65-F5344CB8AC3E}">
        <p14:creationId xmlns:p14="http://schemas.microsoft.com/office/powerpoint/2010/main" val="9771243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 lnSpcReduction="1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After the Coordinator collects all the Node Information to make a schedule for Data transmission.</a:t>
            </a:r>
          </a:p>
          <a:p>
            <a:pPr>
              <a:buFont typeface="Arial" charset="0"/>
              <a:buChar char="•"/>
            </a:pPr>
            <a:r>
              <a:rPr lang="en-US" dirty="0"/>
              <a:t> The Coordinator will send those data to the Scheduling Server(Raspberry Pi) through UART.</a:t>
            </a:r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cnlab_run_pcllf_schedule</a:t>
            </a:r>
            <a:r>
              <a:rPr lang="en-US" dirty="0"/>
              <a:t>, "run PCLLF schedule");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18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  <p:cxnSp>
        <p:nvCxnSpPr>
          <p:cNvPr id="38" name="Straight Arrow Connector 37"/>
          <p:cNvCxnSpPr>
            <a:stCxn id="12" idx="7"/>
            <a:endCxn id="36" idx="1"/>
          </p:cNvCxnSpPr>
          <p:nvPr/>
        </p:nvCxnSpPr>
        <p:spPr>
          <a:xfrm>
            <a:off x="8821090" y="1980681"/>
            <a:ext cx="640194" cy="831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62454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Scheduling Server runs </a:t>
            </a:r>
            <a:r>
              <a:rPr lang="en-US" b="1" dirty="0"/>
              <a:t>Path Conflict-free Least Laxity First Algorithm (PCLLF) or New Scheduling Algorithm use Queue Level </a:t>
            </a:r>
            <a:r>
              <a:rPr lang="en-US" dirty="0"/>
              <a:t>to make schedule and Send back to the Coordinator.</a:t>
            </a:r>
          </a:p>
          <a:p>
            <a:pPr>
              <a:buFont typeface="Arial" charset="0"/>
              <a:buChar char="•"/>
            </a:pPr>
            <a:r>
              <a:rPr lang="en-US" b="1" dirty="0"/>
              <a:t>Scheduling Algorithm </a:t>
            </a:r>
            <a:r>
              <a:rPr lang="en-US" dirty="0"/>
              <a:t>implemented in </a:t>
            </a:r>
            <a:r>
              <a:rPr lang="en-US" dirty="0" err="1"/>
              <a:t>Rasberry</a:t>
            </a:r>
            <a:r>
              <a:rPr lang="en-US" dirty="0"/>
              <a:t> Pi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19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207278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/>
          <a:lstStyle/>
          <a:p>
            <a:pPr>
              <a:buFont typeface="Arial" charset="0"/>
              <a:buChar char="•"/>
            </a:pPr>
            <a:r>
              <a:rPr lang="en-US" dirty="0"/>
              <a:t>Coordinator Node will download the Scheduling Information by </a:t>
            </a:r>
            <a:r>
              <a:rPr lang="en-US" b="1" dirty="0"/>
              <a:t>Unicast Path Finding Algorithm</a:t>
            </a:r>
            <a:r>
              <a:rPr lang="en-US" dirty="0"/>
              <a:t>.</a:t>
            </a:r>
          </a:p>
          <a:p>
            <a:pPr>
              <a:buFont typeface="Arial" charset="0"/>
              <a:buChar char="•"/>
            </a:pPr>
            <a:r>
              <a:rPr lang="en-US" dirty="0"/>
              <a:t>Scheduling Sever will process packet contain Schedule for each Path.</a:t>
            </a:r>
          </a:p>
          <a:p>
            <a:pPr>
              <a:buFont typeface="Arial" charset="0"/>
              <a:buChar char="•"/>
            </a:pPr>
            <a:r>
              <a:rPr lang="en-US" b="1" dirty="0"/>
              <a:t>Unicast Path Finding Algorithm </a:t>
            </a:r>
            <a:r>
              <a:rPr lang="en-US" dirty="0"/>
              <a:t>implemented in </a:t>
            </a:r>
            <a:r>
              <a:rPr lang="en-US" dirty="0" err="1"/>
              <a:t>Rasberry</a:t>
            </a:r>
            <a:r>
              <a:rPr lang="en-US" dirty="0"/>
              <a:t> Pi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20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705276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000" dirty="0"/>
              <a:t>Example: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Path: 1-&gt;4-&gt;6-&gt;2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Packet format: </a:t>
            </a:r>
          </a:p>
          <a:p>
            <a:pPr marL="0" indent="0">
              <a:buNone/>
            </a:pPr>
            <a:r>
              <a:rPr lang="en-US" sz="2000" dirty="0"/>
              <a:t>[Path size, </a:t>
            </a:r>
            <a:r>
              <a:rPr lang="en-US" sz="2000" dirty="0" err="1"/>
              <a:t>Frag_index</a:t>
            </a:r>
            <a:r>
              <a:rPr lang="en-US" sz="2000" dirty="0"/>
              <a:t>, Number of Fragments][LCM][Path Data][Sender, Receiver, Number of Transmission][(</a:t>
            </a:r>
            <a:r>
              <a:rPr lang="en-US" sz="2000" dirty="0" err="1"/>
              <a:t>ts</a:t>
            </a:r>
            <a:r>
              <a:rPr lang="en-US" sz="2000" dirty="0"/>
              <a:t>, </a:t>
            </a:r>
            <a:r>
              <a:rPr lang="en-US" sz="2000" dirty="0" err="1"/>
              <a:t>ch</a:t>
            </a:r>
            <a:r>
              <a:rPr lang="en-US" sz="2000" dirty="0"/>
              <a:t>); (</a:t>
            </a:r>
            <a:r>
              <a:rPr lang="en-US" sz="2000" dirty="0" err="1"/>
              <a:t>ts</a:t>
            </a:r>
            <a:r>
              <a:rPr lang="en-US" sz="2000" dirty="0"/>
              <a:t>, </a:t>
            </a:r>
            <a:r>
              <a:rPr lang="en-US" sz="2000" dirty="0" err="1"/>
              <a:t>ch</a:t>
            </a:r>
            <a:r>
              <a:rPr lang="en-US" sz="2000" dirty="0"/>
              <a:t>); </a:t>
            </a:r>
            <a:r>
              <a:rPr lang="mr-IN" sz="2000" dirty="0"/>
              <a:t>…</a:t>
            </a:r>
            <a:r>
              <a:rPr lang="en-US" sz="2000" dirty="0"/>
              <a:t>]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Link 1-&gt;4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[2, 0, 0][32][1,4][4, 1, 2][(0, 0);(1, 0)]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21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7675859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000" dirty="0"/>
              <a:t>After receive Schedule data, All sensor node update schedule data by remove Orchestra slot frame and Update PCLLF schedule.</a:t>
            </a:r>
          </a:p>
          <a:p>
            <a:pPr>
              <a:buFont typeface="Arial" charset="0"/>
              <a:buChar char="•"/>
            </a:pPr>
            <a:r>
              <a:rPr lang="en-US" sz="2000"/>
              <a:t>static void cnlab</a:t>
            </a:r>
            <a:r>
              <a:rPr lang="en-US" sz="2000" dirty="0" err="1"/>
              <a:t>_make_schedule_timer_callback</a:t>
            </a:r>
            <a:r>
              <a:rPr lang="en-US" sz="2000" dirty="0"/>
              <a:t>(void *</a:t>
            </a:r>
            <a:r>
              <a:rPr lang="en-US" sz="2000" dirty="0" err="1"/>
              <a:t>ptr</a:t>
            </a:r>
            <a:r>
              <a:rPr lang="en-US" sz="2000" dirty="0"/>
              <a:t>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22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431920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Transmission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all nodes download schedule information. It will run data transmission base on the schedule.</a:t>
            </a:r>
          </a:p>
          <a:p>
            <a:r>
              <a:rPr lang="en-US" dirty="0"/>
              <a:t>PROCESS(</a:t>
            </a:r>
            <a:r>
              <a:rPr lang="en-US" dirty="0" err="1"/>
              <a:t>cnlab_send_data_process</a:t>
            </a:r>
            <a:r>
              <a:rPr lang="en-US" dirty="0"/>
              <a:t>, "send Data Packet");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2383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4670</TotalTime>
  <Words>1775</Words>
  <Application>Microsoft Office PowerPoint</Application>
  <PresentationFormat>Widescreen</PresentationFormat>
  <Paragraphs>563</Paragraphs>
  <Slides>23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Wingdings</vt:lpstr>
      <vt:lpstr>Office Theme</vt:lpstr>
      <vt:lpstr>CNLAB PROTOCOL</vt:lpstr>
      <vt:lpstr>Overview</vt:lpstr>
      <vt:lpstr>Overview</vt:lpstr>
      <vt:lpstr>Initialize state</vt:lpstr>
      <vt:lpstr>Initialize state</vt:lpstr>
      <vt:lpstr>Initialize state</vt:lpstr>
      <vt:lpstr>Initialize state</vt:lpstr>
      <vt:lpstr>Initialize state</vt:lpstr>
      <vt:lpstr>Measure Link Quality state</vt:lpstr>
      <vt:lpstr>Measure Link Quality state</vt:lpstr>
      <vt:lpstr>Measure Link Quality state</vt:lpstr>
      <vt:lpstr>Measure Link Quality state</vt:lpstr>
      <vt:lpstr>Make Routing state</vt:lpstr>
      <vt:lpstr>Make Routing state</vt:lpstr>
      <vt:lpstr>Make Routing state</vt:lpstr>
      <vt:lpstr>Make Routing state</vt:lpstr>
      <vt:lpstr>Collect Node Information state</vt:lpstr>
      <vt:lpstr>Make Schedule state</vt:lpstr>
      <vt:lpstr>Make Schedule state</vt:lpstr>
      <vt:lpstr>Make Schedule state</vt:lpstr>
      <vt:lpstr>Make Schedule state</vt:lpstr>
      <vt:lpstr>Make Schedule state</vt:lpstr>
      <vt:lpstr>Data Transmission state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CNLAB PROTOCOL</dc:title>
  <dc:creator>Microsoft Office User</dc:creator>
  <cp:lastModifiedBy>Mr Tan</cp:lastModifiedBy>
  <cp:revision>152</cp:revision>
  <dcterms:created xsi:type="dcterms:W3CDTF">2019-12-05T13:27:16Z</dcterms:created>
  <dcterms:modified xsi:type="dcterms:W3CDTF">2021-01-19T07:59:56Z</dcterms:modified>
</cp:coreProperties>
</file>
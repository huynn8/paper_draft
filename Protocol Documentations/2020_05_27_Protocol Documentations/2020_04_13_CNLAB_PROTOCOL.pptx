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76" r:id="rId7"/>
    <p:sldId id="277" r:id="rId8"/>
    <p:sldId id="278" r:id="rId9"/>
    <p:sldId id="261" r:id="rId10"/>
    <p:sldId id="304" r:id="rId11"/>
    <p:sldId id="262" r:id="rId12"/>
    <p:sldId id="305" r:id="rId13"/>
    <p:sldId id="265" r:id="rId14"/>
    <p:sldId id="306" r:id="rId15"/>
    <p:sldId id="307" r:id="rId16"/>
    <p:sldId id="308" r:id="rId17"/>
    <p:sldId id="266" r:id="rId18"/>
    <p:sldId id="273" r:id="rId19"/>
    <p:sldId id="282" r:id="rId20"/>
    <p:sldId id="274" r:id="rId21"/>
    <p:sldId id="283" r:id="rId22"/>
    <p:sldId id="284" r:id="rId23"/>
    <p:sldId id="27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/>
    <p:restoredTop sz="94621"/>
  </p:normalViewPr>
  <p:slideViewPr>
    <p:cSldViewPr snapToGrid="0" snapToObjects="1">
      <p:cViewPr varScale="1">
        <p:scale>
          <a:sx n="108" d="100"/>
          <a:sy n="108" d="100"/>
        </p:scale>
        <p:origin x="67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16EC84-E442-824B-954D-2C321762CEF7}" type="datetimeFigureOut">
              <a:rPr lang="en-US" smtClean="0"/>
              <a:t>1/20/2021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35B622-68D5-F141-B340-69FCC55EB7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773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2636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747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4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253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35B622-68D5-F141-B340-69FCC55EB7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645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E96CA-A114-CA4B-82AC-764C61C84207}" type="datetime1">
              <a:rPr lang="en-US" smtClean="0"/>
              <a:t>1/20/2021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C4175-475F-754E-9967-6CCA73D87331}" type="datetime1">
              <a:rPr lang="en-US" smtClean="0"/>
              <a:t>1/20/2021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FA9AF-E56E-FA45-B6A5-7E4244D835B0}" type="datetime1">
              <a:rPr lang="en-US" smtClean="0"/>
              <a:t>1/20/2021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3F06-576F-A947-ABC9-3CBBAAAB46D9}" type="datetime1">
              <a:rPr lang="en-US" smtClean="0"/>
              <a:t>1/20/2021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CB1B93-D984-CE48-8011-C44628B8B0BB}" type="datetime1">
              <a:rPr lang="en-US" smtClean="0"/>
              <a:t>1/20/2021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4136D-65C7-8246-A179-B846ABAD6179}" type="datetime1">
              <a:rPr lang="en-US" smtClean="0"/>
              <a:t>1/20/2021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93604-4E2B-5941-9D45-CD703C845843}" type="datetime1">
              <a:rPr lang="en-US" smtClean="0"/>
              <a:t>1/20/2021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A876D-50D5-E448-BB1E-E3D3E5E67046}" type="datetime1">
              <a:rPr lang="en-US" smtClean="0"/>
              <a:t>1/20/2021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FEAAF-D565-C545-9F1B-04D2EC0F401C}" type="datetime1">
              <a:rPr lang="en-US" smtClean="0"/>
              <a:t>1/20/2021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CB748-C492-4E40-9B26-B3D4232C58B7}" type="datetime1">
              <a:rPr lang="en-US" smtClean="0"/>
              <a:t>1/20/2021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F7E4D-78B4-8E4E-85CD-032BABD80B7D}" type="datetime1">
              <a:rPr lang="en-US" smtClean="0"/>
              <a:t>1/20/2021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BA1B48-0FA3-3848-8EF4-C8FCF50B129C}" type="datetime1">
              <a:rPr lang="en-US" smtClean="0"/>
              <a:t>1/20/2021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73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CNLAB PROTOCOL</a:t>
            </a:r>
          </a:p>
        </p:txBody>
      </p:sp>
    </p:spTree>
    <p:extLst>
      <p:ext uri="{BB962C8B-B14F-4D97-AF65-F5344CB8AC3E}">
        <p14:creationId xmlns:p14="http://schemas.microsoft.com/office/powerpoint/2010/main" val="7778915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Development environment: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Sensor nodes: </a:t>
            </a:r>
            <a:r>
              <a:rPr lang="en-US" sz="2000" dirty="0" err="1"/>
              <a:t>Zoulertia</a:t>
            </a:r>
            <a:r>
              <a:rPr lang="en-US" sz="2000" dirty="0"/>
              <a:t> RE-Mote B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Scheduling Server: Raspberry Pi 3 Model B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OS: </a:t>
            </a:r>
            <a:r>
              <a:rPr lang="en-US" sz="2000" dirty="0" err="1"/>
              <a:t>Contiki</a:t>
            </a:r>
            <a:r>
              <a:rPr lang="en-US" sz="2000" dirty="0"/>
              <a:t>-NG</a:t>
            </a:r>
          </a:p>
          <a:p>
            <a:r>
              <a:rPr lang="en-US" sz="2400" dirty="0"/>
              <a:t>Precondition: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Each sensor nodes has an unique ID.</a:t>
            </a:r>
          </a:p>
          <a:p>
            <a:pPr lvl="1">
              <a:buFont typeface="Arial" charset="0"/>
              <a:buChar char="•"/>
            </a:pPr>
            <a:r>
              <a:rPr lang="en-US" sz="2000" dirty="0"/>
              <a:t>The coordinator will be started after another sensor nodes</a:t>
            </a:r>
          </a:p>
          <a:p>
            <a:pPr lvl="1">
              <a:buFont typeface="Arial" charset="0"/>
              <a:buChar char="•"/>
            </a:pPr>
            <a:endParaRPr lang="en-US" sz="20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615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27" name="Footer Placeholder 2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</a:t>
            </a:fld>
            <a:endParaRPr 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1324451" y="3233532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INITIALIZE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652" y="3231064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MEASURE LINK QUALITY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08320" y="3220137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MAKE SCHEDULE 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33054" y="3225327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SEND DATA STATE</a:t>
            </a:r>
            <a:endParaRPr lang="en-US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4591343" y="6031610"/>
            <a:ext cx="3062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1: Protocol operation state</a:t>
            </a:r>
          </a:p>
        </p:txBody>
      </p:sp>
      <p:sp>
        <p:nvSpPr>
          <p:cNvPr id="24" name="Rounded Rectangle 9">
            <a:extLst>
              <a:ext uri="{FF2B5EF4-FFF2-40B4-BE49-F238E27FC236}">
                <a16:creationId xmlns:a16="http://schemas.microsoft.com/office/drawing/2014/main" id="{31D36289-CAA3-4213-A9FB-B7DC806A1A4E}"/>
              </a:ext>
            </a:extLst>
          </p:cNvPr>
          <p:cNvSpPr/>
          <p:nvPr/>
        </p:nvSpPr>
        <p:spPr>
          <a:xfrm>
            <a:off x="9982200" y="3216184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RESET STATE</a:t>
            </a:r>
            <a:endParaRPr 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A305FE-3C81-4652-8FEE-00D62CFFB02D}"/>
              </a:ext>
            </a:extLst>
          </p:cNvPr>
          <p:cNvSpPr txBox="1"/>
          <p:nvPr/>
        </p:nvSpPr>
        <p:spPr>
          <a:xfrm>
            <a:off x="8843725" y="2744742"/>
            <a:ext cx="17407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Node leave the network</a:t>
            </a:r>
          </a:p>
        </p:txBody>
      </p: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4D242936-5E6D-4126-8E44-9EDC8A15A289}"/>
              </a:ext>
            </a:extLst>
          </p:cNvPr>
          <p:cNvCxnSpPr>
            <a:stCxn id="10" idx="0"/>
            <a:endCxn id="24" idx="0"/>
          </p:cNvCxnSpPr>
          <p:nvPr/>
        </p:nvCxnSpPr>
        <p:spPr>
          <a:xfrm rot="5400000" flipH="1" flipV="1">
            <a:off x="9647881" y="2096183"/>
            <a:ext cx="9143" cy="2249146"/>
          </a:xfrm>
          <a:prstGeom prst="curvedConnector3">
            <a:avLst>
              <a:gd name="adj1" fmla="val 988262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DC3D5951-1639-4D2A-B2ED-CF3764006A01}"/>
              </a:ext>
            </a:extLst>
          </p:cNvPr>
          <p:cNvCxnSpPr>
            <a:stCxn id="9" idx="0"/>
            <a:endCxn id="10" idx="0"/>
          </p:cNvCxnSpPr>
          <p:nvPr/>
        </p:nvCxnSpPr>
        <p:spPr>
          <a:xfrm rot="16200000" flipH="1">
            <a:off x="7462917" y="2160365"/>
            <a:ext cx="5190" cy="2124734"/>
          </a:xfrm>
          <a:prstGeom prst="curvedConnector3">
            <a:avLst>
              <a:gd name="adj1" fmla="val -1911522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7D89282-C948-405E-B4FE-D89E2DCAD4B8}"/>
              </a:ext>
            </a:extLst>
          </p:cNvPr>
          <p:cNvSpPr txBox="1"/>
          <p:nvPr/>
        </p:nvSpPr>
        <p:spPr>
          <a:xfrm>
            <a:off x="6608027" y="2660104"/>
            <a:ext cx="165853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Receive and finish update schedule</a:t>
            </a: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6C13B17B-4FAA-46D6-960F-37E8BA8CA728}"/>
              </a:ext>
            </a:extLst>
          </p:cNvPr>
          <p:cNvCxnSpPr>
            <a:stCxn id="5" idx="0"/>
            <a:endCxn id="9" idx="0"/>
          </p:cNvCxnSpPr>
          <p:nvPr/>
        </p:nvCxnSpPr>
        <p:spPr>
          <a:xfrm rot="5400000" flipH="1" flipV="1">
            <a:off x="5323848" y="2151767"/>
            <a:ext cx="10927" cy="2147668"/>
          </a:xfrm>
          <a:prstGeom prst="curvedConnector3">
            <a:avLst>
              <a:gd name="adj1" fmla="val 820421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FD94810-BA1A-4FD6-9E5F-7FCE28F9C9EE}"/>
              </a:ext>
            </a:extLst>
          </p:cNvPr>
          <p:cNvSpPr txBox="1"/>
          <p:nvPr/>
        </p:nvSpPr>
        <p:spPr>
          <a:xfrm>
            <a:off x="4591343" y="2648386"/>
            <a:ext cx="165853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Collect all node informations at the sink</a:t>
            </a:r>
          </a:p>
        </p:txBody>
      </p: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07FC9C25-1CF7-40E8-9BE3-7984333BAD34}"/>
              </a:ext>
            </a:extLst>
          </p:cNvPr>
          <p:cNvCxnSpPr>
            <a:stCxn id="4" idx="0"/>
            <a:endCxn id="5" idx="0"/>
          </p:cNvCxnSpPr>
          <p:nvPr/>
        </p:nvCxnSpPr>
        <p:spPr>
          <a:xfrm rot="5400000" flipH="1" flipV="1">
            <a:off x="3186142" y="2164198"/>
            <a:ext cx="2468" cy="2136201"/>
          </a:xfrm>
          <a:prstGeom prst="curvedConnector3">
            <a:avLst>
              <a:gd name="adj1" fmla="val 3490202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A9AA83D0-23F8-4F81-8E34-7B7ACF3A3127}"/>
              </a:ext>
            </a:extLst>
          </p:cNvPr>
          <p:cNvSpPr txBox="1"/>
          <p:nvPr/>
        </p:nvSpPr>
        <p:spPr>
          <a:xfrm>
            <a:off x="2477893" y="2719407"/>
            <a:ext cx="14189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Finish broadcast probe packet</a:t>
            </a:r>
          </a:p>
        </p:txBody>
      </p:sp>
      <p:sp>
        <p:nvSpPr>
          <p:cNvPr id="43" name="Rounded Rectangle 3">
            <a:extLst>
              <a:ext uri="{FF2B5EF4-FFF2-40B4-BE49-F238E27FC236}">
                <a16:creationId xmlns:a16="http://schemas.microsoft.com/office/drawing/2014/main" id="{8CAD3110-A961-4791-AE47-3E6FC85AAF20}"/>
              </a:ext>
            </a:extLst>
          </p:cNvPr>
          <p:cNvSpPr/>
          <p:nvPr/>
        </p:nvSpPr>
        <p:spPr>
          <a:xfrm>
            <a:off x="1324451" y="4966214"/>
            <a:ext cx="1589649" cy="7033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DEFAULT STATE</a:t>
            </a:r>
            <a:endParaRPr lang="en-US" sz="16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A2D8290-64FF-49AB-8EE6-D56ABF887006}"/>
              </a:ext>
            </a:extLst>
          </p:cNvPr>
          <p:cNvCxnSpPr>
            <a:stCxn id="43" idx="0"/>
            <a:endCxn id="4" idx="2"/>
          </p:cNvCxnSpPr>
          <p:nvPr/>
        </p:nvCxnSpPr>
        <p:spPr>
          <a:xfrm flipV="1">
            <a:off x="2119276" y="3936916"/>
            <a:ext cx="0" cy="10292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6116105-05DF-4AF7-A5C5-72AB60750871}"/>
              </a:ext>
            </a:extLst>
          </p:cNvPr>
          <p:cNvSpPr txBox="1"/>
          <p:nvPr/>
        </p:nvSpPr>
        <p:spPr>
          <a:xfrm>
            <a:off x="2113602" y="4262830"/>
            <a:ext cx="15896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/>
              <a:t>Call init CNLAB protocol</a:t>
            </a:r>
          </a:p>
        </p:txBody>
      </p:sp>
    </p:spTree>
    <p:extLst>
      <p:ext uri="{BB962C8B-B14F-4D97-AF65-F5344CB8AC3E}">
        <p14:creationId xmlns:p14="http://schemas.microsoft.com/office/powerpoint/2010/main" val="1795587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79" y="1804056"/>
            <a:ext cx="8669021" cy="640991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/>
              <a:t>At initialize state, each node assigned in orchestra </a:t>
            </a:r>
            <a:r>
              <a:rPr lang="en-US" sz="2000" dirty="0" err="1"/>
              <a:t>slotframe</a:t>
            </a:r>
            <a:r>
              <a:rPr lang="en-US" sz="2000" dirty="0"/>
              <a:t>.</a:t>
            </a:r>
          </a:p>
          <a:p>
            <a:r>
              <a:rPr lang="en-US" sz="2000" dirty="0"/>
              <a:t>Implemented in /</a:t>
            </a:r>
            <a:r>
              <a:rPr lang="en-US" sz="2000" dirty="0" err="1"/>
              <a:t>contiki</a:t>
            </a:r>
            <a:r>
              <a:rPr lang="en-US" sz="2000" dirty="0"/>
              <a:t>-ng/</a:t>
            </a:r>
            <a:r>
              <a:rPr lang="en-US" sz="2000" dirty="0" err="1"/>
              <a:t>os</a:t>
            </a:r>
            <a:r>
              <a:rPr lang="en-US" sz="2000" dirty="0"/>
              <a:t>/services/orchestra/</a:t>
            </a:r>
            <a:r>
              <a:rPr lang="en-US" sz="2000" dirty="0" err="1"/>
              <a:t>cnlab</a:t>
            </a:r>
            <a:r>
              <a:rPr lang="en-US" sz="2000" dirty="0"/>
              <a:t>-orchestra-rule-</a:t>
            </a:r>
            <a:r>
              <a:rPr lang="en-US" sz="2000" dirty="0" err="1"/>
              <a:t>eb</a:t>
            </a:r>
            <a:r>
              <a:rPr lang="en-US" sz="2000" dirty="0"/>
              <a:t>-</a:t>
            </a:r>
            <a:r>
              <a:rPr lang="en-US" sz="2000" dirty="0" err="1"/>
              <a:t>period.c</a:t>
            </a:r>
            <a:endParaRPr lang="en-US" sz="2000" dirty="0"/>
          </a:p>
          <a:p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</a:t>
            </a:fld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0850539"/>
              </p:ext>
            </p:extLst>
          </p:nvPr>
        </p:nvGraphicFramePr>
        <p:xfrm>
          <a:off x="1097280" y="2634828"/>
          <a:ext cx="8054444" cy="34150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28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5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92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4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943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860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071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9769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26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5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790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89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85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666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77446" y="2314132"/>
            <a:ext cx="814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Timeslot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542" y="2432850"/>
            <a:ext cx="7745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Node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3479" y="2380828"/>
            <a:ext cx="153779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Tx</a:t>
            </a:r>
            <a:r>
              <a:rPr lang="en-US" sz="1400" dirty="0"/>
              <a:t>: Transmit</a:t>
            </a:r>
          </a:p>
          <a:p>
            <a:r>
              <a:rPr lang="en-US" sz="1400" dirty="0"/>
              <a:t>Rx: Receive</a:t>
            </a:r>
          </a:p>
          <a:p>
            <a:endParaRPr lang="en-US" sz="1400" dirty="0"/>
          </a:p>
          <a:p>
            <a:r>
              <a:rPr lang="en-US" sz="1400" dirty="0"/>
              <a:t>Timeslot 0 -&gt; 7: Assigned for Node 1 -&gt; 8 respectively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2652" y="6075398"/>
            <a:ext cx="5294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1: Example of Orchestra </a:t>
            </a:r>
            <a:r>
              <a:rPr lang="en-US" dirty="0" err="1"/>
              <a:t>slotframe</a:t>
            </a:r>
            <a:r>
              <a:rPr lang="en-US" dirty="0"/>
              <a:t> with 8 nodes.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7371" y="5952"/>
            <a:ext cx="2059756" cy="16969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05523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06572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Coordinator broadcast EB packet at timeslot 0.</a:t>
            </a:r>
          </a:p>
          <a:p>
            <a:pPr>
              <a:buFont typeface="Arial" charset="0"/>
              <a:buChar char="•"/>
            </a:pPr>
            <a:r>
              <a:rPr lang="en-US" dirty="0"/>
              <a:t> All the sensor node in scan mode.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5</a:t>
            </a:fld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6" name="Oval 15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849772" y="2265355"/>
            <a:ext cx="543529" cy="3615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8662506" y="2433711"/>
            <a:ext cx="0" cy="346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8876715" y="2307101"/>
            <a:ext cx="396701" cy="469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27859" y="5231573"/>
            <a:ext cx="4049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2: Example network in initialize state.</a:t>
            </a:r>
          </a:p>
        </p:txBody>
      </p:sp>
      <p:sp>
        <p:nvSpPr>
          <p:cNvPr id="90" name="Oval 89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94138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06572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If the node receive EB packet, it will join the network and broadcast EB packet in it assigned timeslot.(Node 4 (timeslot 3))</a:t>
            </a:r>
          </a:p>
          <a:p>
            <a:r>
              <a:rPr lang="en-US" dirty="0"/>
              <a:t>After sensor node join to the network, it will broadcast its EB packet.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6" name="Oval 15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27859" y="5231573"/>
            <a:ext cx="4049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2: Example network in initialize state.</a:t>
            </a:r>
          </a:p>
        </p:txBody>
      </p:sp>
      <p:sp>
        <p:nvSpPr>
          <p:cNvPr id="90" name="Oval 89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H="1">
            <a:off x="7105144" y="2980267"/>
            <a:ext cx="254177" cy="4100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7863840" y="2795176"/>
            <a:ext cx="418838" cy="703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 flipV="1">
            <a:off x="7863840" y="2865516"/>
            <a:ext cx="418838" cy="866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>
            <a:off x="8820443" y="2865516"/>
            <a:ext cx="309489" cy="281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 flipH="1">
            <a:off x="8820443" y="2994335"/>
            <a:ext cx="3967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8610600" y="3263705"/>
            <a:ext cx="0" cy="304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9654275" y="3145696"/>
            <a:ext cx="447040" cy="422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endCxn id="7" idx="4"/>
          </p:cNvCxnSpPr>
          <p:nvPr/>
        </p:nvCxnSpPr>
        <p:spPr>
          <a:xfrm flipV="1">
            <a:off x="8576179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 flipV="1">
            <a:off x="8821090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7683524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7359321" y="3145696"/>
            <a:ext cx="1026944" cy="422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>
            <a:off x="7683524" y="3130456"/>
            <a:ext cx="469876" cy="5022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99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06572" cy="4023360"/>
          </a:xfrm>
        </p:spPr>
        <p:txBody>
          <a:bodyPr>
            <a:normAutofit/>
          </a:bodyPr>
          <a:lstStyle/>
          <a:p>
            <a:r>
              <a:rPr lang="en-US" sz="2000" dirty="0">
                <a:sym typeface="Wingdings"/>
              </a:rPr>
              <a:t>We predefine MAX_DEPTH_LEVEL(16) for initialize state to wait for all node receive EB and join the network.</a:t>
            </a:r>
          </a:p>
          <a:p>
            <a:r>
              <a:rPr lang="en-US" sz="2000" dirty="0">
                <a:sym typeface="Wingdings"/>
              </a:rPr>
              <a:t>An event timer will be </a:t>
            </a:r>
            <a:r>
              <a:rPr lang="en-US" sz="2000" dirty="0" err="1">
                <a:sym typeface="Wingdings"/>
              </a:rPr>
              <a:t>triggerred</a:t>
            </a:r>
            <a:r>
              <a:rPr lang="en-US" sz="2000" dirty="0">
                <a:sym typeface="Wingdings"/>
              </a:rPr>
              <a:t> after this time.</a:t>
            </a:r>
          </a:p>
          <a:p>
            <a:r>
              <a:rPr lang="en-US" sz="2000" dirty="0">
                <a:sym typeface="Wingdings"/>
              </a:rPr>
              <a:t>Implemented in /</a:t>
            </a:r>
            <a:r>
              <a:rPr lang="en-US" sz="2000" dirty="0" err="1">
                <a:sym typeface="Wingdings"/>
              </a:rPr>
              <a:t>contiki</a:t>
            </a:r>
            <a:r>
              <a:rPr lang="en-US" sz="2000" dirty="0">
                <a:sym typeface="Wingdings"/>
              </a:rPr>
              <a:t>-ng/</a:t>
            </a:r>
            <a:r>
              <a:rPr lang="en-US" sz="2000" dirty="0" err="1">
                <a:sym typeface="Wingdings"/>
              </a:rPr>
              <a:t>os</a:t>
            </a:r>
            <a:r>
              <a:rPr lang="en-US" sz="2000" dirty="0">
                <a:sym typeface="Wingdings"/>
              </a:rPr>
              <a:t>/net/mac/</a:t>
            </a:r>
            <a:r>
              <a:rPr lang="en-US" sz="2000" dirty="0" err="1">
                <a:sym typeface="Wingdings"/>
              </a:rPr>
              <a:t>tsch</a:t>
            </a:r>
            <a:r>
              <a:rPr lang="en-US" sz="2000" dirty="0">
                <a:sym typeface="Wingdings"/>
              </a:rPr>
              <a:t>/</a:t>
            </a:r>
            <a:r>
              <a:rPr lang="en-US" sz="2000" dirty="0" err="1">
                <a:sym typeface="Wingdings"/>
              </a:rPr>
              <a:t>cnlab</a:t>
            </a:r>
            <a:r>
              <a:rPr lang="en-US" sz="2000" dirty="0">
                <a:sym typeface="Wingdings"/>
              </a:rPr>
              <a:t>-</a:t>
            </a:r>
            <a:r>
              <a:rPr lang="en-US" sz="2000" dirty="0" err="1">
                <a:sym typeface="Wingdings"/>
              </a:rPr>
              <a:t>tsch</a:t>
            </a:r>
            <a:r>
              <a:rPr lang="en-US" sz="2000" dirty="0">
                <a:sym typeface="Wingdings"/>
              </a:rPr>
              <a:t>-measure-link-</a:t>
            </a:r>
            <a:r>
              <a:rPr lang="en-US" sz="2000" dirty="0" err="1">
                <a:sym typeface="Wingdings"/>
              </a:rPr>
              <a:t>quality.c</a:t>
            </a:r>
            <a:endParaRPr lang="en-US" sz="2000" dirty="0">
              <a:sym typeface="Wingdings"/>
            </a:endParaRPr>
          </a:p>
          <a:p>
            <a:r>
              <a:rPr lang="en-US" sz="2000" dirty="0">
                <a:sym typeface="Wingdings"/>
              </a:rPr>
              <a:t>PROCESS(</a:t>
            </a:r>
            <a:r>
              <a:rPr lang="en-US" sz="2000" dirty="0" err="1">
                <a:sym typeface="Wingdings"/>
              </a:rPr>
              <a:t>cnlab_measure_link_process</a:t>
            </a:r>
            <a:r>
              <a:rPr lang="en-US" sz="2000" dirty="0">
                <a:sym typeface="Wingdings"/>
              </a:rPr>
              <a:t>, "measure link process");</a:t>
            </a:r>
          </a:p>
          <a:p>
            <a:endParaRPr lang="en-US" sz="2000" dirty="0">
              <a:sym typeface="Wingding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7</a:t>
            </a:fld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6" name="Oval 15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27859" y="5231573"/>
            <a:ext cx="4049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2: Example network in initialize state.</a:t>
            </a:r>
          </a:p>
        </p:txBody>
      </p:sp>
      <p:sp>
        <p:nvSpPr>
          <p:cNvPr id="90" name="Oval 89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6865034" y="3998515"/>
            <a:ext cx="105507" cy="4328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8576179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 flipV="1">
            <a:off x="8821090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7683524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2" idx="6"/>
            <a:endCxn id="16" idx="2"/>
          </p:cNvCxnSpPr>
          <p:nvPr/>
        </p:nvCxnSpPr>
        <p:spPr>
          <a:xfrm>
            <a:off x="7739149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16" idx="6"/>
            <a:endCxn id="13" idx="2"/>
          </p:cNvCxnSpPr>
          <p:nvPr/>
        </p:nvCxnSpPr>
        <p:spPr>
          <a:xfrm>
            <a:off x="8766093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2" idx="5"/>
            <a:endCxn id="10" idx="1"/>
          </p:cNvCxnSpPr>
          <p:nvPr/>
        </p:nvCxnSpPr>
        <p:spPr>
          <a:xfrm>
            <a:off x="7683524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12" idx="4"/>
            <a:endCxn id="14" idx="0"/>
          </p:cNvCxnSpPr>
          <p:nvPr/>
        </p:nvCxnSpPr>
        <p:spPr>
          <a:xfrm flipH="1">
            <a:off x="7160455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14" idx="6"/>
            <a:endCxn id="16" idx="3"/>
          </p:cNvCxnSpPr>
          <p:nvPr/>
        </p:nvCxnSpPr>
        <p:spPr>
          <a:xfrm flipV="1">
            <a:off x="7350369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>
            <a:stCxn id="10" idx="0"/>
            <a:endCxn id="16" idx="4"/>
          </p:cNvCxnSpPr>
          <p:nvPr/>
        </p:nvCxnSpPr>
        <p:spPr>
          <a:xfrm flipV="1">
            <a:off x="8472592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stCxn id="90" idx="1"/>
            <a:endCxn id="13" idx="5"/>
          </p:cNvCxnSpPr>
          <p:nvPr/>
        </p:nvCxnSpPr>
        <p:spPr>
          <a:xfrm flipH="1" flipV="1">
            <a:off x="9598650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14" idx="5"/>
            <a:endCxn id="10" idx="2"/>
          </p:cNvCxnSpPr>
          <p:nvPr/>
        </p:nvCxnSpPr>
        <p:spPr>
          <a:xfrm>
            <a:off x="7294744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 flipH="1">
            <a:off x="7125608" y="4098689"/>
            <a:ext cx="1281435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52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06572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ym typeface="Wingdings"/>
            </a:endParaRPr>
          </a:p>
          <a:p>
            <a:pPr marL="0" indent="0">
              <a:buNone/>
            </a:pPr>
            <a:r>
              <a:rPr lang="en-US" dirty="0">
                <a:sym typeface="Wingdings"/>
              </a:rPr>
              <a:t> </a:t>
            </a:r>
            <a:r>
              <a:rPr lang="en-US" dirty="0"/>
              <a:t>After that it change to Measure Link Quality state.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Oval 6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6" name="Oval 15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27859" y="5231573"/>
            <a:ext cx="4049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2: Example network in initialize state.</a:t>
            </a:r>
          </a:p>
        </p:txBody>
      </p:sp>
      <p:sp>
        <p:nvSpPr>
          <p:cNvPr id="90" name="Oval 89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49" name="Straight Connector 48"/>
          <p:cNvCxnSpPr/>
          <p:nvPr/>
        </p:nvCxnSpPr>
        <p:spPr>
          <a:xfrm flipV="1">
            <a:off x="8576179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 flipV="1">
            <a:off x="8821090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7683524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2" idx="6"/>
            <a:endCxn id="16" idx="2"/>
          </p:cNvCxnSpPr>
          <p:nvPr/>
        </p:nvCxnSpPr>
        <p:spPr>
          <a:xfrm>
            <a:off x="7739149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16" idx="6"/>
            <a:endCxn id="13" idx="2"/>
          </p:cNvCxnSpPr>
          <p:nvPr/>
        </p:nvCxnSpPr>
        <p:spPr>
          <a:xfrm>
            <a:off x="8766093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2" idx="5"/>
            <a:endCxn id="10" idx="1"/>
          </p:cNvCxnSpPr>
          <p:nvPr/>
        </p:nvCxnSpPr>
        <p:spPr>
          <a:xfrm>
            <a:off x="7683524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12" idx="4"/>
            <a:endCxn id="14" idx="0"/>
          </p:cNvCxnSpPr>
          <p:nvPr/>
        </p:nvCxnSpPr>
        <p:spPr>
          <a:xfrm flipH="1">
            <a:off x="7160455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14" idx="6"/>
            <a:endCxn id="16" idx="3"/>
          </p:cNvCxnSpPr>
          <p:nvPr/>
        </p:nvCxnSpPr>
        <p:spPr>
          <a:xfrm flipV="1">
            <a:off x="7350369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>
            <a:stCxn id="10" idx="0"/>
            <a:endCxn id="16" idx="4"/>
          </p:cNvCxnSpPr>
          <p:nvPr/>
        </p:nvCxnSpPr>
        <p:spPr>
          <a:xfrm flipV="1">
            <a:off x="8472592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stCxn id="90" idx="1"/>
            <a:endCxn id="13" idx="5"/>
          </p:cNvCxnSpPr>
          <p:nvPr/>
        </p:nvCxnSpPr>
        <p:spPr>
          <a:xfrm flipH="1" flipV="1">
            <a:off x="9598650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14" idx="5"/>
            <a:endCxn id="10" idx="2"/>
          </p:cNvCxnSpPr>
          <p:nvPr/>
        </p:nvCxnSpPr>
        <p:spPr>
          <a:xfrm>
            <a:off x="7294744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14" idx="4"/>
            <a:endCxn id="11" idx="0"/>
          </p:cNvCxnSpPr>
          <p:nvPr/>
        </p:nvCxnSpPr>
        <p:spPr>
          <a:xfrm flipH="1">
            <a:off x="6915230" y="3857414"/>
            <a:ext cx="245225" cy="7339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1" idx="6"/>
            <a:endCxn id="10" idx="3"/>
          </p:cNvCxnSpPr>
          <p:nvPr/>
        </p:nvCxnSpPr>
        <p:spPr>
          <a:xfrm flipV="1">
            <a:off x="7105144" y="3944951"/>
            <a:ext cx="1233159" cy="8292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11112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Link Quality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951828" cy="4023360"/>
          </a:xfrm>
        </p:spPr>
        <p:txBody>
          <a:bodyPr>
            <a:normAutofit fontScale="77500" lnSpcReduction="20000"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We have predefine NUMBER_OF_PROBE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value to determine how many PROBE packet will be transmitted between each link. (NUMBER_OF_PROBE = 500)</a:t>
            </a:r>
          </a:p>
          <a:p>
            <a:pPr>
              <a:buFont typeface="Arial" charset="0"/>
              <a:buChar char="•"/>
            </a:pPr>
            <a:r>
              <a:rPr lang="en-US" dirty="0"/>
              <a:t> In Measure Link Quality(MLQ) state, all nodes create PROBE packet contains its node id and sequence number. PROBE(id, </a:t>
            </a:r>
            <a:r>
              <a:rPr lang="en-US" dirty="0" err="1"/>
              <a:t>seqno</a:t>
            </a:r>
            <a:r>
              <a:rPr lang="en-US" dirty="0"/>
              <a:t>).</a:t>
            </a:r>
          </a:p>
          <a:p>
            <a:pPr>
              <a:buFont typeface="Arial" charset="0"/>
              <a:buChar char="•"/>
            </a:pPr>
            <a:r>
              <a:rPr lang="en-US" dirty="0"/>
              <a:t> PROBE packets broadcasted in orchestra </a:t>
            </a:r>
            <a:r>
              <a:rPr lang="en-US" dirty="0" err="1"/>
              <a:t>slotframe</a:t>
            </a:r>
            <a:r>
              <a:rPr lang="en-US" dirty="0"/>
              <a:t> (</a:t>
            </a:r>
            <a:r>
              <a:rPr lang="en-US" dirty="0">
                <a:sym typeface="Wingdings"/>
              </a:rPr>
              <a:t>Same </a:t>
            </a:r>
            <a:r>
              <a:rPr lang="en-US" dirty="0" err="1">
                <a:sym typeface="Wingdings"/>
              </a:rPr>
              <a:t>slotframe</a:t>
            </a:r>
            <a:r>
              <a:rPr lang="en-US" dirty="0">
                <a:sym typeface="Wingdings"/>
              </a:rPr>
              <a:t> with Initialize state (broadcast)</a:t>
            </a:r>
            <a:r>
              <a:rPr lang="en-US" dirty="0"/>
              <a:t>)</a:t>
            </a:r>
          </a:p>
          <a:p>
            <a:pPr>
              <a:buFont typeface="Wingdings"/>
              <a:buChar char="è"/>
            </a:pPr>
            <a:r>
              <a:rPr lang="en-US" dirty="0">
                <a:sym typeface="Wingdings"/>
              </a:rPr>
              <a:t>All the neighbor node listen and count the number of the received PROBE packet.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9</a:t>
            </a:fld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7027859" y="5231573"/>
            <a:ext cx="3719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3: Example network in MLQ state.</a:t>
            </a:r>
          </a:p>
        </p:txBody>
      </p:sp>
      <p:sp>
        <p:nvSpPr>
          <p:cNvPr id="43" name="Oval 42"/>
          <p:cNvSpPr/>
          <p:nvPr/>
        </p:nvSpPr>
        <p:spPr>
          <a:xfrm>
            <a:off x="8717020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44" name="Oval 43"/>
          <p:cNvSpPr/>
          <p:nvPr/>
        </p:nvSpPr>
        <p:spPr>
          <a:xfrm>
            <a:off x="8502811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5" name="Oval 44"/>
          <p:cNvSpPr/>
          <p:nvPr/>
        </p:nvSpPr>
        <p:spPr>
          <a:xfrm>
            <a:off x="6945449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6" name="Oval 45"/>
          <p:cNvSpPr/>
          <p:nvPr/>
        </p:nvSpPr>
        <p:spPr>
          <a:xfrm>
            <a:off x="7579454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7" name="Oval 46"/>
          <p:cNvSpPr/>
          <p:nvPr/>
        </p:nvSpPr>
        <p:spPr>
          <a:xfrm>
            <a:off x="9494580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8" name="Oval 47"/>
          <p:cNvSpPr/>
          <p:nvPr/>
        </p:nvSpPr>
        <p:spPr>
          <a:xfrm>
            <a:off x="7190674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9" name="Oval 48"/>
          <p:cNvSpPr/>
          <p:nvPr/>
        </p:nvSpPr>
        <p:spPr>
          <a:xfrm>
            <a:off x="8606398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50" name="Oval 49"/>
          <p:cNvSpPr/>
          <p:nvPr/>
        </p:nvSpPr>
        <p:spPr>
          <a:xfrm>
            <a:off x="10321448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51" name="Straight Connector 50"/>
          <p:cNvCxnSpPr/>
          <p:nvPr/>
        </p:nvCxnSpPr>
        <p:spPr>
          <a:xfrm flipV="1">
            <a:off x="8796312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 flipV="1">
            <a:off x="9041223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7903657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>
            <a:stCxn id="53" idx="6"/>
            <a:endCxn id="57" idx="2"/>
          </p:cNvCxnSpPr>
          <p:nvPr/>
        </p:nvCxnSpPr>
        <p:spPr>
          <a:xfrm>
            <a:off x="7959282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57" idx="6"/>
            <a:endCxn id="54" idx="2"/>
          </p:cNvCxnSpPr>
          <p:nvPr/>
        </p:nvCxnSpPr>
        <p:spPr>
          <a:xfrm>
            <a:off x="8986226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53" idx="5"/>
            <a:endCxn id="51" idx="1"/>
          </p:cNvCxnSpPr>
          <p:nvPr/>
        </p:nvCxnSpPr>
        <p:spPr>
          <a:xfrm>
            <a:off x="7903657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53" idx="4"/>
            <a:endCxn id="55" idx="0"/>
          </p:cNvCxnSpPr>
          <p:nvPr/>
        </p:nvCxnSpPr>
        <p:spPr>
          <a:xfrm flipH="1">
            <a:off x="7380588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55" idx="6"/>
            <a:endCxn id="57" idx="3"/>
          </p:cNvCxnSpPr>
          <p:nvPr/>
        </p:nvCxnSpPr>
        <p:spPr>
          <a:xfrm flipV="1">
            <a:off x="7570502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51" idx="0"/>
            <a:endCxn id="57" idx="4"/>
          </p:cNvCxnSpPr>
          <p:nvPr/>
        </p:nvCxnSpPr>
        <p:spPr>
          <a:xfrm flipV="1">
            <a:off x="8692725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>
            <a:endCxn id="54" idx="5"/>
          </p:cNvCxnSpPr>
          <p:nvPr/>
        </p:nvCxnSpPr>
        <p:spPr>
          <a:xfrm flipH="1" flipV="1">
            <a:off x="9818783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>
            <a:stCxn id="55" idx="5"/>
            <a:endCxn id="51" idx="2"/>
          </p:cNvCxnSpPr>
          <p:nvPr/>
        </p:nvCxnSpPr>
        <p:spPr>
          <a:xfrm>
            <a:off x="7514877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>
            <a:stCxn id="55" idx="4"/>
            <a:endCxn id="52" idx="0"/>
          </p:cNvCxnSpPr>
          <p:nvPr/>
        </p:nvCxnSpPr>
        <p:spPr>
          <a:xfrm flipH="1">
            <a:off x="7135363" y="3857414"/>
            <a:ext cx="245225" cy="7339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>
            <a:stCxn id="52" idx="6"/>
            <a:endCxn id="51" idx="3"/>
          </p:cNvCxnSpPr>
          <p:nvPr/>
        </p:nvCxnSpPr>
        <p:spPr>
          <a:xfrm flipV="1">
            <a:off x="7325277" y="3944951"/>
            <a:ext cx="1233159" cy="8292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276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Link Quality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79" y="1804056"/>
            <a:ext cx="10649244" cy="4173412"/>
          </a:xfrm>
        </p:spPr>
        <p:txBody>
          <a:bodyPr>
            <a:normAutofit/>
          </a:bodyPr>
          <a:lstStyle/>
          <a:p>
            <a:r>
              <a:rPr lang="en-US" sz="2400" dirty="0"/>
              <a:t>Each node assigned in orchestra </a:t>
            </a:r>
            <a:r>
              <a:rPr lang="en-US" sz="2400" dirty="0" err="1"/>
              <a:t>slotframe</a:t>
            </a:r>
            <a:r>
              <a:rPr lang="en-US" sz="2400" dirty="0"/>
              <a:t>.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10</a:t>
            </a:fld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118725"/>
              </p:ext>
            </p:extLst>
          </p:nvPr>
        </p:nvGraphicFramePr>
        <p:xfrm>
          <a:off x="1097280" y="2380828"/>
          <a:ext cx="8054444" cy="34150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28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5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92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4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943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860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071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9769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26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5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790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89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89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85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6668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Tx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77446" y="2314132"/>
            <a:ext cx="8146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Timeslot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542" y="2432850"/>
            <a:ext cx="7745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Node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3479" y="2380828"/>
            <a:ext cx="153779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Tx</a:t>
            </a:r>
            <a:r>
              <a:rPr lang="en-US" sz="1400" dirty="0"/>
              <a:t>: Transmit</a:t>
            </a:r>
          </a:p>
          <a:p>
            <a:r>
              <a:rPr lang="en-US" sz="1400" dirty="0"/>
              <a:t>Rx: Receive</a:t>
            </a:r>
          </a:p>
          <a:p>
            <a:endParaRPr lang="en-US" sz="1400" dirty="0"/>
          </a:p>
          <a:p>
            <a:r>
              <a:rPr lang="en-US" sz="1400" dirty="0"/>
              <a:t>Timeslot 0 -&gt; 7: Assigned for Node 1 -&gt; 8 respectively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2652" y="5859498"/>
            <a:ext cx="5294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1: Example of Orchestra </a:t>
            </a:r>
            <a:r>
              <a:rPr lang="en-US" dirty="0" err="1"/>
              <a:t>slotframe</a:t>
            </a:r>
            <a:r>
              <a:rPr lang="en-US" dirty="0"/>
              <a:t> with 8 nodes.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7371" y="5952"/>
            <a:ext cx="2059756" cy="16969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4661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Link Quality 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845734"/>
                <a:ext cx="5219114" cy="402336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buFont typeface="Arial" charset="0"/>
                  <a:buChar char="•"/>
                </a:pPr>
                <a:r>
                  <a:rPr lang="en-US" dirty="0"/>
                  <a:t> Example:</a:t>
                </a:r>
              </a:p>
              <a:p>
                <a:pPr>
                  <a:buFont typeface="Arial" charset="0"/>
                  <a:buChar char="•"/>
                </a:pPr>
                <a:r>
                  <a:rPr lang="en-US" dirty="0"/>
                  <a:t> Node 1: broadcast PROBE(1, 1)</a:t>
                </a:r>
              </a:p>
              <a:p>
                <a:pPr>
                  <a:buFont typeface="Arial" charset="0"/>
                  <a:buChar char="•"/>
                </a:pPr>
                <a:r>
                  <a:rPr lang="en-US" dirty="0"/>
                  <a:t> Node 4, 8, 5 if receive PROBE packet will add Node 1 to its neighbor table and count the number of received PROBE packet</a:t>
                </a:r>
                <a:r>
                  <a:rPr lang="en-US" dirty="0">
                    <a:solidFill>
                      <a:schemeClr val="tx1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𝑟𝑥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_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𝑝𝑟𝑜𝑏𝑒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_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charset="0"/>
                      </a:rPr>
                      <m:t>𝑐𝑜𝑢𝑛𝑡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pPr>
                  <a:buFont typeface="Arial" charset="0"/>
                  <a:buChar char="•"/>
                </a:pPr>
                <a:r>
                  <a:rPr lang="en-US" dirty="0"/>
                  <a:t> All the network runs MLQ state until it reaches the NUMBER_OF_PROBE.</a:t>
                </a:r>
              </a:p>
              <a:p>
                <a:pPr>
                  <a:buFont typeface="Arial" charset="0"/>
                  <a:buChar char="•"/>
                </a:pPr>
                <a:r>
                  <a:rPr lang="en-US" dirty="0"/>
                  <a:t> Node 1 calculate PRR value from its neighbor: PRR(4-&gt;1), PRR(8-&gt;1), PRR(5-&gt;1).</a:t>
                </a:r>
              </a:p>
              <a:p>
                <a:pPr>
                  <a:buFont typeface="Arial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i="1" dirty="0" smtClean="0">
                        <a:latin typeface="Cambria Math" charset="0"/>
                      </a:rPr>
                      <m:t>PRR</m:t>
                    </m:r>
                    <m:r>
                      <a:rPr lang="vi-VN" b="0" i="1" dirty="0" smtClean="0">
                        <a:latin typeface="Cambria Math" charset="0"/>
                      </a:rPr>
                      <m:t>= </m:t>
                    </m:r>
                    <m:f>
                      <m:fPr>
                        <m:ctrlPr>
                          <a:rPr lang="mr-IN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charset="0"/>
                          </a:rPr>
                          <m:t>𝑟𝑥</m:t>
                        </m:r>
                        <m:r>
                          <a:rPr lang="en-US" i="1">
                            <a:latin typeface="Cambria Math" charset="0"/>
                          </a:rPr>
                          <m:t>_</m:t>
                        </m:r>
                        <m:r>
                          <a:rPr lang="en-US" i="1">
                            <a:latin typeface="Cambria Math" charset="0"/>
                          </a:rPr>
                          <m:t>𝑝𝑟𝑜𝑏𝑒</m:t>
                        </m:r>
                        <m:r>
                          <a:rPr lang="en-US" i="1">
                            <a:latin typeface="Cambria Math" charset="0"/>
                          </a:rPr>
                          <m:t>_</m:t>
                        </m:r>
                        <m:r>
                          <a:rPr lang="en-US" i="1">
                            <a:latin typeface="Cambria Math" charset="0"/>
                          </a:rPr>
                          <m:t>𝑐𝑜𝑢𝑛𝑡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dirty="0"/>
                          <m:t>NUMBER</m:t>
                        </m:r>
                        <m:r>
                          <m:rPr>
                            <m:nor/>
                          </m:rPr>
                          <a:rPr lang="en-US" dirty="0"/>
                          <m:t>_</m:t>
                        </m:r>
                        <m:r>
                          <m:rPr>
                            <m:nor/>
                          </m:rPr>
                          <a:rPr lang="en-US" dirty="0"/>
                          <m:t>OF</m:t>
                        </m:r>
                        <m:r>
                          <m:rPr>
                            <m:nor/>
                          </m:rPr>
                          <a:rPr lang="en-US" dirty="0"/>
                          <m:t>_</m:t>
                        </m:r>
                        <m:r>
                          <m:rPr>
                            <m:nor/>
                          </m:rPr>
                          <a:rPr lang="en-US" dirty="0"/>
                          <m:t>PROBE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845734"/>
                <a:ext cx="5219114" cy="4023360"/>
              </a:xfrm>
              <a:blipFill rotWithShape="0">
                <a:blip r:embed="rId2"/>
                <a:stretch>
                  <a:fillRect l="-1519" t="-3485" r="-25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CNLAB PROTOCOL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11</a:t>
            </a:fld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7027859" y="5231573"/>
            <a:ext cx="3719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3: Example network in MLQ state.</a:t>
            </a:r>
          </a:p>
        </p:txBody>
      </p:sp>
      <p:sp>
        <p:nvSpPr>
          <p:cNvPr id="49" name="Oval 48"/>
          <p:cNvSpPr/>
          <p:nvPr/>
        </p:nvSpPr>
        <p:spPr>
          <a:xfrm>
            <a:off x="8717020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50" name="Oval 49"/>
          <p:cNvSpPr/>
          <p:nvPr/>
        </p:nvSpPr>
        <p:spPr>
          <a:xfrm>
            <a:off x="8502811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51" name="Oval 50"/>
          <p:cNvSpPr/>
          <p:nvPr/>
        </p:nvSpPr>
        <p:spPr>
          <a:xfrm>
            <a:off x="6945449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52" name="Oval 51"/>
          <p:cNvSpPr/>
          <p:nvPr/>
        </p:nvSpPr>
        <p:spPr>
          <a:xfrm>
            <a:off x="7579454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9494580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54" name="Oval 53"/>
          <p:cNvSpPr/>
          <p:nvPr/>
        </p:nvSpPr>
        <p:spPr>
          <a:xfrm>
            <a:off x="7190674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55" name="Oval 54"/>
          <p:cNvSpPr/>
          <p:nvPr/>
        </p:nvSpPr>
        <p:spPr>
          <a:xfrm>
            <a:off x="8606398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56" name="Oval 55"/>
          <p:cNvSpPr/>
          <p:nvPr/>
        </p:nvSpPr>
        <p:spPr>
          <a:xfrm>
            <a:off x="10321448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8796312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 flipV="1">
            <a:off x="9041223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7903657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>
            <a:off x="7959282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8986226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7903657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 flipH="1">
            <a:off x="7380588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V="1">
            <a:off x="7570502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/>
          <p:nvPr/>
        </p:nvCxnSpPr>
        <p:spPr>
          <a:xfrm flipV="1">
            <a:off x="8692725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 flipH="1" flipV="1">
            <a:off x="9818783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/>
          <p:nvPr/>
        </p:nvCxnSpPr>
        <p:spPr>
          <a:xfrm>
            <a:off x="7514877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/>
          <p:nvPr/>
        </p:nvCxnSpPr>
        <p:spPr>
          <a:xfrm flipH="1">
            <a:off x="7135363" y="3857414"/>
            <a:ext cx="245225" cy="7339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/>
          <p:nvPr/>
        </p:nvCxnSpPr>
        <p:spPr>
          <a:xfrm flipV="1">
            <a:off x="7325277" y="3944951"/>
            <a:ext cx="1233159" cy="8292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5526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Link Quality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219114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After calculate PRR for each neighbor, Node will send PRR value for each neighbor by unicast using Orchestra </a:t>
            </a:r>
            <a:r>
              <a:rPr lang="en-US" dirty="0" err="1"/>
              <a:t>slotframe</a:t>
            </a:r>
            <a:r>
              <a:rPr lang="en-US" dirty="0"/>
              <a:t>.</a:t>
            </a:r>
          </a:p>
          <a:p>
            <a:pPr>
              <a:buFont typeface="Arial" charset="0"/>
              <a:buChar char="•"/>
            </a:pPr>
            <a:r>
              <a:rPr lang="en-US" dirty="0"/>
              <a:t>Each node will remain 2 PRRs value:</a:t>
            </a:r>
          </a:p>
          <a:p>
            <a:pPr>
              <a:buFont typeface="Arial" charset="0"/>
              <a:buChar char="•"/>
            </a:pPr>
            <a:r>
              <a:rPr lang="en-US" dirty="0" err="1"/>
              <a:t>Forward_PRR</a:t>
            </a:r>
            <a:r>
              <a:rPr lang="en-US" dirty="0"/>
              <a:t>(Node-&gt;Neighbor)</a:t>
            </a:r>
          </a:p>
          <a:p>
            <a:pPr>
              <a:buFont typeface="Arial" charset="0"/>
              <a:buChar char="•"/>
            </a:pPr>
            <a:r>
              <a:rPr lang="en-US" dirty="0" err="1"/>
              <a:t>Backward_PRR</a:t>
            </a:r>
            <a:r>
              <a:rPr lang="en-US" dirty="0"/>
              <a:t>(Neighbor-&gt;Node)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CNLAB PROTOCOL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12</a:t>
            </a:fld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7027859" y="5231573"/>
            <a:ext cx="3719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3: Example network in MLQ state.</a:t>
            </a:r>
          </a:p>
        </p:txBody>
      </p:sp>
      <p:sp>
        <p:nvSpPr>
          <p:cNvPr id="49" name="Oval 48"/>
          <p:cNvSpPr/>
          <p:nvPr/>
        </p:nvSpPr>
        <p:spPr>
          <a:xfrm>
            <a:off x="8717020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sp>
        <p:nvSpPr>
          <p:cNvPr id="50" name="Oval 49"/>
          <p:cNvSpPr/>
          <p:nvPr/>
        </p:nvSpPr>
        <p:spPr>
          <a:xfrm>
            <a:off x="8502811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51" name="Oval 50"/>
          <p:cNvSpPr/>
          <p:nvPr/>
        </p:nvSpPr>
        <p:spPr>
          <a:xfrm>
            <a:off x="6945449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52" name="Oval 51"/>
          <p:cNvSpPr/>
          <p:nvPr/>
        </p:nvSpPr>
        <p:spPr>
          <a:xfrm>
            <a:off x="7579454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9494580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54" name="Oval 53"/>
          <p:cNvSpPr/>
          <p:nvPr/>
        </p:nvSpPr>
        <p:spPr>
          <a:xfrm>
            <a:off x="7190674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55" name="Oval 54"/>
          <p:cNvSpPr/>
          <p:nvPr/>
        </p:nvSpPr>
        <p:spPr>
          <a:xfrm>
            <a:off x="8606398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56" name="Oval 55"/>
          <p:cNvSpPr/>
          <p:nvPr/>
        </p:nvSpPr>
        <p:spPr>
          <a:xfrm>
            <a:off x="10321448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57" name="Straight Connector 56"/>
          <p:cNvCxnSpPr/>
          <p:nvPr/>
        </p:nvCxnSpPr>
        <p:spPr>
          <a:xfrm flipV="1">
            <a:off x="8796312" y="2292877"/>
            <a:ext cx="110622" cy="50829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 flipV="1">
            <a:off x="9041223" y="2260552"/>
            <a:ext cx="508982" cy="604964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7903657" y="2239313"/>
            <a:ext cx="868988" cy="428758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>
            <a:off x="7959282" y="2797387"/>
            <a:ext cx="647116" cy="165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8986226" y="2962816"/>
            <a:ext cx="5083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7903657" y="2926703"/>
            <a:ext cx="654779" cy="7596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 flipH="1">
            <a:off x="7380588" y="2980267"/>
            <a:ext cx="388780" cy="5113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V="1">
            <a:off x="7570502" y="3092132"/>
            <a:ext cx="1091521" cy="582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/>
          <p:nvPr/>
        </p:nvCxnSpPr>
        <p:spPr>
          <a:xfrm flipV="1">
            <a:off x="8692725" y="3145696"/>
            <a:ext cx="103587" cy="487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 flipH="1" flipV="1">
            <a:off x="9818783" y="3081355"/>
            <a:ext cx="558290" cy="5401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/>
          <p:nvPr/>
        </p:nvCxnSpPr>
        <p:spPr>
          <a:xfrm>
            <a:off x="7514877" y="3803850"/>
            <a:ext cx="987934" cy="117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/>
          <p:nvPr/>
        </p:nvCxnSpPr>
        <p:spPr>
          <a:xfrm flipH="1">
            <a:off x="7135363" y="3857414"/>
            <a:ext cx="245225" cy="7339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/>
          <p:nvPr/>
        </p:nvCxnSpPr>
        <p:spPr>
          <a:xfrm flipV="1">
            <a:off x="7325277" y="3944951"/>
            <a:ext cx="1233159" cy="8292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0572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Routing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75488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In Make Routing state, Coordinator will send BUILDING_TREE_INIT message contain </a:t>
            </a:r>
            <a:r>
              <a:rPr lang="en-US" dirty="0" err="1"/>
              <a:t>ist</a:t>
            </a:r>
            <a:r>
              <a:rPr lang="en-US" dirty="0"/>
              <a:t> Rank (</a:t>
            </a:r>
            <a:r>
              <a:rPr lang="en-US" dirty="0" err="1"/>
              <a:t>init</a:t>
            </a:r>
            <a:r>
              <a:rPr lang="en-US" dirty="0"/>
              <a:t> = 0) to lower level node.</a:t>
            </a:r>
          </a:p>
          <a:p>
            <a:pPr>
              <a:buFont typeface="Arial" charset="0"/>
              <a:buChar char="•"/>
            </a:pPr>
            <a:r>
              <a:rPr lang="en-US" dirty="0"/>
              <a:t>PROCESS(</a:t>
            </a:r>
            <a:r>
              <a:rPr lang="en-US" dirty="0" err="1"/>
              <a:t>cnlab_send_building_tree_init_process</a:t>
            </a:r>
            <a:r>
              <a:rPr lang="en-US" dirty="0"/>
              <a:t>, "send BT INIT process");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13</a:t>
            </a:fld>
            <a:endParaRPr lang="en-US" dirty="0"/>
          </a:p>
        </p:txBody>
      </p:sp>
      <p:sp>
        <p:nvSpPr>
          <p:cNvPr id="39" name="Oval 38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0" name="Oval 39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5" name="Oval 44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46" name="Oval 45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48" name="Straight Connector 47"/>
          <p:cNvCxnSpPr>
            <a:endCxn id="49" idx="0"/>
          </p:cNvCxnSpPr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45" idx="7"/>
          </p:cNvCxnSpPr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endCxn id="46" idx="1"/>
          </p:cNvCxnSpPr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5" idx="3"/>
          </p:cNvCxnSpPr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45" idx="5"/>
            <a:endCxn id="49" idx="2"/>
          </p:cNvCxnSpPr>
          <p:nvPr/>
        </p:nvCxnSpPr>
        <p:spPr>
          <a:xfrm>
            <a:off x="7683524" y="2926703"/>
            <a:ext cx="702741" cy="361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49" idx="6"/>
            <a:endCxn id="46" idx="2"/>
          </p:cNvCxnSpPr>
          <p:nvPr/>
        </p:nvCxnSpPr>
        <p:spPr>
          <a:xfrm>
            <a:off x="8766093" y="2962816"/>
            <a:ext cx="5083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49" idx="4"/>
            <a:endCxn id="43" idx="0"/>
          </p:cNvCxnSpPr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499486" y="5301927"/>
            <a:ext cx="457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5: Example network in Make Routing state.</a:t>
            </a:r>
          </a:p>
        </p:txBody>
      </p:sp>
      <p:sp>
        <p:nvSpPr>
          <p:cNvPr id="75" name="Oval 7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76" name="Straight Connector 7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7294744" y="3803850"/>
            <a:ext cx="1043559" cy="141101"/>
          </a:xfrm>
          <a:prstGeom prst="line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637750" y="1917497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37751" y="2669550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37751" y="3620843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37751" y="4620324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>
            <a:off x="7683524" y="2019300"/>
            <a:ext cx="702741" cy="4064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8410979" y="2287966"/>
            <a:ext cx="152401" cy="4963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>
            <a:off x="8888333" y="2292877"/>
            <a:ext cx="301070" cy="4540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0368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Routing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754880" cy="4023360"/>
          </a:xfrm>
        </p:spPr>
        <p:txBody>
          <a:bodyPr>
            <a:normAutofit lnSpcReduction="10000"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Node received  will calculate Rank:</a:t>
            </a:r>
          </a:p>
          <a:p>
            <a:pPr>
              <a:buFont typeface="Arial" charset="0"/>
              <a:buChar char="•"/>
            </a:pPr>
            <a:r>
              <a:rPr lang="en-US" sz="2400" dirty="0"/>
              <a:t>Rank = </a:t>
            </a:r>
            <a:r>
              <a:rPr lang="en-US" sz="2400" dirty="0" err="1"/>
              <a:t>neighbor_rank</a:t>
            </a:r>
            <a:r>
              <a:rPr lang="en-US" sz="2400" dirty="0"/>
              <a:t>*</a:t>
            </a:r>
            <a:r>
              <a:rPr lang="en-US" sz="2400" dirty="0" err="1"/>
              <a:t>forward_prr</a:t>
            </a:r>
            <a:r>
              <a:rPr lang="en-US" sz="2400" dirty="0"/>
              <a:t>;</a:t>
            </a:r>
          </a:p>
          <a:p>
            <a:pPr>
              <a:buFont typeface="Arial" charset="0"/>
              <a:buChar char="•"/>
            </a:pPr>
            <a:r>
              <a:rPr lang="en-US" sz="2400" dirty="0"/>
              <a:t>After calculate Rank, each node broadcast BUILDING_TREE_COMPARE contains its Rank to the neighbor.</a:t>
            </a:r>
          </a:p>
          <a:p>
            <a:pPr>
              <a:buFont typeface="Arial" charset="0"/>
              <a:buChar char="•"/>
            </a:pPr>
            <a:r>
              <a:rPr lang="en-US" sz="2400" dirty="0"/>
              <a:t>PROCESS(</a:t>
            </a:r>
            <a:r>
              <a:rPr lang="en-US" sz="2400" dirty="0" err="1"/>
              <a:t>cnlab_send_building_tree_compare_process</a:t>
            </a:r>
            <a:r>
              <a:rPr lang="en-US" sz="2400" dirty="0"/>
              <a:t>, "send BT COMPARE process");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CNLAB PROTOCOL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14</a:t>
            </a:fld>
            <a:endParaRPr lang="en-US" dirty="0"/>
          </a:p>
        </p:txBody>
      </p:sp>
      <p:sp>
        <p:nvSpPr>
          <p:cNvPr id="39" name="Oval 38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0" name="Oval 39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5" name="Oval 44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46" name="Oval 45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48" name="Straight Connector 47"/>
          <p:cNvCxnSpPr>
            <a:endCxn id="49" idx="0"/>
          </p:cNvCxnSpPr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45" idx="7"/>
          </p:cNvCxnSpPr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endCxn id="46" idx="1"/>
          </p:cNvCxnSpPr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5" idx="3"/>
          </p:cNvCxnSpPr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45" idx="5"/>
            <a:endCxn id="49" idx="2"/>
          </p:cNvCxnSpPr>
          <p:nvPr/>
        </p:nvCxnSpPr>
        <p:spPr>
          <a:xfrm>
            <a:off x="7683524" y="2926703"/>
            <a:ext cx="702741" cy="361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49" idx="6"/>
            <a:endCxn id="46" idx="2"/>
          </p:cNvCxnSpPr>
          <p:nvPr/>
        </p:nvCxnSpPr>
        <p:spPr>
          <a:xfrm>
            <a:off x="8766093" y="2962816"/>
            <a:ext cx="5083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49" idx="4"/>
            <a:endCxn id="43" idx="0"/>
          </p:cNvCxnSpPr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499486" y="5301927"/>
            <a:ext cx="457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5: Example network in Make Routing state.</a:t>
            </a:r>
          </a:p>
        </p:txBody>
      </p:sp>
      <p:sp>
        <p:nvSpPr>
          <p:cNvPr id="75" name="Oval 7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76" name="Straight Connector 7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7294744" y="3803850"/>
            <a:ext cx="1043559" cy="141101"/>
          </a:xfrm>
          <a:prstGeom prst="line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637750" y="1917497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37751" y="2669550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37751" y="3620843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37751" y="4620324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7555645" y="2109998"/>
            <a:ext cx="727033" cy="4149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8443372" y="2265852"/>
            <a:ext cx="115034" cy="4654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 flipV="1">
            <a:off x="8882846" y="2217883"/>
            <a:ext cx="417294" cy="7447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85" idx="2"/>
          </p:cNvCxnSpPr>
          <p:nvPr/>
        </p:nvCxnSpPr>
        <p:spPr>
          <a:xfrm>
            <a:off x="7852588" y="2832715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endCxn id="88" idx="0"/>
          </p:cNvCxnSpPr>
          <p:nvPr/>
        </p:nvCxnSpPr>
        <p:spPr>
          <a:xfrm flipH="1">
            <a:off x="7371941" y="3081355"/>
            <a:ext cx="43005" cy="2149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H="1" flipV="1">
            <a:off x="8807285" y="3082654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>
            <a:off x="9493126" y="3209178"/>
            <a:ext cx="489074" cy="4235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flipH="1" flipV="1">
            <a:off x="7837614" y="3031083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8402880" y="3194297"/>
            <a:ext cx="40492" cy="3736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8783951" y="2872572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856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Routing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75488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sz="2400" dirty="0"/>
              <a:t>Each node choose the lowest Rank received from BUILDING_TREE_COMPARE to determine the parent node, then send unicast BUILDING_TREE_RESPONSE to its parent.</a:t>
            </a:r>
          </a:p>
          <a:p>
            <a:pPr>
              <a:buFont typeface="Arial" charset="0"/>
              <a:buChar char="•"/>
            </a:pPr>
            <a:r>
              <a:rPr lang="en-US" sz="2400" dirty="0"/>
              <a:t>static void </a:t>
            </a:r>
            <a:r>
              <a:rPr lang="en-US" sz="2400" dirty="0" err="1"/>
              <a:t>cnlab_route_response_output</a:t>
            </a:r>
            <a:r>
              <a:rPr lang="en-US" sz="2400" dirty="0"/>
              <a:t>(</a:t>
            </a:r>
            <a:r>
              <a:rPr lang="en-US" sz="2400" dirty="0" err="1"/>
              <a:t>linkaddr_t</a:t>
            </a:r>
            <a:r>
              <a:rPr lang="en-US" sz="2400" dirty="0"/>
              <a:t> *</a:t>
            </a:r>
            <a:r>
              <a:rPr lang="en-US" sz="2400" dirty="0" err="1"/>
              <a:t>lladdr</a:t>
            </a:r>
            <a:r>
              <a:rPr lang="en-US" sz="2400" dirty="0"/>
              <a:t>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15</a:t>
            </a:fld>
            <a:endParaRPr lang="en-US" dirty="0"/>
          </a:p>
        </p:txBody>
      </p:sp>
      <p:sp>
        <p:nvSpPr>
          <p:cNvPr id="39" name="Oval 38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0" name="Oval 39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5" name="Oval 44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46" name="Oval 45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48" name="Straight Connector 47"/>
          <p:cNvCxnSpPr>
            <a:endCxn id="49" idx="0"/>
          </p:cNvCxnSpPr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45" idx="7"/>
          </p:cNvCxnSpPr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endCxn id="46" idx="1"/>
          </p:cNvCxnSpPr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5" idx="3"/>
          </p:cNvCxnSpPr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45" idx="5"/>
            <a:endCxn id="49" idx="2"/>
          </p:cNvCxnSpPr>
          <p:nvPr/>
        </p:nvCxnSpPr>
        <p:spPr>
          <a:xfrm>
            <a:off x="7683524" y="2926703"/>
            <a:ext cx="702741" cy="361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49" idx="6"/>
            <a:endCxn id="46" idx="2"/>
          </p:cNvCxnSpPr>
          <p:nvPr/>
        </p:nvCxnSpPr>
        <p:spPr>
          <a:xfrm>
            <a:off x="8766093" y="2962816"/>
            <a:ext cx="5083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49" idx="4"/>
            <a:endCxn id="43" idx="0"/>
          </p:cNvCxnSpPr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499486" y="5301927"/>
            <a:ext cx="457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5: Example network in Make Routing state.</a:t>
            </a:r>
          </a:p>
        </p:txBody>
      </p:sp>
      <p:sp>
        <p:nvSpPr>
          <p:cNvPr id="75" name="Oval 7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76" name="Straight Connector 7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7294744" y="3803850"/>
            <a:ext cx="1043559" cy="141101"/>
          </a:xfrm>
          <a:prstGeom prst="line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637750" y="1917497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37751" y="2669550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37751" y="3620843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37751" y="4620324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7555645" y="2109998"/>
            <a:ext cx="727033" cy="4149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8443372" y="2265852"/>
            <a:ext cx="115034" cy="4654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 flipV="1">
            <a:off x="8882846" y="2217883"/>
            <a:ext cx="417294" cy="7447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85" idx="2"/>
          </p:cNvCxnSpPr>
          <p:nvPr/>
        </p:nvCxnSpPr>
        <p:spPr>
          <a:xfrm>
            <a:off x="7852588" y="2832715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endCxn id="88" idx="0"/>
          </p:cNvCxnSpPr>
          <p:nvPr/>
        </p:nvCxnSpPr>
        <p:spPr>
          <a:xfrm flipH="1">
            <a:off x="7371941" y="3081355"/>
            <a:ext cx="43005" cy="2149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H="1" flipV="1">
            <a:off x="8807285" y="3082654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>
            <a:off x="9493126" y="3209178"/>
            <a:ext cx="489074" cy="4235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flipH="1" flipV="1">
            <a:off x="7837614" y="3031083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8402880" y="3194297"/>
            <a:ext cx="40492" cy="3736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8783951" y="2872572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424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Routing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475488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sz="2400" dirty="0"/>
              <a:t>After choose parent node, Each node start Routing to lower level by broadcasting BUILDING_TREE_INIT as Coordinator progress.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16</a:t>
            </a:fld>
            <a:endParaRPr lang="en-US" dirty="0"/>
          </a:p>
        </p:txBody>
      </p:sp>
      <p:sp>
        <p:nvSpPr>
          <p:cNvPr id="39" name="Oval 38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40" name="Oval 39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45" name="Oval 44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46" name="Oval 45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48" name="Straight Connector 47"/>
          <p:cNvCxnSpPr>
            <a:endCxn id="49" idx="0"/>
          </p:cNvCxnSpPr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endCxn id="45" idx="7"/>
          </p:cNvCxnSpPr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endCxn id="46" idx="1"/>
          </p:cNvCxnSpPr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5" idx="3"/>
          </p:cNvCxnSpPr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45" idx="5"/>
            <a:endCxn id="49" idx="2"/>
          </p:cNvCxnSpPr>
          <p:nvPr/>
        </p:nvCxnSpPr>
        <p:spPr>
          <a:xfrm>
            <a:off x="7683524" y="2926703"/>
            <a:ext cx="702741" cy="361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49" idx="6"/>
            <a:endCxn id="46" idx="2"/>
          </p:cNvCxnSpPr>
          <p:nvPr/>
        </p:nvCxnSpPr>
        <p:spPr>
          <a:xfrm>
            <a:off x="8766093" y="2962816"/>
            <a:ext cx="5083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49" idx="4"/>
            <a:endCxn id="43" idx="0"/>
          </p:cNvCxnSpPr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499486" y="5301927"/>
            <a:ext cx="457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5: Example network in Make Routing state.</a:t>
            </a:r>
          </a:p>
        </p:txBody>
      </p:sp>
      <p:sp>
        <p:nvSpPr>
          <p:cNvPr id="75" name="Oval 7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76" name="Straight Connector 7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7294744" y="3803850"/>
            <a:ext cx="1043559" cy="141101"/>
          </a:xfrm>
          <a:prstGeom prst="line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637750" y="1917497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37751" y="2669550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37751" y="3620843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37751" y="4620324"/>
            <a:ext cx="692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Level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7555645" y="2109998"/>
            <a:ext cx="727033" cy="4149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8443372" y="2265852"/>
            <a:ext cx="115034" cy="4654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 flipV="1">
            <a:off x="8882846" y="2217883"/>
            <a:ext cx="417294" cy="7447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>
            <a:stCxn id="85" idx="2"/>
          </p:cNvCxnSpPr>
          <p:nvPr/>
        </p:nvCxnSpPr>
        <p:spPr>
          <a:xfrm>
            <a:off x="7852588" y="2832715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endCxn id="88" idx="0"/>
          </p:cNvCxnSpPr>
          <p:nvPr/>
        </p:nvCxnSpPr>
        <p:spPr>
          <a:xfrm flipH="1">
            <a:off x="7371941" y="3081355"/>
            <a:ext cx="43005" cy="2149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H="1" flipV="1">
            <a:off x="8807285" y="3082654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>
            <a:off x="9493126" y="3209178"/>
            <a:ext cx="489074" cy="4235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>
          <a:xfrm flipH="1" flipV="1">
            <a:off x="7837614" y="3031083"/>
            <a:ext cx="453357" cy="108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8402880" y="3194297"/>
            <a:ext cx="40492" cy="3736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8783951" y="2872572"/>
            <a:ext cx="43009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9162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 Node Information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 fontScale="85000" lnSpcReduction="20000"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All sensor nodes send a Node Information packet to its parent node until it reaches the Coordinator.</a:t>
            </a:r>
          </a:p>
          <a:p>
            <a:pPr>
              <a:buFont typeface="Arial" charset="0"/>
              <a:buChar char="•"/>
            </a:pPr>
            <a:r>
              <a:rPr lang="en-US" dirty="0"/>
              <a:t> If the parent is not the Coordinator, it will forward the packet to next hop.</a:t>
            </a:r>
          </a:p>
          <a:p>
            <a:pPr>
              <a:buFont typeface="Arial" charset="0"/>
              <a:buChar char="•"/>
            </a:pPr>
            <a:r>
              <a:rPr lang="en-US" dirty="0"/>
              <a:t> Node Information packet contains: (Node ID, Parent ID, Number Child, Child List[ ], Data Period)</a:t>
            </a:r>
          </a:p>
          <a:p>
            <a:pPr>
              <a:buFont typeface="Arial" charset="0"/>
              <a:buChar char="•"/>
            </a:pPr>
            <a:r>
              <a:rPr lang="en-US" dirty="0"/>
              <a:t>Orchestra unicast </a:t>
            </a:r>
            <a:r>
              <a:rPr lang="en-US" dirty="0" err="1"/>
              <a:t>slotframe</a:t>
            </a:r>
            <a:endParaRPr lang="en-US" dirty="0"/>
          </a:p>
          <a:p>
            <a:pPr>
              <a:buFont typeface="Arial" charset="0"/>
              <a:buChar char="•"/>
            </a:pPr>
            <a:r>
              <a:rPr lang="en-US" dirty="0"/>
              <a:t>PROCESS(</a:t>
            </a:r>
            <a:r>
              <a:rPr lang="en-US" dirty="0" err="1"/>
              <a:t>cnlab_send_node_information_process</a:t>
            </a:r>
            <a:r>
              <a:rPr lang="en-US" dirty="0"/>
              <a:t>, "send Node Information process");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17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5642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6: Example network in Collect Node Information state.</a:t>
            </a:r>
          </a:p>
        </p:txBody>
      </p:sp>
    </p:spTree>
    <p:extLst>
      <p:ext uri="{BB962C8B-B14F-4D97-AF65-F5344CB8AC3E}">
        <p14:creationId xmlns:p14="http://schemas.microsoft.com/office/powerpoint/2010/main" val="9771243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 lnSpcReduction="10000"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After the Coordinator collects all the Node Information to make a schedule for Data transmission.</a:t>
            </a:r>
          </a:p>
          <a:p>
            <a:pPr>
              <a:buFont typeface="Arial" charset="0"/>
              <a:buChar char="•"/>
            </a:pPr>
            <a:r>
              <a:rPr lang="en-US" dirty="0"/>
              <a:t> The Coordinator will send those data to the Scheduling Server(Raspberry Pi) through UART.</a:t>
            </a:r>
          </a:p>
          <a:p>
            <a:pPr>
              <a:buFont typeface="Arial" charset="0"/>
              <a:buChar char="•"/>
            </a:pPr>
            <a:r>
              <a:rPr lang="en-US" dirty="0"/>
              <a:t>PROCESS(</a:t>
            </a:r>
            <a:r>
              <a:rPr lang="en-US" dirty="0" err="1"/>
              <a:t>cnlab_run_pcllf_schedule</a:t>
            </a:r>
            <a:r>
              <a:rPr lang="en-US" dirty="0"/>
              <a:t>, "run PCLLF schedule");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18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4669" y="3436992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  <p:cxnSp>
        <p:nvCxnSpPr>
          <p:cNvPr id="38" name="Straight Arrow Connector 37"/>
          <p:cNvCxnSpPr>
            <a:stCxn id="12" idx="7"/>
            <a:endCxn id="36" idx="1"/>
          </p:cNvCxnSpPr>
          <p:nvPr/>
        </p:nvCxnSpPr>
        <p:spPr>
          <a:xfrm>
            <a:off x="8821090" y="1980681"/>
            <a:ext cx="640194" cy="831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62454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dirty="0"/>
              <a:t> Scheduling Server runs </a:t>
            </a:r>
            <a:r>
              <a:rPr lang="en-US" b="1" dirty="0"/>
              <a:t>Path Conflict-free Least Laxity First Algorithm (PCLLF) or New Scheduling Algorithm use Queue Level </a:t>
            </a:r>
            <a:r>
              <a:rPr lang="en-US" dirty="0"/>
              <a:t>to make schedule and Send back to the Coordinator.</a:t>
            </a:r>
          </a:p>
          <a:p>
            <a:pPr>
              <a:buFont typeface="Arial" charset="0"/>
              <a:buChar char="•"/>
            </a:pPr>
            <a:r>
              <a:rPr lang="en-US" b="1" dirty="0"/>
              <a:t>Scheduling Algorithm </a:t>
            </a:r>
            <a:r>
              <a:rPr lang="en-US" dirty="0"/>
              <a:t>implemented in </a:t>
            </a:r>
            <a:r>
              <a:rPr lang="en-US" dirty="0" err="1"/>
              <a:t>Rasberry</a:t>
            </a:r>
            <a:r>
              <a:rPr lang="en-US" dirty="0"/>
              <a:t> Pi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19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9307" y="346766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cxnSp>
        <p:nvCxnSpPr>
          <p:cNvPr id="38" name="Straight Arrow Connector 37"/>
          <p:cNvCxnSpPr>
            <a:stCxn id="12" idx="7"/>
          </p:cNvCxnSpPr>
          <p:nvPr/>
        </p:nvCxnSpPr>
        <p:spPr>
          <a:xfrm>
            <a:off x="8821090" y="1980681"/>
            <a:ext cx="640193" cy="114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</p:spTree>
    <p:extLst>
      <p:ext uri="{BB962C8B-B14F-4D97-AF65-F5344CB8AC3E}">
        <p14:creationId xmlns:p14="http://schemas.microsoft.com/office/powerpoint/2010/main" val="1207278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/>
          <a:lstStyle/>
          <a:p>
            <a:pPr>
              <a:buFont typeface="Arial" charset="0"/>
              <a:buChar char="•"/>
            </a:pPr>
            <a:r>
              <a:rPr lang="en-US" dirty="0"/>
              <a:t>Coordinator Node will download the Scheduling Information by </a:t>
            </a:r>
            <a:r>
              <a:rPr lang="en-US" b="1" dirty="0"/>
              <a:t>Unicast Path Finding Algorithm</a:t>
            </a:r>
            <a:r>
              <a:rPr lang="en-US" dirty="0"/>
              <a:t>.</a:t>
            </a:r>
          </a:p>
          <a:p>
            <a:pPr>
              <a:buFont typeface="Arial" charset="0"/>
              <a:buChar char="•"/>
            </a:pPr>
            <a:r>
              <a:rPr lang="en-US" dirty="0"/>
              <a:t>Scheduling Sever will process packet contain Schedule for each Path.</a:t>
            </a:r>
          </a:p>
          <a:p>
            <a:pPr>
              <a:buFont typeface="Arial" charset="0"/>
              <a:buChar char="•"/>
            </a:pPr>
            <a:r>
              <a:rPr lang="en-US" b="1" dirty="0"/>
              <a:t>Unicast Path Finding Algorithm </a:t>
            </a:r>
            <a:r>
              <a:rPr lang="en-US" dirty="0"/>
              <a:t>implemented in </a:t>
            </a:r>
            <a:r>
              <a:rPr lang="en-US" dirty="0" err="1"/>
              <a:t>Rasberry</a:t>
            </a:r>
            <a:r>
              <a:rPr lang="en-US" dirty="0"/>
              <a:t> Pi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20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9307" y="346766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cxnSp>
        <p:nvCxnSpPr>
          <p:cNvPr id="38" name="Straight Arrow Connector 37"/>
          <p:cNvCxnSpPr>
            <a:stCxn id="12" idx="7"/>
          </p:cNvCxnSpPr>
          <p:nvPr/>
        </p:nvCxnSpPr>
        <p:spPr>
          <a:xfrm>
            <a:off x="8821090" y="1980681"/>
            <a:ext cx="640193" cy="114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</p:spTree>
    <p:extLst>
      <p:ext uri="{BB962C8B-B14F-4D97-AF65-F5344CB8AC3E}">
        <p14:creationId xmlns:p14="http://schemas.microsoft.com/office/powerpoint/2010/main" val="705276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sz="2000" dirty="0"/>
              <a:t>Example:</a:t>
            </a:r>
          </a:p>
          <a:p>
            <a:pPr>
              <a:buFont typeface="Arial" charset="0"/>
              <a:buChar char="•"/>
            </a:pPr>
            <a:r>
              <a:rPr lang="en-US" sz="2000" dirty="0"/>
              <a:t>Path: 1-&gt;4-&gt;6-&gt;2</a:t>
            </a:r>
          </a:p>
          <a:p>
            <a:pPr>
              <a:buFont typeface="Arial" charset="0"/>
              <a:buChar char="•"/>
            </a:pPr>
            <a:r>
              <a:rPr lang="en-US" sz="2000" dirty="0"/>
              <a:t>Packet format: </a:t>
            </a:r>
          </a:p>
          <a:p>
            <a:pPr marL="0" indent="0">
              <a:buNone/>
            </a:pPr>
            <a:r>
              <a:rPr lang="en-US" sz="2000" dirty="0"/>
              <a:t>[Path size, </a:t>
            </a:r>
            <a:r>
              <a:rPr lang="en-US" sz="2000" dirty="0" err="1"/>
              <a:t>Frag_index</a:t>
            </a:r>
            <a:r>
              <a:rPr lang="en-US" sz="2000" dirty="0"/>
              <a:t>, Number of Fragments][LCM][Path Data][Sender, Receiver, Number of Transmission][(</a:t>
            </a:r>
            <a:r>
              <a:rPr lang="en-US" sz="2000" dirty="0" err="1"/>
              <a:t>ts</a:t>
            </a:r>
            <a:r>
              <a:rPr lang="en-US" sz="2000" dirty="0"/>
              <a:t>, </a:t>
            </a:r>
            <a:r>
              <a:rPr lang="en-US" sz="2000" dirty="0" err="1"/>
              <a:t>ch</a:t>
            </a:r>
            <a:r>
              <a:rPr lang="en-US" sz="2000" dirty="0"/>
              <a:t>); (</a:t>
            </a:r>
            <a:r>
              <a:rPr lang="en-US" sz="2000" dirty="0" err="1"/>
              <a:t>ts</a:t>
            </a:r>
            <a:r>
              <a:rPr lang="en-US" sz="2000" dirty="0"/>
              <a:t>, </a:t>
            </a:r>
            <a:r>
              <a:rPr lang="en-US" sz="2000" dirty="0" err="1"/>
              <a:t>ch</a:t>
            </a:r>
            <a:r>
              <a:rPr lang="en-US" sz="2000" dirty="0"/>
              <a:t>); </a:t>
            </a:r>
            <a:r>
              <a:rPr lang="mr-IN" sz="2000" dirty="0"/>
              <a:t>…</a:t>
            </a:r>
            <a:r>
              <a:rPr lang="en-US" sz="2000" dirty="0"/>
              <a:t>]</a:t>
            </a:r>
          </a:p>
          <a:p>
            <a:pPr>
              <a:buFont typeface="Arial" charset="0"/>
              <a:buChar char="•"/>
            </a:pPr>
            <a:r>
              <a:rPr lang="en-US" sz="2000" dirty="0"/>
              <a:t>Link 1-&gt;4</a:t>
            </a:r>
          </a:p>
          <a:p>
            <a:pPr>
              <a:buFont typeface="Arial" charset="0"/>
              <a:buChar char="•"/>
            </a:pPr>
            <a:r>
              <a:rPr lang="en-US" sz="2000" dirty="0"/>
              <a:t>[2, 0, 0][32][1,4][4, 1, 2][(0, 0);(1, 0)]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21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9307" y="346766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cxnSp>
        <p:nvCxnSpPr>
          <p:cNvPr id="38" name="Straight Arrow Connector 37"/>
          <p:cNvCxnSpPr>
            <a:stCxn id="12" idx="7"/>
          </p:cNvCxnSpPr>
          <p:nvPr/>
        </p:nvCxnSpPr>
        <p:spPr>
          <a:xfrm>
            <a:off x="8821090" y="1980681"/>
            <a:ext cx="640193" cy="114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</p:spTree>
    <p:extLst>
      <p:ext uri="{BB962C8B-B14F-4D97-AF65-F5344CB8AC3E}">
        <p14:creationId xmlns:p14="http://schemas.microsoft.com/office/powerpoint/2010/main" val="17675859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Schedule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5734"/>
            <a:ext cx="5120640" cy="4023360"/>
          </a:xfrm>
        </p:spPr>
        <p:txBody>
          <a:bodyPr>
            <a:normAutofit/>
          </a:bodyPr>
          <a:lstStyle/>
          <a:p>
            <a:pPr>
              <a:buFont typeface="Arial" charset="0"/>
              <a:buChar char="•"/>
            </a:pPr>
            <a:r>
              <a:rPr lang="en-US" sz="2000" dirty="0"/>
              <a:t>After receive Schedule data, All sensor node update schedule data by remove Orchestra slot frame and Update PCLLF schedule.</a:t>
            </a:r>
          </a:p>
          <a:p>
            <a:pPr>
              <a:buFont typeface="Arial" charset="0"/>
              <a:buChar char="•"/>
            </a:pPr>
            <a:r>
              <a:rPr lang="en-US" sz="2000"/>
              <a:t>static void cnlab</a:t>
            </a:r>
            <a:r>
              <a:rPr lang="en-US" sz="2000" dirty="0" err="1"/>
              <a:t>_make_schedule_timer_callback</a:t>
            </a:r>
            <a:r>
              <a:rPr lang="en-US" sz="2000" dirty="0"/>
              <a:t>(void *</a:t>
            </a:r>
            <a:r>
              <a:rPr lang="en-US" sz="2000" dirty="0" err="1"/>
              <a:t>ptr</a:t>
            </a:r>
            <a:r>
              <a:rPr lang="en-US" sz="2000" dirty="0"/>
              <a:t>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22</a:t>
            </a:fld>
            <a:endParaRPr lang="en-US" dirty="0"/>
          </a:p>
        </p:txBody>
      </p:sp>
      <p:sp>
        <p:nvSpPr>
          <p:cNvPr id="6" name="Oval 5"/>
          <p:cNvSpPr/>
          <p:nvPr/>
        </p:nvSpPr>
        <p:spPr>
          <a:xfrm>
            <a:off x="8282678" y="3632755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sp>
        <p:nvSpPr>
          <p:cNvPr id="7" name="Oval 6"/>
          <p:cNvSpPr/>
          <p:nvPr/>
        </p:nvSpPr>
        <p:spPr>
          <a:xfrm>
            <a:off x="6725316" y="4591333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359321" y="261450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9274447" y="2795176"/>
            <a:ext cx="379828" cy="33528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5</a:t>
            </a:r>
          </a:p>
        </p:txBody>
      </p:sp>
      <p:sp>
        <p:nvSpPr>
          <p:cNvPr id="10" name="Oval 9"/>
          <p:cNvSpPr/>
          <p:nvPr/>
        </p:nvSpPr>
        <p:spPr>
          <a:xfrm>
            <a:off x="6970541" y="3491654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6</a:t>
            </a:r>
          </a:p>
        </p:txBody>
      </p:sp>
      <p:sp>
        <p:nvSpPr>
          <p:cNvPr id="11" name="Oval 10"/>
          <p:cNvSpPr/>
          <p:nvPr/>
        </p:nvSpPr>
        <p:spPr>
          <a:xfrm>
            <a:off x="8386265" y="2779936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8</a:t>
            </a:r>
          </a:p>
        </p:txBody>
      </p:sp>
      <p:sp>
        <p:nvSpPr>
          <p:cNvPr id="12" name="Oval 11"/>
          <p:cNvSpPr/>
          <p:nvPr/>
        </p:nvSpPr>
        <p:spPr>
          <a:xfrm>
            <a:off x="8496887" y="1927117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>
            <a:off x="8576179" y="2292877"/>
            <a:ext cx="110622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7683524" y="2109997"/>
            <a:ext cx="813363" cy="558074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876715" y="2109997"/>
            <a:ext cx="453357" cy="73428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160455" y="2926703"/>
            <a:ext cx="254491" cy="564951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8472592" y="3145696"/>
            <a:ext cx="103587" cy="48705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15230" y="3857414"/>
            <a:ext cx="245225" cy="73391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101315" y="3567990"/>
            <a:ext cx="379828" cy="3657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7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9598650" y="3081355"/>
            <a:ext cx="558290" cy="540199"/>
          </a:xfrm>
          <a:prstGeom prst="line">
            <a:avLst/>
          </a:prstGeom>
          <a:ln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68884" y="2524938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2807" y="25366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205" y="256479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8237" y="3296317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2816" y="4365461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9307" y="3467665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1266" y="3366654"/>
            <a:ext cx="3674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9486" y="5301927"/>
            <a:ext cx="4699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7: Example network in Make Schedule state.</a:t>
            </a:r>
          </a:p>
        </p:txBody>
      </p:sp>
      <p:cxnSp>
        <p:nvCxnSpPr>
          <p:cNvPr id="38" name="Straight Arrow Connector 37"/>
          <p:cNvCxnSpPr>
            <a:stCxn id="12" idx="7"/>
          </p:cNvCxnSpPr>
          <p:nvPr/>
        </p:nvCxnSpPr>
        <p:spPr>
          <a:xfrm>
            <a:off x="8821090" y="1980681"/>
            <a:ext cx="640193" cy="114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461284" y="1834924"/>
            <a:ext cx="1019860" cy="457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Scheduling Server</a:t>
            </a:r>
          </a:p>
        </p:txBody>
      </p:sp>
    </p:spTree>
    <p:extLst>
      <p:ext uri="{BB962C8B-B14F-4D97-AF65-F5344CB8AC3E}">
        <p14:creationId xmlns:p14="http://schemas.microsoft.com/office/powerpoint/2010/main" val="1431920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Transmission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all nodes download schedule information. It will run data transmission base on the schedule.</a:t>
            </a:r>
          </a:p>
          <a:p>
            <a:r>
              <a:rPr lang="en-US" dirty="0"/>
              <a:t>PROCESS(</a:t>
            </a:r>
            <a:r>
              <a:rPr lang="en-US" dirty="0" err="1"/>
              <a:t>cnlab_send_data_process</a:t>
            </a:r>
            <a:r>
              <a:rPr lang="en-US" dirty="0"/>
              <a:t>, "send Data Packet");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CNLAB PROTOCOL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23836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4754</TotalTime>
  <Words>1796</Words>
  <Application>Microsoft Office PowerPoint</Application>
  <PresentationFormat>Widescreen</PresentationFormat>
  <Paragraphs>568</Paragraphs>
  <Slides>23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Wingdings</vt:lpstr>
      <vt:lpstr>Office Theme</vt:lpstr>
      <vt:lpstr>CNLAB PROTOCOL</vt:lpstr>
      <vt:lpstr>Overview</vt:lpstr>
      <vt:lpstr>Overview</vt:lpstr>
      <vt:lpstr>Initialize state</vt:lpstr>
      <vt:lpstr>Initialize state</vt:lpstr>
      <vt:lpstr>Initialize state</vt:lpstr>
      <vt:lpstr>Initialize state</vt:lpstr>
      <vt:lpstr>Initialize state</vt:lpstr>
      <vt:lpstr>Measure Link Quality state</vt:lpstr>
      <vt:lpstr>Measure Link Quality state</vt:lpstr>
      <vt:lpstr>Measure Link Quality state</vt:lpstr>
      <vt:lpstr>Measure Link Quality state</vt:lpstr>
      <vt:lpstr>Make Routing state</vt:lpstr>
      <vt:lpstr>Make Routing state</vt:lpstr>
      <vt:lpstr>Make Routing state</vt:lpstr>
      <vt:lpstr>Make Routing state</vt:lpstr>
      <vt:lpstr>Collect Node Information state</vt:lpstr>
      <vt:lpstr>Make Schedule state</vt:lpstr>
      <vt:lpstr>Make Schedule state</vt:lpstr>
      <vt:lpstr>Make Schedule state</vt:lpstr>
      <vt:lpstr>Make Schedule state</vt:lpstr>
      <vt:lpstr>Make Schedule state</vt:lpstr>
      <vt:lpstr>Data Transmission state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CNLAB PROTOCOL</dc:title>
  <dc:creator>Microsoft Office User</dc:creator>
  <cp:lastModifiedBy>Mr Tan</cp:lastModifiedBy>
  <cp:revision>158</cp:revision>
  <dcterms:created xsi:type="dcterms:W3CDTF">2019-12-05T13:27:16Z</dcterms:created>
  <dcterms:modified xsi:type="dcterms:W3CDTF">2021-01-20T07:46:47Z</dcterms:modified>
</cp:coreProperties>
</file>
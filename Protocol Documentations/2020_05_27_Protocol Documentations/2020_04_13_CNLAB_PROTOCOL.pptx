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78" r:id="rId9"/>
    <p:sldId id="261" r:id="rId10"/>
    <p:sldId id="304" r:id="rId11"/>
    <p:sldId id="262" r:id="rId12"/>
    <p:sldId id="305" r:id="rId13"/>
    <p:sldId id="265" r:id="rId14"/>
    <p:sldId id="306" r:id="rId15"/>
    <p:sldId id="307" r:id="rId16"/>
    <p:sldId id="308" r:id="rId17"/>
    <p:sldId id="266" r:id="rId18"/>
    <p:sldId id="273" r:id="rId19"/>
    <p:sldId id="282" r:id="rId20"/>
    <p:sldId id="274" r:id="rId21"/>
    <p:sldId id="283" r:id="rId22"/>
    <p:sldId id="28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21"/>
  </p:normalViewPr>
  <p:slideViewPr>
    <p:cSldViewPr snapToGrid="0" snapToObjects="1">
      <p:cViewPr>
        <p:scale>
          <a:sx n="100" d="100"/>
          <a:sy n="100" d="100"/>
        </p:scale>
        <p:origin x="464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6EC84-E442-824B-954D-2C321762CEF7}" type="datetimeFigureOut">
              <a:rPr lang="en-US" smtClean="0"/>
              <a:t>4/14/20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5B622-68D5-F141-B340-69FCC55EB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5B622-68D5-F141-B340-69FCC55EB7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63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5B622-68D5-F141-B340-69FCC55EB7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47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5B622-68D5-F141-B340-69FCC55EB7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5B622-68D5-F141-B340-69FCC55EB7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53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5B622-68D5-F141-B340-69FCC55EB7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E96CA-A114-CA4B-82AC-764C61C84207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C4175-475F-754E-9967-6CCA73D87331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FA9AF-E56E-FA45-B6A5-7E4244D835B0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93F06-576F-A947-ABC9-3CBBAAAB46D9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1B93-D984-CE48-8011-C44628B8B0BB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4136D-65C7-8246-A179-B846ABAD6179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3604-4E2B-5941-9D45-CD703C845843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A876D-50D5-E448-BB1E-E3D3E5E67046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EAAF-D565-C545-9F1B-04D2EC0F401C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CB748-C492-4E40-9B26-B3D4232C58B7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F7E4D-78B4-8E4E-85CD-032BABD80B7D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A1B48-0FA3-3848-8EF4-C8FCF50B129C}" type="datetime1">
              <a:rPr lang="en-US" smtClean="0"/>
              <a:t>4/14/20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73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CNLAB PROTOCOL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9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Development environment:</a:t>
            </a:r>
          </a:p>
          <a:p>
            <a:pPr lvl="1">
              <a:buFont typeface="Arial" charset="0"/>
              <a:buChar char="•"/>
            </a:pPr>
            <a:r>
              <a:rPr lang="en-US" sz="2000" dirty="0" smtClean="0"/>
              <a:t>Sensor nodes: </a:t>
            </a:r>
            <a:r>
              <a:rPr lang="en-US" sz="2000" dirty="0" err="1" smtClean="0"/>
              <a:t>Zoulertia</a:t>
            </a:r>
            <a:r>
              <a:rPr lang="en-US" sz="2000" dirty="0" smtClean="0"/>
              <a:t> RE-Mote B</a:t>
            </a:r>
          </a:p>
          <a:p>
            <a:pPr lvl="1">
              <a:buFont typeface="Arial" charset="0"/>
              <a:buChar char="•"/>
            </a:pPr>
            <a:r>
              <a:rPr lang="en-US" sz="2000" dirty="0" smtClean="0"/>
              <a:t>Scheduling Server: Raspberry Pi 3 Model B</a:t>
            </a:r>
          </a:p>
          <a:p>
            <a:pPr lvl="1">
              <a:buFont typeface="Arial" charset="0"/>
              <a:buChar char="•"/>
            </a:pPr>
            <a:r>
              <a:rPr lang="en-US" sz="2000" dirty="0" smtClean="0"/>
              <a:t>OS: </a:t>
            </a:r>
            <a:r>
              <a:rPr lang="en-US" sz="2000" dirty="0" err="1" smtClean="0"/>
              <a:t>Contiki</a:t>
            </a:r>
            <a:r>
              <a:rPr lang="en-US" sz="2000" dirty="0" smtClean="0"/>
              <a:t>-NG</a:t>
            </a:r>
          </a:p>
          <a:p>
            <a:r>
              <a:rPr lang="en-US" sz="2400" dirty="0" smtClean="0"/>
              <a:t>Precondition:</a:t>
            </a:r>
          </a:p>
          <a:p>
            <a:pPr lvl="1">
              <a:buFont typeface="Arial" charset="0"/>
              <a:buChar char="•"/>
            </a:pPr>
            <a:r>
              <a:rPr lang="en-US" sz="2000" dirty="0" smtClean="0"/>
              <a:t>Each sensor nodes has an unique ID.</a:t>
            </a:r>
          </a:p>
          <a:p>
            <a:pPr lvl="1">
              <a:buFont typeface="Arial" charset="0"/>
              <a:buChar char="•"/>
            </a:pPr>
            <a:r>
              <a:rPr lang="en-US" sz="2000" dirty="0" smtClean="0"/>
              <a:t>The coordinator will be started after another sensor nodes</a:t>
            </a:r>
          </a:p>
          <a:p>
            <a:pPr lvl="1">
              <a:buFont typeface="Arial" charset="0"/>
              <a:buChar char="•"/>
            </a:pPr>
            <a:endParaRPr lang="en-US" sz="2000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1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312984" y="2250831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INITIALIZE STATE</a:t>
            </a:r>
            <a:endParaRPr lang="en-US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460652" y="2236764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MEASURE LINK QUALITY STATE</a:t>
            </a:r>
            <a:endParaRPr lang="en-US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5610195" y="2235701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MAKE ROUTING STATE</a:t>
            </a:r>
            <a:endParaRPr lang="en-US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7635944" y="2236764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COLLECT NODE INFORMATION STATE</a:t>
            </a:r>
            <a:endParaRPr lang="en-US"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9982200" y="2235701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MAKE SCHEDULE STATE</a:t>
            </a:r>
            <a:endParaRPr lang="en-US"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9982199" y="3756709"/>
            <a:ext cx="1589649" cy="703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DATA TRANSMISSION STATE</a:t>
            </a:r>
            <a:endParaRPr lang="en-US" sz="1600" dirty="0"/>
          </a:p>
        </p:txBody>
      </p:sp>
      <p:cxnSp>
        <p:nvCxnSpPr>
          <p:cNvPr id="12" name="Straight Arrow Connector 11"/>
          <p:cNvCxnSpPr>
            <a:stCxn id="4" idx="3"/>
            <a:endCxn id="5" idx="1"/>
          </p:cNvCxnSpPr>
          <p:nvPr/>
        </p:nvCxnSpPr>
        <p:spPr>
          <a:xfrm flipV="1">
            <a:off x="2902633" y="2588456"/>
            <a:ext cx="558019" cy="14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</p:cNvCxnSpPr>
          <p:nvPr/>
        </p:nvCxnSpPr>
        <p:spPr>
          <a:xfrm>
            <a:off x="5050301" y="2588456"/>
            <a:ext cx="558019" cy="14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8" idx="1"/>
          </p:cNvCxnSpPr>
          <p:nvPr/>
        </p:nvCxnSpPr>
        <p:spPr>
          <a:xfrm>
            <a:off x="7199844" y="2587393"/>
            <a:ext cx="436100" cy="1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9" idx="1"/>
          </p:cNvCxnSpPr>
          <p:nvPr/>
        </p:nvCxnSpPr>
        <p:spPr>
          <a:xfrm flipV="1">
            <a:off x="9225593" y="2587393"/>
            <a:ext cx="756607" cy="1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2"/>
            <a:endCxn id="10" idx="0"/>
          </p:cNvCxnSpPr>
          <p:nvPr/>
        </p:nvCxnSpPr>
        <p:spPr>
          <a:xfrm flipH="1">
            <a:off x="10777024" y="2939085"/>
            <a:ext cx="1" cy="817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5420" y="5500468"/>
            <a:ext cx="3062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1: Protocol operation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8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Initialize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04056"/>
            <a:ext cx="8669021" cy="640991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At initialize state, each node assigned in orchestra </a:t>
            </a:r>
            <a:r>
              <a:rPr lang="en-US" sz="2000" dirty="0" err="1" smtClean="0"/>
              <a:t>slotframe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Implemented in /</a:t>
            </a:r>
            <a:r>
              <a:rPr lang="en-US" sz="2000" dirty="0" err="1" smtClean="0"/>
              <a:t>contiki</a:t>
            </a:r>
            <a:r>
              <a:rPr lang="en-US" sz="2000" dirty="0" smtClean="0"/>
              <a:t>-ng/</a:t>
            </a:r>
            <a:r>
              <a:rPr lang="en-US" sz="2000" dirty="0" err="1" smtClean="0"/>
              <a:t>os</a:t>
            </a:r>
            <a:r>
              <a:rPr lang="en-US" sz="2000" dirty="0" smtClean="0"/>
              <a:t>/services/orchestra/</a:t>
            </a:r>
            <a:r>
              <a:rPr lang="en-US" sz="2000" dirty="0" err="1" smtClean="0"/>
              <a:t>cnlab</a:t>
            </a:r>
            <a:r>
              <a:rPr lang="en-US" sz="2000" dirty="0" smtClean="0"/>
              <a:t>-orchestra-rule-</a:t>
            </a:r>
            <a:r>
              <a:rPr lang="en-US" sz="2000" dirty="0" err="1" smtClean="0"/>
              <a:t>eb</a:t>
            </a:r>
            <a:r>
              <a:rPr lang="en-US" sz="2000" dirty="0" smtClean="0"/>
              <a:t>-</a:t>
            </a:r>
            <a:r>
              <a:rPr lang="en-US" sz="2000" dirty="0" err="1" smtClean="0"/>
              <a:t>period.c</a:t>
            </a:r>
            <a:endParaRPr lang="en-US" sz="2000" dirty="0" smtClean="0"/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50539"/>
              </p:ext>
            </p:extLst>
          </p:nvPr>
        </p:nvGraphicFramePr>
        <p:xfrm>
          <a:off x="1097280" y="2634828"/>
          <a:ext cx="8054444" cy="3415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2811"/>
                <a:gridCol w="805431"/>
                <a:gridCol w="731104"/>
                <a:gridCol w="648023"/>
                <a:gridCol w="769222"/>
                <a:gridCol w="874157"/>
                <a:gridCol w="894379"/>
                <a:gridCol w="858603"/>
                <a:gridCol w="840714"/>
              </a:tblGrid>
              <a:tr h="297690">
                <a:tc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092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1395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879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93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848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Tx</a:t>
                      </a:r>
                      <a:endParaRPr 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466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7446" y="2314132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Timeslot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052542" y="243285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Node ID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0363479" y="2380828"/>
            <a:ext cx="1537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Tx</a:t>
            </a:r>
            <a:r>
              <a:rPr lang="en-US" sz="1400" dirty="0" smtClean="0"/>
              <a:t>: Transmit</a:t>
            </a:r>
          </a:p>
          <a:p>
            <a:r>
              <a:rPr lang="en-US" sz="1400" dirty="0" smtClean="0"/>
              <a:t>Rx: Receive</a:t>
            </a:r>
          </a:p>
          <a:p>
            <a:endParaRPr lang="en-US" sz="1400" dirty="0"/>
          </a:p>
          <a:p>
            <a:r>
              <a:rPr lang="en-US" sz="1400" dirty="0" smtClean="0"/>
              <a:t>Timeslot 0 -&gt; 7: Assigned for Node 1 -&gt; 8 respectively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722652" y="6075398"/>
            <a:ext cx="529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1: Example of Orchestra </a:t>
            </a:r>
            <a:r>
              <a:rPr lang="en-US" dirty="0" err="1" smtClean="0"/>
              <a:t>slotframe</a:t>
            </a:r>
            <a:r>
              <a:rPr lang="en-US" dirty="0" smtClean="0"/>
              <a:t> with 8 nodes.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371" y="5952"/>
            <a:ext cx="2059756" cy="169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52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06572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Coordinator broadcast EB packet at timeslot 0.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All the sensor node in scan mode.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849772" y="2265355"/>
            <a:ext cx="543529" cy="361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662506" y="2433711"/>
            <a:ext cx="0" cy="34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8876715" y="2307101"/>
            <a:ext cx="396701" cy="469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027859" y="5231573"/>
            <a:ext cx="404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2: Example network in initialize state.</a:t>
            </a:r>
          </a:p>
        </p:txBody>
      </p:sp>
      <p:sp>
        <p:nvSpPr>
          <p:cNvPr id="90" name="Oval 89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41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06572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If the node receive EB packet, it will join the network and broadcast EB packet in it assigned timeslot.(Node 4 (timeslot 3))</a:t>
            </a:r>
          </a:p>
          <a:p>
            <a:r>
              <a:rPr lang="en-US" dirty="0" smtClean="0"/>
              <a:t>After sensor node join to the network, it will broadcast its EB packet.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7859" y="5231573"/>
            <a:ext cx="404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2: Example network in initialize state.</a:t>
            </a:r>
          </a:p>
        </p:txBody>
      </p:sp>
      <p:sp>
        <p:nvSpPr>
          <p:cNvPr id="90" name="Oval 89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105144" y="2980267"/>
            <a:ext cx="254177" cy="410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863840" y="2795176"/>
            <a:ext cx="418838" cy="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863840" y="2865516"/>
            <a:ext cx="418838" cy="86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820443" y="2865516"/>
            <a:ext cx="309489" cy="2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820443" y="2994335"/>
            <a:ext cx="396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610600" y="3263705"/>
            <a:ext cx="0" cy="304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9654275" y="3145696"/>
            <a:ext cx="447040" cy="42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7" idx="4"/>
          </p:cNvCxnSpPr>
          <p:nvPr/>
        </p:nvCxnSpPr>
        <p:spPr>
          <a:xfrm flipV="1">
            <a:off x="8576179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8821090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683524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7359321" y="3145696"/>
            <a:ext cx="1026944" cy="42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7683524" y="3130456"/>
            <a:ext cx="469876" cy="502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9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06572" cy="4023360"/>
          </a:xfrm>
        </p:spPr>
        <p:txBody>
          <a:bodyPr>
            <a:normAutofit/>
          </a:bodyPr>
          <a:lstStyle/>
          <a:p>
            <a:r>
              <a:rPr lang="en-US" sz="2000" dirty="0" smtClean="0">
                <a:sym typeface="Wingdings"/>
              </a:rPr>
              <a:t>We predefine MAX_DEPTH_LEVEL(16) for initialize state to wait for all node receive EB and join the network.</a:t>
            </a:r>
          </a:p>
          <a:p>
            <a:r>
              <a:rPr lang="en-US" sz="2000" dirty="0" smtClean="0">
                <a:sym typeface="Wingdings"/>
              </a:rPr>
              <a:t>An event timer will be </a:t>
            </a:r>
            <a:r>
              <a:rPr lang="en-US" sz="2000" dirty="0" err="1" smtClean="0">
                <a:sym typeface="Wingdings"/>
              </a:rPr>
              <a:t>triggerred</a:t>
            </a:r>
            <a:r>
              <a:rPr lang="en-US" sz="2000" dirty="0" smtClean="0">
                <a:sym typeface="Wingdings"/>
              </a:rPr>
              <a:t> after this time</a:t>
            </a:r>
            <a:r>
              <a:rPr lang="en-US" sz="2000" dirty="0" smtClean="0">
                <a:sym typeface="Wingdings"/>
              </a:rPr>
              <a:t>.</a:t>
            </a:r>
          </a:p>
          <a:p>
            <a:r>
              <a:rPr lang="en-US" sz="2000" dirty="0" smtClean="0">
                <a:sym typeface="Wingdings"/>
              </a:rPr>
              <a:t>Implemented </a:t>
            </a:r>
            <a:r>
              <a:rPr lang="en-US" sz="2000" dirty="0">
                <a:sym typeface="Wingdings"/>
              </a:rPr>
              <a:t>in </a:t>
            </a:r>
            <a:r>
              <a:rPr lang="en-US" sz="2000" dirty="0" smtClean="0">
                <a:sym typeface="Wingdings"/>
              </a:rPr>
              <a:t>/</a:t>
            </a:r>
            <a:r>
              <a:rPr lang="en-US" sz="2000" dirty="0" err="1" smtClean="0">
                <a:sym typeface="Wingdings"/>
              </a:rPr>
              <a:t>contiki</a:t>
            </a:r>
            <a:r>
              <a:rPr lang="en-US" sz="2000" dirty="0" smtClean="0">
                <a:sym typeface="Wingdings"/>
              </a:rPr>
              <a:t>-ng/</a:t>
            </a:r>
            <a:r>
              <a:rPr lang="en-US" sz="2000" dirty="0" err="1" smtClean="0">
                <a:sym typeface="Wingdings"/>
              </a:rPr>
              <a:t>os</a:t>
            </a:r>
            <a:r>
              <a:rPr lang="en-US" sz="2000" dirty="0" smtClean="0">
                <a:sym typeface="Wingdings"/>
              </a:rPr>
              <a:t>/net/mac/</a:t>
            </a:r>
            <a:r>
              <a:rPr lang="en-US" sz="2000" dirty="0" err="1" smtClean="0">
                <a:sym typeface="Wingdings"/>
              </a:rPr>
              <a:t>tsch</a:t>
            </a:r>
            <a:r>
              <a:rPr lang="en-US" sz="2000" dirty="0" smtClean="0">
                <a:sym typeface="Wingdings"/>
              </a:rPr>
              <a:t>/</a:t>
            </a:r>
            <a:r>
              <a:rPr lang="en-US" sz="2000" dirty="0" err="1" smtClean="0">
                <a:sym typeface="Wingdings"/>
              </a:rPr>
              <a:t>cnlab</a:t>
            </a:r>
            <a:r>
              <a:rPr lang="en-US" sz="2000" dirty="0" smtClean="0">
                <a:sym typeface="Wingdings"/>
              </a:rPr>
              <a:t>-</a:t>
            </a:r>
            <a:r>
              <a:rPr lang="en-US" sz="2000" dirty="0" err="1" smtClean="0">
                <a:sym typeface="Wingdings"/>
              </a:rPr>
              <a:t>tsch</a:t>
            </a:r>
            <a:r>
              <a:rPr lang="en-US" sz="2000" dirty="0" smtClean="0">
                <a:sym typeface="Wingdings"/>
              </a:rPr>
              <a:t>-measure-link-</a:t>
            </a:r>
            <a:r>
              <a:rPr lang="en-US" sz="2000" dirty="0" err="1" smtClean="0">
                <a:sym typeface="Wingdings"/>
              </a:rPr>
              <a:t>quality.c</a:t>
            </a:r>
            <a:endParaRPr lang="en-US" sz="2000" dirty="0" smtClean="0">
              <a:sym typeface="Wingdings"/>
            </a:endParaRPr>
          </a:p>
          <a:p>
            <a:r>
              <a:rPr lang="en-US" sz="2000" dirty="0">
                <a:sym typeface="Wingdings"/>
              </a:rPr>
              <a:t>PROCESS(</a:t>
            </a:r>
            <a:r>
              <a:rPr lang="en-US" sz="2000" dirty="0" err="1">
                <a:sym typeface="Wingdings"/>
              </a:rPr>
              <a:t>cnlab_measure_link_process</a:t>
            </a:r>
            <a:r>
              <a:rPr lang="en-US" sz="2000" dirty="0">
                <a:sym typeface="Wingdings"/>
              </a:rPr>
              <a:t>, "measure link process");</a:t>
            </a:r>
            <a:endParaRPr lang="en-US" sz="2000" dirty="0" smtClean="0">
              <a:sym typeface="Wingdings"/>
            </a:endParaRPr>
          </a:p>
          <a:p>
            <a:endParaRPr lang="en-US" sz="2000" dirty="0" smtClean="0">
              <a:sym typeface="Wingding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7859" y="5231573"/>
            <a:ext cx="404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2: Example network in initialize state.</a:t>
            </a:r>
          </a:p>
        </p:txBody>
      </p:sp>
      <p:sp>
        <p:nvSpPr>
          <p:cNvPr id="90" name="Oval 89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865034" y="3998515"/>
            <a:ext cx="105507" cy="43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576179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8821090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683524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6"/>
            <a:endCxn id="16" idx="2"/>
          </p:cNvCxnSpPr>
          <p:nvPr/>
        </p:nvCxnSpPr>
        <p:spPr>
          <a:xfrm>
            <a:off x="7739149" y="2797387"/>
            <a:ext cx="647116" cy="165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6" idx="6"/>
            <a:endCxn id="13" idx="2"/>
          </p:cNvCxnSpPr>
          <p:nvPr/>
        </p:nvCxnSpPr>
        <p:spPr>
          <a:xfrm>
            <a:off x="8766093" y="2962816"/>
            <a:ext cx="508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2" idx="5"/>
            <a:endCxn id="10" idx="1"/>
          </p:cNvCxnSpPr>
          <p:nvPr/>
        </p:nvCxnSpPr>
        <p:spPr>
          <a:xfrm>
            <a:off x="7683524" y="2926703"/>
            <a:ext cx="654779" cy="7596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4"/>
            <a:endCxn id="14" idx="0"/>
          </p:cNvCxnSpPr>
          <p:nvPr/>
        </p:nvCxnSpPr>
        <p:spPr>
          <a:xfrm flipH="1">
            <a:off x="7160455" y="2980267"/>
            <a:ext cx="388780" cy="511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4" idx="6"/>
            <a:endCxn id="16" idx="3"/>
          </p:cNvCxnSpPr>
          <p:nvPr/>
        </p:nvCxnSpPr>
        <p:spPr>
          <a:xfrm flipV="1">
            <a:off x="7350369" y="3092132"/>
            <a:ext cx="1091521" cy="582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0" idx="0"/>
            <a:endCxn id="16" idx="4"/>
          </p:cNvCxnSpPr>
          <p:nvPr/>
        </p:nvCxnSpPr>
        <p:spPr>
          <a:xfrm flipV="1">
            <a:off x="8472592" y="3145696"/>
            <a:ext cx="103587" cy="487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0" idx="1"/>
            <a:endCxn id="13" idx="5"/>
          </p:cNvCxnSpPr>
          <p:nvPr/>
        </p:nvCxnSpPr>
        <p:spPr>
          <a:xfrm flipH="1" flipV="1">
            <a:off x="9598650" y="3081355"/>
            <a:ext cx="558290" cy="540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14" idx="5"/>
            <a:endCxn id="10" idx="2"/>
          </p:cNvCxnSpPr>
          <p:nvPr/>
        </p:nvCxnSpPr>
        <p:spPr>
          <a:xfrm>
            <a:off x="7294744" y="3803850"/>
            <a:ext cx="987934" cy="11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7125608" y="4098689"/>
            <a:ext cx="1281435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06572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ym typeface="Wingdings"/>
            </a:endParaRPr>
          </a:p>
          <a:p>
            <a:pPr marL="0" indent="0">
              <a:buNone/>
            </a:pPr>
            <a:r>
              <a:rPr lang="en-US" dirty="0" smtClean="0">
                <a:sym typeface="Wingdings"/>
              </a:rPr>
              <a:t> </a:t>
            </a:r>
            <a:r>
              <a:rPr lang="en-US" dirty="0" smtClean="0"/>
              <a:t>After that it change to Measure Link Quality state.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0" name="Oval 9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27859" y="5231573"/>
            <a:ext cx="4049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2: Example network in initialize state.</a:t>
            </a:r>
          </a:p>
        </p:txBody>
      </p:sp>
      <p:sp>
        <p:nvSpPr>
          <p:cNvPr id="90" name="Oval 89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8576179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8821090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683524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2" idx="6"/>
            <a:endCxn id="16" idx="2"/>
          </p:cNvCxnSpPr>
          <p:nvPr/>
        </p:nvCxnSpPr>
        <p:spPr>
          <a:xfrm>
            <a:off x="7739149" y="2797387"/>
            <a:ext cx="647116" cy="165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6" idx="6"/>
            <a:endCxn id="13" idx="2"/>
          </p:cNvCxnSpPr>
          <p:nvPr/>
        </p:nvCxnSpPr>
        <p:spPr>
          <a:xfrm>
            <a:off x="8766093" y="2962816"/>
            <a:ext cx="508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12" idx="5"/>
            <a:endCxn id="10" idx="1"/>
          </p:cNvCxnSpPr>
          <p:nvPr/>
        </p:nvCxnSpPr>
        <p:spPr>
          <a:xfrm>
            <a:off x="7683524" y="2926703"/>
            <a:ext cx="654779" cy="7596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2" idx="4"/>
            <a:endCxn id="14" idx="0"/>
          </p:cNvCxnSpPr>
          <p:nvPr/>
        </p:nvCxnSpPr>
        <p:spPr>
          <a:xfrm flipH="1">
            <a:off x="7160455" y="2980267"/>
            <a:ext cx="388780" cy="511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4" idx="6"/>
            <a:endCxn id="16" idx="3"/>
          </p:cNvCxnSpPr>
          <p:nvPr/>
        </p:nvCxnSpPr>
        <p:spPr>
          <a:xfrm flipV="1">
            <a:off x="7350369" y="3092132"/>
            <a:ext cx="1091521" cy="582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0" idx="0"/>
            <a:endCxn id="16" idx="4"/>
          </p:cNvCxnSpPr>
          <p:nvPr/>
        </p:nvCxnSpPr>
        <p:spPr>
          <a:xfrm flipV="1">
            <a:off x="8472592" y="3145696"/>
            <a:ext cx="103587" cy="487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0" idx="1"/>
            <a:endCxn id="13" idx="5"/>
          </p:cNvCxnSpPr>
          <p:nvPr/>
        </p:nvCxnSpPr>
        <p:spPr>
          <a:xfrm flipH="1" flipV="1">
            <a:off x="9598650" y="3081355"/>
            <a:ext cx="558290" cy="540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14" idx="5"/>
            <a:endCxn id="10" idx="2"/>
          </p:cNvCxnSpPr>
          <p:nvPr/>
        </p:nvCxnSpPr>
        <p:spPr>
          <a:xfrm>
            <a:off x="7294744" y="3803850"/>
            <a:ext cx="987934" cy="11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4" idx="4"/>
            <a:endCxn id="11" idx="0"/>
          </p:cNvCxnSpPr>
          <p:nvPr/>
        </p:nvCxnSpPr>
        <p:spPr>
          <a:xfrm flipH="1">
            <a:off x="6915230" y="3857414"/>
            <a:ext cx="245225" cy="733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6"/>
            <a:endCxn id="10" idx="3"/>
          </p:cNvCxnSpPr>
          <p:nvPr/>
        </p:nvCxnSpPr>
        <p:spPr>
          <a:xfrm flipV="1">
            <a:off x="7105144" y="3944951"/>
            <a:ext cx="1233159" cy="8292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11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Measure Link Quality </a:t>
            </a:r>
            <a:r>
              <a:rPr lang="en-US" dirty="0"/>
              <a:t>s</a:t>
            </a:r>
            <a:r>
              <a:rPr lang="en-US" dirty="0" smtClean="0"/>
              <a:t>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951828" cy="4023360"/>
          </a:xfrm>
        </p:spPr>
        <p:txBody>
          <a:bodyPr>
            <a:normAutofit fontScale="77500" lnSpcReduction="20000"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 We have predefine NUMBER_OF_PROBE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value to determine how many PROBE packet will be transmitted between each link. (NUMBER_OF_PROBE = 500)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In Measure Link Quality(MLQ) state, all </a:t>
            </a:r>
            <a:r>
              <a:rPr lang="en-US" dirty="0" smtClean="0"/>
              <a:t>nodes </a:t>
            </a:r>
            <a:r>
              <a:rPr lang="en-US" dirty="0"/>
              <a:t>create PROBE packet contains its node id and sequence number</a:t>
            </a:r>
            <a:r>
              <a:rPr lang="en-US" dirty="0" smtClean="0"/>
              <a:t>.</a:t>
            </a:r>
            <a:r>
              <a:rPr lang="en-US" dirty="0"/>
              <a:t> </a:t>
            </a:r>
            <a:r>
              <a:rPr lang="en-US" dirty="0" smtClean="0"/>
              <a:t>PROBE(id, </a:t>
            </a:r>
            <a:r>
              <a:rPr lang="en-US" dirty="0" err="1" smtClean="0"/>
              <a:t>seqno</a:t>
            </a:r>
            <a:r>
              <a:rPr lang="en-US" dirty="0" smtClean="0"/>
              <a:t>).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PROBE packets broadcasted in orchestra </a:t>
            </a:r>
            <a:r>
              <a:rPr lang="en-US" dirty="0" err="1" smtClean="0"/>
              <a:t>slotframe</a:t>
            </a:r>
            <a:r>
              <a:rPr lang="en-US" dirty="0" smtClean="0"/>
              <a:t> (</a:t>
            </a:r>
            <a:r>
              <a:rPr lang="en-US" dirty="0">
                <a:sym typeface="Wingdings"/>
              </a:rPr>
              <a:t>Same </a:t>
            </a:r>
            <a:r>
              <a:rPr lang="en-US" dirty="0" err="1">
                <a:sym typeface="Wingdings"/>
              </a:rPr>
              <a:t>slotframe</a:t>
            </a:r>
            <a:r>
              <a:rPr lang="en-US" dirty="0">
                <a:sym typeface="Wingdings"/>
              </a:rPr>
              <a:t> with Initialize state (broadcast</a:t>
            </a:r>
            <a:r>
              <a:rPr lang="en-US" dirty="0" smtClean="0">
                <a:sym typeface="Wingdings"/>
              </a:rPr>
              <a:t>)</a:t>
            </a:r>
            <a:r>
              <a:rPr lang="en-US" dirty="0" smtClean="0"/>
              <a:t>)</a:t>
            </a:r>
          </a:p>
          <a:p>
            <a:pPr>
              <a:buFont typeface="Wingdings"/>
              <a:buChar char="è"/>
            </a:pPr>
            <a:r>
              <a:rPr lang="en-US" dirty="0" smtClean="0">
                <a:sym typeface="Wingdings"/>
              </a:rPr>
              <a:t>All the neighbor node listen and count the number of the received PROBE packet.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027859" y="5231573"/>
            <a:ext cx="371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3: Example network in MLQ state.</a:t>
            </a:r>
          </a:p>
        </p:txBody>
      </p:sp>
      <p:sp>
        <p:nvSpPr>
          <p:cNvPr id="43" name="Oval 42"/>
          <p:cNvSpPr/>
          <p:nvPr/>
        </p:nvSpPr>
        <p:spPr>
          <a:xfrm>
            <a:off x="8717020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44" name="Oval 43"/>
          <p:cNvSpPr/>
          <p:nvPr/>
        </p:nvSpPr>
        <p:spPr>
          <a:xfrm>
            <a:off x="8502811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6945449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7579454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9494580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8" name="Oval 47"/>
          <p:cNvSpPr/>
          <p:nvPr/>
        </p:nvSpPr>
        <p:spPr>
          <a:xfrm>
            <a:off x="7190674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49" name="Oval 48"/>
          <p:cNvSpPr/>
          <p:nvPr/>
        </p:nvSpPr>
        <p:spPr>
          <a:xfrm>
            <a:off x="8606398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50" name="Oval 49"/>
          <p:cNvSpPr/>
          <p:nvPr/>
        </p:nvSpPr>
        <p:spPr>
          <a:xfrm>
            <a:off x="10321448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8796312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9041223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903657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3" idx="6"/>
            <a:endCxn id="57" idx="2"/>
          </p:cNvCxnSpPr>
          <p:nvPr/>
        </p:nvCxnSpPr>
        <p:spPr>
          <a:xfrm>
            <a:off x="7959282" y="2797387"/>
            <a:ext cx="647116" cy="165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57" idx="6"/>
            <a:endCxn id="54" idx="2"/>
          </p:cNvCxnSpPr>
          <p:nvPr/>
        </p:nvCxnSpPr>
        <p:spPr>
          <a:xfrm>
            <a:off x="8986226" y="2962816"/>
            <a:ext cx="508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3" idx="5"/>
            <a:endCxn id="51" idx="1"/>
          </p:cNvCxnSpPr>
          <p:nvPr/>
        </p:nvCxnSpPr>
        <p:spPr>
          <a:xfrm>
            <a:off x="7903657" y="2926703"/>
            <a:ext cx="654779" cy="7596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4"/>
            <a:endCxn id="55" idx="0"/>
          </p:cNvCxnSpPr>
          <p:nvPr/>
        </p:nvCxnSpPr>
        <p:spPr>
          <a:xfrm flipH="1">
            <a:off x="7380588" y="2980267"/>
            <a:ext cx="388780" cy="511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55" idx="6"/>
            <a:endCxn id="57" idx="3"/>
          </p:cNvCxnSpPr>
          <p:nvPr/>
        </p:nvCxnSpPr>
        <p:spPr>
          <a:xfrm flipV="1">
            <a:off x="7570502" y="3092132"/>
            <a:ext cx="1091521" cy="582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1" idx="0"/>
            <a:endCxn id="57" idx="4"/>
          </p:cNvCxnSpPr>
          <p:nvPr/>
        </p:nvCxnSpPr>
        <p:spPr>
          <a:xfrm flipV="1">
            <a:off x="8692725" y="3145696"/>
            <a:ext cx="103587" cy="487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54" idx="5"/>
          </p:cNvCxnSpPr>
          <p:nvPr/>
        </p:nvCxnSpPr>
        <p:spPr>
          <a:xfrm flipH="1" flipV="1">
            <a:off x="9818783" y="3081355"/>
            <a:ext cx="558290" cy="540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5" idx="5"/>
            <a:endCxn id="51" idx="2"/>
          </p:cNvCxnSpPr>
          <p:nvPr/>
        </p:nvCxnSpPr>
        <p:spPr>
          <a:xfrm>
            <a:off x="7514877" y="3803850"/>
            <a:ext cx="987934" cy="11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5" idx="4"/>
            <a:endCxn id="52" idx="0"/>
          </p:cNvCxnSpPr>
          <p:nvPr/>
        </p:nvCxnSpPr>
        <p:spPr>
          <a:xfrm flipH="1">
            <a:off x="7135363" y="3857414"/>
            <a:ext cx="245225" cy="733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52" idx="6"/>
            <a:endCxn id="51" idx="3"/>
          </p:cNvCxnSpPr>
          <p:nvPr/>
        </p:nvCxnSpPr>
        <p:spPr>
          <a:xfrm flipV="1">
            <a:off x="7325277" y="3944951"/>
            <a:ext cx="1233159" cy="8292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27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Link Quality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04056"/>
            <a:ext cx="10649244" cy="4173412"/>
          </a:xfrm>
        </p:spPr>
        <p:txBody>
          <a:bodyPr>
            <a:normAutofit/>
          </a:bodyPr>
          <a:lstStyle/>
          <a:p>
            <a:r>
              <a:rPr lang="en-US" sz="2400" dirty="0"/>
              <a:t>E</a:t>
            </a:r>
            <a:r>
              <a:rPr lang="en-US" sz="2400" dirty="0" smtClean="0"/>
              <a:t>ach </a:t>
            </a:r>
            <a:r>
              <a:rPr lang="en-US" sz="2400" dirty="0" smtClean="0"/>
              <a:t>node assigned in orchestra </a:t>
            </a:r>
            <a:r>
              <a:rPr lang="en-US" sz="2400" dirty="0" err="1" smtClean="0"/>
              <a:t>slotframe</a:t>
            </a:r>
            <a:r>
              <a:rPr lang="en-US" sz="2400" dirty="0" smtClean="0"/>
              <a:t>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18725"/>
              </p:ext>
            </p:extLst>
          </p:nvPr>
        </p:nvGraphicFramePr>
        <p:xfrm>
          <a:off x="1097280" y="2380828"/>
          <a:ext cx="8054444" cy="3415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2811"/>
                <a:gridCol w="805431"/>
                <a:gridCol w="731104"/>
                <a:gridCol w="648023"/>
                <a:gridCol w="769222"/>
                <a:gridCol w="874157"/>
                <a:gridCol w="894379"/>
                <a:gridCol w="858603"/>
                <a:gridCol w="840714"/>
              </a:tblGrid>
              <a:tr h="297690">
                <a:tc>
                  <a:txBody>
                    <a:bodyPr/>
                    <a:lstStyle/>
                    <a:p>
                      <a:pPr algn="ctr"/>
                      <a:endParaRPr 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092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1395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879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938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848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 smtClean="0"/>
                        <a:t>Tx</a:t>
                      </a:r>
                      <a:endParaRPr lang="en-US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466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Rx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/>
                        <a:t>Tx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7446" y="2314132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Timeslot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052542" y="243285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Node ID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0363479" y="2380828"/>
            <a:ext cx="1537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Tx</a:t>
            </a:r>
            <a:r>
              <a:rPr lang="en-US" sz="1400" dirty="0" smtClean="0"/>
              <a:t>: Transmit</a:t>
            </a:r>
          </a:p>
          <a:p>
            <a:r>
              <a:rPr lang="en-US" sz="1400" dirty="0" smtClean="0"/>
              <a:t>Rx: Receive</a:t>
            </a:r>
          </a:p>
          <a:p>
            <a:endParaRPr lang="en-US" sz="1400" dirty="0"/>
          </a:p>
          <a:p>
            <a:r>
              <a:rPr lang="en-US" sz="1400" dirty="0" smtClean="0"/>
              <a:t>Timeslot 0 -&gt; 7: Assigned for Node 1 -&gt; 8 respectively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722652" y="5859498"/>
            <a:ext cx="529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1: Example of Orchestra </a:t>
            </a:r>
            <a:r>
              <a:rPr lang="en-US" dirty="0" err="1" smtClean="0"/>
              <a:t>slotframe</a:t>
            </a:r>
            <a:r>
              <a:rPr lang="en-US" dirty="0" smtClean="0"/>
              <a:t> with 8 nodes.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371" y="5952"/>
            <a:ext cx="2059756" cy="169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61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Link Quality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5219114" cy="402336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Arial" charset="0"/>
                  <a:buChar char="•"/>
                </a:pPr>
                <a:r>
                  <a:rPr lang="en-US" dirty="0" smtClean="0"/>
                  <a:t> Example:</a:t>
                </a:r>
              </a:p>
              <a:p>
                <a:pPr>
                  <a:buFont typeface="Arial" charset="0"/>
                  <a:buChar char="•"/>
                </a:pPr>
                <a:r>
                  <a:rPr lang="en-US" dirty="0" smtClean="0"/>
                  <a:t> Node 1: broadcast PROBE(1, 1)</a:t>
                </a:r>
              </a:p>
              <a:p>
                <a:pPr>
                  <a:buFont typeface="Arial" charset="0"/>
                  <a:buChar char="•"/>
                </a:pPr>
                <a:r>
                  <a:rPr lang="en-US" dirty="0" smtClean="0"/>
                  <a:t> Node 4, 8, 5 if receive PROBE packet will add Node 1 to its neighbor table and count the number of received PROBE packet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𝑟𝑥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_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𝑝𝑟𝑜𝑏𝑒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_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charset="0"/>
                      </a:rPr>
                      <m:t>𝑐𝑜𝑢𝑛𝑡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pPr>
                  <a:buFont typeface="Arial" charset="0"/>
                  <a:buChar char="•"/>
                </a:pPr>
                <a:r>
                  <a:rPr lang="en-US" dirty="0" smtClean="0"/>
                  <a:t> All the network runs MLQ state until it reaches the NUMBER_OF_PROBE.</a:t>
                </a:r>
              </a:p>
              <a:p>
                <a:pPr>
                  <a:buFont typeface="Arial" charset="0"/>
                  <a:buChar char="•"/>
                </a:pPr>
                <a:r>
                  <a:rPr lang="en-US" dirty="0" smtClean="0"/>
                  <a:t> Node 1 calculate PRR value from its neighbor: PRR(4-&gt;1), PRR(8-&gt;1), PRR(5-&gt;1).</a:t>
                </a:r>
              </a:p>
              <a:p>
                <a:pPr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i="1" dirty="0" smtClean="0">
                        <a:latin typeface="Cambria Math" charset="0"/>
                      </a:rPr>
                      <m:t>PRR</m:t>
                    </m:r>
                    <m:r>
                      <a:rPr lang="vi-VN" b="0" i="1" dirty="0" smtClean="0"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mr-IN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𝑟𝑥</m:t>
                        </m:r>
                        <m:r>
                          <a:rPr lang="en-US" i="1">
                            <a:latin typeface="Cambria Math" charset="0"/>
                          </a:rPr>
                          <m:t>_</m:t>
                        </m:r>
                        <m:r>
                          <a:rPr lang="en-US" i="1">
                            <a:latin typeface="Cambria Math" charset="0"/>
                          </a:rPr>
                          <m:t>𝑝𝑟𝑜𝑏𝑒</m:t>
                        </m:r>
                        <m:r>
                          <a:rPr lang="en-US" i="1">
                            <a:latin typeface="Cambria Math" charset="0"/>
                          </a:rPr>
                          <m:t>_</m:t>
                        </m:r>
                        <m:r>
                          <a:rPr lang="en-US" i="1">
                            <a:latin typeface="Cambria Math" charset="0"/>
                          </a:rPr>
                          <m:t>𝑐𝑜𝑢𝑛𝑡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NUMBER</m:t>
                        </m:r>
                        <m:r>
                          <m:rPr>
                            <m:nor/>
                          </m:rPr>
                          <a:rPr lang="en-US" dirty="0"/>
                          <m:t>_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_</m:t>
                        </m:r>
                        <m:r>
                          <m:rPr>
                            <m:nor/>
                          </m:rPr>
                          <a:rPr lang="en-US" dirty="0"/>
                          <m:t>PROBE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5219114" cy="4023360"/>
              </a:xfrm>
              <a:blipFill rotWithShape="0">
                <a:blip r:embed="rId2"/>
                <a:stretch>
                  <a:fillRect l="-1519" t="-3485" r="-2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027859" y="5231573"/>
            <a:ext cx="371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3: Example network in MLQ state.</a:t>
            </a:r>
          </a:p>
        </p:txBody>
      </p:sp>
      <p:sp>
        <p:nvSpPr>
          <p:cNvPr id="49" name="Oval 48"/>
          <p:cNvSpPr/>
          <p:nvPr/>
        </p:nvSpPr>
        <p:spPr>
          <a:xfrm>
            <a:off x="8717020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50" name="Oval 49"/>
          <p:cNvSpPr/>
          <p:nvPr/>
        </p:nvSpPr>
        <p:spPr>
          <a:xfrm>
            <a:off x="8502811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6945449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7579454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9494580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54" name="Oval 53"/>
          <p:cNvSpPr/>
          <p:nvPr/>
        </p:nvSpPr>
        <p:spPr>
          <a:xfrm>
            <a:off x="7190674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55" name="Oval 54"/>
          <p:cNvSpPr/>
          <p:nvPr/>
        </p:nvSpPr>
        <p:spPr>
          <a:xfrm>
            <a:off x="8606398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56" name="Oval 55"/>
          <p:cNvSpPr/>
          <p:nvPr/>
        </p:nvSpPr>
        <p:spPr>
          <a:xfrm>
            <a:off x="10321448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8796312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9041223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7903657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7959282" y="2797387"/>
            <a:ext cx="647116" cy="165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8986226" y="2962816"/>
            <a:ext cx="508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903657" y="2926703"/>
            <a:ext cx="654779" cy="7596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7380588" y="2980267"/>
            <a:ext cx="388780" cy="511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7570502" y="3092132"/>
            <a:ext cx="1091521" cy="582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8692725" y="3145696"/>
            <a:ext cx="103587" cy="487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9818783" y="3081355"/>
            <a:ext cx="558290" cy="540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7514877" y="3803850"/>
            <a:ext cx="987934" cy="11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7135363" y="3857414"/>
            <a:ext cx="245225" cy="733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7325277" y="3944951"/>
            <a:ext cx="1233159" cy="8292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52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Link Quality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219114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After calculate PRR for each neighbor, Node will send PRR value for each neighbor by unicast using Orchestra </a:t>
            </a:r>
            <a:r>
              <a:rPr lang="en-US" dirty="0" err="1" smtClean="0"/>
              <a:t>slotframe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Each node will remain 2 PRRs value:</a:t>
            </a:r>
          </a:p>
          <a:p>
            <a:pPr>
              <a:buFont typeface="Arial" charset="0"/>
              <a:buChar char="•"/>
            </a:pPr>
            <a:r>
              <a:rPr lang="en-US" dirty="0" err="1" smtClean="0"/>
              <a:t>Forward_PRR</a:t>
            </a:r>
            <a:r>
              <a:rPr lang="en-US" dirty="0" smtClean="0"/>
              <a:t>(Node-&gt;Neighbor)</a:t>
            </a:r>
          </a:p>
          <a:p>
            <a:pPr>
              <a:buFont typeface="Arial" charset="0"/>
              <a:buChar char="•"/>
            </a:pPr>
            <a:r>
              <a:rPr lang="en-US" dirty="0" err="1" smtClean="0"/>
              <a:t>Backward_PRR</a:t>
            </a:r>
            <a:r>
              <a:rPr lang="en-US" dirty="0" smtClean="0"/>
              <a:t>(Neighbor-&gt;Node)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7027859" y="5231573"/>
            <a:ext cx="371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Fig. 3: Example network in MLQ state.</a:t>
            </a:r>
          </a:p>
        </p:txBody>
      </p:sp>
      <p:sp>
        <p:nvSpPr>
          <p:cNvPr id="49" name="Oval 48"/>
          <p:cNvSpPr/>
          <p:nvPr/>
        </p:nvSpPr>
        <p:spPr>
          <a:xfrm>
            <a:off x="8717020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50" name="Oval 49"/>
          <p:cNvSpPr/>
          <p:nvPr/>
        </p:nvSpPr>
        <p:spPr>
          <a:xfrm>
            <a:off x="8502811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6945449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52" name="Oval 51"/>
          <p:cNvSpPr/>
          <p:nvPr/>
        </p:nvSpPr>
        <p:spPr>
          <a:xfrm>
            <a:off x="7579454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9494580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54" name="Oval 53"/>
          <p:cNvSpPr/>
          <p:nvPr/>
        </p:nvSpPr>
        <p:spPr>
          <a:xfrm>
            <a:off x="7190674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55" name="Oval 54"/>
          <p:cNvSpPr/>
          <p:nvPr/>
        </p:nvSpPr>
        <p:spPr>
          <a:xfrm>
            <a:off x="8606398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56" name="Oval 55"/>
          <p:cNvSpPr/>
          <p:nvPr/>
        </p:nvSpPr>
        <p:spPr>
          <a:xfrm>
            <a:off x="10321448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8796312" y="2292877"/>
            <a:ext cx="110622" cy="50829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9041223" y="2260552"/>
            <a:ext cx="508982" cy="604964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7903657" y="2239313"/>
            <a:ext cx="868988" cy="42875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7959282" y="2797387"/>
            <a:ext cx="647116" cy="165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8986226" y="2962816"/>
            <a:ext cx="508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903657" y="2926703"/>
            <a:ext cx="654779" cy="7596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7380588" y="2980267"/>
            <a:ext cx="388780" cy="5113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7570502" y="3092132"/>
            <a:ext cx="1091521" cy="5824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8692725" y="3145696"/>
            <a:ext cx="103587" cy="4870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9818783" y="3081355"/>
            <a:ext cx="558290" cy="5401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7514877" y="3803850"/>
            <a:ext cx="987934" cy="11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7135363" y="3857414"/>
            <a:ext cx="245225" cy="733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7325277" y="3944951"/>
            <a:ext cx="1233159" cy="8292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57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Routing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75488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In Make Routing state, Coordinator will send BUILDING_TREE_INIT message contain </a:t>
            </a:r>
            <a:r>
              <a:rPr lang="en-US" dirty="0" err="1" smtClean="0"/>
              <a:t>ist</a:t>
            </a:r>
            <a:r>
              <a:rPr lang="en-US" dirty="0" smtClean="0"/>
              <a:t> Rank (</a:t>
            </a:r>
            <a:r>
              <a:rPr lang="en-US" dirty="0" err="1" smtClean="0"/>
              <a:t>init</a:t>
            </a:r>
            <a:r>
              <a:rPr lang="en-US" dirty="0" smtClean="0"/>
              <a:t> = 0) to lower level node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/>
              <a:t>PROCESS(</a:t>
            </a:r>
            <a:r>
              <a:rPr lang="en-US" dirty="0" err="1"/>
              <a:t>cnlab_send_building_tree_init_process</a:t>
            </a:r>
            <a:r>
              <a:rPr lang="en-US" dirty="0"/>
              <a:t>, "send BT INIT process");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46" name="Oval 45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48" name="Straight Connector 47"/>
          <p:cNvCxnSpPr>
            <a:endCxn id="49" idx="0"/>
          </p:cNvCxnSpPr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45" idx="7"/>
          </p:cNvCxnSpPr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46" idx="1"/>
          </p:cNvCxnSpPr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3"/>
          </p:cNvCxnSpPr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5"/>
            <a:endCxn id="49" idx="2"/>
          </p:cNvCxnSpPr>
          <p:nvPr/>
        </p:nvCxnSpPr>
        <p:spPr>
          <a:xfrm>
            <a:off x="7683524" y="2926703"/>
            <a:ext cx="702741" cy="36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9" idx="6"/>
            <a:endCxn id="46" idx="2"/>
          </p:cNvCxnSpPr>
          <p:nvPr/>
        </p:nvCxnSpPr>
        <p:spPr>
          <a:xfrm>
            <a:off x="8766093" y="2962816"/>
            <a:ext cx="508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9" idx="4"/>
            <a:endCxn id="43" idx="0"/>
          </p:cNvCxnSpPr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99486" y="5301927"/>
            <a:ext cx="457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dirty="0" smtClean="0"/>
              <a:t>5: </a:t>
            </a:r>
            <a:r>
              <a:rPr lang="en-US" dirty="0"/>
              <a:t>Example network </a:t>
            </a:r>
            <a:r>
              <a:rPr lang="en-US" dirty="0" smtClean="0"/>
              <a:t>in Make Routing </a:t>
            </a:r>
            <a:r>
              <a:rPr lang="en-US" dirty="0"/>
              <a:t>state.</a:t>
            </a:r>
          </a:p>
        </p:txBody>
      </p:sp>
      <p:sp>
        <p:nvSpPr>
          <p:cNvPr id="75" name="Oval 7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294744" y="3803850"/>
            <a:ext cx="1043559" cy="141101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37750" y="1917497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0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0637751" y="2669550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1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0637751" y="3620843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2</a:t>
            </a:r>
            <a:endParaRPr 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10637751" y="4620324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3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683524" y="2019300"/>
            <a:ext cx="702741" cy="406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8410979" y="2287966"/>
            <a:ext cx="152401" cy="496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8888333" y="2292877"/>
            <a:ext cx="301070" cy="4540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3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Routing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754880" cy="4023360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Node received  will calculate Rank: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sz="2400" dirty="0" smtClean="0"/>
              <a:t>Rank = </a:t>
            </a:r>
            <a:r>
              <a:rPr lang="en-US" sz="2400" dirty="0" err="1" smtClean="0"/>
              <a:t>neighbor_rank</a:t>
            </a:r>
            <a:r>
              <a:rPr lang="en-US" sz="2400" dirty="0" smtClean="0"/>
              <a:t>*</a:t>
            </a:r>
            <a:r>
              <a:rPr lang="en-US" sz="2400" dirty="0" err="1" smtClean="0"/>
              <a:t>forward_prr</a:t>
            </a:r>
            <a:r>
              <a:rPr lang="en-US" sz="2400" dirty="0" smtClean="0"/>
              <a:t>;</a:t>
            </a:r>
          </a:p>
          <a:p>
            <a:pPr>
              <a:buFont typeface="Arial" charset="0"/>
              <a:buChar char="•"/>
            </a:pPr>
            <a:r>
              <a:rPr lang="en-US" sz="2400" dirty="0" smtClean="0"/>
              <a:t>After calculate Rank, each node broadcast BUILDING_TREE_COMPARE contains its Rank to the neighbor</a:t>
            </a:r>
            <a:r>
              <a:rPr lang="en-US" sz="2400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sz="2400" dirty="0"/>
              <a:t>PROCESS(</a:t>
            </a:r>
            <a:r>
              <a:rPr lang="en-US" sz="2400" dirty="0" err="1"/>
              <a:t>cnlab_send_building_tree_compare_process</a:t>
            </a:r>
            <a:r>
              <a:rPr lang="en-US" sz="2400" dirty="0"/>
              <a:t>, "send BT COMPARE process");</a:t>
            </a: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46" name="Oval 45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48" name="Straight Connector 47"/>
          <p:cNvCxnSpPr>
            <a:endCxn id="49" idx="0"/>
          </p:cNvCxnSpPr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45" idx="7"/>
          </p:cNvCxnSpPr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46" idx="1"/>
          </p:cNvCxnSpPr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3"/>
          </p:cNvCxnSpPr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5"/>
            <a:endCxn id="49" idx="2"/>
          </p:cNvCxnSpPr>
          <p:nvPr/>
        </p:nvCxnSpPr>
        <p:spPr>
          <a:xfrm>
            <a:off x="7683524" y="2926703"/>
            <a:ext cx="702741" cy="36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9" idx="6"/>
            <a:endCxn id="46" idx="2"/>
          </p:cNvCxnSpPr>
          <p:nvPr/>
        </p:nvCxnSpPr>
        <p:spPr>
          <a:xfrm>
            <a:off x="8766093" y="2962816"/>
            <a:ext cx="508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9" idx="4"/>
            <a:endCxn id="43" idx="0"/>
          </p:cNvCxnSpPr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99486" y="5301927"/>
            <a:ext cx="457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dirty="0" smtClean="0"/>
              <a:t>5: </a:t>
            </a:r>
            <a:r>
              <a:rPr lang="en-US" dirty="0"/>
              <a:t>Example network </a:t>
            </a:r>
            <a:r>
              <a:rPr lang="en-US" dirty="0" smtClean="0"/>
              <a:t>in Make Routing </a:t>
            </a:r>
            <a:r>
              <a:rPr lang="en-US" dirty="0"/>
              <a:t>state.</a:t>
            </a:r>
          </a:p>
        </p:txBody>
      </p:sp>
      <p:sp>
        <p:nvSpPr>
          <p:cNvPr id="75" name="Oval 7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294744" y="3803850"/>
            <a:ext cx="1043559" cy="141101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37750" y="1917497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0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0637751" y="2669550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1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0637751" y="3620843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2</a:t>
            </a:r>
            <a:endParaRPr 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10637751" y="4620324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3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55645" y="2109998"/>
            <a:ext cx="727033" cy="414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8443372" y="2265852"/>
            <a:ext cx="115034" cy="465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8882846" y="2217883"/>
            <a:ext cx="417294" cy="744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85" idx="2"/>
          </p:cNvCxnSpPr>
          <p:nvPr/>
        </p:nvCxnSpPr>
        <p:spPr>
          <a:xfrm>
            <a:off x="7852588" y="2832715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88" idx="0"/>
          </p:cNvCxnSpPr>
          <p:nvPr/>
        </p:nvCxnSpPr>
        <p:spPr>
          <a:xfrm flipH="1">
            <a:off x="7371941" y="3081355"/>
            <a:ext cx="43005" cy="214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8807285" y="3082654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493126" y="3209178"/>
            <a:ext cx="489074" cy="423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7837614" y="3031083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8402880" y="3194297"/>
            <a:ext cx="40492" cy="373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8783951" y="2872572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85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Routing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75488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400" dirty="0" smtClean="0"/>
              <a:t>Each node choose the lowest Rank received from </a:t>
            </a:r>
            <a:r>
              <a:rPr lang="en-US" sz="2400" dirty="0"/>
              <a:t>BUILDING_TREE_COMPARE </a:t>
            </a:r>
            <a:r>
              <a:rPr lang="en-US" sz="2400" dirty="0" smtClean="0"/>
              <a:t>to determine the parent node, then send unicast BUILDING_TREE_RESPONSE to its parent</a:t>
            </a:r>
            <a:r>
              <a:rPr lang="en-US" sz="2400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sz="2400" dirty="0"/>
              <a:t>static </a:t>
            </a:r>
            <a:r>
              <a:rPr lang="en-US" sz="2400" dirty="0" smtClean="0"/>
              <a:t>void </a:t>
            </a:r>
            <a:r>
              <a:rPr lang="en-US" sz="2400" dirty="0" err="1" smtClean="0"/>
              <a:t>cnlab_route_response_output</a:t>
            </a:r>
            <a:r>
              <a:rPr lang="en-US" sz="2400" dirty="0" smtClean="0"/>
              <a:t>(</a:t>
            </a:r>
            <a:r>
              <a:rPr lang="en-US" sz="2400" dirty="0" err="1" smtClean="0"/>
              <a:t>linkaddr_t</a:t>
            </a:r>
            <a:r>
              <a:rPr lang="en-US" sz="2400" dirty="0" smtClean="0"/>
              <a:t> </a:t>
            </a:r>
            <a:r>
              <a:rPr lang="en-US" sz="2400" dirty="0"/>
              <a:t>*</a:t>
            </a:r>
            <a:r>
              <a:rPr lang="en-US" sz="2400" dirty="0" err="1"/>
              <a:t>lladdr</a:t>
            </a:r>
            <a:r>
              <a:rPr lang="en-US" sz="2400" dirty="0"/>
              <a:t>)</a:t>
            </a: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46" name="Oval 45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48" name="Straight Connector 47"/>
          <p:cNvCxnSpPr>
            <a:endCxn id="49" idx="0"/>
          </p:cNvCxnSpPr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45" idx="7"/>
          </p:cNvCxnSpPr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46" idx="1"/>
          </p:cNvCxnSpPr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3"/>
          </p:cNvCxnSpPr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5"/>
            <a:endCxn id="49" idx="2"/>
          </p:cNvCxnSpPr>
          <p:nvPr/>
        </p:nvCxnSpPr>
        <p:spPr>
          <a:xfrm>
            <a:off x="7683524" y="2926703"/>
            <a:ext cx="702741" cy="36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9" idx="6"/>
            <a:endCxn id="46" idx="2"/>
          </p:cNvCxnSpPr>
          <p:nvPr/>
        </p:nvCxnSpPr>
        <p:spPr>
          <a:xfrm>
            <a:off x="8766093" y="2962816"/>
            <a:ext cx="508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9" idx="4"/>
            <a:endCxn id="43" idx="0"/>
          </p:cNvCxnSpPr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99486" y="5301927"/>
            <a:ext cx="457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dirty="0" smtClean="0"/>
              <a:t>5: </a:t>
            </a:r>
            <a:r>
              <a:rPr lang="en-US" dirty="0"/>
              <a:t>Example network </a:t>
            </a:r>
            <a:r>
              <a:rPr lang="en-US" dirty="0" smtClean="0"/>
              <a:t>in Make Routing </a:t>
            </a:r>
            <a:r>
              <a:rPr lang="en-US" dirty="0"/>
              <a:t>state.</a:t>
            </a:r>
          </a:p>
        </p:txBody>
      </p:sp>
      <p:sp>
        <p:nvSpPr>
          <p:cNvPr id="75" name="Oval 7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294744" y="3803850"/>
            <a:ext cx="1043559" cy="141101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37750" y="1917497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0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0637751" y="2669550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1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0637751" y="3620843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2</a:t>
            </a:r>
            <a:endParaRPr 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10637751" y="4620324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3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55645" y="2109998"/>
            <a:ext cx="727033" cy="414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8443372" y="2265852"/>
            <a:ext cx="115034" cy="465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8882846" y="2217883"/>
            <a:ext cx="417294" cy="744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85" idx="2"/>
          </p:cNvCxnSpPr>
          <p:nvPr/>
        </p:nvCxnSpPr>
        <p:spPr>
          <a:xfrm>
            <a:off x="7852588" y="2832715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88" idx="0"/>
          </p:cNvCxnSpPr>
          <p:nvPr/>
        </p:nvCxnSpPr>
        <p:spPr>
          <a:xfrm flipH="1">
            <a:off x="7371941" y="3081355"/>
            <a:ext cx="43005" cy="214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8807285" y="3082654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493126" y="3209178"/>
            <a:ext cx="489074" cy="423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7837614" y="3031083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8402880" y="3194297"/>
            <a:ext cx="40492" cy="373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8783951" y="2872572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2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Routing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75488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400" dirty="0" smtClean="0"/>
              <a:t>After choose parent node, Each node start Routing to lower level by broadcasting BUILDING_TREE_INIT as Coordinator progress.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40" name="Oval 39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42" name="Oval 41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46" name="Oval 45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48" name="Straight Connector 47"/>
          <p:cNvCxnSpPr>
            <a:endCxn id="49" idx="0"/>
          </p:cNvCxnSpPr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45" idx="7"/>
          </p:cNvCxnSpPr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46" idx="1"/>
          </p:cNvCxnSpPr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3"/>
          </p:cNvCxnSpPr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5"/>
            <a:endCxn id="49" idx="2"/>
          </p:cNvCxnSpPr>
          <p:nvPr/>
        </p:nvCxnSpPr>
        <p:spPr>
          <a:xfrm>
            <a:off x="7683524" y="2926703"/>
            <a:ext cx="702741" cy="36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9" idx="6"/>
            <a:endCxn id="46" idx="2"/>
          </p:cNvCxnSpPr>
          <p:nvPr/>
        </p:nvCxnSpPr>
        <p:spPr>
          <a:xfrm>
            <a:off x="8766093" y="2962816"/>
            <a:ext cx="508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49" idx="4"/>
            <a:endCxn id="43" idx="0"/>
          </p:cNvCxnSpPr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99486" y="5301927"/>
            <a:ext cx="457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</a:t>
            </a:r>
            <a:r>
              <a:rPr lang="en-US" dirty="0" smtClean="0"/>
              <a:t>5: </a:t>
            </a:r>
            <a:r>
              <a:rPr lang="en-US" dirty="0"/>
              <a:t>Example network </a:t>
            </a:r>
            <a:r>
              <a:rPr lang="en-US" dirty="0" smtClean="0"/>
              <a:t>in Make Routing </a:t>
            </a:r>
            <a:r>
              <a:rPr lang="en-US" dirty="0"/>
              <a:t>state.</a:t>
            </a:r>
          </a:p>
        </p:txBody>
      </p:sp>
      <p:sp>
        <p:nvSpPr>
          <p:cNvPr id="75" name="Oval 7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76" name="Straight Connector 7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7294744" y="3803850"/>
            <a:ext cx="1043559" cy="141101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37750" y="1917497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0</a:t>
            </a:r>
            <a:endParaRPr 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10637751" y="2669550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1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10637751" y="3620843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2</a:t>
            </a:r>
            <a:endParaRPr lang="en-US" sz="1400" dirty="0"/>
          </a:p>
        </p:txBody>
      </p:sp>
      <p:sp>
        <p:nvSpPr>
          <p:cNvPr id="84" name="TextBox 83"/>
          <p:cNvSpPr txBox="1"/>
          <p:nvPr/>
        </p:nvSpPr>
        <p:spPr>
          <a:xfrm>
            <a:off x="10637751" y="4620324"/>
            <a:ext cx="692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Level 3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55645" y="2109998"/>
            <a:ext cx="727033" cy="414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8443372" y="2265852"/>
            <a:ext cx="115034" cy="465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 flipV="1">
            <a:off x="8882846" y="2217883"/>
            <a:ext cx="417294" cy="7447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85" idx="2"/>
          </p:cNvCxnSpPr>
          <p:nvPr/>
        </p:nvCxnSpPr>
        <p:spPr>
          <a:xfrm>
            <a:off x="7852588" y="2832715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88" idx="0"/>
          </p:cNvCxnSpPr>
          <p:nvPr/>
        </p:nvCxnSpPr>
        <p:spPr>
          <a:xfrm flipH="1">
            <a:off x="7371941" y="3081355"/>
            <a:ext cx="43005" cy="214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8807285" y="3082654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9493126" y="3209178"/>
            <a:ext cx="489074" cy="423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7837614" y="3031083"/>
            <a:ext cx="453357" cy="108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8402880" y="3194297"/>
            <a:ext cx="40492" cy="373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8783951" y="2872572"/>
            <a:ext cx="4300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16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Node Information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All </a:t>
            </a:r>
            <a:r>
              <a:rPr lang="en-US" dirty="0"/>
              <a:t>sensor nodes send a Node Information packet to its parent node until it reaches the Coordinator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 If </a:t>
            </a:r>
            <a:r>
              <a:rPr lang="en-US" dirty="0"/>
              <a:t>the parent is not the Coordinator, it will forward the packet to next hop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Node </a:t>
            </a:r>
            <a:r>
              <a:rPr lang="en-US" dirty="0"/>
              <a:t>Information packet contains: </a:t>
            </a:r>
            <a:r>
              <a:rPr lang="en-US" dirty="0" smtClean="0"/>
              <a:t>(Node </a:t>
            </a:r>
            <a:r>
              <a:rPr lang="en-US" dirty="0"/>
              <a:t>ID, Parent ID, </a:t>
            </a:r>
            <a:r>
              <a:rPr lang="en-US" dirty="0" smtClean="0"/>
              <a:t>Number Child, Child List[ </a:t>
            </a:r>
            <a:r>
              <a:rPr lang="en-US" dirty="0" smtClean="0"/>
              <a:t>], </a:t>
            </a:r>
            <a:r>
              <a:rPr lang="en-US" dirty="0" smtClean="0"/>
              <a:t>Data Period)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Orchestra unicast </a:t>
            </a:r>
            <a:r>
              <a:rPr lang="en-US" dirty="0" err="1" smtClean="0"/>
              <a:t>slotframe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PROCESS(</a:t>
            </a:r>
            <a:r>
              <a:rPr lang="en-US" dirty="0" err="1" smtClean="0"/>
              <a:t>cnlab_send_node_information_process</a:t>
            </a:r>
            <a:r>
              <a:rPr lang="en-US" dirty="0"/>
              <a:t>, "send Node Information process");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564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Collect Node Information state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2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Schedule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After </a:t>
            </a:r>
            <a:r>
              <a:rPr lang="en-US" dirty="0"/>
              <a:t>the Coordinator collects all the Node Information to make a schedule for Data </a:t>
            </a:r>
            <a:r>
              <a:rPr lang="en-US" dirty="0" smtClean="0"/>
              <a:t>transmission.</a:t>
            </a:r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Coordinator will send those data to the Scheduling Server(Raspberry Pi</a:t>
            </a:r>
            <a:r>
              <a:rPr lang="en-US" dirty="0" smtClean="0"/>
              <a:t>) through UART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/>
              <a:t>PROCESS(</a:t>
            </a:r>
            <a:r>
              <a:rPr lang="en-US" dirty="0" err="1"/>
              <a:t>cnlab_run_pcllf_schedule</a:t>
            </a:r>
            <a:r>
              <a:rPr lang="en-US" dirty="0"/>
              <a:t>, "run PCLLF schedule");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4669" y="3436992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469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Make Schedule state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9461284" y="1834924"/>
            <a:ext cx="1019860" cy="45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Scheduling Server</a:t>
            </a:r>
            <a:endParaRPr lang="en-US" sz="1400" dirty="0"/>
          </a:p>
        </p:txBody>
      </p:sp>
      <p:cxnSp>
        <p:nvCxnSpPr>
          <p:cNvPr id="38" name="Straight Arrow Connector 37"/>
          <p:cNvCxnSpPr>
            <a:stCxn id="12" idx="7"/>
            <a:endCxn id="36" idx="1"/>
          </p:cNvCxnSpPr>
          <p:nvPr/>
        </p:nvCxnSpPr>
        <p:spPr>
          <a:xfrm>
            <a:off x="8821090" y="1980681"/>
            <a:ext cx="640194" cy="831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24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Schedule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 Scheduling Server runs </a:t>
            </a:r>
            <a:r>
              <a:rPr lang="en-US" b="1" dirty="0" smtClean="0"/>
              <a:t>Path Conflict-free Least Laxity First Algorithm</a:t>
            </a:r>
            <a:r>
              <a:rPr lang="en-US" b="1" dirty="0"/>
              <a:t> (PCLLF)</a:t>
            </a:r>
            <a:r>
              <a:rPr lang="en-US" b="1" dirty="0" smtClean="0"/>
              <a:t> </a:t>
            </a:r>
            <a:r>
              <a:rPr lang="en-US" b="1" dirty="0" smtClean="0"/>
              <a:t>or New Scheduling Algorithm use Queue Level </a:t>
            </a:r>
            <a:r>
              <a:rPr lang="en-US" dirty="0" smtClean="0"/>
              <a:t>to </a:t>
            </a:r>
            <a:r>
              <a:rPr lang="en-US" dirty="0" smtClean="0"/>
              <a:t>make schedule and Send back to the Coordinator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b="1" dirty="0" smtClean="0"/>
              <a:t>Scheduling Algorithm </a:t>
            </a:r>
            <a:r>
              <a:rPr lang="en-US" dirty="0" smtClean="0"/>
              <a:t>implemented in </a:t>
            </a:r>
            <a:r>
              <a:rPr lang="en-US" dirty="0" err="1" smtClean="0"/>
              <a:t>Rasberry</a:t>
            </a:r>
            <a:r>
              <a:rPr lang="en-US" dirty="0" smtClean="0"/>
              <a:t> Pi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9307" y="34676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469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Make Schedule state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12" idx="7"/>
          </p:cNvCxnSpPr>
          <p:nvPr/>
        </p:nvCxnSpPr>
        <p:spPr>
          <a:xfrm>
            <a:off x="8821090" y="1980681"/>
            <a:ext cx="640193" cy="1147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461284" y="1834924"/>
            <a:ext cx="1019860" cy="45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Scheduling Server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72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Schedule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Coordinator Node will download the Scheduling Information by </a:t>
            </a:r>
            <a:r>
              <a:rPr lang="en-US" b="1" dirty="0" smtClean="0"/>
              <a:t>Unicast Path Finding Algorithm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Scheduling Sever will process packet contain Schedule for each Path</a:t>
            </a:r>
            <a:r>
              <a:rPr lang="en-US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b="1" dirty="0"/>
              <a:t>Unicast Path Finding Algorithm </a:t>
            </a:r>
            <a:r>
              <a:rPr lang="en-US" dirty="0" smtClean="0"/>
              <a:t>implemented </a:t>
            </a:r>
            <a:r>
              <a:rPr lang="en-US" dirty="0"/>
              <a:t>in </a:t>
            </a:r>
            <a:r>
              <a:rPr lang="en-US" dirty="0" err="1"/>
              <a:t>Rasberry</a:t>
            </a:r>
            <a:r>
              <a:rPr lang="en-US" dirty="0"/>
              <a:t> </a:t>
            </a:r>
            <a:r>
              <a:rPr lang="en-US" dirty="0" smtClean="0"/>
              <a:t>Pi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9307" y="34676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469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Make Schedule state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12" idx="7"/>
          </p:cNvCxnSpPr>
          <p:nvPr/>
        </p:nvCxnSpPr>
        <p:spPr>
          <a:xfrm>
            <a:off x="8821090" y="1980681"/>
            <a:ext cx="640193" cy="1147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461284" y="1834924"/>
            <a:ext cx="1019860" cy="45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Scheduling Server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527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Schedule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000" dirty="0" smtClean="0"/>
              <a:t>Example: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Path: 1-&gt;4-&gt;6-&gt;2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Packet format: </a:t>
            </a:r>
          </a:p>
          <a:p>
            <a:pPr marL="0" indent="0">
              <a:buNone/>
            </a:pPr>
            <a:r>
              <a:rPr lang="en-US" sz="2000" dirty="0" smtClean="0"/>
              <a:t>[Path size, </a:t>
            </a:r>
            <a:r>
              <a:rPr lang="en-US" sz="2000" dirty="0" err="1" smtClean="0"/>
              <a:t>Frag_index</a:t>
            </a:r>
            <a:r>
              <a:rPr lang="en-US" sz="2000" dirty="0" smtClean="0"/>
              <a:t>, Number of Fragments][LCM][Path Data][Sender, Receiver, Number of Transmission][(</a:t>
            </a:r>
            <a:r>
              <a:rPr lang="en-US" sz="2000" dirty="0" err="1" smtClean="0"/>
              <a:t>ts</a:t>
            </a:r>
            <a:r>
              <a:rPr lang="en-US" sz="2000" dirty="0" smtClean="0"/>
              <a:t>, </a:t>
            </a:r>
            <a:r>
              <a:rPr lang="en-US" sz="2000" dirty="0" err="1" smtClean="0"/>
              <a:t>ch</a:t>
            </a:r>
            <a:r>
              <a:rPr lang="en-US" sz="2000" dirty="0" smtClean="0"/>
              <a:t>); (</a:t>
            </a:r>
            <a:r>
              <a:rPr lang="en-US" sz="2000" dirty="0" err="1" smtClean="0"/>
              <a:t>ts</a:t>
            </a:r>
            <a:r>
              <a:rPr lang="en-US" sz="2000" dirty="0" smtClean="0"/>
              <a:t>, </a:t>
            </a:r>
            <a:r>
              <a:rPr lang="en-US" sz="2000" dirty="0" err="1" smtClean="0"/>
              <a:t>ch</a:t>
            </a:r>
            <a:r>
              <a:rPr lang="en-US" sz="2000" dirty="0" smtClean="0"/>
              <a:t>); </a:t>
            </a:r>
            <a:r>
              <a:rPr lang="mr-IN" sz="2000" dirty="0" smtClean="0"/>
              <a:t>…</a:t>
            </a:r>
            <a:r>
              <a:rPr lang="en-US" sz="2000" dirty="0" smtClean="0"/>
              <a:t>]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Link 1-&gt;4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[2, 0, 0][32][1,4][4, 1, 2][(0, 0);(1, 0)]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9307" y="34676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469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Make Schedule state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12" idx="7"/>
          </p:cNvCxnSpPr>
          <p:nvPr/>
        </p:nvCxnSpPr>
        <p:spPr>
          <a:xfrm>
            <a:off x="8821090" y="1980681"/>
            <a:ext cx="640193" cy="1147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461284" y="1834924"/>
            <a:ext cx="1019860" cy="45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Scheduling Server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6758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Make Schedule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120640" cy="402336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sz="2000" dirty="0" smtClean="0"/>
              <a:t>After receive Schedule data, All sensor node update schedule data by remove Orchestra slot frame and Update PCLLF schedule</a:t>
            </a:r>
            <a:r>
              <a:rPr lang="en-US" sz="2000" dirty="0" smtClean="0"/>
              <a:t>.</a:t>
            </a:r>
          </a:p>
          <a:p>
            <a:pPr>
              <a:buFont typeface="Arial" charset="0"/>
              <a:buChar char="•"/>
            </a:pPr>
            <a:r>
              <a:rPr lang="en-US" sz="2000" dirty="0"/>
              <a:t>static </a:t>
            </a:r>
            <a:r>
              <a:rPr lang="en-US" sz="2000" dirty="0" err="1"/>
              <a:t>voidcnlab_make_schedule_timer_callback</a:t>
            </a:r>
            <a:r>
              <a:rPr lang="en-US" sz="2000" dirty="0"/>
              <a:t>(void *</a:t>
            </a:r>
            <a:r>
              <a:rPr lang="en-US" sz="2000" dirty="0" err="1"/>
              <a:t>ptr</a:t>
            </a:r>
            <a:r>
              <a:rPr lang="en-US" sz="2000" dirty="0"/>
              <a:t>)</a:t>
            </a:r>
            <a:endParaRPr lang="en-US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282678" y="3632755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25316" y="4591333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59321" y="261450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274447" y="2795176"/>
            <a:ext cx="379828" cy="3352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970541" y="3491654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8386265" y="2779936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8</a:t>
            </a:r>
          </a:p>
        </p:txBody>
      </p:sp>
      <p:sp>
        <p:nvSpPr>
          <p:cNvPr id="12" name="Oval 11"/>
          <p:cNvSpPr/>
          <p:nvPr/>
        </p:nvSpPr>
        <p:spPr>
          <a:xfrm>
            <a:off x="8496887" y="1927117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8576179" y="2292877"/>
            <a:ext cx="110622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83524" y="2109997"/>
            <a:ext cx="813363" cy="55807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876715" y="2109997"/>
            <a:ext cx="453357" cy="73428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160455" y="2926703"/>
            <a:ext cx="254491" cy="564951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8472592" y="3145696"/>
            <a:ext cx="103587" cy="48705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15230" y="3857414"/>
            <a:ext cx="245225" cy="73391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01315" y="3567990"/>
            <a:ext cx="379828" cy="365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7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9598650" y="3081355"/>
            <a:ext cx="558290" cy="54019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68884" y="2524938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52807" y="25366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67205" y="256479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88237" y="3296317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92816" y="4365461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09307" y="34676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11266" y="3366654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16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9486" y="5301927"/>
            <a:ext cx="469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</a:t>
            </a:r>
            <a:r>
              <a:rPr lang="en-US" dirty="0" smtClean="0"/>
              <a:t>: </a:t>
            </a:r>
            <a:r>
              <a:rPr lang="en-US" dirty="0"/>
              <a:t>Example network </a:t>
            </a:r>
            <a:r>
              <a:rPr lang="en-US" dirty="0" smtClean="0"/>
              <a:t>in </a:t>
            </a:r>
            <a:r>
              <a:rPr lang="en-US" dirty="0"/>
              <a:t>Make Schedule state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38" name="Straight Arrow Connector 37"/>
          <p:cNvCxnSpPr>
            <a:stCxn id="12" idx="7"/>
          </p:cNvCxnSpPr>
          <p:nvPr/>
        </p:nvCxnSpPr>
        <p:spPr>
          <a:xfrm>
            <a:off x="8821090" y="1980681"/>
            <a:ext cx="640193" cy="1147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461284" y="1834924"/>
            <a:ext cx="1019860" cy="457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Scheduling Server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192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Transmission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all nodes download schedule information. It will run data transmission base on the schedule</a:t>
            </a:r>
            <a:r>
              <a:rPr lang="en-US" dirty="0" smtClean="0"/>
              <a:t>.</a:t>
            </a:r>
          </a:p>
          <a:p>
            <a:r>
              <a:rPr lang="en-US" dirty="0"/>
              <a:t>PROCESS(</a:t>
            </a:r>
            <a:r>
              <a:rPr lang="en-US" dirty="0" err="1"/>
              <a:t>cnlab_send_data_process</a:t>
            </a:r>
            <a:r>
              <a:rPr lang="en-US" dirty="0"/>
              <a:t>, "send Data Packet");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CNLAB PROTOCOL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38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4669</TotalTime>
  <Words>1614</Words>
  <Application>Microsoft Macintosh PowerPoint</Application>
  <PresentationFormat>Widescreen</PresentationFormat>
  <Paragraphs>563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Calibri Light</vt:lpstr>
      <vt:lpstr>Cambria Math</vt:lpstr>
      <vt:lpstr>Mangal</vt:lpstr>
      <vt:lpstr>Wingdings</vt:lpstr>
      <vt:lpstr>Arial</vt:lpstr>
      <vt:lpstr>Office Theme</vt:lpstr>
      <vt:lpstr>CNLAB PROTOCOL</vt:lpstr>
      <vt:lpstr>Overview</vt:lpstr>
      <vt:lpstr>Overview</vt:lpstr>
      <vt:lpstr>Initialize state</vt:lpstr>
      <vt:lpstr>Initialize state</vt:lpstr>
      <vt:lpstr>Initialize state</vt:lpstr>
      <vt:lpstr>Initialize state</vt:lpstr>
      <vt:lpstr>Initialize state</vt:lpstr>
      <vt:lpstr>Measure Link Quality state</vt:lpstr>
      <vt:lpstr>Measure Link Quality state</vt:lpstr>
      <vt:lpstr>Measure Link Quality state</vt:lpstr>
      <vt:lpstr>Measure Link Quality state</vt:lpstr>
      <vt:lpstr>Make Routing state</vt:lpstr>
      <vt:lpstr>Make Routing state</vt:lpstr>
      <vt:lpstr>Make Routing state</vt:lpstr>
      <vt:lpstr>Make Routing state</vt:lpstr>
      <vt:lpstr>Collect Node Information state</vt:lpstr>
      <vt:lpstr>Make Schedule state</vt:lpstr>
      <vt:lpstr>Make Schedule state</vt:lpstr>
      <vt:lpstr>Make Schedule state</vt:lpstr>
      <vt:lpstr>Make Schedule state</vt:lpstr>
      <vt:lpstr>Make Schedule state</vt:lpstr>
      <vt:lpstr>Data Transmission state</vt:lpstr>
    </vt:vector>
  </TitlesOfParts>
  <Company/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CNLAB PROTOCOL</dc:title>
  <dc:creator>Microsoft Office User</dc:creator>
  <cp:lastModifiedBy>Microsoft Office User</cp:lastModifiedBy>
  <cp:revision>151</cp:revision>
  <dcterms:created xsi:type="dcterms:W3CDTF">2019-12-05T13:27:16Z</dcterms:created>
  <dcterms:modified xsi:type="dcterms:W3CDTF">2020-04-14T05:41:26Z</dcterms:modified>
</cp:coreProperties>
</file>
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1A3FC-28A3-4152-B397-168CEF097D64}" type="datetimeFigureOut">
              <a:rPr lang="en-US" smtClean="0"/>
              <a:t>11/24/2020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EC0A8-7E5C-4C9F-8D06-39088067257E}" type="slidenum">
              <a:rPr lang="en-US" smtClean="0"/>
              <a:t>‹#›</a:t>
            </a:fld>
            <a:endParaRPr lang="en-US"/>
          </a:p>
        </p:txBody>
      </p:sp>
    </p:spTree>
    <p:extLst>
      <p:ext uri="{BB962C8B-B14F-4D97-AF65-F5344CB8AC3E}">
        <p14:creationId xmlns:p14="http://schemas.microsoft.com/office/powerpoint/2010/main" val="196611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57EC0A8-7E5C-4C9F-8D06-39088067257E}" type="slidenum">
              <a:rPr lang="en-US" smtClean="0"/>
              <a:t>8</a:t>
            </a:fld>
            <a:endParaRPr lang="en-US"/>
          </a:p>
        </p:txBody>
      </p:sp>
    </p:spTree>
    <p:extLst>
      <p:ext uri="{BB962C8B-B14F-4D97-AF65-F5344CB8AC3E}">
        <p14:creationId xmlns:p14="http://schemas.microsoft.com/office/powerpoint/2010/main" val="3486547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62C5-4445-4F97-9242-AFB36DB2E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4B5A88-1ECE-447C-89F3-D859921C8F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D4CFB3-BC5A-4B3E-A56F-570A915DDFEA}"/>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FA74DDD6-B00D-44A4-9327-9D850BFC4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F9699F-D847-4E4E-B96D-7C03CC6D6D64}"/>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2166852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D46D-2DEE-4B2B-A93E-17E0DF42F1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528DC2-489C-4871-83C9-B9BC518F46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EFDB1-4DD2-46E3-9978-45711375ECD6}"/>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E0103D32-9629-40E1-856D-5696F9D66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0D173-BE1E-4FBE-9298-42F9C4D9619E}"/>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1197278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985F-410F-48D0-88F7-68B124BE5E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DE164A-CDB5-4431-A70B-1741FBAA89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F0174-23DD-45B9-AC3A-F6A27DE7314C}"/>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7FC2F2B4-9593-4474-9DC9-3E75B14AF2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D5ECA-F154-486F-B823-5EF0CB8373DE}"/>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144203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970E-7F4A-4D77-9D59-06C5B06A5B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F108A0-1F08-435C-84F5-F7E0BA3E7F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013F26-71FE-4333-B2FA-7F208160D3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2CA293-9DC2-44B0-8C30-11F0E49AFDDF}"/>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6" name="Footer Placeholder 5">
            <a:extLst>
              <a:ext uri="{FF2B5EF4-FFF2-40B4-BE49-F238E27FC236}">
                <a16:creationId xmlns:a16="http://schemas.microsoft.com/office/drawing/2014/main" id="{F6AA93E2-F99A-4AAF-8CE2-FA97666EFC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688E6C-3195-4F33-8D25-DA66A804AF9B}"/>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358828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22F2B-A2C6-48C4-82D3-0B532963B6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C6E394-DFB4-402D-98F5-93C256BFB7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9936F1-8E5E-48A2-87D2-AEB1B06D16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6DB981-99A9-4476-B4C7-A855012D85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62B4C0-6BF1-42BC-B827-8D5FF87561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048C01-6A49-449A-8E04-93B3FCEF29C6}"/>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8" name="Footer Placeholder 7">
            <a:extLst>
              <a:ext uri="{FF2B5EF4-FFF2-40B4-BE49-F238E27FC236}">
                <a16:creationId xmlns:a16="http://schemas.microsoft.com/office/drawing/2014/main" id="{EB375DF5-8CC2-4C0F-A058-9CBC1D676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86F1D5-1690-4EB3-9647-FAC6F8D60601}"/>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695546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C1AA-91CE-435D-B9C9-BEAEA802EC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6A2238-5D3E-46D6-A577-A77CE4DAFE00}"/>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4" name="Footer Placeholder 3">
            <a:extLst>
              <a:ext uri="{FF2B5EF4-FFF2-40B4-BE49-F238E27FC236}">
                <a16:creationId xmlns:a16="http://schemas.microsoft.com/office/drawing/2014/main" id="{00441BC4-0592-43B8-822F-F453251EED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E4D9AF-56E9-4AC9-B649-2C7E8570E4F9}"/>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3600489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A010D-79C6-425F-8688-EAC876F9B075}"/>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3" name="Footer Placeholder 2">
            <a:extLst>
              <a:ext uri="{FF2B5EF4-FFF2-40B4-BE49-F238E27FC236}">
                <a16:creationId xmlns:a16="http://schemas.microsoft.com/office/drawing/2014/main" id="{9829B10E-AD2E-41CB-BB4E-919B4E7C33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E7D61C-EDF4-4B5D-BB34-88023CA0A443}"/>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174861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DE96D-62F9-42AE-A937-0702716AD3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0FA323-52D7-4693-B917-FB4C2D9959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78942C-B2A7-4FAF-ABB3-A52C10631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EE0DDB-1B7B-4430-9D02-39D9248114A1}"/>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6" name="Footer Placeholder 5">
            <a:extLst>
              <a:ext uri="{FF2B5EF4-FFF2-40B4-BE49-F238E27FC236}">
                <a16:creationId xmlns:a16="http://schemas.microsoft.com/office/drawing/2014/main" id="{18D80DEA-6135-4656-A51F-6FBC4B0CF3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1299CA-94F5-4274-A756-B2AF43304F87}"/>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2447904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CF431-75A1-453E-A6C5-F4E9150AE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FBF643-37BA-460D-ADF0-380BF6ADCC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8EFE9A-E796-41AB-915A-DFE6B4E4A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739F4-6020-452A-B8A0-C2819DD94C94}"/>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6" name="Footer Placeholder 5">
            <a:extLst>
              <a:ext uri="{FF2B5EF4-FFF2-40B4-BE49-F238E27FC236}">
                <a16:creationId xmlns:a16="http://schemas.microsoft.com/office/drawing/2014/main" id="{375A5648-424A-4424-8AC7-62061F38EC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AC3881-7EC8-4AC9-A4ED-5EF11D56CE7A}"/>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4009393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F010F-188C-428C-8515-C569011B74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DE663B-8792-40BC-8AFD-6FBC5878BC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00872-96E6-40CF-8449-7DD357C02627}"/>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5E4782D1-6A7B-4886-8F88-22D37F6CD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01604-E8F9-4E69-971C-1DFA0A0FECA0}"/>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295844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D68D77-2233-4198-8262-D925EF4A90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77A5EC-BBEC-4198-A098-D73ED97C66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D2F9FE-2AF8-464F-86DE-6A838996234A}"/>
              </a:ext>
            </a:extLst>
          </p:cNvPr>
          <p:cNvSpPr>
            <a:spLocks noGrp="1"/>
          </p:cNvSpPr>
          <p:nvPr>
            <p:ph type="dt" sz="half" idx="10"/>
          </p:nvPr>
        </p:nvSpPr>
        <p:spPr/>
        <p:txBody>
          <a:body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D53DB50C-9A35-4229-A0C6-44A0353547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D924EF-20C0-4E44-B9C6-26E0674315FF}"/>
              </a:ext>
            </a:extLst>
          </p:cNvPr>
          <p:cNvSpPr>
            <a:spLocks noGrp="1"/>
          </p:cNvSpPr>
          <p:nvPr>
            <p:ph type="sldNum" sz="quarter" idx="12"/>
          </p:nvPr>
        </p:nvSpPr>
        <p:spPr/>
        <p:txBody>
          <a:bodyPr/>
          <a:lstStyle/>
          <a:p>
            <a:fld id="{743F1232-D482-4FD5-AA39-6CB80B85326F}" type="slidenum">
              <a:rPr lang="en-US" smtClean="0"/>
              <a:t>‹#›</a:t>
            </a:fld>
            <a:endParaRPr lang="en-US"/>
          </a:p>
        </p:txBody>
      </p:sp>
    </p:spTree>
    <p:extLst>
      <p:ext uri="{BB962C8B-B14F-4D97-AF65-F5344CB8AC3E}">
        <p14:creationId xmlns:p14="http://schemas.microsoft.com/office/powerpoint/2010/main" val="286078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12949-3C52-4663-97AE-76BACEAED8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2DB825-75BC-4BC3-AEF6-04E6E18044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AF36F-BD44-4D49-952A-17A57FB6B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582D08-2B46-4214-93AC-8D46BD014BB5}" type="datetimeFigureOut">
              <a:rPr lang="en-US" smtClean="0"/>
              <a:t>11/23/2020</a:t>
            </a:fld>
            <a:endParaRPr lang="en-US"/>
          </a:p>
        </p:txBody>
      </p:sp>
      <p:sp>
        <p:nvSpPr>
          <p:cNvPr id="5" name="Footer Placeholder 4">
            <a:extLst>
              <a:ext uri="{FF2B5EF4-FFF2-40B4-BE49-F238E27FC236}">
                <a16:creationId xmlns:a16="http://schemas.microsoft.com/office/drawing/2014/main" id="{F39C05BC-6726-4510-BB58-58E81D2F6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4E0818-5416-458F-A1F4-3268F02D56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3F1232-D482-4FD5-AA39-6CB80B85326F}" type="slidenum">
              <a:rPr lang="en-US" smtClean="0"/>
              <a:t>‹#›</a:t>
            </a:fld>
            <a:endParaRPr lang="en-US"/>
          </a:p>
        </p:txBody>
      </p:sp>
    </p:spTree>
    <p:extLst>
      <p:ext uri="{BB962C8B-B14F-4D97-AF65-F5344CB8AC3E}">
        <p14:creationId xmlns:p14="http://schemas.microsoft.com/office/powerpoint/2010/main" val="3945406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0983-AA32-49BA-B53E-810AF0E70C6F}"/>
              </a:ext>
            </a:extLst>
          </p:cNvPr>
          <p:cNvSpPr>
            <a:spLocks noGrp="1"/>
          </p:cNvSpPr>
          <p:nvPr>
            <p:ph type="ctrTitle"/>
          </p:nvPr>
        </p:nvSpPr>
        <p:spPr/>
        <p:txBody>
          <a:bodyPr>
            <a:normAutofit fontScale="90000"/>
          </a:bodyPr>
          <a:lstStyle/>
          <a:p>
            <a:r>
              <a:rPr lang="en-US"/>
              <a:t>Quick and Efficient Link Quality Estimation</a:t>
            </a:r>
            <a:br>
              <a:rPr lang="en-US"/>
            </a:br>
            <a:r>
              <a:rPr lang="en-US"/>
              <a:t>in Wireless Sensors Networks</a:t>
            </a:r>
          </a:p>
        </p:txBody>
      </p:sp>
      <p:sp>
        <p:nvSpPr>
          <p:cNvPr id="3" name="Subtitle 2">
            <a:extLst>
              <a:ext uri="{FF2B5EF4-FFF2-40B4-BE49-F238E27FC236}">
                <a16:creationId xmlns:a16="http://schemas.microsoft.com/office/drawing/2014/main" id="{776DB586-5A45-4384-87F6-A8BB7A368D51}"/>
              </a:ext>
            </a:extLst>
          </p:cNvPr>
          <p:cNvSpPr>
            <a:spLocks noGrp="1"/>
          </p:cNvSpPr>
          <p:nvPr>
            <p:ph type="subTitle" idx="1"/>
          </p:nvPr>
        </p:nvSpPr>
        <p:spPr/>
        <p:txBody>
          <a:bodyPr/>
          <a:lstStyle/>
          <a:p>
            <a:r>
              <a:rPr lang="en-US"/>
              <a:t>Henry-Joseph Audéoud and Martin Heusse</a:t>
            </a:r>
          </a:p>
        </p:txBody>
      </p:sp>
    </p:spTree>
    <p:extLst>
      <p:ext uri="{BB962C8B-B14F-4D97-AF65-F5344CB8AC3E}">
        <p14:creationId xmlns:p14="http://schemas.microsoft.com/office/powerpoint/2010/main" val="3942011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F0C59-3DBF-406D-8ECC-AFFF4E49674E}"/>
              </a:ext>
            </a:extLst>
          </p:cNvPr>
          <p:cNvSpPr>
            <a:spLocks noGrp="1"/>
          </p:cNvSpPr>
          <p:nvPr>
            <p:ph type="title"/>
          </p:nvPr>
        </p:nvSpPr>
        <p:spPr/>
        <p:txBody>
          <a:bodyPr/>
          <a:lstStyle/>
          <a:p>
            <a:r>
              <a:rPr lang="en-US"/>
              <a:t>Outline</a:t>
            </a:r>
          </a:p>
        </p:txBody>
      </p:sp>
      <p:sp>
        <p:nvSpPr>
          <p:cNvPr id="3" name="Content Placeholder 2">
            <a:extLst>
              <a:ext uri="{FF2B5EF4-FFF2-40B4-BE49-F238E27FC236}">
                <a16:creationId xmlns:a16="http://schemas.microsoft.com/office/drawing/2014/main" id="{F84E91B0-8061-4F41-826C-89689CB83C54}"/>
              </a:ext>
            </a:extLst>
          </p:cNvPr>
          <p:cNvSpPr>
            <a:spLocks noGrp="1"/>
          </p:cNvSpPr>
          <p:nvPr>
            <p:ph idx="1"/>
          </p:nvPr>
        </p:nvSpPr>
        <p:spPr/>
        <p:txBody>
          <a:bodyPr/>
          <a:lstStyle/>
          <a:p>
            <a:pPr marL="514350" indent="-514350">
              <a:buAutoNum type="arabicPeriod"/>
            </a:pPr>
            <a:r>
              <a:rPr lang="en-US"/>
              <a:t>INTRODUCTION</a:t>
            </a:r>
          </a:p>
          <a:p>
            <a:pPr marL="514350" indent="-514350">
              <a:buAutoNum type="arabicPeriod"/>
            </a:pPr>
            <a:r>
              <a:rPr lang="en-US"/>
              <a:t>BASIC METRICS AND THEIR FLAWS</a:t>
            </a:r>
          </a:p>
          <a:p>
            <a:pPr marL="514350" indent="-514350">
              <a:buAutoNum type="arabicPeriod"/>
            </a:pPr>
            <a:r>
              <a:rPr lang="en-US"/>
              <a:t>CLASSIFICATION OF LINKS BASED ON LQI</a:t>
            </a:r>
          </a:p>
          <a:p>
            <a:pPr marL="514350" indent="-514350">
              <a:buAutoNum type="arabicPeriod"/>
            </a:pPr>
            <a:r>
              <a:rPr lang="en-US"/>
              <a:t>ENSURE REVERSE DIRECTION QUALITY</a:t>
            </a:r>
          </a:p>
          <a:p>
            <a:pPr marL="514350" indent="-514350">
              <a:buAutoNum type="arabicPeriod"/>
            </a:pPr>
            <a:r>
              <a:rPr lang="en-US"/>
              <a:t>CONCLUSION</a:t>
            </a:r>
          </a:p>
        </p:txBody>
      </p:sp>
    </p:spTree>
    <p:extLst>
      <p:ext uri="{BB962C8B-B14F-4D97-AF65-F5344CB8AC3E}">
        <p14:creationId xmlns:p14="http://schemas.microsoft.com/office/powerpoint/2010/main" val="2575194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684-C403-493C-A513-88598CEE5F89}"/>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C0CF1FEC-43C9-4A07-8232-0E7B50BF5C13}"/>
              </a:ext>
            </a:extLst>
          </p:cNvPr>
          <p:cNvSpPr>
            <a:spLocks noGrp="1"/>
          </p:cNvSpPr>
          <p:nvPr>
            <p:ph idx="1"/>
          </p:nvPr>
        </p:nvSpPr>
        <p:spPr/>
        <p:txBody>
          <a:bodyPr>
            <a:normAutofit/>
          </a:bodyPr>
          <a:lstStyle/>
          <a:p>
            <a:r>
              <a:rPr lang="en-US" sz="2400"/>
              <a:t>The authors have used a set of Cortex M3 nodes with IEEE 802.15.4 radios (AT86RF231 radio chip) to experiment with several approaches to link quality estimation.</a:t>
            </a:r>
          </a:p>
          <a:p>
            <a:endParaRPr lang="en-US" sz="2400"/>
          </a:p>
          <a:p>
            <a:r>
              <a:rPr lang="en-US" sz="2400"/>
              <a:t>Started with the observation that our testbed exhibits the same kind of packet delivery ratio variability un function of the distance and the received signal power(RSSI)</a:t>
            </a:r>
          </a:p>
          <a:p>
            <a:endParaRPr lang="en-US" sz="2400"/>
          </a:p>
          <a:p>
            <a:r>
              <a:rPr lang="en-US" sz="2400"/>
              <a:t>In contrast, they have obtained more accurate and smoother varying results by reading LQI (Link Quality Indicator) after packet reception.</a:t>
            </a:r>
          </a:p>
          <a:p>
            <a:endParaRPr lang="en-US" sz="2400"/>
          </a:p>
        </p:txBody>
      </p:sp>
    </p:spTree>
    <p:extLst>
      <p:ext uri="{BB962C8B-B14F-4D97-AF65-F5344CB8AC3E}">
        <p14:creationId xmlns:p14="http://schemas.microsoft.com/office/powerpoint/2010/main" val="3522240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2B25-3B79-4AB3-B15F-827C78C15C1B}"/>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A833339E-E41B-484C-A15C-1AE0A7723893}"/>
              </a:ext>
            </a:extLst>
          </p:cNvPr>
          <p:cNvSpPr>
            <a:spLocks noGrp="1"/>
          </p:cNvSpPr>
          <p:nvPr>
            <p:ph idx="1"/>
          </p:nvPr>
        </p:nvSpPr>
        <p:spPr/>
        <p:txBody>
          <a:bodyPr>
            <a:normAutofit lnSpcReduction="10000"/>
          </a:bodyPr>
          <a:lstStyle/>
          <a:p>
            <a:r>
              <a:rPr lang="en-US"/>
              <a:t>Although LQI brings more valuable information, it is still safer to check connectivity in the reverse direction, whereas only a small fraction of the links basically require more effort to assess their reliability.</a:t>
            </a:r>
          </a:p>
          <a:p>
            <a:endParaRPr lang="en-US"/>
          </a:p>
          <a:p>
            <a:r>
              <a:rPr lang="en-US"/>
              <a:t>By classifying suspicious links as weak links, they would be avoided by the routing protocol as long as other options exist.</a:t>
            </a:r>
          </a:p>
          <a:p>
            <a:endParaRPr lang="en-US"/>
          </a:p>
          <a:p>
            <a:r>
              <a:rPr lang="en-US"/>
              <a:t>This classification only requires few packet exchanges and it can be far more stable than ETX that may lead to concentrate the power drain on the node at the head of a marginal link due to retransmissions</a:t>
            </a:r>
          </a:p>
        </p:txBody>
      </p:sp>
    </p:spTree>
    <p:extLst>
      <p:ext uri="{BB962C8B-B14F-4D97-AF65-F5344CB8AC3E}">
        <p14:creationId xmlns:p14="http://schemas.microsoft.com/office/powerpoint/2010/main" val="394059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C42D-4F94-489A-88BE-95A12FA5B121}"/>
              </a:ext>
            </a:extLst>
          </p:cNvPr>
          <p:cNvSpPr>
            <a:spLocks noGrp="1"/>
          </p:cNvSpPr>
          <p:nvPr>
            <p:ph type="title"/>
          </p:nvPr>
        </p:nvSpPr>
        <p:spPr/>
        <p:txBody>
          <a:bodyPr/>
          <a:lstStyle/>
          <a:p>
            <a:r>
              <a:rPr lang="en-US"/>
              <a:t>BASIC METRICS AND THEIR FLAWS</a:t>
            </a:r>
          </a:p>
        </p:txBody>
      </p:sp>
      <p:sp>
        <p:nvSpPr>
          <p:cNvPr id="3" name="Content Placeholder 2">
            <a:extLst>
              <a:ext uri="{FF2B5EF4-FFF2-40B4-BE49-F238E27FC236}">
                <a16:creationId xmlns:a16="http://schemas.microsoft.com/office/drawing/2014/main" id="{149537F5-4D2A-42BE-9E71-2D700EB9A609}"/>
              </a:ext>
            </a:extLst>
          </p:cNvPr>
          <p:cNvSpPr>
            <a:spLocks noGrp="1"/>
          </p:cNvSpPr>
          <p:nvPr>
            <p:ph idx="1"/>
          </p:nvPr>
        </p:nvSpPr>
        <p:spPr/>
        <p:txBody>
          <a:bodyPr/>
          <a:lstStyle/>
          <a:p>
            <a:r>
              <a:rPr lang="en-US"/>
              <a:t>The hop count is the most basic metric, it simply counts the number of nodes crossed to reach a destination</a:t>
            </a:r>
          </a:p>
          <a:p>
            <a:pPr marL="0" indent="0">
              <a:buNone/>
            </a:pPr>
            <a:endParaRPr lang="en-US"/>
          </a:p>
          <a:p>
            <a:r>
              <a:rPr lang="en-US"/>
              <a:t>It has a drawback: the farthest neighbors are also those with which tend to be at the edge of the communication range and thus more lossy</a:t>
            </a:r>
          </a:p>
        </p:txBody>
      </p:sp>
    </p:spTree>
    <p:extLst>
      <p:ext uri="{BB962C8B-B14F-4D97-AF65-F5344CB8AC3E}">
        <p14:creationId xmlns:p14="http://schemas.microsoft.com/office/powerpoint/2010/main" val="72012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C42D-4F94-489A-88BE-95A12FA5B121}"/>
              </a:ext>
            </a:extLst>
          </p:cNvPr>
          <p:cNvSpPr>
            <a:spLocks noGrp="1"/>
          </p:cNvSpPr>
          <p:nvPr>
            <p:ph type="title"/>
          </p:nvPr>
        </p:nvSpPr>
        <p:spPr/>
        <p:txBody>
          <a:bodyPr/>
          <a:lstStyle/>
          <a:p>
            <a:r>
              <a:rPr lang="en-US"/>
              <a:t>BASIC METRICS AND THEIR FLAWS</a:t>
            </a:r>
          </a:p>
        </p:txBody>
      </p:sp>
      <p:sp>
        <p:nvSpPr>
          <p:cNvPr id="3" name="Content Placeholder 2">
            <a:extLst>
              <a:ext uri="{FF2B5EF4-FFF2-40B4-BE49-F238E27FC236}">
                <a16:creationId xmlns:a16="http://schemas.microsoft.com/office/drawing/2014/main" id="{149537F5-4D2A-42BE-9E71-2D700EB9A609}"/>
              </a:ext>
            </a:extLst>
          </p:cNvPr>
          <p:cNvSpPr>
            <a:spLocks noGrp="1"/>
          </p:cNvSpPr>
          <p:nvPr>
            <p:ph idx="1"/>
          </p:nvPr>
        </p:nvSpPr>
        <p:spPr/>
        <p:txBody>
          <a:bodyPr/>
          <a:lstStyle/>
          <a:p>
            <a:r>
              <a:rPr lang="en-US"/>
              <a:t>The Packet Delivery Ratio (PDR) captures the link quality through its loss rate. Inverting PDR gives the number of transmissions likely needed to get one packet through a link: this is ETX (Expected Transmission Count) metric of RPL.</a:t>
            </a:r>
          </a:p>
          <a:p>
            <a:endParaRPr lang="en-US"/>
          </a:p>
          <a:p>
            <a:r>
              <a:rPr lang="en-US"/>
              <a:t>What ETX does not capture, though, is that it leads to disregard reliable multi-hop routes in favor of concentrating the (re)transmission effort on nodes at the head of lossy links.</a:t>
            </a:r>
          </a:p>
          <a:p>
            <a:endParaRPr lang="en-US"/>
          </a:p>
        </p:txBody>
      </p:sp>
    </p:spTree>
    <p:extLst>
      <p:ext uri="{BB962C8B-B14F-4D97-AF65-F5344CB8AC3E}">
        <p14:creationId xmlns:p14="http://schemas.microsoft.com/office/powerpoint/2010/main" val="351220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5FBC-378B-4C6B-B081-C9A9343F21F7}"/>
              </a:ext>
            </a:extLst>
          </p:cNvPr>
          <p:cNvSpPr>
            <a:spLocks noGrp="1"/>
          </p:cNvSpPr>
          <p:nvPr>
            <p:ph type="title"/>
          </p:nvPr>
        </p:nvSpPr>
        <p:spPr/>
        <p:txBody>
          <a:bodyPr/>
          <a:lstStyle/>
          <a:p>
            <a:r>
              <a:rPr lang="en-US"/>
              <a:t>CLASSIFICATION OF LINKS BASED ON LQI</a:t>
            </a:r>
          </a:p>
        </p:txBody>
      </p:sp>
      <p:sp>
        <p:nvSpPr>
          <p:cNvPr id="3" name="Content Placeholder 2">
            <a:extLst>
              <a:ext uri="{FF2B5EF4-FFF2-40B4-BE49-F238E27FC236}">
                <a16:creationId xmlns:a16="http://schemas.microsoft.com/office/drawing/2014/main" id="{1F9F7954-20CA-45C9-AB22-C0F89A715E27}"/>
              </a:ext>
            </a:extLst>
          </p:cNvPr>
          <p:cNvSpPr>
            <a:spLocks noGrp="1"/>
          </p:cNvSpPr>
          <p:nvPr>
            <p:ph idx="1"/>
          </p:nvPr>
        </p:nvSpPr>
        <p:spPr/>
        <p:txBody>
          <a:bodyPr/>
          <a:lstStyle/>
          <a:p>
            <a:r>
              <a:rPr lang="en-US"/>
              <a:t>The IEEE 802.15.4 standard proposes two ways of assessing the link quality after packet reception, both measured at the physical layer:</a:t>
            </a:r>
          </a:p>
          <a:p>
            <a:pPr lvl="1"/>
            <a:r>
              <a:rPr lang="en-US"/>
              <a:t>the Radio Signal Strength Indicator (RSSI) that captures the average power of the received signal over eight IEEE 802.15.4 symbols;</a:t>
            </a:r>
          </a:p>
          <a:p>
            <a:pPr lvl="1"/>
            <a:endParaRPr lang="en-US"/>
          </a:p>
          <a:p>
            <a:pPr lvl="1"/>
            <a:r>
              <a:rPr lang="en-US"/>
              <a:t>the Link Quality Indicator (LQI) that characterizes if the last packet was “heard” clearly or not.</a:t>
            </a:r>
          </a:p>
        </p:txBody>
      </p:sp>
    </p:spTree>
    <p:extLst>
      <p:ext uri="{BB962C8B-B14F-4D97-AF65-F5344CB8AC3E}">
        <p14:creationId xmlns:p14="http://schemas.microsoft.com/office/powerpoint/2010/main" val="3314234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5FBC-378B-4C6B-B081-C9A9343F21F7}"/>
              </a:ext>
            </a:extLst>
          </p:cNvPr>
          <p:cNvSpPr>
            <a:spLocks noGrp="1"/>
          </p:cNvSpPr>
          <p:nvPr>
            <p:ph type="title"/>
          </p:nvPr>
        </p:nvSpPr>
        <p:spPr/>
        <p:txBody>
          <a:bodyPr/>
          <a:lstStyle/>
          <a:p>
            <a:r>
              <a:rPr lang="en-US"/>
              <a:t>CLASSIFICATION OF LINKS BASED ON LQI</a:t>
            </a:r>
          </a:p>
        </p:txBody>
      </p:sp>
      <p:pic>
        <p:nvPicPr>
          <p:cNvPr id="5" name="Content Placeholder 4">
            <a:extLst>
              <a:ext uri="{FF2B5EF4-FFF2-40B4-BE49-F238E27FC236}">
                <a16:creationId xmlns:a16="http://schemas.microsoft.com/office/drawing/2014/main" id="{C5B3840D-0DEF-42AD-865E-4D45F20B73B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62337" y="1690688"/>
            <a:ext cx="5267325" cy="3181350"/>
          </a:xfrm>
        </p:spPr>
      </p:pic>
      <p:sp>
        <p:nvSpPr>
          <p:cNvPr id="6" name="TextBox 5">
            <a:extLst>
              <a:ext uri="{FF2B5EF4-FFF2-40B4-BE49-F238E27FC236}">
                <a16:creationId xmlns:a16="http://schemas.microsoft.com/office/drawing/2014/main" id="{1453BAD9-AA02-4201-AE47-B52B0DA48406}"/>
              </a:ext>
            </a:extLst>
          </p:cNvPr>
          <p:cNvSpPr txBox="1"/>
          <p:nvPr/>
        </p:nvSpPr>
        <p:spPr>
          <a:xfrm>
            <a:off x="838200" y="4738549"/>
            <a:ext cx="10178988" cy="1754326"/>
          </a:xfrm>
          <a:prstGeom prst="rect">
            <a:avLst/>
          </a:prstGeom>
          <a:noFill/>
        </p:spPr>
        <p:txBody>
          <a:bodyPr wrap="square" rtlCol="0">
            <a:spAutoFit/>
          </a:bodyPr>
          <a:lstStyle/>
          <a:p>
            <a:pPr marL="285750" indent="-285750">
              <a:buFont typeface="Arial" panose="020B0604020202020204" pitchFamily="34" charset="0"/>
              <a:buChar char="•"/>
            </a:pPr>
            <a:r>
              <a:rPr lang="en-US"/>
              <a:t>The trend of RSSI vs. distance: below 6 m, RSSI is well over the receiver sensitivity (-91 dBm for our chips) and it follows a clear linear trend.</a:t>
            </a:r>
          </a:p>
          <a:p>
            <a:pPr marL="285750" indent="-285750">
              <a:buFont typeface="Arial" panose="020B0604020202020204" pitchFamily="34" charset="0"/>
              <a:buChar char="•"/>
            </a:pPr>
            <a:r>
              <a:rPr lang="en-US"/>
              <a:t>For distances where RSSI falls often below the sensitivity (beyond 6m, in this setup), the measurements are biased by packet losses. So we do not use them for the linear fit, though the remaining points still follow the same trend. Essentially, RSSI is very coarsely correlated with distance and longer links can be safely  while relatively short ones are unusable</a:t>
            </a:r>
          </a:p>
        </p:txBody>
      </p:sp>
    </p:spTree>
    <p:extLst>
      <p:ext uri="{BB962C8B-B14F-4D97-AF65-F5344CB8AC3E}">
        <p14:creationId xmlns:p14="http://schemas.microsoft.com/office/powerpoint/2010/main" val="4003975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085A-E47A-41FC-AA47-9DA82BDEAC3F}"/>
              </a:ext>
            </a:extLst>
          </p:cNvPr>
          <p:cNvSpPr>
            <a:spLocks noGrp="1"/>
          </p:cNvSpPr>
          <p:nvPr>
            <p:ph type="title"/>
          </p:nvPr>
        </p:nvSpPr>
        <p:spPr/>
        <p:txBody>
          <a:bodyPr/>
          <a:lstStyle/>
          <a:p>
            <a:r>
              <a:rPr lang="en-US"/>
              <a:t>CLASSIFICATION OF LINKS BASED ON LQI</a:t>
            </a:r>
          </a:p>
        </p:txBody>
      </p:sp>
      <p:sp>
        <p:nvSpPr>
          <p:cNvPr id="3" name="Content Placeholder 2">
            <a:extLst>
              <a:ext uri="{FF2B5EF4-FFF2-40B4-BE49-F238E27FC236}">
                <a16:creationId xmlns:a16="http://schemas.microsoft.com/office/drawing/2014/main" id="{13DA687D-60B1-4431-AD46-8951872AFF7D}"/>
              </a:ext>
            </a:extLst>
          </p:cNvPr>
          <p:cNvSpPr>
            <a:spLocks noGrp="1"/>
          </p:cNvSpPr>
          <p:nvPr>
            <p:ph idx="1"/>
          </p:nvPr>
        </p:nvSpPr>
        <p:spPr/>
        <p:txBody>
          <a:bodyPr>
            <a:normAutofit/>
          </a:bodyPr>
          <a:lstStyle/>
          <a:p>
            <a:r>
              <a:rPr lang="en-US" sz="2400"/>
              <a:t>The standard does not give a definite computation method for LQI; it thus depends on the chip implementation.</a:t>
            </a:r>
          </a:p>
          <a:p>
            <a:r>
              <a:rPr lang="en-US" sz="2400"/>
              <a:t>This may explain why LQI is sometimes considered loosely related to PDR (e.g., Papadopoulos et al. [9])</a:t>
            </a:r>
          </a:p>
          <a:p>
            <a:r>
              <a:rPr lang="en-US" sz="2400"/>
              <a:t>The standard only states that LQI is a value between 0 and 255, where 0 corresponds to the worst links and 255 to the best ones.</a:t>
            </a:r>
          </a:p>
          <a:p>
            <a:r>
              <a:rPr lang="en-US" sz="2400"/>
              <a:t>RSSI is not sufficient to classify the links when the signal power falls below </a:t>
            </a:r>
            <a:r>
              <a:rPr lang="en-US" sz="2400" i="1"/>
              <a:t>−</a:t>
            </a:r>
            <a:r>
              <a:rPr lang="en-US" sz="2400"/>
              <a:t>85 dBm. When RSSI becomes irrelevant, LQI begins to provide interesting information</a:t>
            </a:r>
          </a:p>
          <a:p>
            <a:pPr marL="0" indent="0">
              <a:buNone/>
            </a:pPr>
            <a:endParaRPr lang="en-US" sz="2400"/>
          </a:p>
        </p:txBody>
      </p:sp>
    </p:spTree>
    <p:extLst>
      <p:ext uri="{BB962C8B-B14F-4D97-AF65-F5344CB8AC3E}">
        <p14:creationId xmlns:p14="http://schemas.microsoft.com/office/powerpoint/2010/main" val="1652932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1C1A4-2DF2-4CFC-86AC-65783DBB6C93}"/>
              </a:ext>
            </a:extLst>
          </p:cNvPr>
          <p:cNvSpPr>
            <a:spLocks noGrp="1"/>
          </p:cNvSpPr>
          <p:nvPr>
            <p:ph type="title"/>
          </p:nvPr>
        </p:nvSpPr>
        <p:spPr/>
        <p:txBody>
          <a:bodyPr/>
          <a:lstStyle/>
          <a:p>
            <a:r>
              <a:rPr lang="en-US"/>
              <a:t>CLASSIFICATION OF LINKS BASED ON LQI</a:t>
            </a:r>
          </a:p>
        </p:txBody>
      </p:sp>
      <p:pic>
        <p:nvPicPr>
          <p:cNvPr id="7" name="Picture 6">
            <a:extLst>
              <a:ext uri="{FF2B5EF4-FFF2-40B4-BE49-F238E27FC236}">
                <a16:creationId xmlns:a16="http://schemas.microsoft.com/office/drawing/2014/main" id="{6444C19C-B4C2-44DA-9D9F-ECFE9641A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314" y="1690688"/>
            <a:ext cx="4819371" cy="4149530"/>
          </a:xfrm>
          <a:prstGeom prst="rect">
            <a:avLst/>
          </a:prstGeom>
        </p:spPr>
      </p:pic>
      <p:sp>
        <p:nvSpPr>
          <p:cNvPr id="8" name="TextBox 7">
            <a:extLst>
              <a:ext uri="{FF2B5EF4-FFF2-40B4-BE49-F238E27FC236}">
                <a16:creationId xmlns:a16="http://schemas.microsoft.com/office/drawing/2014/main" id="{C59C4BF6-705B-4FB6-AE5F-96BED92E7B3D}"/>
              </a:ext>
            </a:extLst>
          </p:cNvPr>
          <p:cNvSpPr txBox="1"/>
          <p:nvPr/>
        </p:nvSpPr>
        <p:spPr>
          <a:xfrm>
            <a:off x="2389811" y="5751441"/>
            <a:ext cx="7412376" cy="584775"/>
          </a:xfrm>
          <a:prstGeom prst="rect">
            <a:avLst/>
          </a:prstGeom>
          <a:noFill/>
        </p:spPr>
        <p:txBody>
          <a:bodyPr wrap="square" rtlCol="0">
            <a:spAutoFit/>
          </a:bodyPr>
          <a:lstStyle/>
          <a:p>
            <a:r>
              <a:rPr lang="en-US" sz="1600"/>
              <a:t>Distribution of LQI for a packet received with given RSSI. The rightmost bar is for LQI = 255 only, the other bars aggregate 30 consecutive values.</a:t>
            </a:r>
          </a:p>
        </p:txBody>
      </p:sp>
    </p:spTree>
    <p:extLst>
      <p:ext uri="{BB962C8B-B14F-4D97-AF65-F5344CB8AC3E}">
        <p14:creationId xmlns:p14="http://schemas.microsoft.com/office/powerpoint/2010/main" val="3874842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B7578-2788-46F4-A6CF-BA16448981A0}"/>
              </a:ext>
            </a:extLst>
          </p:cNvPr>
          <p:cNvSpPr>
            <a:spLocks noGrp="1"/>
          </p:cNvSpPr>
          <p:nvPr>
            <p:ph type="title"/>
          </p:nvPr>
        </p:nvSpPr>
        <p:spPr/>
        <p:txBody>
          <a:bodyPr/>
          <a:lstStyle/>
          <a:p>
            <a:r>
              <a:rPr lang="en-US"/>
              <a:t>CLASSIFICATION OF LINKS BASED ON LQI</a:t>
            </a:r>
          </a:p>
        </p:txBody>
      </p:sp>
      <p:pic>
        <p:nvPicPr>
          <p:cNvPr id="5" name="Content Placeholder 4">
            <a:extLst>
              <a:ext uri="{FF2B5EF4-FFF2-40B4-BE49-F238E27FC236}">
                <a16:creationId xmlns:a16="http://schemas.microsoft.com/office/drawing/2014/main" id="{B92977DA-9C63-4972-A23F-F2B2ECA16C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344" y="1434954"/>
            <a:ext cx="5514975" cy="3286125"/>
          </a:xfrm>
        </p:spPr>
      </p:pic>
      <p:sp>
        <p:nvSpPr>
          <p:cNvPr id="6" name="TextBox 5">
            <a:extLst>
              <a:ext uri="{FF2B5EF4-FFF2-40B4-BE49-F238E27FC236}">
                <a16:creationId xmlns:a16="http://schemas.microsoft.com/office/drawing/2014/main" id="{9ED32858-8357-4772-8539-8B3E95771425}"/>
              </a:ext>
            </a:extLst>
          </p:cNvPr>
          <p:cNvSpPr txBox="1"/>
          <p:nvPr/>
        </p:nvSpPr>
        <p:spPr>
          <a:xfrm>
            <a:off x="1324345" y="4728115"/>
            <a:ext cx="10181948" cy="1477328"/>
          </a:xfrm>
          <a:prstGeom prst="rect">
            <a:avLst/>
          </a:prstGeom>
          <a:noFill/>
        </p:spPr>
        <p:txBody>
          <a:bodyPr wrap="square" rtlCol="0">
            <a:spAutoFit/>
          </a:bodyPr>
          <a:lstStyle/>
          <a:p>
            <a:pPr marL="285750" indent="-285750">
              <a:buFont typeface="Arial" panose="020B0604020202020204" pitchFamily="34" charset="0"/>
              <a:buChar char="•"/>
            </a:pPr>
            <a:r>
              <a:rPr lang="en-US"/>
              <a:t>Considering that </a:t>
            </a:r>
            <a:r>
              <a:rPr lang="en-US" i="1"/>
              <a:t>good </a:t>
            </a:r>
            <a:r>
              <a:rPr lang="en-US"/>
              <a:t>links are those whose PDR </a:t>
            </a:r>
            <a:r>
              <a:rPr lang="en-US" i="1"/>
              <a:t>&gt; </a:t>
            </a:r>
            <a:r>
              <a:rPr lang="en-US"/>
              <a:t>80%, we can identify three zones.</a:t>
            </a:r>
          </a:p>
          <a:p>
            <a:pPr marL="285750" indent="-285750">
              <a:buFont typeface="Arial" panose="020B0604020202020204" pitchFamily="34" charset="0"/>
              <a:buChar char="•"/>
            </a:pPr>
            <a:r>
              <a:rPr lang="en-US"/>
              <a:t>The links that expose LQI = 255 can be considered as </a:t>
            </a:r>
            <a:r>
              <a:rPr lang="en-US" i="1"/>
              <a:t>good </a:t>
            </a:r>
            <a:r>
              <a:rPr lang="en-US"/>
              <a:t>without any doubt.</a:t>
            </a:r>
          </a:p>
          <a:p>
            <a:pPr marL="285750" indent="-285750">
              <a:buFont typeface="Arial" panose="020B0604020202020204" pitchFamily="34" charset="0"/>
              <a:buChar char="•"/>
            </a:pPr>
            <a:r>
              <a:rPr lang="en-US"/>
              <a:t>Where </a:t>
            </a:r>
            <a:r>
              <a:rPr lang="en-US" i="1"/>
              <a:t>LQI ≤ </a:t>
            </a:r>
            <a:r>
              <a:rPr lang="en-US"/>
              <a:t>165, almost all links (more than 95%) are definitively </a:t>
            </a:r>
            <a:r>
              <a:rPr lang="en-US" i="1"/>
              <a:t>weak.</a:t>
            </a:r>
          </a:p>
          <a:p>
            <a:pPr marL="285750" indent="-285750">
              <a:buFont typeface="Arial" panose="020B0604020202020204" pitchFamily="34" charset="0"/>
              <a:buChar char="•"/>
            </a:pPr>
            <a:r>
              <a:rPr lang="en-US"/>
              <a:t>Between these two limits, the links cannot be immediately classified as </a:t>
            </a:r>
            <a:r>
              <a:rPr lang="en-US" i="1"/>
              <a:t>good </a:t>
            </a:r>
            <a:r>
              <a:rPr lang="en-US"/>
              <a:t>or </a:t>
            </a:r>
            <a:r>
              <a:rPr lang="en-US" i="1"/>
              <a:t>weak</a:t>
            </a:r>
            <a:r>
              <a:rPr lang="en-US"/>
              <a:t>. To differentiate them, the node needs to dedicate more resources. These are called </a:t>
            </a:r>
            <a:r>
              <a:rPr lang="en-US" i="1"/>
              <a:t>uncertain </a:t>
            </a:r>
            <a:r>
              <a:rPr lang="en-US"/>
              <a:t>links</a:t>
            </a:r>
            <a:endParaRPr lang="en-US" sz="1600"/>
          </a:p>
        </p:txBody>
      </p:sp>
      <p:pic>
        <p:nvPicPr>
          <p:cNvPr id="8" name="Picture 7">
            <a:extLst>
              <a:ext uri="{FF2B5EF4-FFF2-40B4-BE49-F238E27FC236}">
                <a16:creationId xmlns:a16="http://schemas.microsoft.com/office/drawing/2014/main" id="{1C0A810B-1C73-44C4-A2B4-B774201F37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90688"/>
            <a:ext cx="5857875" cy="2514600"/>
          </a:xfrm>
          <a:prstGeom prst="rect">
            <a:avLst/>
          </a:prstGeom>
        </p:spPr>
      </p:pic>
    </p:spTree>
    <p:extLst>
      <p:ext uri="{BB962C8B-B14F-4D97-AF65-F5344CB8AC3E}">
        <p14:creationId xmlns:p14="http://schemas.microsoft.com/office/powerpoint/2010/main" val="2659389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792F-ED64-4772-A208-1F3A2D3417CD}"/>
              </a:ext>
            </a:extLst>
          </p:cNvPr>
          <p:cNvSpPr>
            <a:spLocks noGrp="1"/>
          </p:cNvSpPr>
          <p:nvPr>
            <p:ph type="title"/>
          </p:nvPr>
        </p:nvSpPr>
        <p:spPr/>
        <p:txBody>
          <a:bodyPr/>
          <a:lstStyle/>
          <a:p>
            <a:r>
              <a:rPr lang="en-US"/>
              <a:t>CLASSIFICATION OF LINKS BASED ON LQI</a:t>
            </a:r>
          </a:p>
        </p:txBody>
      </p:sp>
      <p:pic>
        <p:nvPicPr>
          <p:cNvPr id="5" name="Content Placeholder 4">
            <a:extLst>
              <a:ext uri="{FF2B5EF4-FFF2-40B4-BE49-F238E27FC236}">
                <a16:creationId xmlns:a16="http://schemas.microsoft.com/office/drawing/2014/main" id="{18E4744F-2817-4AF8-92B5-B411431153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0850" y="1690688"/>
            <a:ext cx="6210300" cy="3076575"/>
          </a:xfrm>
        </p:spPr>
      </p:pic>
      <p:sp>
        <p:nvSpPr>
          <p:cNvPr id="6" name="TextBox 5">
            <a:extLst>
              <a:ext uri="{FF2B5EF4-FFF2-40B4-BE49-F238E27FC236}">
                <a16:creationId xmlns:a16="http://schemas.microsoft.com/office/drawing/2014/main" id="{6DB732DA-C8F5-4894-A869-6801D1CF962D}"/>
              </a:ext>
            </a:extLst>
          </p:cNvPr>
          <p:cNvSpPr txBox="1"/>
          <p:nvPr/>
        </p:nvSpPr>
        <p:spPr>
          <a:xfrm>
            <a:off x="1324345" y="4728115"/>
            <a:ext cx="10181948" cy="923330"/>
          </a:xfrm>
          <a:prstGeom prst="rect">
            <a:avLst/>
          </a:prstGeom>
          <a:noFill/>
        </p:spPr>
        <p:txBody>
          <a:bodyPr wrap="square" rtlCol="0">
            <a:spAutoFit/>
          </a:bodyPr>
          <a:lstStyle/>
          <a:p>
            <a:pPr marL="285750" indent="-285750">
              <a:buFont typeface="Arial" panose="020B0604020202020204" pitchFamily="34" charset="0"/>
              <a:buChar char="•"/>
            </a:pPr>
            <a:r>
              <a:rPr lang="en-US"/>
              <a:t>LQI is a relatively stable metric, though it may be sensitive to modifications of the environment</a:t>
            </a:r>
          </a:p>
          <a:p>
            <a:pPr marL="285750" indent="-285750">
              <a:buFont typeface="Arial" panose="020B0604020202020204" pitchFamily="34" charset="0"/>
              <a:buChar char="•"/>
            </a:pPr>
            <a:r>
              <a:rPr lang="en-US"/>
              <a:t>The extremely small variability illustrates how the </a:t>
            </a:r>
            <a:r>
              <a:rPr lang="en-US" i="1"/>
              <a:t>good </a:t>
            </a:r>
            <a:r>
              <a:rPr lang="en-US"/>
              <a:t>links are really stable even though their RSSI is low, which calls for giving them priority</a:t>
            </a:r>
            <a:endParaRPr lang="en-US" sz="1600"/>
          </a:p>
        </p:txBody>
      </p:sp>
    </p:spTree>
    <p:extLst>
      <p:ext uri="{BB962C8B-B14F-4D97-AF65-F5344CB8AC3E}">
        <p14:creationId xmlns:p14="http://schemas.microsoft.com/office/powerpoint/2010/main" val="3164914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813E8-49E9-40DC-B279-3AE51980203A}"/>
              </a:ext>
            </a:extLst>
          </p:cNvPr>
          <p:cNvSpPr>
            <a:spLocks noGrp="1"/>
          </p:cNvSpPr>
          <p:nvPr>
            <p:ph type="title"/>
          </p:nvPr>
        </p:nvSpPr>
        <p:spPr/>
        <p:txBody>
          <a:bodyPr/>
          <a:lstStyle/>
          <a:p>
            <a:r>
              <a:rPr lang="en-US"/>
              <a:t>ENSURE REVERSE DIRECTION QUALITY</a:t>
            </a:r>
          </a:p>
        </p:txBody>
      </p:sp>
      <p:sp>
        <p:nvSpPr>
          <p:cNvPr id="3" name="Content Placeholder 2">
            <a:extLst>
              <a:ext uri="{FF2B5EF4-FFF2-40B4-BE49-F238E27FC236}">
                <a16:creationId xmlns:a16="http://schemas.microsoft.com/office/drawing/2014/main" id="{0A3E8EC0-8431-455D-959C-398C8FE8237C}"/>
              </a:ext>
            </a:extLst>
          </p:cNvPr>
          <p:cNvSpPr>
            <a:spLocks noGrp="1"/>
          </p:cNvSpPr>
          <p:nvPr>
            <p:ph idx="1"/>
          </p:nvPr>
        </p:nvSpPr>
        <p:spPr>
          <a:xfrm>
            <a:off x="838200" y="3986074"/>
            <a:ext cx="10515600" cy="1471798"/>
          </a:xfrm>
        </p:spPr>
        <p:txBody>
          <a:bodyPr>
            <a:normAutofit/>
          </a:bodyPr>
          <a:lstStyle/>
          <a:p>
            <a:r>
              <a:rPr lang="en-US" sz="1800"/>
              <a:t>All three lines confirm that the symmetric case is the most frequent case. 95% of the </a:t>
            </a:r>
            <a:r>
              <a:rPr lang="en-US" sz="1800" i="1"/>
              <a:t>good </a:t>
            </a:r>
            <a:r>
              <a:rPr lang="en-US" sz="1800"/>
              <a:t>links are also </a:t>
            </a:r>
            <a:r>
              <a:rPr lang="en-US" sz="1800" i="1"/>
              <a:t>good </a:t>
            </a:r>
            <a:r>
              <a:rPr lang="en-US" sz="1800"/>
              <a:t>in the reverse direction.</a:t>
            </a:r>
          </a:p>
          <a:p>
            <a:r>
              <a:rPr lang="en-US" sz="1800"/>
              <a:t>The </a:t>
            </a:r>
            <a:r>
              <a:rPr lang="en-US" sz="1800" i="1"/>
              <a:t>uncertain </a:t>
            </a:r>
            <a:r>
              <a:rPr lang="en-US" sz="1800"/>
              <a:t>links perhaps require to dedicate more efforts to use them or not: more than one third is actually good in the other direction, which indicates a strong chance of acceptable PDR, however, they should be carefully checked</a:t>
            </a:r>
          </a:p>
        </p:txBody>
      </p:sp>
      <p:pic>
        <p:nvPicPr>
          <p:cNvPr id="5" name="Picture 4">
            <a:extLst>
              <a:ext uri="{FF2B5EF4-FFF2-40B4-BE49-F238E27FC236}">
                <a16:creationId xmlns:a16="http://schemas.microsoft.com/office/drawing/2014/main" id="{40D22A99-92D8-4B00-873F-B4ED33C2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2775" y="1895475"/>
            <a:ext cx="5886450" cy="1533525"/>
          </a:xfrm>
          <a:prstGeom prst="rect">
            <a:avLst/>
          </a:prstGeom>
        </p:spPr>
      </p:pic>
    </p:spTree>
    <p:extLst>
      <p:ext uri="{BB962C8B-B14F-4D97-AF65-F5344CB8AC3E}">
        <p14:creationId xmlns:p14="http://schemas.microsoft.com/office/powerpoint/2010/main" val="1763393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7DD30-8EE8-4ADC-AC71-0C8585A292F2}"/>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19520A9D-4B82-4B2E-A67E-8483A9CBEEF4}"/>
              </a:ext>
            </a:extLst>
          </p:cNvPr>
          <p:cNvSpPr>
            <a:spLocks noGrp="1"/>
          </p:cNvSpPr>
          <p:nvPr>
            <p:ph idx="1"/>
          </p:nvPr>
        </p:nvSpPr>
        <p:spPr/>
        <p:txBody>
          <a:bodyPr>
            <a:normAutofit/>
          </a:bodyPr>
          <a:lstStyle/>
          <a:p>
            <a:r>
              <a:rPr lang="en-US" sz="2400"/>
              <a:t>From LQI, most unidirectional links are immediately either usable or not. It is safer to first check that a good candidate link is also reliable in the reverse direction, which requires just a basic handshake.</a:t>
            </a:r>
          </a:p>
          <a:p>
            <a:r>
              <a:rPr lang="en-US" sz="2400"/>
              <a:t>Otherwise, a fraction of links requires more effort to be classified and the uncertainty can be sorted out through the exchange of a few additional packets.</a:t>
            </a:r>
          </a:p>
          <a:p>
            <a:r>
              <a:rPr lang="en-US" sz="2400"/>
              <a:t>We end up with a classification of the links in two categories: reliable and weak links, with the idea to avoid the latter as much as possible, only if they are necessary to maintain connectivity</a:t>
            </a:r>
          </a:p>
        </p:txBody>
      </p:sp>
    </p:spTree>
    <p:extLst>
      <p:ext uri="{BB962C8B-B14F-4D97-AF65-F5344CB8AC3E}">
        <p14:creationId xmlns:p14="http://schemas.microsoft.com/office/powerpoint/2010/main" val="975323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2094</TotalTime>
  <Words>994</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Quick and Efficient Link Quality Estimation in Wireless Sensors Networks</vt:lpstr>
      <vt:lpstr>Outline</vt:lpstr>
      <vt:lpstr>INTRODUCTION</vt:lpstr>
      <vt:lpstr>INTRODUCTION</vt:lpstr>
      <vt:lpstr>BASIC METRICS AND THEIR FLAWS</vt:lpstr>
      <vt:lpstr>BASIC METRICS AND THEIR FLAWS</vt:lpstr>
      <vt:lpstr>CLASSIFICATION OF LINKS BASED ON LQI</vt:lpstr>
      <vt:lpstr>CLASSIFICATION OF LINKS BASED ON LQI</vt:lpstr>
      <vt:lpstr>CLASSIFICATION OF LINKS BASED ON LQI</vt:lpstr>
      <vt:lpstr>CLASSIFICATION OF LINKS BASED ON LQI</vt:lpstr>
      <vt:lpstr>CLASSIFICATION OF LINKS BASED ON LQI</vt:lpstr>
      <vt:lpstr>CLASSIFICATION OF LINKS BASED ON LQI</vt:lpstr>
      <vt:lpstr>ENSURE REVERSE DIRECTION QUALITY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and Efficient Link Quality Estimation in Wireless Sensors Networks</dc:title>
  <dc:creator>Mr Tan</dc:creator>
  <cp:lastModifiedBy>Mr Tan</cp:lastModifiedBy>
  <cp:revision>46</cp:revision>
  <dcterms:created xsi:type="dcterms:W3CDTF">2020-11-23T06:17:41Z</dcterms:created>
  <dcterms:modified xsi:type="dcterms:W3CDTF">2020-11-24T17:12:21Z</dcterms:modified>
</cp:coreProperties>
</file>